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81"/>
  </p:normalViewPr>
  <p:slideViewPr>
    <p:cSldViewPr>
      <p:cViewPr varScale="1">
        <p:scale>
          <a:sx n="116" d="100"/>
          <a:sy n="116" d="100"/>
        </p:scale>
        <p:origin x="320" y="17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2/8/26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Aptos Display"/>
                <a:cs typeface="Aptos Display"/>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Aptos"/>
                <a:cs typeface="Apto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2/8/26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Aptos Display"/>
                <a:cs typeface="Aptos Display"/>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2/8/26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Aptos Display"/>
                <a:cs typeface="Aptos Display"/>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2/8/26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2/8/26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16941" y="380224"/>
            <a:ext cx="2958465" cy="696594"/>
          </a:xfrm>
          <a:prstGeom prst="rect">
            <a:avLst/>
          </a:prstGeom>
        </p:spPr>
        <p:txBody>
          <a:bodyPr wrap="square" lIns="0" tIns="0" rIns="0" bIns="0">
            <a:spAutoFit/>
          </a:bodyPr>
          <a:lstStyle>
            <a:lvl1pPr>
              <a:defRPr sz="4400" b="0" i="0">
                <a:solidFill>
                  <a:schemeClr val="tx1"/>
                </a:solidFill>
                <a:latin typeface="Aptos Display"/>
                <a:cs typeface="Aptos Display"/>
              </a:defRPr>
            </a:lvl1pPr>
          </a:lstStyle>
          <a:p>
            <a:endParaRPr/>
          </a:p>
        </p:txBody>
      </p:sp>
      <p:sp>
        <p:nvSpPr>
          <p:cNvPr id="3" name="Holder 3"/>
          <p:cNvSpPr>
            <a:spLocks noGrp="1"/>
          </p:cNvSpPr>
          <p:nvPr>
            <p:ph type="body" idx="1"/>
          </p:nvPr>
        </p:nvSpPr>
        <p:spPr>
          <a:xfrm>
            <a:off x="916939" y="2205983"/>
            <a:ext cx="9822180" cy="2170429"/>
          </a:xfrm>
          <a:prstGeom prst="rect">
            <a:avLst/>
          </a:prstGeom>
        </p:spPr>
        <p:txBody>
          <a:bodyPr wrap="square" lIns="0" tIns="0" rIns="0" bIns="0">
            <a:spAutoFit/>
          </a:bodyPr>
          <a:lstStyle>
            <a:lvl1pPr>
              <a:defRPr sz="2400" b="0" i="0">
                <a:solidFill>
                  <a:schemeClr val="tx1"/>
                </a:solidFill>
                <a:latin typeface="Aptos"/>
                <a:cs typeface="Aptos"/>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2/8/26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hyperlink" Target="http://www.youtube.com/shorts/eF8C1uyeknA" TargetMode="Externa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1" y="2771969"/>
            <a:ext cx="9396730" cy="574675"/>
          </a:xfrm>
          <a:prstGeom prst="rect">
            <a:avLst/>
          </a:prstGeom>
        </p:spPr>
        <p:txBody>
          <a:bodyPr vert="horz" wrap="square" lIns="0" tIns="12700" rIns="0" bIns="0" rtlCol="0">
            <a:spAutoFit/>
          </a:bodyPr>
          <a:lstStyle/>
          <a:p>
            <a:pPr marL="12700">
              <a:lnSpc>
                <a:spcPct val="100000"/>
              </a:lnSpc>
              <a:spcBef>
                <a:spcPts val="100"/>
              </a:spcBef>
            </a:pPr>
            <a:r>
              <a:rPr sz="3600" b="1" spc="-20" dirty="0">
                <a:latin typeface="Aptos"/>
                <a:cs typeface="Aptos"/>
              </a:rPr>
              <a:t>Chapter</a:t>
            </a:r>
            <a:r>
              <a:rPr sz="3600" spc="-195" dirty="0">
                <a:latin typeface="Times New Roman"/>
                <a:cs typeface="Times New Roman"/>
              </a:rPr>
              <a:t> </a:t>
            </a:r>
            <a:r>
              <a:rPr sz="3600" b="1" dirty="0">
                <a:latin typeface="Aptos"/>
                <a:cs typeface="Aptos"/>
              </a:rPr>
              <a:t>2:</a:t>
            </a:r>
            <a:r>
              <a:rPr sz="3600" spc="-155" dirty="0">
                <a:latin typeface="Times New Roman"/>
                <a:cs typeface="Times New Roman"/>
              </a:rPr>
              <a:t> </a:t>
            </a:r>
            <a:r>
              <a:rPr sz="3600" b="1" spc="-20" dirty="0">
                <a:latin typeface="Aptos"/>
                <a:cs typeface="Aptos"/>
              </a:rPr>
              <a:t>Data</a:t>
            </a:r>
            <a:r>
              <a:rPr sz="3600" spc="-190" dirty="0">
                <a:latin typeface="Times New Roman"/>
                <a:cs typeface="Times New Roman"/>
              </a:rPr>
              <a:t> </a:t>
            </a:r>
            <a:r>
              <a:rPr sz="3600" b="1" spc="-20" dirty="0">
                <a:latin typeface="Aptos"/>
                <a:cs typeface="Aptos"/>
              </a:rPr>
              <a:t>Communiction</a:t>
            </a:r>
            <a:r>
              <a:rPr sz="3600" spc="-200" dirty="0">
                <a:latin typeface="Times New Roman"/>
                <a:cs typeface="Times New Roman"/>
              </a:rPr>
              <a:t> </a:t>
            </a:r>
            <a:r>
              <a:rPr sz="3600" b="1" dirty="0">
                <a:latin typeface="Aptos"/>
                <a:cs typeface="Aptos"/>
              </a:rPr>
              <a:t>and</a:t>
            </a:r>
            <a:r>
              <a:rPr sz="3600" spc="-165" dirty="0">
                <a:latin typeface="Times New Roman"/>
                <a:cs typeface="Times New Roman"/>
              </a:rPr>
              <a:t> </a:t>
            </a:r>
            <a:r>
              <a:rPr sz="3600" b="1" spc="-10" dirty="0">
                <a:latin typeface="Aptos"/>
                <a:cs typeface="Aptos"/>
              </a:rPr>
              <a:t>Networking</a:t>
            </a:r>
            <a:endParaRPr sz="3600">
              <a:latin typeface="Aptos"/>
              <a:cs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1" y="0"/>
            <a:ext cx="9722485" cy="635000"/>
          </a:xfrm>
          <a:prstGeom prst="rect">
            <a:avLst/>
          </a:prstGeom>
        </p:spPr>
        <p:txBody>
          <a:bodyPr vert="horz" wrap="square" lIns="0" tIns="12065" rIns="0" bIns="0" rtlCol="0">
            <a:spAutoFit/>
          </a:bodyPr>
          <a:lstStyle/>
          <a:p>
            <a:pPr marL="12700">
              <a:lnSpc>
                <a:spcPct val="100000"/>
              </a:lnSpc>
              <a:spcBef>
                <a:spcPts val="95"/>
              </a:spcBef>
            </a:pPr>
            <a:r>
              <a:rPr sz="4000" spc="-25" dirty="0"/>
              <a:t>Chapter</a:t>
            </a:r>
            <a:r>
              <a:rPr sz="4000" spc="-190" dirty="0">
                <a:latin typeface="Times New Roman"/>
                <a:cs typeface="Times New Roman"/>
              </a:rPr>
              <a:t> </a:t>
            </a:r>
            <a:r>
              <a:rPr sz="4000" spc="-20" dirty="0"/>
              <a:t>2:</a:t>
            </a:r>
            <a:r>
              <a:rPr sz="4000" spc="-220" dirty="0">
                <a:latin typeface="Times New Roman"/>
                <a:cs typeface="Times New Roman"/>
              </a:rPr>
              <a:t> </a:t>
            </a:r>
            <a:r>
              <a:rPr sz="4000" spc="-35" dirty="0"/>
              <a:t>Data</a:t>
            </a:r>
            <a:r>
              <a:rPr sz="4000" spc="-220" dirty="0">
                <a:latin typeface="Times New Roman"/>
                <a:cs typeface="Times New Roman"/>
              </a:rPr>
              <a:t> </a:t>
            </a:r>
            <a:r>
              <a:rPr sz="4000" spc="-25" dirty="0"/>
              <a:t>Communiction</a:t>
            </a:r>
            <a:r>
              <a:rPr sz="4000" spc="-170" dirty="0">
                <a:latin typeface="Times New Roman"/>
                <a:cs typeface="Times New Roman"/>
              </a:rPr>
              <a:t> </a:t>
            </a:r>
            <a:r>
              <a:rPr sz="4000" spc="-20" dirty="0"/>
              <a:t>and</a:t>
            </a:r>
            <a:r>
              <a:rPr sz="4000" spc="-204" dirty="0">
                <a:latin typeface="Times New Roman"/>
                <a:cs typeface="Times New Roman"/>
              </a:rPr>
              <a:t> </a:t>
            </a:r>
            <a:r>
              <a:rPr sz="4000" spc="-10" dirty="0"/>
              <a:t>Networking</a:t>
            </a:r>
            <a:endParaRPr sz="4000">
              <a:latin typeface="Times New Roman"/>
              <a:cs typeface="Times New Roman"/>
            </a:endParaRPr>
          </a:p>
        </p:txBody>
      </p:sp>
      <p:sp>
        <p:nvSpPr>
          <p:cNvPr id="3" name="object 3"/>
          <p:cNvSpPr txBox="1"/>
          <p:nvPr/>
        </p:nvSpPr>
        <p:spPr>
          <a:xfrm>
            <a:off x="916941" y="853555"/>
            <a:ext cx="10316845" cy="1000760"/>
          </a:xfrm>
          <a:prstGeom prst="rect">
            <a:avLst/>
          </a:prstGeom>
        </p:spPr>
        <p:txBody>
          <a:bodyPr vert="horz" wrap="square" lIns="0" tIns="12700" rIns="0" bIns="0" rtlCol="0">
            <a:spAutoFit/>
          </a:bodyPr>
          <a:lstStyle/>
          <a:p>
            <a:pPr marL="12700">
              <a:lnSpc>
                <a:spcPct val="100000"/>
              </a:lnSpc>
              <a:spcBef>
                <a:spcPts val="100"/>
              </a:spcBef>
            </a:pPr>
            <a:r>
              <a:rPr sz="2400" b="1" spc="-10" dirty="0">
                <a:solidFill>
                  <a:srgbClr val="252525"/>
                </a:solidFill>
                <a:latin typeface="Calibri"/>
                <a:cs typeface="Calibri"/>
              </a:rPr>
              <a:t>Introduction</a:t>
            </a:r>
            <a:endParaRPr sz="2400">
              <a:latin typeface="Calibri"/>
              <a:cs typeface="Calibri"/>
            </a:endParaRPr>
          </a:p>
          <a:p>
            <a:pPr marL="241300">
              <a:lnSpc>
                <a:spcPct val="100000"/>
              </a:lnSpc>
              <a:spcBef>
                <a:spcPts val="1920"/>
              </a:spcBef>
            </a:pPr>
            <a:r>
              <a:rPr sz="2400" dirty="0">
                <a:solidFill>
                  <a:srgbClr val="252525"/>
                </a:solidFill>
                <a:latin typeface="Calibri"/>
                <a:cs typeface="Calibri"/>
              </a:rPr>
              <a:t>A</a:t>
            </a:r>
            <a:r>
              <a:rPr sz="2400" spc="-85" dirty="0">
                <a:solidFill>
                  <a:srgbClr val="252525"/>
                </a:solidFill>
                <a:latin typeface="Times New Roman"/>
                <a:cs typeface="Times New Roman"/>
              </a:rPr>
              <a:t> </a:t>
            </a:r>
            <a:r>
              <a:rPr sz="2400" dirty="0">
                <a:solidFill>
                  <a:srgbClr val="252525"/>
                </a:solidFill>
                <a:latin typeface="Calibri"/>
                <a:cs typeface="Calibri"/>
              </a:rPr>
              <a:t>network</a:t>
            </a:r>
            <a:r>
              <a:rPr sz="2400" spc="-80" dirty="0">
                <a:solidFill>
                  <a:srgbClr val="252525"/>
                </a:solidFill>
                <a:latin typeface="Times New Roman"/>
                <a:cs typeface="Times New Roman"/>
              </a:rPr>
              <a:t> </a:t>
            </a:r>
            <a:r>
              <a:rPr sz="2400" dirty="0">
                <a:solidFill>
                  <a:srgbClr val="252525"/>
                </a:solidFill>
                <a:latin typeface="Calibri"/>
                <a:cs typeface="Calibri"/>
              </a:rPr>
              <a:t>is</a:t>
            </a:r>
            <a:r>
              <a:rPr sz="2400" spc="-70" dirty="0">
                <a:solidFill>
                  <a:srgbClr val="252525"/>
                </a:solidFill>
                <a:latin typeface="Times New Roman"/>
                <a:cs typeface="Times New Roman"/>
              </a:rPr>
              <a:t> </a:t>
            </a:r>
            <a:r>
              <a:rPr sz="2400" dirty="0">
                <a:solidFill>
                  <a:srgbClr val="252525"/>
                </a:solidFill>
                <a:latin typeface="Calibri"/>
                <a:cs typeface="Calibri"/>
              </a:rPr>
              <a:t>an</a:t>
            </a:r>
            <a:r>
              <a:rPr sz="2400" spc="-70" dirty="0">
                <a:solidFill>
                  <a:srgbClr val="252525"/>
                </a:solidFill>
                <a:latin typeface="Times New Roman"/>
                <a:cs typeface="Times New Roman"/>
              </a:rPr>
              <a:t> </a:t>
            </a:r>
            <a:r>
              <a:rPr sz="2400" spc="-10" dirty="0">
                <a:solidFill>
                  <a:srgbClr val="252525"/>
                </a:solidFill>
                <a:latin typeface="Calibri"/>
                <a:cs typeface="Calibri"/>
              </a:rPr>
              <a:t>interconnection</a:t>
            </a:r>
            <a:r>
              <a:rPr sz="2400" spc="-85" dirty="0">
                <a:solidFill>
                  <a:srgbClr val="252525"/>
                </a:solidFill>
                <a:latin typeface="Times New Roman"/>
                <a:cs typeface="Times New Roman"/>
              </a:rPr>
              <a:t> </a:t>
            </a:r>
            <a:r>
              <a:rPr sz="2400" dirty="0">
                <a:solidFill>
                  <a:srgbClr val="252525"/>
                </a:solidFill>
                <a:latin typeface="Calibri"/>
                <a:cs typeface="Calibri"/>
              </a:rPr>
              <a:t>of</a:t>
            </a:r>
            <a:r>
              <a:rPr sz="2400" spc="-75" dirty="0">
                <a:solidFill>
                  <a:srgbClr val="252525"/>
                </a:solidFill>
                <a:latin typeface="Times New Roman"/>
                <a:cs typeface="Times New Roman"/>
              </a:rPr>
              <a:t> </a:t>
            </a:r>
            <a:r>
              <a:rPr sz="2400" dirty="0">
                <a:solidFill>
                  <a:srgbClr val="252525"/>
                </a:solidFill>
                <a:latin typeface="Calibri"/>
                <a:cs typeface="Calibri"/>
              </a:rPr>
              <a:t>two</a:t>
            </a:r>
            <a:r>
              <a:rPr sz="2400" spc="-70" dirty="0">
                <a:solidFill>
                  <a:srgbClr val="252525"/>
                </a:solidFill>
                <a:latin typeface="Times New Roman"/>
                <a:cs typeface="Times New Roman"/>
              </a:rPr>
              <a:t> </a:t>
            </a:r>
            <a:r>
              <a:rPr sz="2400" dirty="0">
                <a:solidFill>
                  <a:srgbClr val="252525"/>
                </a:solidFill>
                <a:latin typeface="Calibri"/>
                <a:cs typeface="Calibri"/>
              </a:rPr>
              <a:t>or</a:t>
            </a:r>
            <a:r>
              <a:rPr sz="2400" spc="-70" dirty="0">
                <a:solidFill>
                  <a:srgbClr val="252525"/>
                </a:solidFill>
                <a:latin typeface="Times New Roman"/>
                <a:cs typeface="Times New Roman"/>
              </a:rPr>
              <a:t> </a:t>
            </a:r>
            <a:r>
              <a:rPr sz="2400" dirty="0">
                <a:solidFill>
                  <a:srgbClr val="252525"/>
                </a:solidFill>
                <a:latin typeface="Calibri"/>
                <a:cs typeface="Calibri"/>
              </a:rPr>
              <a:t>more</a:t>
            </a:r>
            <a:r>
              <a:rPr sz="2400" spc="-75" dirty="0">
                <a:solidFill>
                  <a:srgbClr val="252525"/>
                </a:solidFill>
                <a:latin typeface="Times New Roman"/>
                <a:cs typeface="Times New Roman"/>
              </a:rPr>
              <a:t> </a:t>
            </a:r>
            <a:r>
              <a:rPr sz="2400" spc="-10" dirty="0">
                <a:solidFill>
                  <a:srgbClr val="252525"/>
                </a:solidFill>
                <a:latin typeface="Calibri"/>
                <a:cs typeface="Calibri"/>
              </a:rPr>
              <a:t>computers</a:t>
            </a:r>
            <a:r>
              <a:rPr sz="2400" spc="-85" dirty="0">
                <a:solidFill>
                  <a:srgbClr val="252525"/>
                </a:solidFill>
                <a:latin typeface="Times New Roman"/>
                <a:cs typeface="Times New Roman"/>
              </a:rPr>
              <a:t> </a:t>
            </a:r>
            <a:r>
              <a:rPr sz="2400" dirty="0">
                <a:solidFill>
                  <a:srgbClr val="252525"/>
                </a:solidFill>
                <a:latin typeface="Calibri"/>
                <a:cs typeface="Calibri"/>
              </a:rPr>
              <a:t>or</a:t>
            </a:r>
            <a:r>
              <a:rPr sz="2400" spc="-70" dirty="0">
                <a:solidFill>
                  <a:srgbClr val="252525"/>
                </a:solidFill>
                <a:latin typeface="Times New Roman"/>
                <a:cs typeface="Times New Roman"/>
              </a:rPr>
              <a:t> </a:t>
            </a:r>
            <a:r>
              <a:rPr sz="2400" dirty="0">
                <a:solidFill>
                  <a:srgbClr val="252525"/>
                </a:solidFill>
                <a:latin typeface="Calibri"/>
                <a:cs typeface="Calibri"/>
              </a:rPr>
              <a:t>networking</a:t>
            </a:r>
            <a:r>
              <a:rPr sz="2400" spc="-95" dirty="0">
                <a:solidFill>
                  <a:srgbClr val="252525"/>
                </a:solidFill>
                <a:latin typeface="Times New Roman"/>
                <a:cs typeface="Times New Roman"/>
              </a:rPr>
              <a:t> </a:t>
            </a:r>
            <a:r>
              <a:rPr sz="2400" spc="-10" dirty="0">
                <a:solidFill>
                  <a:srgbClr val="252525"/>
                </a:solidFill>
                <a:latin typeface="Calibri"/>
                <a:cs typeface="Calibri"/>
              </a:rPr>
              <a:t>devices</a:t>
            </a:r>
            <a:endParaRPr sz="2400">
              <a:latin typeface="Calibri"/>
              <a:cs typeface="Calibri"/>
            </a:endParaRPr>
          </a:p>
        </p:txBody>
      </p:sp>
      <p:sp>
        <p:nvSpPr>
          <p:cNvPr id="4" name="object 4"/>
          <p:cNvSpPr txBox="1"/>
          <p:nvPr/>
        </p:nvSpPr>
        <p:spPr>
          <a:xfrm>
            <a:off x="1145542" y="1792035"/>
            <a:ext cx="1993264" cy="391795"/>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252525"/>
                </a:solidFill>
                <a:latin typeface="Calibri"/>
                <a:cs typeface="Calibri"/>
              </a:rPr>
              <a:t>with</a:t>
            </a:r>
            <a:r>
              <a:rPr sz="2400" spc="-75" dirty="0">
                <a:solidFill>
                  <a:srgbClr val="252525"/>
                </a:solidFill>
                <a:latin typeface="Times New Roman"/>
                <a:cs typeface="Times New Roman"/>
              </a:rPr>
              <a:t> </a:t>
            </a:r>
            <a:r>
              <a:rPr sz="2400" dirty="0">
                <a:solidFill>
                  <a:srgbClr val="252525"/>
                </a:solidFill>
                <a:latin typeface="Calibri"/>
                <a:cs typeface="Calibri"/>
              </a:rPr>
              <a:t>the</a:t>
            </a:r>
            <a:r>
              <a:rPr sz="2400" spc="-55" dirty="0">
                <a:solidFill>
                  <a:srgbClr val="252525"/>
                </a:solidFill>
                <a:latin typeface="Times New Roman"/>
                <a:cs typeface="Times New Roman"/>
              </a:rPr>
              <a:t> </a:t>
            </a:r>
            <a:r>
              <a:rPr sz="2400" dirty="0">
                <a:solidFill>
                  <a:srgbClr val="252525"/>
                </a:solidFill>
                <a:latin typeface="Calibri"/>
                <a:cs typeface="Calibri"/>
              </a:rPr>
              <a:t>help</a:t>
            </a:r>
            <a:r>
              <a:rPr sz="2400" spc="-60" dirty="0">
                <a:solidFill>
                  <a:srgbClr val="252525"/>
                </a:solidFill>
                <a:latin typeface="Times New Roman"/>
                <a:cs typeface="Times New Roman"/>
              </a:rPr>
              <a:t> </a:t>
            </a:r>
            <a:r>
              <a:rPr sz="2400" spc="-25" dirty="0">
                <a:solidFill>
                  <a:srgbClr val="252525"/>
                </a:solidFill>
                <a:latin typeface="Calibri"/>
                <a:cs typeface="Calibri"/>
              </a:rPr>
              <a:t>of</a:t>
            </a:r>
            <a:endParaRPr sz="2400">
              <a:latin typeface="Calibri"/>
              <a:cs typeface="Calibri"/>
            </a:endParaRPr>
          </a:p>
        </p:txBody>
      </p:sp>
      <p:sp>
        <p:nvSpPr>
          <p:cNvPr id="5" name="object 5"/>
          <p:cNvSpPr txBox="1"/>
          <p:nvPr/>
        </p:nvSpPr>
        <p:spPr>
          <a:xfrm>
            <a:off x="3191255" y="1818383"/>
            <a:ext cx="4258945" cy="372110"/>
          </a:xfrm>
          <a:prstGeom prst="rect">
            <a:avLst/>
          </a:prstGeom>
          <a:solidFill>
            <a:srgbClr val="FFFF00"/>
          </a:solidFill>
        </p:spPr>
        <p:txBody>
          <a:bodyPr vert="horz" wrap="square" lIns="0" tIns="0" rIns="0" bIns="0" rtlCol="0">
            <a:spAutoFit/>
          </a:bodyPr>
          <a:lstStyle/>
          <a:p>
            <a:pPr>
              <a:lnSpc>
                <a:spcPts val="2775"/>
              </a:lnSpc>
            </a:pPr>
            <a:r>
              <a:rPr sz="2400" dirty="0">
                <a:solidFill>
                  <a:srgbClr val="252525"/>
                </a:solidFill>
                <a:latin typeface="Calibri"/>
                <a:cs typeface="Calibri"/>
              </a:rPr>
              <a:t>transmission</a:t>
            </a:r>
            <a:r>
              <a:rPr sz="2400" spc="-114" dirty="0">
                <a:solidFill>
                  <a:srgbClr val="252525"/>
                </a:solidFill>
                <a:latin typeface="Times New Roman"/>
                <a:cs typeface="Times New Roman"/>
              </a:rPr>
              <a:t> </a:t>
            </a:r>
            <a:r>
              <a:rPr sz="2400" dirty="0">
                <a:solidFill>
                  <a:srgbClr val="252525"/>
                </a:solidFill>
                <a:latin typeface="Calibri"/>
                <a:cs typeface="Calibri"/>
              </a:rPr>
              <a:t>media</a:t>
            </a:r>
            <a:r>
              <a:rPr sz="2400" spc="-95" dirty="0">
                <a:solidFill>
                  <a:srgbClr val="252525"/>
                </a:solidFill>
                <a:latin typeface="Times New Roman"/>
                <a:cs typeface="Times New Roman"/>
              </a:rPr>
              <a:t> </a:t>
            </a:r>
            <a:r>
              <a:rPr sz="2400" dirty="0">
                <a:solidFill>
                  <a:srgbClr val="252525"/>
                </a:solidFill>
                <a:latin typeface="Calibri"/>
                <a:cs typeface="Calibri"/>
              </a:rPr>
              <a:t>and</a:t>
            </a:r>
            <a:r>
              <a:rPr sz="2400" spc="-75" dirty="0">
                <a:solidFill>
                  <a:srgbClr val="252525"/>
                </a:solidFill>
                <a:latin typeface="Times New Roman"/>
                <a:cs typeface="Times New Roman"/>
              </a:rPr>
              <a:t> </a:t>
            </a:r>
            <a:r>
              <a:rPr sz="2400" spc="-10" dirty="0">
                <a:solidFill>
                  <a:srgbClr val="252525"/>
                </a:solidFill>
                <a:latin typeface="Calibri"/>
                <a:cs typeface="Calibri"/>
              </a:rPr>
              <a:t>protocols.</a:t>
            </a:r>
            <a:endParaRPr sz="2400">
              <a:latin typeface="Calibri"/>
              <a:cs typeface="Calibri"/>
            </a:endParaRPr>
          </a:p>
        </p:txBody>
      </p:sp>
      <p:sp>
        <p:nvSpPr>
          <p:cNvPr id="6" name="object 6"/>
          <p:cNvSpPr txBox="1"/>
          <p:nvPr/>
        </p:nvSpPr>
        <p:spPr>
          <a:xfrm>
            <a:off x="1145542" y="2248274"/>
            <a:ext cx="9799955" cy="1176020"/>
          </a:xfrm>
          <a:prstGeom prst="rect">
            <a:avLst/>
          </a:prstGeom>
        </p:spPr>
        <p:txBody>
          <a:bodyPr vert="horz" wrap="square" lIns="0" tIns="53975" rIns="0" bIns="0" rtlCol="0">
            <a:spAutoFit/>
          </a:bodyPr>
          <a:lstStyle/>
          <a:p>
            <a:pPr marL="12700" marR="5080">
              <a:lnSpc>
                <a:spcPts val="2590"/>
              </a:lnSpc>
              <a:spcBef>
                <a:spcPts val="425"/>
              </a:spcBef>
            </a:pPr>
            <a:r>
              <a:rPr sz="2400" dirty="0">
                <a:solidFill>
                  <a:srgbClr val="252525"/>
                </a:solidFill>
                <a:latin typeface="Calibri"/>
                <a:cs typeface="Calibri"/>
              </a:rPr>
              <a:t>Computer</a:t>
            </a:r>
            <a:r>
              <a:rPr sz="2400" spc="-100" dirty="0">
                <a:solidFill>
                  <a:srgbClr val="252525"/>
                </a:solidFill>
                <a:latin typeface="Times New Roman"/>
                <a:cs typeface="Times New Roman"/>
              </a:rPr>
              <a:t> </a:t>
            </a:r>
            <a:r>
              <a:rPr sz="2400" dirty="0">
                <a:solidFill>
                  <a:srgbClr val="252525"/>
                </a:solidFill>
                <a:latin typeface="Calibri"/>
                <a:cs typeface="Calibri"/>
              </a:rPr>
              <a:t>networks</a:t>
            </a:r>
            <a:r>
              <a:rPr sz="2400" spc="-85" dirty="0">
                <a:solidFill>
                  <a:srgbClr val="252525"/>
                </a:solidFill>
                <a:latin typeface="Times New Roman"/>
                <a:cs typeface="Times New Roman"/>
              </a:rPr>
              <a:t> </a:t>
            </a:r>
            <a:r>
              <a:rPr sz="2400" dirty="0">
                <a:solidFill>
                  <a:srgbClr val="252525"/>
                </a:solidFill>
                <a:latin typeface="Calibri"/>
                <a:cs typeface="Calibri"/>
              </a:rPr>
              <a:t>bring</a:t>
            </a:r>
            <a:r>
              <a:rPr sz="2400" spc="-100" dirty="0">
                <a:solidFill>
                  <a:srgbClr val="252525"/>
                </a:solidFill>
                <a:latin typeface="Times New Roman"/>
                <a:cs typeface="Times New Roman"/>
              </a:rPr>
              <a:t> </a:t>
            </a:r>
            <a:r>
              <a:rPr sz="2400" dirty="0">
                <a:solidFill>
                  <a:srgbClr val="252525"/>
                </a:solidFill>
                <a:latin typeface="Calibri"/>
                <a:cs typeface="Calibri"/>
              </a:rPr>
              <a:t>communication</a:t>
            </a:r>
            <a:r>
              <a:rPr sz="2400" spc="-100" dirty="0">
                <a:solidFill>
                  <a:srgbClr val="252525"/>
                </a:solidFill>
                <a:latin typeface="Times New Roman"/>
                <a:cs typeface="Times New Roman"/>
              </a:rPr>
              <a:t> </a:t>
            </a:r>
            <a:r>
              <a:rPr sz="2400" spc="-10" dirty="0">
                <a:solidFill>
                  <a:srgbClr val="252525"/>
                </a:solidFill>
                <a:latin typeface="Calibri"/>
                <a:cs typeface="Calibri"/>
              </a:rPr>
              <a:t>(information</a:t>
            </a:r>
            <a:r>
              <a:rPr sz="2400" spc="-110" dirty="0">
                <a:solidFill>
                  <a:srgbClr val="252525"/>
                </a:solidFill>
                <a:latin typeface="Times New Roman"/>
                <a:cs typeface="Times New Roman"/>
              </a:rPr>
              <a:t> </a:t>
            </a:r>
            <a:r>
              <a:rPr sz="2400" spc="-10" dirty="0">
                <a:solidFill>
                  <a:srgbClr val="252525"/>
                </a:solidFill>
                <a:latin typeface="Calibri"/>
                <a:cs typeface="Calibri"/>
              </a:rPr>
              <a:t>exchange)</a:t>
            </a:r>
            <a:r>
              <a:rPr sz="2400" spc="-100" dirty="0">
                <a:solidFill>
                  <a:srgbClr val="252525"/>
                </a:solidFill>
                <a:latin typeface="Times New Roman"/>
                <a:cs typeface="Times New Roman"/>
              </a:rPr>
              <a:t> </a:t>
            </a:r>
            <a:r>
              <a:rPr sz="2400" dirty="0">
                <a:solidFill>
                  <a:srgbClr val="252525"/>
                </a:solidFill>
                <a:latin typeface="Calibri"/>
                <a:cs typeface="Calibri"/>
              </a:rPr>
              <a:t>that</a:t>
            </a:r>
            <a:r>
              <a:rPr sz="2400" spc="-95" dirty="0">
                <a:solidFill>
                  <a:srgbClr val="252525"/>
                </a:solidFill>
                <a:latin typeface="Times New Roman"/>
                <a:cs typeface="Times New Roman"/>
              </a:rPr>
              <a:t> </a:t>
            </a:r>
            <a:r>
              <a:rPr sz="2400" dirty="0">
                <a:solidFill>
                  <a:srgbClr val="252525"/>
                </a:solidFill>
                <a:latin typeface="Calibri"/>
                <a:cs typeface="Calibri"/>
              </a:rPr>
              <a:t>is</a:t>
            </a:r>
            <a:r>
              <a:rPr sz="2400" spc="-80" dirty="0">
                <a:solidFill>
                  <a:srgbClr val="252525"/>
                </a:solidFill>
                <a:latin typeface="Times New Roman"/>
                <a:cs typeface="Times New Roman"/>
              </a:rPr>
              <a:t> </a:t>
            </a:r>
            <a:r>
              <a:rPr sz="2400" spc="-30" dirty="0">
                <a:solidFill>
                  <a:srgbClr val="252525"/>
                </a:solidFill>
                <a:latin typeface="Calibri"/>
                <a:cs typeface="Calibri"/>
              </a:rPr>
              <a:t>faster,</a:t>
            </a:r>
            <a:r>
              <a:rPr sz="2400" spc="-30" dirty="0">
                <a:solidFill>
                  <a:srgbClr val="252525"/>
                </a:solidFill>
                <a:latin typeface="Times New Roman"/>
                <a:cs typeface="Times New Roman"/>
              </a:rPr>
              <a:t> </a:t>
            </a:r>
            <a:r>
              <a:rPr sz="2400" dirty="0">
                <a:solidFill>
                  <a:srgbClr val="252525"/>
                </a:solidFill>
                <a:latin typeface="Calibri"/>
                <a:cs typeface="Calibri"/>
              </a:rPr>
              <a:t>more</a:t>
            </a:r>
            <a:r>
              <a:rPr sz="2400" spc="-95" dirty="0">
                <a:solidFill>
                  <a:srgbClr val="252525"/>
                </a:solidFill>
                <a:latin typeface="Times New Roman"/>
                <a:cs typeface="Times New Roman"/>
              </a:rPr>
              <a:t> </a:t>
            </a:r>
            <a:r>
              <a:rPr sz="2400" dirty="0">
                <a:solidFill>
                  <a:srgbClr val="252525"/>
                </a:solidFill>
                <a:latin typeface="Calibri"/>
                <a:cs typeface="Calibri"/>
              </a:rPr>
              <a:t>reliable,</a:t>
            </a:r>
            <a:r>
              <a:rPr sz="2400" spc="-90" dirty="0">
                <a:solidFill>
                  <a:srgbClr val="252525"/>
                </a:solidFill>
                <a:latin typeface="Times New Roman"/>
                <a:cs typeface="Times New Roman"/>
              </a:rPr>
              <a:t> </a:t>
            </a:r>
            <a:r>
              <a:rPr sz="2400" spc="-20" dirty="0">
                <a:solidFill>
                  <a:srgbClr val="252525"/>
                </a:solidFill>
                <a:latin typeface="Calibri"/>
                <a:cs typeface="Calibri"/>
              </a:rPr>
              <a:t>cheaper,</a:t>
            </a:r>
            <a:r>
              <a:rPr sz="2400" spc="-90" dirty="0">
                <a:solidFill>
                  <a:srgbClr val="252525"/>
                </a:solidFill>
                <a:latin typeface="Times New Roman"/>
                <a:cs typeface="Times New Roman"/>
              </a:rPr>
              <a:t> </a:t>
            </a:r>
            <a:r>
              <a:rPr sz="2400" dirty="0">
                <a:solidFill>
                  <a:srgbClr val="252525"/>
                </a:solidFill>
                <a:latin typeface="Calibri"/>
                <a:cs typeface="Calibri"/>
              </a:rPr>
              <a:t>and</a:t>
            </a:r>
            <a:r>
              <a:rPr sz="2400" spc="-80" dirty="0">
                <a:solidFill>
                  <a:srgbClr val="252525"/>
                </a:solidFill>
                <a:latin typeface="Times New Roman"/>
                <a:cs typeface="Times New Roman"/>
              </a:rPr>
              <a:t> </a:t>
            </a:r>
            <a:r>
              <a:rPr sz="2400" dirty="0">
                <a:solidFill>
                  <a:srgbClr val="252525"/>
                </a:solidFill>
                <a:latin typeface="Calibri"/>
                <a:cs typeface="Calibri"/>
              </a:rPr>
              <a:t>more</a:t>
            </a:r>
            <a:r>
              <a:rPr sz="2400" spc="-80" dirty="0">
                <a:solidFill>
                  <a:srgbClr val="252525"/>
                </a:solidFill>
                <a:latin typeface="Times New Roman"/>
                <a:cs typeface="Times New Roman"/>
              </a:rPr>
              <a:t> </a:t>
            </a:r>
            <a:r>
              <a:rPr sz="2400" spc="-10" dirty="0">
                <a:solidFill>
                  <a:srgbClr val="252525"/>
                </a:solidFill>
                <a:latin typeface="Calibri"/>
                <a:cs typeface="Calibri"/>
              </a:rPr>
              <a:t>secure.</a:t>
            </a:r>
            <a:endParaRPr sz="2400">
              <a:latin typeface="Calibri"/>
              <a:cs typeface="Calibri"/>
            </a:endParaRPr>
          </a:p>
          <a:p>
            <a:pPr marL="12700">
              <a:lnSpc>
                <a:spcPct val="100000"/>
              </a:lnSpc>
              <a:spcBef>
                <a:spcPts val="675"/>
              </a:spcBef>
            </a:pPr>
            <a:r>
              <a:rPr sz="2400" dirty="0">
                <a:solidFill>
                  <a:srgbClr val="252525"/>
                </a:solidFill>
                <a:latin typeface="Calibri"/>
                <a:cs typeface="Calibri"/>
              </a:rPr>
              <a:t>A</a:t>
            </a:r>
            <a:r>
              <a:rPr sz="2400" spc="-100" dirty="0">
                <a:solidFill>
                  <a:srgbClr val="252525"/>
                </a:solidFill>
                <a:latin typeface="Times New Roman"/>
                <a:cs typeface="Times New Roman"/>
              </a:rPr>
              <a:t> </a:t>
            </a:r>
            <a:r>
              <a:rPr sz="2400" dirty="0">
                <a:solidFill>
                  <a:srgbClr val="252525"/>
                </a:solidFill>
                <a:latin typeface="Calibri"/>
                <a:cs typeface="Calibri"/>
              </a:rPr>
              <a:t>communication</a:t>
            </a:r>
            <a:r>
              <a:rPr sz="2400" spc="-105" dirty="0">
                <a:solidFill>
                  <a:srgbClr val="252525"/>
                </a:solidFill>
                <a:latin typeface="Times New Roman"/>
                <a:cs typeface="Times New Roman"/>
              </a:rPr>
              <a:t> </a:t>
            </a:r>
            <a:r>
              <a:rPr sz="2400" spc="-10" dirty="0">
                <a:solidFill>
                  <a:srgbClr val="252525"/>
                </a:solidFill>
                <a:latin typeface="Calibri"/>
                <a:cs typeface="Calibri"/>
              </a:rPr>
              <a:t>system</a:t>
            </a:r>
            <a:r>
              <a:rPr sz="2400" spc="-95" dirty="0">
                <a:solidFill>
                  <a:srgbClr val="252525"/>
                </a:solidFill>
                <a:latin typeface="Times New Roman"/>
                <a:cs typeface="Times New Roman"/>
              </a:rPr>
              <a:t> </a:t>
            </a:r>
            <a:r>
              <a:rPr sz="2400" dirty="0">
                <a:solidFill>
                  <a:srgbClr val="252525"/>
                </a:solidFill>
                <a:latin typeface="Calibri"/>
                <a:cs typeface="Calibri"/>
              </a:rPr>
              <a:t>has</a:t>
            </a:r>
            <a:r>
              <a:rPr sz="2400" spc="-105" dirty="0">
                <a:solidFill>
                  <a:srgbClr val="252525"/>
                </a:solidFill>
                <a:latin typeface="Times New Roman"/>
                <a:cs typeface="Times New Roman"/>
              </a:rPr>
              <a:t> </a:t>
            </a:r>
            <a:r>
              <a:rPr sz="2400" dirty="0">
                <a:solidFill>
                  <a:srgbClr val="252525"/>
                </a:solidFill>
                <a:latin typeface="Calibri"/>
                <a:cs typeface="Calibri"/>
              </a:rPr>
              <a:t>five</a:t>
            </a:r>
            <a:r>
              <a:rPr sz="2400" spc="-75" dirty="0">
                <a:solidFill>
                  <a:srgbClr val="252525"/>
                </a:solidFill>
                <a:latin typeface="Times New Roman"/>
                <a:cs typeface="Times New Roman"/>
              </a:rPr>
              <a:t> </a:t>
            </a:r>
            <a:r>
              <a:rPr sz="2400" dirty="0">
                <a:solidFill>
                  <a:srgbClr val="252525"/>
                </a:solidFill>
                <a:latin typeface="Calibri"/>
                <a:cs typeface="Calibri"/>
              </a:rPr>
              <a:t>major</a:t>
            </a:r>
            <a:r>
              <a:rPr sz="2400" spc="-95" dirty="0">
                <a:solidFill>
                  <a:srgbClr val="252525"/>
                </a:solidFill>
                <a:latin typeface="Times New Roman"/>
                <a:cs typeface="Times New Roman"/>
              </a:rPr>
              <a:t> </a:t>
            </a:r>
            <a:r>
              <a:rPr sz="2400" spc="-10" dirty="0">
                <a:solidFill>
                  <a:srgbClr val="252525"/>
                </a:solidFill>
                <a:latin typeface="Calibri"/>
                <a:cs typeface="Calibri"/>
              </a:rPr>
              <a:t>components:</a:t>
            </a:r>
            <a:endParaRPr sz="2400">
              <a:latin typeface="Calibri"/>
              <a:cs typeface="Calibri"/>
            </a:endParaRPr>
          </a:p>
        </p:txBody>
      </p:sp>
      <p:pic>
        <p:nvPicPr>
          <p:cNvPr id="7" name="object 7"/>
          <p:cNvPicPr/>
          <p:nvPr/>
        </p:nvPicPr>
        <p:blipFill>
          <a:blip r:embed="rId2" cstate="print"/>
          <a:stretch>
            <a:fillRect/>
          </a:stretch>
        </p:blipFill>
        <p:spPr>
          <a:xfrm>
            <a:off x="1892795" y="3715591"/>
            <a:ext cx="7962873" cy="24729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853555"/>
            <a:ext cx="10220325" cy="2723515"/>
          </a:xfrm>
          <a:prstGeom prst="rect">
            <a:avLst/>
          </a:prstGeom>
        </p:spPr>
        <p:txBody>
          <a:bodyPr vert="horz" wrap="square" lIns="0" tIns="12700" rIns="0" bIns="0" rtlCol="0">
            <a:spAutoFit/>
          </a:bodyPr>
          <a:lstStyle/>
          <a:p>
            <a:pPr marL="241300" indent="-228600">
              <a:lnSpc>
                <a:spcPct val="100000"/>
              </a:lnSpc>
              <a:spcBef>
                <a:spcPts val="100"/>
              </a:spcBef>
              <a:buFont typeface="Arial"/>
              <a:buChar char="•"/>
              <a:tabLst>
                <a:tab pos="241300" algn="l"/>
              </a:tabLst>
            </a:pPr>
            <a:r>
              <a:rPr sz="2400" b="1" spc="-10" dirty="0">
                <a:solidFill>
                  <a:srgbClr val="252525"/>
                </a:solidFill>
                <a:latin typeface="Calibri"/>
                <a:cs typeface="Calibri"/>
              </a:rPr>
              <a:t>Message</a:t>
            </a:r>
            <a:endParaRPr sz="2400">
              <a:latin typeface="Calibri"/>
              <a:cs typeface="Calibri"/>
            </a:endParaRPr>
          </a:p>
          <a:p>
            <a:pPr marL="241300" marR="5080">
              <a:lnSpc>
                <a:spcPts val="2590"/>
              </a:lnSpc>
              <a:spcBef>
                <a:spcPts val="2245"/>
              </a:spcBef>
            </a:pPr>
            <a:r>
              <a:rPr sz="2400" dirty="0">
                <a:solidFill>
                  <a:srgbClr val="252525"/>
                </a:solidFill>
                <a:latin typeface="Calibri"/>
                <a:cs typeface="Calibri"/>
              </a:rPr>
              <a:t>The</a:t>
            </a:r>
            <a:r>
              <a:rPr sz="2400" spc="-70" dirty="0">
                <a:solidFill>
                  <a:srgbClr val="252525"/>
                </a:solidFill>
                <a:latin typeface="Times New Roman"/>
                <a:cs typeface="Times New Roman"/>
              </a:rPr>
              <a:t> </a:t>
            </a:r>
            <a:r>
              <a:rPr sz="2400" dirty="0">
                <a:solidFill>
                  <a:srgbClr val="252525"/>
                </a:solidFill>
                <a:latin typeface="Calibri"/>
                <a:cs typeface="Calibri"/>
              </a:rPr>
              <a:t>message</a:t>
            </a:r>
            <a:r>
              <a:rPr sz="2400" spc="-70" dirty="0">
                <a:solidFill>
                  <a:srgbClr val="252525"/>
                </a:solidFill>
                <a:latin typeface="Times New Roman"/>
                <a:cs typeface="Times New Roman"/>
              </a:rPr>
              <a:t> </a:t>
            </a:r>
            <a:r>
              <a:rPr sz="2400" dirty="0">
                <a:solidFill>
                  <a:srgbClr val="252525"/>
                </a:solidFill>
                <a:latin typeface="Calibri"/>
                <a:cs typeface="Calibri"/>
              </a:rPr>
              <a:t>is</a:t>
            </a:r>
            <a:r>
              <a:rPr sz="2400" spc="-70" dirty="0">
                <a:solidFill>
                  <a:srgbClr val="252525"/>
                </a:solidFill>
                <a:latin typeface="Times New Roman"/>
                <a:cs typeface="Times New Roman"/>
              </a:rPr>
              <a:t> </a:t>
            </a:r>
            <a:r>
              <a:rPr sz="2400" dirty="0">
                <a:solidFill>
                  <a:srgbClr val="252525"/>
                </a:solidFill>
                <a:latin typeface="Calibri"/>
                <a:cs typeface="Calibri"/>
              </a:rPr>
              <a:t>the</a:t>
            </a:r>
            <a:r>
              <a:rPr sz="2400" spc="-60" dirty="0">
                <a:solidFill>
                  <a:srgbClr val="252525"/>
                </a:solidFill>
                <a:latin typeface="Times New Roman"/>
                <a:cs typeface="Times New Roman"/>
              </a:rPr>
              <a:t> </a:t>
            </a:r>
            <a:r>
              <a:rPr sz="2400" dirty="0">
                <a:solidFill>
                  <a:srgbClr val="252525"/>
                </a:solidFill>
                <a:latin typeface="Calibri"/>
                <a:cs typeface="Calibri"/>
              </a:rPr>
              <a:t>data</a:t>
            </a:r>
            <a:r>
              <a:rPr sz="2400" spc="-75" dirty="0">
                <a:solidFill>
                  <a:srgbClr val="252525"/>
                </a:solidFill>
                <a:latin typeface="Times New Roman"/>
                <a:cs typeface="Times New Roman"/>
              </a:rPr>
              <a:t> </a:t>
            </a:r>
            <a:r>
              <a:rPr sz="2400" dirty="0">
                <a:solidFill>
                  <a:srgbClr val="252525"/>
                </a:solidFill>
                <a:latin typeface="Calibri"/>
                <a:cs typeface="Calibri"/>
              </a:rPr>
              <a:t>or</a:t>
            </a:r>
            <a:r>
              <a:rPr sz="2400" spc="-85" dirty="0">
                <a:solidFill>
                  <a:srgbClr val="252525"/>
                </a:solidFill>
                <a:latin typeface="Times New Roman"/>
                <a:cs typeface="Times New Roman"/>
              </a:rPr>
              <a:t> </a:t>
            </a:r>
            <a:r>
              <a:rPr sz="2400" spc="-10" dirty="0">
                <a:solidFill>
                  <a:srgbClr val="252525"/>
                </a:solidFill>
                <a:latin typeface="Calibri"/>
                <a:cs typeface="Calibri"/>
              </a:rPr>
              <a:t>information</a:t>
            </a:r>
            <a:r>
              <a:rPr sz="2400" spc="-65" dirty="0">
                <a:solidFill>
                  <a:srgbClr val="252525"/>
                </a:solidFill>
                <a:latin typeface="Times New Roman"/>
                <a:cs typeface="Times New Roman"/>
              </a:rPr>
              <a:t> </a:t>
            </a:r>
            <a:r>
              <a:rPr sz="2400" dirty="0">
                <a:solidFill>
                  <a:srgbClr val="252525"/>
                </a:solidFill>
                <a:latin typeface="Calibri"/>
                <a:cs typeface="Calibri"/>
              </a:rPr>
              <a:t>to</a:t>
            </a:r>
            <a:r>
              <a:rPr sz="2400" spc="-85" dirty="0">
                <a:solidFill>
                  <a:srgbClr val="252525"/>
                </a:solidFill>
                <a:latin typeface="Times New Roman"/>
                <a:cs typeface="Times New Roman"/>
              </a:rPr>
              <a:t> </a:t>
            </a:r>
            <a:r>
              <a:rPr sz="2400" dirty="0">
                <a:solidFill>
                  <a:srgbClr val="252525"/>
                </a:solidFill>
                <a:latin typeface="Calibri"/>
                <a:cs typeface="Calibri"/>
              </a:rPr>
              <a:t>be</a:t>
            </a:r>
            <a:r>
              <a:rPr sz="2400" spc="-65" dirty="0">
                <a:solidFill>
                  <a:srgbClr val="252525"/>
                </a:solidFill>
                <a:latin typeface="Times New Roman"/>
                <a:cs typeface="Times New Roman"/>
              </a:rPr>
              <a:t> </a:t>
            </a:r>
            <a:r>
              <a:rPr sz="2400" spc="-10" dirty="0">
                <a:solidFill>
                  <a:srgbClr val="252525"/>
                </a:solidFill>
                <a:latin typeface="Calibri"/>
                <a:cs typeface="Calibri"/>
              </a:rPr>
              <a:t>communicated,</a:t>
            </a:r>
            <a:r>
              <a:rPr sz="2400" spc="-90" dirty="0">
                <a:solidFill>
                  <a:srgbClr val="252525"/>
                </a:solidFill>
                <a:latin typeface="Times New Roman"/>
                <a:cs typeface="Times New Roman"/>
              </a:rPr>
              <a:t> </a:t>
            </a:r>
            <a:r>
              <a:rPr sz="2400" dirty="0">
                <a:solidFill>
                  <a:srgbClr val="252525"/>
                </a:solidFill>
                <a:latin typeface="Calibri"/>
                <a:cs typeface="Calibri"/>
              </a:rPr>
              <a:t>and</a:t>
            </a:r>
            <a:r>
              <a:rPr sz="2400" spc="-65" dirty="0">
                <a:solidFill>
                  <a:srgbClr val="252525"/>
                </a:solidFill>
                <a:latin typeface="Times New Roman"/>
                <a:cs typeface="Times New Roman"/>
              </a:rPr>
              <a:t> </a:t>
            </a:r>
            <a:r>
              <a:rPr sz="2400" dirty="0">
                <a:solidFill>
                  <a:srgbClr val="252525"/>
                </a:solidFill>
                <a:latin typeface="Calibri"/>
                <a:cs typeface="Calibri"/>
              </a:rPr>
              <a:t>it</a:t>
            </a:r>
            <a:r>
              <a:rPr sz="2400" spc="-65" dirty="0">
                <a:solidFill>
                  <a:srgbClr val="252525"/>
                </a:solidFill>
                <a:latin typeface="Times New Roman"/>
                <a:cs typeface="Times New Roman"/>
              </a:rPr>
              <a:t> </a:t>
            </a:r>
            <a:r>
              <a:rPr sz="2400" dirty="0">
                <a:solidFill>
                  <a:srgbClr val="252525"/>
                </a:solidFill>
                <a:latin typeface="Calibri"/>
                <a:cs typeface="Calibri"/>
              </a:rPr>
              <a:t>can</a:t>
            </a:r>
            <a:r>
              <a:rPr sz="2400" spc="-80" dirty="0">
                <a:solidFill>
                  <a:srgbClr val="252525"/>
                </a:solidFill>
                <a:latin typeface="Times New Roman"/>
                <a:cs typeface="Times New Roman"/>
              </a:rPr>
              <a:t> </a:t>
            </a:r>
            <a:r>
              <a:rPr sz="2400" dirty="0">
                <a:solidFill>
                  <a:srgbClr val="252525"/>
                </a:solidFill>
                <a:latin typeface="Calibri"/>
                <a:cs typeface="Calibri"/>
              </a:rPr>
              <a:t>be</a:t>
            </a:r>
            <a:r>
              <a:rPr sz="2400" spc="-60" dirty="0">
                <a:solidFill>
                  <a:srgbClr val="252525"/>
                </a:solidFill>
                <a:latin typeface="Times New Roman"/>
                <a:cs typeface="Times New Roman"/>
              </a:rPr>
              <a:t> </a:t>
            </a:r>
            <a:r>
              <a:rPr sz="2400" dirty="0">
                <a:solidFill>
                  <a:srgbClr val="252525"/>
                </a:solidFill>
                <a:latin typeface="Calibri"/>
                <a:cs typeface="Calibri"/>
              </a:rPr>
              <a:t>in</a:t>
            </a:r>
            <a:r>
              <a:rPr sz="2400" spc="-65" dirty="0">
                <a:solidFill>
                  <a:srgbClr val="252525"/>
                </a:solidFill>
                <a:latin typeface="Times New Roman"/>
                <a:cs typeface="Times New Roman"/>
              </a:rPr>
              <a:t> </a:t>
            </a:r>
            <a:r>
              <a:rPr sz="2400" spc="-25" dirty="0">
                <a:solidFill>
                  <a:srgbClr val="252525"/>
                </a:solidFill>
                <a:latin typeface="Calibri"/>
                <a:cs typeface="Calibri"/>
              </a:rPr>
              <a:t>the</a:t>
            </a:r>
            <a:r>
              <a:rPr sz="2400" spc="-25" dirty="0">
                <a:solidFill>
                  <a:srgbClr val="252525"/>
                </a:solidFill>
                <a:latin typeface="Times New Roman"/>
                <a:cs typeface="Times New Roman"/>
              </a:rPr>
              <a:t> </a:t>
            </a:r>
            <a:r>
              <a:rPr sz="2400" dirty="0">
                <a:solidFill>
                  <a:srgbClr val="252525"/>
                </a:solidFill>
                <a:latin typeface="Calibri"/>
                <a:cs typeface="Calibri"/>
              </a:rPr>
              <a:t>form</a:t>
            </a:r>
            <a:r>
              <a:rPr sz="2400" spc="-125" dirty="0">
                <a:solidFill>
                  <a:srgbClr val="252525"/>
                </a:solidFill>
                <a:latin typeface="Times New Roman"/>
                <a:cs typeface="Times New Roman"/>
              </a:rPr>
              <a:t> </a:t>
            </a:r>
            <a:r>
              <a:rPr sz="2400" dirty="0">
                <a:solidFill>
                  <a:srgbClr val="252525"/>
                </a:solidFill>
                <a:latin typeface="Calibri"/>
                <a:cs typeface="Calibri"/>
              </a:rPr>
              <a:t>of</a:t>
            </a:r>
            <a:r>
              <a:rPr sz="2400" spc="-95" dirty="0">
                <a:solidFill>
                  <a:srgbClr val="252525"/>
                </a:solidFill>
                <a:latin typeface="Times New Roman"/>
                <a:cs typeface="Times New Roman"/>
              </a:rPr>
              <a:t> </a:t>
            </a:r>
            <a:r>
              <a:rPr sz="2400" dirty="0">
                <a:solidFill>
                  <a:srgbClr val="252525"/>
                </a:solidFill>
                <a:latin typeface="Calibri"/>
                <a:cs typeface="Calibri"/>
              </a:rPr>
              <a:t>text,</a:t>
            </a:r>
            <a:r>
              <a:rPr sz="2400" spc="-120" dirty="0">
                <a:solidFill>
                  <a:srgbClr val="252525"/>
                </a:solidFill>
                <a:latin typeface="Times New Roman"/>
                <a:cs typeface="Times New Roman"/>
              </a:rPr>
              <a:t> </a:t>
            </a:r>
            <a:r>
              <a:rPr sz="2400" dirty="0">
                <a:solidFill>
                  <a:srgbClr val="252525"/>
                </a:solidFill>
                <a:latin typeface="Calibri"/>
                <a:cs typeface="Calibri"/>
              </a:rPr>
              <a:t>numbers,</a:t>
            </a:r>
            <a:r>
              <a:rPr sz="2400" spc="-110" dirty="0">
                <a:solidFill>
                  <a:srgbClr val="252525"/>
                </a:solidFill>
                <a:latin typeface="Times New Roman"/>
                <a:cs typeface="Times New Roman"/>
              </a:rPr>
              <a:t> </a:t>
            </a:r>
            <a:r>
              <a:rPr sz="2400" dirty="0">
                <a:solidFill>
                  <a:srgbClr val="252525"/>
                </a:solidFill>
                <a:latin typeface="Calibri"/>
                <a:cs typeface="Calibri"/>
              </a:rPr>
              <a:t>pictures,</a:t>
            </a:r>
            <a:r>
              <a:rPr sz="2400" spc="-90" dirty="0">
                <a:solidFill>
                  <a:srgbClr val="252525"/>
                </a:solidFill>
                <a:latin typeface="Times New Roman"/>
                <a:cs typeface="Times New Roman"/>
              </a:rPr>
              <a:t> </a:t>
            </a:r>
            <a:r>
              <a:rPr sz="2400" dirty="0">
                <a:solidFill>
                  <a:srgbClr val="252525"/>
                </a:solidFill>
                <a:latin typeface="Calibri"/>
                <a:cs typeface="Calibri"/>
              </a:rPr>
              <a:t>audio,</a:t>
            </a:r>
            <a:r>
              <a:rPr sz="2400" spc="-90" dirty="0">
                <a:solidFill>
                  <a:srgbClr val="252525"/>
                </a:solidFill>
                <a:latin typeface="Times New Roman"/>
                <a:cs typeface="Times New Roman"/>
              </a:rPr>
              <a:t> </a:t>
            </a:r>
            <a:r>
              <a:rPr sz="2400" dirty="0">
                <a:solidFill>
                  <a:srgbClr val="252525"/>
                </a:solidFill>
                <a:latin typeface="Calibri"/>
                <a:cs typeface="Calibri"/>
              </a:rPr>
              <a:t>or</a:t>
            </a:r>
            <a:r>
              <a:rPr sz="2400" spc="-95" dirty="0">
                <a:solidFill>
                  <a:srgbClr val="252525"/>
                </a:solidFill>
                <a:latin typeface="Times New Roman"/>
                <a:cs typeface="Times New Roman"/>
              </a:rPr>
              <a:t> </a:t>
            </a:r>
            <a:r>
              <a:rPr sz="2400" spc="-10" dirty="0">
                <a:solidFill>
                  <a:srgbClr val="252525"/>
                </a:solidFill>
                <a:latin typeface="Calibri"/>
                <a:cs typeface="Calibri"/>
              </a:rPr>
              <a:t>video.</a:t>
            </a:r>
            <a:endParaRPr sz="2400">
              <a:latin typeface="Calibri"/>
              <a:cs typeface="Calibri"/>
            </a:endParaRPr>
          </a:p>
          <a:p>
            <a:pPr marL="241300" indent="-228600">
              <a:lnSpc>
                <a:spcPct val="100000"/>
              </a:lnSpc>
              <a:spcBef>
                <a:spcPts val="675"/>
              </a:spcBef>
              <a:buFont typeface="Arial"/>
              <a:buChar char="•"/>
              <a:tabLst>
                <a:tab pos="241300" algn="l"/>
              </a:tabLst>
            </a:pPr>
            <a:r>
              <a:rPr sz="2400" b="1" spc="-10" dirty="0">
                <a:solidFill>
                  <a:srgbClr val="252525"/>
                </a:solidFill>
                <a:latin typeface="Calibri"/>
                <a:cs typeface="Calibri"/>
              </a:rPr>
              <a:t>Sender/Source</a:t>
            </a:r>
            <a:endParaRPr sz="2400">
              <a:latin typeface="Calibri"/>
              <a:cs typeface="Calibri"/>
            </a:endParaRPr>
          </a:p>
          <a:p>
            <a:pPr marL="241300" marR="180975">
              <a:lnSpc>
                <a:spcPts val="2590"/>
              </a:lnSpc>
              <a:spcBef>
                <a:spcPts val="2235"/>
              </a:spcBef>
            </a:pPr>
            <a:r>
              <a:rPr sz="2400" dirty="0">
                <a:solidFill>
                  <a:srgbClr val="252525"/>
                </a:solidFill>
                <a:latin typeface="Calibri"/>
                <a:cs typeface="Calibri"/>
              </a:rPr>
              <a:t>The</a:t>
            </a:r>
            <a:r>
              <a:rPr sz="2400" spc="-75" dirty="0">
                <a:solidFill>
                  <a:srgbClr val="252525"/>
                </a:solidFill>
                <a:latin typeface="Times New Roman"/>
                <a:cs typeface="Times New Roman"/>
              </a:rPr>
              <a:t> </a:t>
            </a:r>
            <a:r>
              <a:rPr sz="2400" dirty="0">
                <a:solidFill>
                  <a:srgbClr val="252525"/>
                </a:solidFill>
                <a:latin typeface="Calibri"/>
                <a:cs typeface="Calibri"/>
              </a:rPr>
              <a:t>sender</a:t>
            </a:r>
            <a:r>
              <a:rPr sz="2400" spc="-70" dirty="0">
                <a:solidFill>
                  <a:srgbClr val="252525"/>
                </a:solidFill>
                <a:latin typeface="Times New Roman"/>
                <a:cs typeface="Times New Roman"/>
              </a:rPr>
              <a:t> </a:t>
            </a:r>
            <a:r>
              <a:rPr sz="2400" dirty="0">
                <a:solidFill>
                  <a:srgbClr val="252525"/>
                </a:solidFill>
                <a:latin typeface="Calibri"/>
                <a:cs typeface="Calibri"/>
              </a:rPr>
              <a:t>device</a:t>
            </a:r>
            <a:r>
              <a:rPr sz="2400" spc="-60" dirty="0">
                <a:solidFill>
                  <a:srgbClr val="252525"/>
                </a:solidFill>
                <a:latin typeface="Times New Roman"/>
                <a:cs typeface="Times New Roman"/>
              </a:rPr>
              <a:t> </a:t>
            </a:r>
            <a:r>
              <a:rPr sz="2400" dirty="0">
                <a:solidFill>
                  <a:srgbClr val="252525"/>
                </a:solidFill>
                <a:latin typeface="Calibri"/>
                <a:cs typeface="Calibri"/>
              </a:rPr>
              <a:t>sends</a:t>
            </a:r>
            <a:r>
              <a:rPr sz="2400" spc="-70" dirty="0">
                <a:solidFill>
                  <a:srgbClr val="252525"/>
                </a:solidFill>
                <a:latin typeface="Times New Roman"/>
                <a:cs typeface="Times New Roman"/>
              </a:rPr>
              <a:t> </a:t>
            </a:r>
            <a:r>
              <a:rPr sz="2400" dirty="0">
                <a:solidFill>
                  <a:srgbClr val="252525"/>
                </a:solidFill>
                <a:latin typeface="Calibri"/>
                <a:cs typeface="Calibri"/>
              </a:rPr>
              <a:t>the</a:t>
            </a:r>
            <a:r>
              <a:rPr sz="2400" spc="-60" dirty="0">
                <a:solidFill>
                  <a:srgbClr val="252525"/>
                </a:solidFill>
                <a:latin typeface="Times New Roman"/>
                <a:cs typeface="Times New Roman"/>
              </a:rPr>
              <a:t> </a:t>
            </a:r>
            <a:r>
              <a:rPr sz="2400" dirty="0">
                <a:solidFill>
                  <a:srgbClr val="252525"/>
                </a:solidFill>
                <a:latin typeface="Calibri"/>
                <a:cs typeface="Calibri"/>
              </a:rPr>
              <a:t>message</a:t>
            </a:r>
            <a:r>
              <a:rPr sz="2400" spc="-75" dirty="0">
                <a:solidFill>
                  <a:srgbClr val="252525"/>
                </a:solidFill>
                <a:latin typeface="Times New Roman"/>
                <a:cs typeface="Times New Roman"/>
              </a:rPr>
              <a:t> </a:t>
            </a:r>
            <a:r>
              <a:rPr sz="2400" dirty="0">
                <a:solidFill>
                  <a:srgbClr val="252525"/>
                </a:solidFill>
                <a:latin typeface="Calibri"/>
                <a:cs typeface="Calibri"/>
              </a:rPr>
              <a:t>to</a:t>
            </a:r>
            <a:r>
              <a:rPr sz="2400" spc="-70" dirty="0">
                <a:solidFill>
                  <a:srgbClr val="252525"/>
                </a:solidFill>
                <a:latin typeface="Times New Roman"/>
                <a:cs typeface="Times New Roman"/>
              </a:rPr>
              <a:t> </a:t>
            </a:r>
            <a:r>
              <a:rPr sz="2400" dirty="0">
                <a:solidFill>
                  <a:srgbClr val="252525"/>
                </a:solidFill>
                <a:latin typeface="Calibri"/>
                <a:cs typeface="Calibri"/>
              </a:rPr>
              <a:t>the</a:t>
            </a:r>
            <a:r>
              <a:rPr sz="2400" spc="-65" dirty="0">
                <a:solidFill>
                  <a:srgbClr val="252525"/>
                </a:solidFill>
                <a:latin typeface="Times New Roman"/>
                <a:cs typeface="Times New Roman"/>
              </a:rPr>
              <a:t> </a:t>
            </a:r>
            <a:r>
              <a:rPr sz="2400" spc="-25" dirty="0">
                <a:solidFill>
                  <a:srgbClr val="252525"/>
                </a:solidFill>
                <a:latin typeface="Calibri"/>
                <a:cs typeface="Calibri"/>
              </a:rPr>
              <a:t>receiver,</a:t>
            </a:r>
            <a:r>
              <a:rPr sz="2400" spc="-80" dirty="0">
                <a:solidFill>
                  <a:srgbClr val="252525"/>
                </a:solidFill>
                <a:latin typeface="Times New Roman"/>
                <a:cs typeface="Times New Roman"/>
              </a:rPr>
              <a:t> </a:t>
            </a:r>
            <a:r>
              <a:rPr sz="2400" dirty="0">
                <a:solidFill>
                  <a:srgbClr val="252525"/>
                </a:solidFill>
                <a:latin typeface="Calibri"/>
                <a:cs typeface="Calibri"/>
              </a:rPr>
              <a:t>and</a:t>
            </a:r>
            <a:r>
              <a:rPr sz="2400" spc="-70" dirty="0">
                <a:solidFill>
                  <a:srgbClr val="252525"/>
                </a:solidFill>
                <a:latin typeface="Times New Roman"/>
                <a:cs typeface="Times New Roman"/>
              </a:rPr>
              <a:t> </a:t>
            </a:r>
            <a:r>
              <a:rPr sz="2400" dirty="0">
                <a:solidFill>
                  <a:srgbClr val="252525"/>
                </a:solidFill>
                <a:latin typeface="Calibri"/>
                <a:cs typeface="Calibri"/>
              </a:rPr>
              <a:t>it</a:t>
            </a:r>
            <a:r>
              <a:rPr sz="2400" spc="-70" dirty="0">
                <a:solidFill>
                  <a:srgbClr val="252525"/>
                </a:solidFill>
                <a:latin typeface="Times New Roman"/>
                <a:cs typeface="Times New Roman"/>
              </a:rPr>
              <a:t> </a:t>
            </a:r>
            <a:r>
              <a:rPr sz="2400" dirty="0">
                <a:solidFill>
                  <a:srgbClr val="252525"/>
                </a:solidFill>
                <a:latin typeface="Calibri"/>
                <a:cs typeface="Calibri"/>
              </a:rPr>
              <a:t>can</a:t>
            </a:r>
            <a:r>
              <a:rPr sz="2400" spc="-80" dirty="0">
                <a:solidFill>
                  <a:srgbClr val="252525"/>
                </a:solidFill>
                <a:latin typeface="Times New Roman"/>
                <a:cs typeface="Times New Roman"/>
              </a:rPr>
              <a:t> </a:t>
            </a:r>
            <a:r>
              <a:rPr sz="2400" dirty="0">
                <a:solidFill>
                  <a:srgbClr val="252525"/>
                </a:solidFill>
                <a:latin typeface="Calibri"/>
                <a:cs typeface="Calibri"/>
              </a:rPr>
              <a:t>be</a:t>
            </a:r>
            <a:r>
              <a:rPr sz="2400" spc="-65" dirty="0">
                <a:solidFill>
                  <a:srgbClr val="252525"/>
                </a:solidFill>
                <a:latin typeface="Times New Roman"/>
                <a:cs typeface="Times New Roman"/>
              </a:rPr>
              <a:t> </a:t>
            </a:r>
            <a:r>
              <a:rPr sz="2400" dirty="0">
                <a:solidFill>
                  <a:srgbClr val="252525"/>
                </a:solidFill>
                <a:latin typeface="Calibri"/>
                <a:cs typeface="Calibri"/>
              </a:rPr>
              <a:t>a</a:t>
            </a:r>
            <a:r>
              <a:rPr sz="2400" spc="-70" dirty="0">
                <a:solidFill>
                  <a:srgbClr val="252525"/>
                </a:solidFill>
                <a:latin typeface="Times New Roman"/>
                <a:cs typeface="Times New Roman"/>
              </a:rPr>
              <a:t> </a:t>
            </a:r>
            <a:r>
              <a:rPr sz="2400" spc="-20" dirty="0">
                <a:solidFill>
                  <a:srgbClr val="252525"/>
                </a:solidFill>
                <a:latin typeface="Calibri"/>
                <a:cs typeface="Calibri"/>
              </a:rPr>
              <a:t>computer,</a:t>
            </a:r>
            <a:r>
              <a:rPr sz="2400" spc="-20" dirty="0">
                <a:solidFill>
                  <a:srgbClr val="252525"/>
                </a:solidFill>
                <a:latin typeface="Times New Roman"/>
                <a:cs typeface="Times New Roman"/>
              </a:rPr>
              <a:t> </a:t>
            </a:r>
            <a:r>
              <a:rPr sz="2400" spc="-10" dirty="0">
                <a:solidFill>
                  <a:srgbClr val="252525"/>
                </a:solidFill>
                <a:latin typeface="Calibri"/>
                <a:cs typeface="Calibri"/>
              </a:rPr>
              <a:t>workstation,</a:t>
            </a:r>
            <a:r>
              <a:rPr sz="2400" spc="-135" dirty="0">
                <a:solidFill>
                  <a:srgbClr val="252525"/>
                </a:solidFill>
                <a:latin typeface="Times New Roman"/>
                <a:cs typeface="Times New Roman"/>
              </a:rPr>
              <a:t> </a:t>
            </a:r>
            <a:r>
              <a:rPr sz="2400" dirty="0">
                <a:solidFill>
                  <a:srgbClr val="252525"/>
                </a:solidFill>
                <a:latin typeface="Calibri"/>
                <a:cs typeface="Calibri"/>
              </a:rPr>
              <a:t>or</a:t>
            </a:r>
            <a:r>
              <a:rPr sz="2400" spc="-95" dirty="0">
                <a:solidFill>
                  <a:srgbClr val="252525"/>
                </a:solidFill>
                <a:latin typeface="Times New Roman"/>
                <a:cs typeface="Times New Roman"/>
              </a:rPr>
              <a:t> </a:t>
            </a:r>
            <a:r>
              <a:rPr sz="2400" dirty="0">
                <a:solidFill>
                  <a:srgbClr val="252525"/>
                </a:solidFill>
                <a:latin typeface="Calibri"/>
                <a:cs typeface="Calibri"/>
              </a:rPr>
              <a:t>any</a:t>
            </a:r>
            <a:r>
              <a:rPr sz="2400" spc="-95" dirty="0">
                <a:solidFill>
                  <a:srgbClr val="252525"/>
                </a:solidFill>
                <a:latin typeface="Times New Roman"/>
                <a:cs typeface="Times New Roman"/>
              </a:rPr>
              <a:t> </a:t>
            </a:r>
            <a:r>
              <a:rPr sz="2400" dirty="0">
                <a:solidFill>
                  <a:srgbClr val="252525"/>
                </a:solidFill>
                <a:latin typeface="Calibri"/>
                <a:cs typeface="Calibri"/>
              </a:rPr>
              <a:t>networking</a:t>
            </a:r>
            <a:r>
              <a:rPr sz="2400" spc="-105" dirty="0">
                <a:solidFill>
                  <a:srgbClr val="252525"/>
                </a:solidFill>
                <a:latin typeface="Times New Roman"/>
                <a:cs typeface="Times New Roman"/>
              </a:rPr>
              <a:t> </a:t>
            </a:r>
            <a:r>
              <a:rPr sz="2400" spc="-10" dirty="0">
                <a:solidFill>
                  <a:srgbClr val="252525"/>
                </a:solidFill>
                <a:latin typeface="Calibri"/>
                <a:cs typeface="Calibri"/>
              </a:rPr>
              <a:t>device.</a:t>
            </a:r>
            <a:endParaRPr sz="240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341828"/>
            <a:ext cx="10208895" cy="5625465"/>
          </a:xfrm>
          <a:prstGeom prst="rect">
            <a:avLst/>
          </a:prstGeom>
        </p:spPr>
        <p:txBody>
          <a:bodyPr vert="horz" wrap="square" lIns="0" tIns="251460" rIns="0" bIns="0" rtlCol="0">
            <a:spAutoFit/>
          </a:bodyPr>
          <a:lstStyle/>
          <a:p>
            <a:pPr marL="241300" indent="-228600">
              <a:lnSpc>
                <a:spcPct val="100000"/>
              </a:lnSpc>
              <a:spcBef>
                <a:spcPts val="1980"/>
              </a:spcBef>
              <a:buFont typeface="Arial"/>
              <a:buChar char="•"/>
              <a:tabLst>
                <a:tab pos="241300" algn="l"/>
              </a:tabLst>
            </a:pPr>
            <a:r>
              <a:rPr sz="2800" b="1" spc="-10" dirty="0">
                <a:solidFill>
                  <a:srgbClr val="252525"/>
                </a:solidFill>
                <a:latin typeface="Calibri"/>
                <a:cs typeface="Calibri"/>
              </a:rPr>
              <a:t>Receiver</a:t>
            </a:r>
            <a:endParaRPr sz="2800">
              <a:latin typeface="Calibri"/>
              <a:cs typeface="Calibri"/>
            </a:endParaRPr>
          </a:p>
          <a:p>
            <a:pPr marL="241300" marR="247015">
              <a:lnSpc>
                <a:spcPts val="3020"/>
              </a:lnSpc>
              <a:spcBef>
                <a:spcPts val="2255"/>
              </a:spcBef>
            </a:pPr>
            <a:r>
              <a:rPr sz="2800" dirty="0">
                <a:solidFill>
                  <a:srgbClr val="252525"/>
                </a:solidFill>
                <a:latin typeface="Calibri"/>
                <a:cs typeface="Calibri"/>
              </a:rPr>
              <a:t>The</a:t>
            </a:r>
            <a:r>
              <a:rPr sz="2800" spc="-145" dirty="0">
                <a:solidFill>
                  <a:srgbClr val="252525"/>
                </a:solidFill>
                <a:latin typeface="Times New Roman"/>
                <a:cs typeface="Times New Roman"/>
              </a:rPr>
              <a:t> </a:t>
            </a:r>
            <a:r>
              <a:rPr sz="2800" spc="-10" dirty="0">
                <a:solidFill>
                  <a:srgbClr val="252525"/>
                </a:solidFill>
                <a:latin typeface="Calibri"/>
                <a:cs typeface="Calibri"/>
              </a:rPr>
              <a:t>receiver</a:t>
            </a:r>
            <a:r>
              <a:rPr sz="2800" spc="-135" dirty="0">
                <a:solidFill>
                  <a:srgbClr val="252525"/>
                </a:solidFill>
                <a:latin typeface="Times New Roman"/>
                <a:cs typeface="Times New Roman"/>
              </a:rPr>
              <a:t> </a:t>
            </a:r>
            <a:r>
              <a:rPr sz="2800" dirty="0">
                <a:solidFill>
                  <a:srgbClr val="252525"/>
                </a:solidFill>
                <a:latin typeface="Calibri"/>
                <a:cs typeface="Calibri"/>
              </a:rPr>
              <a:t>device</a:t>
            </a:r>
            <a:r>
              <a:rPr sz="2800" spc="-130" dirty="0">
                <a:solidFill>
                  <a:srgbClr val="252525"/>
                </a:solidFill>
                <a:latin typeface="Times New Roman"/>
                <a:cs typeface="Times New Roman"/>
              </a:rPr>
              <a:t> </a:t>
            </a:r>
            <a:r>
              <a:rPr sz="2800" spc="-10" dirty="0">
                <a:solidFill>
                  <a:srgbClr val="252525"/>
                </a:solidFill>
                <a:latin typeface="Calibri"/>
                <a:cs typeface="Calibri"/>
              </a:rPr>
              <a:t>receives</a:t>
            </a:r>
            <a:r>
              <a:rPr sz="2800" spc="-125" dirty="0">
                <a:solidFill>
                  <a:srgbClr val="252525"/>
                </a:solidFill>
                <a:latin typeface="Times New Roman"/>
                <a:cs typeface="Times New Roman"/>
              </a:rPr>
              <a:t> </a:t>
            </a:r>
            <a:r>
              <a:rPr sz="2800" dirty="0">
                <a:solidFill>
                  <a:srgbClr val="252525"/>
                </a:solidFill>
                <a:latin typeface="Calibri"/>
                <a:cs typeface="Calibri"/>
              </a:rPr>
              <a:t>the</a:t>
            </a:r>
            <a:r>
              <a:rPr sz="2800" spc="-125" dirty="0">
                <a:solidFill>
                  <a:srgbClr val="252525"/>
                </a:solidFill>
                <a:latin typeface="Times New Roman"/>
                <a:cs typeface="Times New Roman"/>
              </a:rPr>
              <a:t> </a:t>
            </a:r>
            <a:r>
              <a:rPr sz="2800" spc="-10" dirty="0">
                <a:solidFill>
                  <a:srgbClr val="252525"/>
                </a:solidFill>
                <a:latin typeface="Calibri"/>
                <a:cs typeface="Calibri"/>
              </a:rPr>
              <a:t>messages</a:t>
            </a:r>
            <a:r>
              <a:rPr sz="2800" spc="-125" dirty="0">
                <a:solidFill>
                  <a:srgbClr val="252525"/>
                </a:solidFill>
                <a:latin typeface="Times New Roman"/>
                <a:cs typeface="Times New Roman"/>
              </a:rPr>
              <a:t> </a:t>
            </a:r>
            <a:r>
              <a:rPr sz="2800" dirty="0">
                <a:solidFill>
                  <a:srgbClr val="252525"/>
                </a:solidFill>
                <a:latin typeface="Calibri"/>
                <a:cs typeface="Calibri"/>
              </a:rPr>
              <a:t>from</a:t>
            </a:r>
            <a:r>
              <a:rPr sz="2800" spc="-120" dirty="0">
                <a:solidFill>
                  <a:srgbClr val="252525"/>
                </a:solidFill>
                <a:latin typeface="Times New Roman"/>
                <a:cs typeface="Times New Roman"/>
              </a:rPr>
              <a:t> </a:t>
            </a:r>
            <a:r>
              <a:rPr sz="2800" dirty="0">
                <a:solidFill>
                  <a:srgbClr val="252525"/>
                </a:solidFill>
                <a:latin typeface="Calibri"/>
                <a:cs typeface="Calibri"/>
              </a:rPr>
              <a:t>the</a:t>
            </a:r>
            <a:r>
              <a:rPr sz="2800" spc="-120" dirty="0">
                <a:solidFill>
                  <a:srgbClr val="252525"/>
                </a:solidFill>
                <a:latin typeface="Times New Roman"/>
                <a:cs typeface="Times New Roman"/>
              </a:rPr>
              <a:t> </a:t>
            </a:r>
            <a:r>
              <a:rPr sz="2800" dirty="0">
                <a:solidFill>
                  <a:srgbClr val="252525"/>
                </a:solidFill>
                <a:latin typeface="Calibri"/>
                <a:cs typeface="Calibri"/>
              </a:rPr>
              <a:t>medium,</a:t>
            </a:r>
            <a:r>
              <a:rPr sz="2800" spc="-110" dirty="0">
                <a:solidFill>
                  <a:srgbClr val="252525"/>
                </a:solidFill>
                <a:latin typeface="Times New Roman"/>
                <a:cs typeface="Times New Roman"/>
              </a:rPr>
              <a:t> </a:t>
            </a:r>
            <a:r>
              <a:rPr sz="2800" dirty="0">
                <a:solidFill>
                  <a:srgbClr val="252525"/>
                </a:solidFill>
                <a:latin typeface="Calibri"/>
                <a:cs typeface="Calibri"/>
              </a:rPr>
              <a:t>and</a:t>
            </a:r>
            <a:r>
              <a:rPr sz="2800" spc="-120" dirty="0">
                <a:solidFill>
                  <a:srgbClr val="252525"/>
                </a:solidFill>
                <a:latin typeface="Times New Roman"/>
                <a:cs typeface="Times New Roman"/>
              </a:rPr>
              <a:t> </a:t>
            </a:r>
            <a:r>
              <a:rPr sz="2800" spc="-25" dirty="0">
                <a:solidFill>
                  <a:srgbClr val="252525"/>
                </a:solidFill>
                <a:latin typeface="Calibri"/>
                <a:cs typeface="Calibri"/>
              </a:rPr>
              <a:t>it</a:t>
            </a:r>
            <a:r>
              <a:rPr sz="2800" spc="-25" dirty="0">
                <a:solidFill>
                  <a:srgbClr val="252525"/>
                </a:solidFill>
                <a:latin typeface="Times New Roman"/>
                <a:cs typeface="Times New Roman"/>
              </a:rPr>
              <a:t> </a:t>
            </a:r>
            <a:r>
              <a:rPr sz="2800" dirty="0">
                <a:solidFill>
                  <a:srgbClr val="252525"/>
                </a:solidFill>
                <a:latin typeface="Calibri"/>
                <a:cs typeface="Calibri"/>
              </a:rPr>
              <a:t>can</a:t>
            </a:r>
            <a:r>
              <a:rPr sz="2800" spc="-105" dirty="0">
                <a:solidFill>
                  <a:srgbClr val="252525"/>
                </a:solidFill>
                <a:latin typeface="Times New Roman"/>
                <a:cs typeface="Times New Roman"/>
              </a:rPr>
              <a:t> </a:t>
            </a:r>
            <a:r>
              <a:rPr sz="2800" dirty="0">
                <a:solidFill>
                  <a:srgbClr val="252525"/>
                </a:solidFill>
                <a:latin typeface="Calibri"/>
                <a:cs typeface="Calibri"/>
              </a:rPr>
              <a:t>be</a:t>
            </a:r>
            <a:r>
              <a:rPr sz="2800" spc="-125" dirty="0">
                <a:solidFill>
                  <a:srgbClr val="252525"/>
                </a:solidFill>
                <a:latin typeface="Times New Roman"/>
                <a:cs typeface="Times New Roman"/>
              </a:rPr>
              <a:t> </a:t>
            </a:r>
            <a:r>
              <a:rPr sz="2800" dirty="0">
                <a:solidFill>
                  <a:srgbClr val="252525"/>
                </a:solidFill>
                <a:latin typeface="Calibri"/>
                <a:cs typeface="Calibri"/>
              </a:rPr>
              <a:t>a</a:t>
            </a:r>
            <a:r>
              <a:rPr sz="2800" spc="-114" dirty="0">
                <a:solidFill>
                  <a:srgbClr val="252525"/>
                </a:solidFill>
                <a:latin typeface="Times New Roman"/>
                <a:cs typeface="Times New Roman"/>
              </a:rPr>
              <a:t> </a:t>
            </a:r>
            <a:r>
              <a:rPr sz="2800" spc="-40" dirty="0">
                <a:solidFill>
                  <a:srgbClr val="252525"/>
                </a:solidFill>
                <a:latin typeface="Calibri"/>
                <a:cs typeface="Calibri"/>
              </a:rPr>
              <a:t>computer,</a:t>
            </a:r>
            <a:r>
              <a:rPr sz="2800" spc="-95" dirty="0">
                <a:solidFill>
                  <a:srgbClr val="252525"/>
                </a:solidFill>
                <a:latin typeface="Times New Roman"/>
                <a:cs typeface="Times New Roman"/>
              </a:rPr>
              <a:t> </a:t>
            </a:r>
            <a:r>
              <a:rPr sz="2800" spc="-20" dirty="0">
                <a:solidFill>
                  <a:srgbClr val="252525"/>
                </a:solidFill>
                <a:latin typeface="Calibri"/>
                <a:cs typeface="Calibri"/>
              </a:rPr>
              <a:t>workstation,</a:t>
            </a:r>
            <a:r>
              <a:rPr sz="2800" spc="-100" dirty="0">
                <a:solidFill>
                  <a:srgbClr val="252525"/>
                </a:solidFill>
                <a:latin typeface="Times New Roman"/>
                <a:cs typeface="Times New Roman"/>
              </a:rPr>
              <a:t> </a:t>
            </a:r>
            <a:r>
              <a:rPr sz="2800" dirty="0">
                <a:solidFill>
                  <a:srgbClr val="252525"/>
                </a:solidFill>
                <a:latin typeface="Calibri"/>
                <a:cs typeface="Calibri"/>
              </a:rPr>
              <a:t>or</a:t>
            </a:r>
            <a:r>
              <a:rPr sz="2800" spc="-114" dirty="0">
                <a:solidFill>
                  <a:srgbClr val="252525"/>
                </a:solidFill>
                <a:latin typeface="Times New Roman"/>
                <a:cs typeface="Times New Roman"/>
              </a:rPr>
              <a:t> </a:t>
            </a:r>
            <a:r>
              <a:rPr sz="2800" dirty="0">
                <a:solidFill>
                  <a:srgbClr val="252525"/>
                </a:solidFill>
                <a:latin typeface="Calibri"/>
                <a:cs typeface="Calibri"/>
              </a:rPr>
              <a:t>any</a:t>
            </a:r>
            <a:r>
              <a:rPr sz="2800" spc="-110" dirty="0">
                <a:solidFill>
                  <a:srgbClr val="252525"/>
                </a:solidFill>
                <a:latin typeface="Times New Roman"/>
                <a:cs typeface="Times New Roman"/>
              </a:rPr>
              <a:t> </a:t>
            </a:r>
            <a:r>
              <a:rPr sz="2800" spc="-10" dirty="0">
                <a:solidFill>
                  <a:srgbClr val="252525"/>
                </a:solidFill>
                <a:latin typeface="Calibri"/>
                <a:cs typeface="Calibri"/>
              </a:rPr>
              <a:t>networking</a:t>
            </a:r>
            <a:r>
              <a:rPr sz="2800" spc="-114" dirty="0">
                <a:solidFill>
                  <a:srgbClr val="252525"/>
                </a:solidFill>
                <a:latin typeface="Times New Roman"/>
                <a:cs typeface="Times New Roman"/>
              </a:rPr>
              <a:t> </a:t>
            </a:r>
            <a:r>
              <a:rPr sz="2800" spc="-10" dirty="0">
                <a:solidFill>
                  <a:srgbClr val="252525"/>
                </a:solidFill>
                <a:latin typeface="Calibri"/>
                <a:cs typeface="Calibri"/>
              </a:rPr>
              <a:t>device.</a:t>
            </a:r>
            <a:endParaRPr sz="2800">
              <a:latin typeface="Calibri"/>
              <a:cs typeface="Calibri"/>
            </a:endParaRPr>
          </a:p>
          <a:p>
            <a:pPr marL="241300" indent="-228600">
              <a:lnSpc>
                <a:spcPct val="100000"/>
              </a:lnSpc>
              <a:spcBef>
                <a:spcPts val="625"/>
              </a:spcBef>
              <a:buFont typeface="Arial"/>
              <a:buChar char="•"/>
              <a:tabLst>
                <a:tab pos="241300" algn="l"/>
              </a:tabLst>
            </a:pPr>
            <a:r>
              <a:rPr sz="2800" b="1" spc="-25" dirty="0">
                <a:solidFill>
                  <a:srgbClr val="252525"/>
                </a:solidFill>
                <a:latin typeface="Calibri"/>
                <a:cs typeface="Calibri"/>
              </a:rPr>
              <a:t>Transmission</a:t>
            </a:r>
            <a:r>
              <a:rPr sz="2800" spc="-100" dirty="0">
                <a:solidFill>
                  <a:srgbClr val="252525"/>
                </a:solidFill>
                <a:latin typeface="Times New Roman"/>
                <a:cs typeface="Times New Roman"/>
              </a:rPr>
              <a:t> </a:t>
            </a:r>
            <a:r>
              <a:rPr sz="2800" b="1" spc="-10" dirty="0">
                <a:solidFill>
                  <a:srgbClr val="252525"/>
                </a:solidFill>
                <a:latin typeface="Calibri"/>
                <a:cs typeface="Calibri"/>
              </a:rPr>
              <a:t>Medium</a:t>
            </a:r>
            <a:endParaRPr sz="2800">
              <a:latin typeface="Calibri"/>
              <a:cs typeface="Calibri"/>
            </a:endParaRPr>
          </a:p>
          <a:p>
            <a:pPr marL="241300" marR="5080">
              <a:lnSpc>
                <a:spcPts val="3020"/>
              </a:lnSpc>
              <a:spcBef>
                <a:spcPts val="2245"/>
              </a:spcBef>
            </a:pPr>
            <a:r>
              <a:rPr sz="2800" dirty="0">
                <a:solidFill>
                  <a:srgbClr val="252525"/>
                </a:solidFill>
                <a:latin typeface="Calibri"/>
                <a:cs typeface="Calibri"/>
              </a:rPr>
              <a:t>The</a:t>
            </a:r>
            <a:r>
              <a:rPr sz="2800" spc="-145" dirty="0">
                <a:solidFill>
                  <a:srgbClr val="252525"/>
                </a:solidFill>
                <a:latin typeface="Times New Roman"/>
                <a:cs typeface="Times New Roman"/>
              </a:rPr>
              <a:t> </a:t>
            </a:r>
            <a:r>
              <a:rPr sz="2800" spc="-10" dirty="0">
                <a:solidFill>
                  <a:srgbClr val="252525"/>
                </a:solidFill>
                <a:latin typeface="Calibri"/>
                <a:cs typeface="Calibri"/>
              </a:rPr>
              <a:t>transmission</a:t>
            </a:r>
            <a:r>
              <a:rPr sz="2800" spc="-80" dirty="0">
                <a:solidFill>
                  <a:srgbClr val="252525"/>
                </a:solidFill>
                <a:latin typeface="Times New Roman"/>
                <a:cs typeface="Times New Roman"/>
              </a:rPr>
              <a:t> </a:t>
            </a:r>
            <a:r>
              <a:rPr sz="2800" dirty="0">
                <a:solidFill>
                  <a:srgbClr val="252525"/>
                </a:solidFill>
                <a:latin typeface="Calibri"/>
                <a:cs typeface="Calibri"/>
              </a:rPr>
              <a:t>medium</a:t>
            </a:r>
            <a:r>
              <a:rPr sz="2800" spc="-125" dirty="0">
                <a:solidFill>
                  <a:srgbClr val="252525"/>
                </a:solidFill>
                <a:latin typeface="Times New Roman"/>
                <a:cs typeface="Times New Roman"/>
              </a:rPr>
              <a:t> </a:t>
            </a:r>
            <a:r>
              <a:rPr sz="2800" dirty="0">
                <a:solidFill>
                  <a:srgbClr val="252525"/>
                </a:solidFill>
                <a:latin typeface="Calibri"/>
                <a:cs typeface="Calibri"/>
              </a:rPr>
              <a:t>is</a:t>
            </a:r>
            <a:r>
              <a:rPr sz="2800" spc="-130" dirty="0">
                <a:solidFill>
                  <a:srgbClr val="252525"/>
                </a:solidFill>
                <a:latin typeface="Times New Roman"/>
                <a:cs typeface="Times New Roman"/>
              </a:rPr>
              <a:t> </a:t>
            </a:r>
            <a:r>
              <a:rPr sz="2800" dirty="0">
                <a:solidFill>
                  <a:srgbClr val="252525"/>
                </a:solidFill>
                <a:latin typeface="Calibri"/>
                <a:cs typeface="Calibri"/>
              </a:rPr>
              <a:t>the</a:t>
            </a:r>
            <a:r>
              <a:rPr sz="2800" spc="-125" dirty="0">
                <a:solidFill>
                  <a:srgbClr val="252525"/>
                </a:solidFill>
                <a:latin typeface="Times New Roman"/>
                <a:cs typeface="Times New Roman"/>
              </a:rPr>
              <a:t> </a:t>
            </a:r>
            <a:r>
              <a:rPr sz="2800" spc="-10" dirty="0">
                <a:solidFill>
                  <a:srgbClr val="252525"/>
                </a:solidFill>
                <a:latin typeface="Calibri"/>
                <a:cs typeface="Calibri"/>
              </a:rPr>
              <a:t>physical</a:t>
            </a:r>
            <a:r>
              <a:rPr sz="2800" spc="-105" dirty="0">
                <a:solidFill>
                  <a:srgbClr val="252525"/>
                </a:solidFill>
                <a:latin typeface="Times New Roman"/>
                <a:cs typeface="Times New Roman"/>
              </a:rPr>
              <a:t> </a:t>
            </a:r>
            <a:r>
              <a:rPr sz="2800" spc="-10" dirty="0">
                <a:solidFill>
                  <a:srgbClr val="252525"/>
                </a:solidFill>
                <a:latin typeface="Calibri"/>
                <a:cs typeface="Calibri"/>
              </a:rPr>
              <a:t>connection</a:t>
            </a:r>
            <a:r>
              <a:rPr sz="2800" spc="-110" dirty="0">
                <a:solidFill>
                  <a:srgbClr val="252525"/>
                </a:solidFill>
                <a:latin typeface="Times New Roman"/>
                <a:cs typeface="Times New Roman"/>
              </a:rPr>
              <a:t> </a:t>
            </a:r>
            <a:r>
              <a:rPr sz="2800" spc="-10" dirty="0">
                <a:solidFill>
                  <a:srgbClr val="252525"/>
                </a:solidFill>
                <a:latin typeface="Calibri"/>
                <a:cs typeface="Calibri"/>
              </a:rPr>
              <a:t>through</a:t>
            </a:r>
            <a:r>
              <a:rPr sz="2800" spc="-105" dirty="0">
                <a:solidFill>
                  <a:srgbClr val="252525"/>
                </a:solidFill>
                <a:latin typeface="Times New Roman"/>
                <a:cs typeface="Times New Roman"/>
              </a:rPr>
              <a:t> </a:t>
            </a:r>
            <a:r>
              <a:rPr sz="2800" dirty="0">
                <a:solidFill>
                  <a:srgbClr val="252525"/>
                </a:solidFill>
                <a:latin typeface="Calibri"/>
                <a:cs typeface="Calibri"/>
              </a:rPr>
              <a:t>which</a:t>
            </a:r>
            <a:r>
              <a:rPr sz="2800" spc="-130" dirty="0">
                <a:solidFill>
                  <a:srgbClr val="252525"/>
                </a:solidFill>
                <a:latin typeface="Times New Roman"/>
                <a:cs typeface="Times New Roman"/>
              </a:rPr>
              <a:t> </a:t>
            </a:r>
            <a:r>
              <a:rPr sz="2800" spc="-50" dirty="0">
                <a:solidFill>
                  <a:srgbClr val="252525"/>
                </a:solidFill>
                <a:latin typeface="Calibri"/>
                <a:cs typeface="Calibri"/>
              </a:rPr>
              <a:t>a</a:t>
            </a:r>
            <a:r>
              <a:rPr sz="2800" spc="-50" dirty="0">
                <a:solidFill>
                  <a:srgbClr val="252525"/>
                </a:solidFill>
                <a:latin typeface="Times New Roman"/>
                <a:cs typeface="Times New Roman"/>
              </a:rPr>
              <a:t> </a:t>
            </a:r>
            <a:r>
              <a:rPr sz="2800" spc="-10" dirty="0">
                <a:solidFill>
                  <a:srgbClr val="252525"/>
                </a:solidFill>
                <a:latin typeface="Calibri"/>
                <a:cs typeface="Calibri"/>
              </a:rPr>
              <a:t>message</a:t>
            </a:r>
            <a:r>
              <a:rPr sz="2800" spc="-130" dirty="0">
                <a:solidFill>
                  <a:srgbClr val="252525"/>
                </a:solidFill>
                <a:latin typeface="Times New Roman"/>
                <a:cs typeface="Times New Roman"/>
              </a:rPr>
              <a:t> </a:t>
            </a:r>
            <a:r>
              <a:rPr sz="2800" dirty="0">
                <a:solidFill>
                  <a:srgbClr val="252525"/>
                </a:solidFill>
                <a:latin typeface="Calibri"/>
                <a:cs typeface="Calibri"/>
              </a:rPr>
              <a:t>can</a:t>
            </a:r>
            <a:r>
              <a:rPr sz="2800" spc="-105" dirty="0">
                <a:solidFill>
                  <a:srgbClr val="252525"/>
                </a:solidFill>
                <a:latin typeface="Times New Roman"/>
                <a:cs typeface="Times New Roman"/>
              </a:rPr>
              <a:t> </a:t>
            </a:r>
            <a:r>
              <a:rPr sz="2800" spc="-25" dirty="0">
                <a:solidFill>
                  <a:srgbClr val="252525"/>
                </a:solidFill>
                <a:latin typeface="Calibri"/>
                <a:cs typeface="Calibri"/>
              </a:rPr>
              <a:t>travel</a:t>
            </a:r>
            <a:r>
              <a:rPr sz="2800" spc="-120" dirty="0">
                <a:solidFill>
                  <a:srgbClr val="252525"/>
                </a:solidFill>
                <a:latin typeface="Times New Roman"/>
                <a:cs typeface="Times New Roman"/>
              </a:rPr>
              <a:t> </a:t>
            </a:r>
            <a:r>
              <a:rPr sz="2800" spc="-10" dirty="0">
                <a:solidFill>
                  <a:srgbClr val="252525"/>
                </a:solidFill>
                <a:latin typeface="Calibri"/>
                <a:cs typeface="Calibri"/>
              </a:rPr>
              <a:t>from</a:t>
            </a:r>
            <a:r>
              <a:rPr sz="2800" spc="-125" dirty="0">
                <a:solidFill>
                  <a:srgbClr val="252525"/>
                </a:solidFill>
                <a:latin typeface="Times New Roman"/>
                <a:cs typeface="Times New Roman"/>
              </a:rPr>
              <a:t> </a:t>
            </a:r>
            <a:r>
              <a:rPr sz="2800" dirty="0">
                <a:solidFill>
                  <a:srgbClr val="252525"/>
                </a:solidFill>
                <a:latin typeface="Calibri"/>
                <a:cs typeface="Calibri"/>
              </a:rPr>
              <a:t>the</a:t>
            </a:r>
            <a:r>
              <a:rPr sz="2800" spc="-120" dirty="0">
                <a:solidFill>
                  <a:srgbClr val="252525"/>
                </a:solidFill>
                <a:latin typeface="Times New Roman"/>
                <a:cs typeface="Times New Roman"/>
              </a:rPr>
              <a:t> </a:t>
            </a:r>
            <a:r>
              <a:rPr sz="2800" dirty="0">
                <a:solidFill>
                  <a:srgbClr val="252525"/>
                </a:solidFill>
                <a:latin typeface="Calibri"/>
                <a:cs typeface="Calibri"/>
              </a:rPr>
              <a:t>sender</a:t>
            </a:r>
            <a:r>
              <a:rPr sz="2800" spc="-105" dirty="0">
                <a:solidFill>
                  <a:srgbClr val="252525"/>
                </a:solidFill>
                <a:latin typeface="Times New Roman"/>
                <a:cs typeface="Times New Roman"/>
              </a:rPr>
              <a:t> </a:t>
            </a:r>
            <a:r>
              <a:rPr sz="2800" dirty="0">
                <a:solidFill>
                  <a:srgbClr val="252525"/>
                </a:solidFill>
                <a:latin typeface="Calibri"/>
                <a:cs typeface="Calibri"/>
              </a:rPr>
              <a:t>to</a:t>
            </a:r>
            <a:r>
              <a:rPr sz="2800" spc="-120" dirty="0">
                <a:solidFill>
                  <a:srgbClr val="252525"/>
                </a:solidFill>
                <a:latin typeface="Times New Roman"/>
                <a:cs typeface="Times New Roman"/>
              </a:rPr>
              <a:t> </a:t>
            </a:r>
            <a:r>
              <a:rPr sz="2800" dirty="0">
                <a:solidFill>
                  <a:srgbClr val="252525"/>
                </a:solidFill>
                <a:latin typeface="Calibri"/>
                <a:cs typeface="Calibri"/>
              </a:rPr>
              <a:t>the</a:t>
            </a:r>
            <a:r>
              <a:rPr sz="2800" spc="-110" dirty="0">
                <a:solidFill>
                  <a:srgbClr val="252525"/>
                </a:solidFill>
                <a:latin typeface="Times New Roman"/>
                <a:cs typeface="Times New Roman"/>
              </a:rPr>
              <a:t> </a:t>
            </a:r>
            <a:r>
              <a:rPr sz="2800" spc="-10" dirty="0">
                <a:solidFill>
                  <a:srgbClr val="252525"/>
                </a:solidFill>
                <a:latin typeface="Calibri"/>
                <a:cs typeface="Calibri"/>
              </a:rPr>
              <a:t>receiver</a:t>
            </a:r>
            <a:r>
              <a:rPr sz="2800" spc="-130" dirty="0">
                <a:solidFill>
                  <a:srgbClr val="252525"/>
                </a:solidFill>
                <a:latin typeface="Times New Roman"/>
                <a:cs typeface="Times New Roman"/>
              </a:rPr>
              <a:t> </a:t>
            </a:r>
            <a:r>
              <a:rPr sz="2800" dirty="0">
                <a:solidFill>
                  <a:srgbClr val="252525"/>
                </a:solidFill>
                <a:latin typeface="Calibri"/>
                <a:cs typeface="Calibri"/>
              </a:rPr>
              <a:t>and</a:t>
            </a:r>
            <a:r>
              <a:rPr sz="2800" spc="-105" dirty="0">
                <a:solidFill>
                  <a:srgbClr val="252525"/>
                </a:solidFill>
                <a:latin typeface="Times New Roman"/>
                <a:cs typeface="Times New Roman"/>
              </a:rPr>
              <a:t> </a:t>
            </a:r>
            <a:r>
              <a:rPr sz="2800" dirty="0">
                <a:solidFill>
                  <a:srgbClr val="252525"/>
                </a:solidFill>
                <a:latin typeface="Calibri"/>
                <a:cs typeface="Calibri"/>
              </a:rPr>
              <a:t>vice</a:t>
            </a:r>
            <a:r>
              <a:rPr sz="2800" spc="-125" dirty="0">
                <a:solidFill>
                  <a:srgbClr val="252525"/>
                </a:solidFill>
                <a:latin typeface="Times New Roman"/>
                <a:cs typeface="Times New Roman"/>
              </a:rPr>
              <a:t> </a:t>
            </a:r>
            <a:r>
              <a:rPr sz="2800" spc="-10" dirty="0">
                <a:solidFill>
                  <a:srgbClr val="252525"/>
                </a:solidFill>
                <a:latin typeface="Calibri"/>
                <a:cs typeface="Calibri"/>
              </a:rPr>
              <a:t>versa.</a:t>
            </a:r>
            <a:endParaRPr sz="2800">
              <a:latin typeface="Calibri"/>
              <a:cs typeface="Calibri"/>
            </a:endParaRPr>
          </a:p>
          <a:p>
            <a:pPr marL="241300">
              <a:lnSpc>
                <a:spcPts val="2985"/>
              </a:lnSpc>
            </a:pPr>
            <a:r>
              <a:rPr sz="2800" dirty="0">
                <a:solidFill>
                  <a:srgbClr val="252525"/>
                </a:solidFill>
                <a:latin typeface="Calibri"/>
                <a:cs typeface="Calibri"/>
              </a:rPr>
              <a:t>The</a:t>
            </a:r>
            <a:r>
              <a:rPr sz="2800" spc="-135" dirty="0">
                <a:solidFill>
                  <a:srgbClr val="252525"/>
                </a:solidFill>
                <a:latin typeface="Times New Roman"/>
                <a:cs typeface="Times New Roman"/>
              </a:rPr>
              <a:t> </a:t>
            </a:r>
            <a:r>
              <a:rPr sz="2800" dirty="0">
                <a:solidFill>
                  <a:srgbClr val="252525"/>
                </a:solidFill>
                <a:latin typeface="Calibri"/>
                <a:cs typeface="Calibri"/>
              </a:rPr>
              <a:t>medium</a:t>
            </a:r>
            <a:r>
              <a:rPr sz="2800" spc="-105" dirty="0">
                <a:solidFill>
                  <a:srgbClr val="252525"/>
                </a:solidFill>
                <a:latin typeface="Times New Roman"/>
                <a:cs typeface="Times New Roman"/>
              </a:rPr>
              <a:t> </a:t>
            </a:r>
            <a:r>
              <a:rPr sz="2800" dirty="0">
                <a:solidFill>
                  <a:srgbClr val="252525"/>
                </a:solidFill>
                <a:latin typeface="Calibri"/>
                <a:cs typeface="Calibri"/>
              </a:rPr>
              <a:t>can</a:t>
            </a:r>
            <a:r>
              <a:rPr sz="2800" spc="-120" dirty="0">
                <a:solidFill>
                  <a:srgbClr val="252525"/>
                </a:solidFill>
                <a:latin typeface="Times New Roman"/>
                <a:cs typeface="Times New Roman"/>
              </a:rPr>
              <a:t> </a:t>
            </a:r>
            <a:r>
              <a:rPr sz="2800" dirty="0">
                <a:solidFill>
                  <a:srgbClr val="252525"/>
                </a:solidFill>
                <a:latin typeface="Calibri"/>
                <a:cs typeface="Calibri"/>
              </a:rPr>
              <a:t>be</a:t>
            </a:r>
            <a:r>
              <a:rPr sz="2800" spc="-120" dirty="0">
                <a:solidFill>
                  <a:srgbClr val="252525"/>
                </a:solidFill>
                <a:latin typeface="Times New Roman"/>
                <a:cs typeface="Times New Roman"/>
              </a:rPr>
              <a:t> </a:t>
            </a:r>
            <a:r>
              <a:rPr sz="2800" dirty="0">
                <a:solidFill>
                  <a:srgbClr val="252525"/>
                </a:solidFill>
                <a:latin typeface="Calibri"/>
                <a:cs typeface="Calibri"/>
              </a:rPr>
              <a:t>wired</a:t>
            </a:r>
            <a:r>
              <a:rPr sz="2800" spc="-110" dirty="0">
                <a:solidFill>
                  <a:srgbClr val="252525"/>
                </a:solidFill>
                <a:latin typeface="Times New Roman"/>
                <a:cs typeface="Times New Roman"/>
              </a:rPr>
              <a:t> </a:t>
            </a:r>
            <a:r>
              <a:rPr sz="2800" dirty="0">
                <a:solidFill>
                  <a:srgbClr val="252525"/>
                </a:solidFill>
                <a:latin typeface="Calibri"/>
                <a:cs typeface="Calibri"/>
              </a:rPr>
              <a:t>or</a:t>
            </a:r>
            <a:r>
              <a:rPr sz="2800" spc="-125" dirty="0">
                <a:solidFill>
                  <a:srgbClr val="252525"/>
                </a:solidFill>
                <a:latin typeface="Times New Roman"/>
                <a:cs typeface="Times New Roman"/>
              </a:rPr>
              <a:t> </a:t>
            </a:r>
            <a:r>
              <a:rPr sz="2800" spc="-10" dirty="0">
                <a:solidFill>
                  <a:srgbClr val="252525"/>
                </a:solidFill>
                <a:latin typeface="Calibri"/>
                <a:cs typeface="Calibri"/>
              </a:rPr>
              <a:t>wireless.</a:t>
            </a:r>
            <a:endParaRPr sz="2800">
              <a:latin typeface="Calibri"/>
              <a:cs typeface="Calibri"/>
            </a:endParaRPr>
          </a:p>
          <a:p>
            <a:pPr marL="241300" indent="-228600">
              <a:lnSpc>
                <a:spcPct val="100000"/>
              </a:lnSpc>
              <a:spcBef>
                <a:spcPts val="670"/>
              </a:spcBef>
              <a:buFont typeface="Arial"/>
              <a:buChar char="•"/>
              <a:tabLst>
                <a:tab pos="241300" algn="l"/>
              </a:tabLst>
            </a:pPr>
            <a:r>
              <a:rPr sz="2800" b="1" spc="-10" dirty="0">
                <a:solidFill>
                  <a:srgbClr val="252525"/>
                </a:solidFill>
                <a:latin typeface="Calibri"/>
                <a:cs typeface="Calibri"/>
              </a:rPr>
              <a:t>Protocols</a:t>
            </a:r>
            <a:endParaRPr sz="2800">
              <a:latin typeface="Calibri"/>
              <a:cs typeface="Calibri"/>
            </a:endParaRPr>
          </a:p>
          <a:p>
            <a:pPr marL="927100" marR="858519">
              <a:lnSpc>
                <a:spcPct val="90000"/>
              </a:lnSpc>
              <a:spcBef>
                <a:spcPts val="2195"/>
              </a:spcBef>
            </a:pPr>
            <a:r>
              <a:rPr sz="2800" dirty="0">
                <a:solidFill>
                  <a:srgbClr val="252525"/>
                </a:solidFill>
                <a:latin typeface="Calibri"/>
                <a:cs typeface="Calibri"/>
              </a:rPr>
              <a:t>A</a:t>
            </a:r>
            <a:r>
              <a:rPr sz="2800" spc="-105" dirty="0">
                <a:solidFill>
                  <a:srgbClr val="252525"/>
                </a:solidFill>
                <a:latin typeface="Times New Roman"/>
                <a:cs typeface="Times New Roman"/>
              </a:rPr>
              <a:t> </a:t>
            </a:r>
            <a:r>
              <a:rPr sz="2800" spc="-25" dirty="0">
                <a:solidFill>
                  <a:srgbClr val="252525"/>
                </a:solidFill>
                <a:latin typeface="Calibri"/>
                <a:cs typeface="Calibri"/>
              </a:rPr>
              <a:t>protocol</a:t>
            </a:r>
            <a:r>
              <a:rPr sz="2800" spc="-110" dirty="0">
                <a:solidFill>
                  <a:srgbClr val="252525"/>
                </a:solidFill>
                <a:latin typeface="Times New Roman"/>
                <a:cs typeface="Times New Roman"/>
              </a:rPr>
              <a:t> </a:t>
            </a:r>
            <a:r>
              <a:rPr sz="2800" dirty="0">
                <a:solidFill>
                  <a:srgbClr val="252525"/>
                </a:solidFill>
                <a:latin typeface="Calibri"/>
                <a:cs typeface="Calibri"/>
              </a:rPr>
              <a:t>is</a:t>
            </a:r>
            <a:r>
              <a:rPr sz="2800" spc="-114" dirty="0">
                <a:solidFill>
                  <a:srgbClr val="252525"/>
                </a:solidFill>
                <a:latin typeface="Times New Roman"/>
                <a:cs typeface="Times New Roman"/>
              </a:rPr>
              <a:t> </a:t>
            </a:r>
            <a:r>
              <a:rPr sz="2800" dirty="0">
                <a:solidFill>
                  <a:srgbClr val="252525"/>
                </a:solidFill>
                <a:latin typeface="Calibri"/>
                <a:cs typeface="Calibri"/>
              </a:rPr>
              <a:t>a</a:t>
            </a:r>
            <a:r>
              <a:rPr sz="2800" spc="-114" dirty="0">
                <a:solidFill>
                  <a:srgbClr val="252525"/>
                </a:solidFill>
                <a:latin typeface="Times New Roman"/>
                <a:cs typeface="Times New Roman"/>
              </a:rPr>
              <a:t> </a:t>
            </a:r>
            <a:r>
              <a:rPr sz="2800" dirty="0">
                <a:solidFill>
                  <a:srgbClr val="252525"/>
                </a:solidFill>
                <a:latin typeface="Calibri"/>
                <a:cs typeface="Calibri"/>
              </a:rPr>
              <a:t>set</a:t>
            </a:r>
            <a:r>
              <a:rPr sz="2800" spc="-105" dirty="0">
                <a:solidFill>
                  <a:srgbClr val="252525"/>
                </a:solidFill>
                <a:latin typeface="Times New Roman"/>
                <a:cs typeface="Times New Roman"/>
              </a:rPr>
              <a:t> </a:t>
            </a:r>
            <a:r>
              <a:rPr sz="2800" dirty="0">
                <a:solidFill>
                  <a:srgbClr val="252525"/>
                </a:solidFill>
                <a:latin typeface="Calibri"/>
                <a:cs typeface="Calibri"/>
              </a:rPr>
              <a:t>of</a:t>
            </a:r>
            <a:r>
              <a:rPr sz="2800" spc="-114" dirty="0">
                <a:solidFill>
                  <a:srgbClr val="252525"/>
                </a:solidFill>
                <a:latin typeface="Times New Roman"/>
                <a:cs typeface="Times New Roman"/>
              </a:rPr>
              <a:t> </a:t>
            </a:r>
            <a:r>
              <a:rPr sz="2800" spc="-10" dirty="0">
                <a:solidFill>
                  <a:srgbClr val="252525"/>
                </a:solidFill>
                <a:latin typeface="Calibri"/>
                <a:cs typeface="Calibri"/>
              </a:rPr>
              <a:t>common</a:t>
            </a:r>
            <a:r>
              <a:rPr sz="2800" spc="-114" dirty="0">
                <a:solidFill>
                  <a:srgbClr val="252525"/>
                </a:solidFill>
                <a:latin typeface="Times New Roman"/>
                <a:cs typeface="Times New Roman"/>
              </a:rPr>
              <a:t> </a:t>
            </a:r>
            <a:r>
              <a:rPr sz="2800" dirty="0">
                <a:solidFill>
                  <a:srgbClr val="252525"/>
                </a:solidFill>
                <a:latin typeface="Calibri"/>
                <a:cs typeface="Calibri"/>
              </a:rPr>
              <a:t>rules</a:t>
            </a:r>
            <a:r>
              <a:rPr sz="2800" spc="-95" dirty="0">
                <a:solidFill>
                  <a:srgbClr val="252525"/>
                </a:solidFill>
                <a:latin typeface="Times New Roman"/>
                <a:cs typeface="Times New Roman"/>
              </a:rPr>
              <a:t> </a:t>
            </a:r>
            <a:r>
              <a:rPr sz="2800" dirty="0">
                <a:solidFill>
                  <a:srgbClr val="252525"/>
                </a:solidFill>
                <a:latin typeface="Calibri"/>
                <a:cs typeface="Calibri"/>
              </a:rPr>
              <a:t>that</a:t>
            </a:r>
            <a:r>
              <a:rPr sz="2800" spc="-105" dirty="0">
                <a:solidFill>
                  <a:srgbClr val="252525"/>
                </a:solidFill>
                <a:latin typeface="Times New Roman"/>
                <a:cs typeface="Times New Roman"/>
              </a:rPr>
              <a:t> </a:t>
            </a:r>
            <a:r>
              <a:rPr sz="2800" spc="-10" dirty="0">
                <a:solidFill>
                  <a:srgbClr val="252525"/>
                </a:solidFill>
                <a:latin typeface="Calibri"/>
                <a:cs typeface="Calibri"/>
              </a:rPr>
              <a:t>manages</a:t>
            </a:r>
            <a:r>
              <a:rPr sz="2800" spc="-114" dirty="0">
                <a:solidFill>
                  <a:srgbClr val="252525"/>
                </a:solidFill>
                <a:latin typeface="Times New Roman"/>
                <a:cs typeface="Times New Roman"/>
              </a:rPr>
              <a:t> </a:t>
            </a:r>
            <a:r>
              <a:rPr sz="2800" dirty="0">
                <a:solidFill>
                  <a:srgbClr val="252525"/>
                </a:solidFill>
                <a:latin typeface="Calibri"/>
                <a:cs typeface="Calibri"/>
              </a:rPr>
              <a:t>the</a:t>
            </a:r>
            <a:r>
              <a:rPr sz="2800" spc="-110" dirty="0">
                <a:solidFill>
                  <a:srgbClr val="252525"/>
                </a:solidFill>
                <a:latin typeface="Times New Roman"/>
                <a:cs typeface="Times New Roman"/>
              </a:rPr>
              <a:t> </a:t>
            </a:r>
            <a:r>
              <a:rPr sz="2800" spc="-20" dirty="0">
                <a:solidFill>
                  <a:srgbClr val="252525"/>
                </a:solidFill>
                <a:latin typeface="Calibri"/>
                <a:cs typeface="Calibri"/>
              </a:rPr>
              <a:t>data</a:t>
            </a:r>
            <a:r>
              <a:rPr sz="2800" spc="-20" dirty="0">
                <a:solidFill>
                  <a:srgbClr val="252525"/>
                </a:solidFill>
                <a:latin typeface="Times New Roman"/>
                <a:cs typeface="Times New Roman"/>
              </a:rPr>
              <a:t> </a:t>
            </a:r>
            <a:r>
              <a:rPr sz="2800" spc="-20" dirty="0">
                <a:solidFill>
                  <a:srgbClr val="252525"/>
                </a:solidFill>
                <a:latin typeface="Calibri"/>
                <a:cs typeface="Calibri"/>
              </a:rPr>
              <a:t>communication.</a:t>
            </a:r>
            <a:r>
              <a:rPr sz="2800" spc="-85" dirty="0">
                <a:solidFill>
                  <a:srgbClr val="252525"/>
                </a:solidFill>
                <a:latin typeface="Times New Roman"/>
                <a:cs typeface="Times New Roman"/>
              </a:rPr>
              <a:t> </a:t>
            </a:r>
            <a:r>
              <a:rPr sz="2800" dirty="0">
                <a:solidFill>
                  <a:srgbClr val="252525"/>
                </a:solidFill>
                <a:latin typeface="Calibri"/>
                <a:cs typeface="Calibri"/>
              </a:rPr>
              <a:t>Without</a:t>
            </a:r>
            <a:r>
              <a:rPr sz="2800" spc="-110" dirty="0">
                <a:solidFill>
                  <a:srgbClr val="252525"/>
                </a:solidFill>
                <a:latin typeface="Times New Roman"/>
                <a:cs typeface="Times New Roman"/>
              </a:rPr>
              <a:t> </a:t>
            </a:r>
            <a:r>
              <a:rPr sz="2800" dirty="0">
                <a:solidFill>
                  <a:srgbClr val="252525"/>
                </a:solidFill>
                <a:latin typeface="Calibri"/>
                <a:cs typeface="Calibri"/>
              </a:rPr>
              <a:t>a</a:t>
            </a:r>
            <a:r>
              <a:rPr sz="2800" spc="-125" dirty="0">
                <a:solidFill>
                  <a:srgbClr val="252525"/>
                </a:solidFill>
                <a:latin typeface="Times New Roman"/>
                <a:cs typeface="Times New Roman"/>
              </a:rPr>
              <a:t> </a:t>
            </a:r>
            <a:r>
              <a:rPr sz="2800" spc="-20" dirty="0">
                <a:solidFill>
                  <a:srgbClr val="252525"/>
                </a:solidFill>
                <a:latin typeface="Calibri"/>
                <a:cs typeface="Calibri"/>
              </a:rPr>
              <a:t>protocol,</a:t>
            </a:r>
            <a:r>
              <a:rPr sz="2800" spc="-110" dirty="0">
                <a:solidFill>
                  <a:srgbClr val="252525"/>
                </a:solidFill>
                <a:latin typeface="Times New Roman"/>
                <a:cs typeface="Times New Roman"/>
              </a:rPr>
              <a:t> </a:t>
            </a:r>
            <a:r>
              <a:rPr sz="2800" dirty="0">
                <a:solidFill>
                  <a:srgbClr val="252525"/>
                </a:solidFill>
                <a:latin typeface="Calibri"/>
                <a:cs typeface="Calibri"/>
              </a:rPr>
              <a:t>two</a:t>
            </a:r>
            <a:r>
              <a:rPr sz="2800" spc="-130" dirty="0">
                <a:solidFill>
                  <a:srgbClr val="252525"/>
                </a:solidFill>
                <a:latin typeface="Times New Roman"/>
                <a:cs typeface="Times New Roman"/>
              </a:rPr>
              <a:t> </a:t>
            </a:r>
            <a:r>
              <a:rPr sz="2800" dirty="0">
                <a:solidFill>
                  <a:srgbClr val="252525"/>
                </a:solidFill>
                <a:latin typeface="Calibri"/>
                <a:cs typeface="Calibri"/>
              </a:rPr>
              <a:t>devices</a:t>
            </a:r>
            <a:r>
              <a:rPr sz="2800" spc="-110" dirty="0">
                <a:solidFill>
                  <a:srgbClr val="252525"/>
                </a:solidFill>
                <a:latin typeface="Times New Roman"/>
                <a:cs typeface="Times New Roman"/>
              </a:rPr>
              <a:t> </a:t>
            </a:r>
            <a:r>
              <a:rPr sz="2800" dirty="0">
                <a:solidFill>
                  <a:srgbClr val="252525"/>
                </a:solidFill>
                <a:latin typeface="Calibri"/>
                <a:cs typeface="Calibri"/>
              </a:rPr>
              <a:t>can</a:t>
            </a:r>
            <a:r>
              <a:rPr sz="2800" spc="-114" dirty="0">
                <a:solidFill>
                  <a:srgbClr val="252525"/>
                </a:solidFill>
                <a:latin typeface="Times New Roman"/>
                <a:cs typeface="Times New Roman"/>
              </a:rPr>
              <a:t> </a:t>
            </a:r>
            <a:r>
              <a:rPr sz="2800" spc="-25" dirty="0">
                <a:solidFill>
                  <a:srgbClr val="252525"/>
                </a:solidFill>
                <a:latin typeface="Calibri"/>
                <a:cs typeface="Calibri"/>
              </a:rPr>
              <a:t>be</a:t>
            </a:r>
            <a:r>
              <a:rPr sz="2800" spc="-25" dirty="0">
                <a:solidFill>
                  <a:srgbClr val="252525"/>
                </a:solidFill>
                <a:latin typeface="Times New Roman"/>
                <a:cs typeface="Times New Roman"/>
              </a:rPr>
              <a:t> </a:t>
            </a:r>
            <a:r>
              <a:rPr sz="2800" spc="-10" dirty="0">
                <a:solidFill>
                  <a:srgbClr val="252525"/>
                </a:solidFill>
                <a:latin typeface="Calibri"/>
                <a:cs typeface="Calibri"/>
              </a:rPr>
              <a:t>connected</a:t>
            </a:r>
            <a:r>
              <a:rPr sz="2800" spc="-105" dirty="0">
                <a:solidFill>
                  <a:srgbClr val="252525"/>
                </a:solidFill>
                <a:latin typeface="Times New Roman"/>
                <a:cs typeface="Times New Roman"/>
              </a:rPr>
              <a:t> </a:t>
            </a:r>
            <a:r>
              <a:rPr sz="2800" dirty="0">
                <a:solidFill>
                  <a:srgbClr val="252525"/>
                </a:solidFill>
                <a:latin typeface="Calibri"/>
                <a:cs typeface="Calibri"/>
              </a:rPr>
              <a:t>but</a:t>
            </a:r>
            <a:r>
              <a:rPr sz="2800" spc="-110" dirty="0">
                <a:solidFill>
                  <a:srgbClr val="252525"/>
                </a:solidFill>
                <a:latin typeface="Times New Roman"/>
                <a:cs typeface="Times New Roman"/>
              </a:rPr>
              <a:t> </a:t>
            </a:r>
            <a:r>
              <a:rPr sz="2800" dirty="0">
                <a:solidFill>
                  <a:srgbClr val="252525"/>
                </a:solidFill>
                <a:latin typeface="Calibri"/>
                <a:cs typeface="Calibri"/>
              </a:rPr>
              <a:t>not</a:t>
            </a:r>
            <a:r>
              <a:rPr sz="2800" spc="-120" dirty="0">
                <a:solidFill>
                  <a:srgbClr val="252525"/>
                </a:solidFill>
                <a:latin typeface="Times New Roman"/>
                <a:cs typeface="Times New Roman"/>
              </a:rPr>
              <a:t> </a:t>
            </a:r>
            <a:r>
              <a:rPr sz="2800" dirty="0">
                <a:solidFill>
                  <a:srgbClr val="252525"/>
                </a:solidFill>
                <a:latin typeface="Calibri"/>
                <a:cs typeface="Calibri"/>
              </a:rPr>
              <a:t>be</a:t>
            </a:r>
            <a:r>
              <a:rPr sz="2800" spc="-120" dirty="0">
                <a:solidFill>
                  <a:srgbClr val="252525"/>
                </a:solidFill>
                <a:latin typeface="Times New Roman"/>
                <a:cs typeface="Times New Roman"/>
              </a:rPr>
              <a:t> </a:t>
            </a:r>
            <a:r>
              <a:rPr sz="2800" dirty="0">
                <a:solidFill>
                  <a:srgbClr val="252525"/>
                </a:solidFill>
                <a:latin typeface="Calibri"/>
                <a:cs typeface="Calibri"/>
              </a:rPr>
              <a:t>able</a:t>
            </a:r>
            <a:r>
              <a:rPr sz="2800" spc="-125" dirty="0">
                <a:solidFill>
                  <a:srgbClr val="252525"/>
                </a:solidFill>
                <a:latin typeface="Times New Roman"/>
                <a:cs typeface="Times New Roman"/>
              </a:rPr>
              <a:t> </a:t>
            </a:r>
            <a:r>
              <a:rPr sz="2800" dirty="0">
                <a:solidFill>
                  <a:srgbClr val="252525"/>
                </a:solidFill>
                <a:latin typeface="Calibri"/>
                <a:cs typeface="Calibri"/>
              </a:rPr>
              <a:t>to</a:t>
            </a:r>
            <a:r>
              <a:rPr sz="2800" spc="-125" dirty="0">
                <a:solidFill>
                  <a:srgbClr val="252525"/>
                </a:solidFill>
                <a:latin typeface="Times New Roman"/>
                <a:cs typeface="Times New Roman"/>
              </a:rPr>
              <a:t> </a:t>
            </a:r>
            <a:r>
              <a:rPr sz="2800" spc="-10" dirty="0">
                <a:solidFill>
                  <a:srgbClr val="252525"/>
                </a:solidFill>
                <a:latin typeface="Calibri"/>
                <a:cs typeface="Calibri"/>
              </a:rPr>
              <a:t>communicate.</a:t>
            </a:r>
            <a:endParaRPr sz="280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506277"/>
            <a:ext cx="10096500" cy="5424170"/>
          </a:xfrm>
          <a:prstGeom prst="rect">
            <a:avLst/>
          </a:prstGeom>
        </p:spPr>
        <p:txBody>
          <a:bodyPr vert="horz" wrap="square" lIns="0" tIns="60325" rIns="0" bIns="0" rtlCol="0">
            <a:spAutoFit/>
          </a:bodyPr>
          <a:lstStyle/>
          <a:p>
            <a:pPr marL="307975" indent="-295910">
              <a:lnSpc>
                <a:spcPct val="100000"/>
              </a:lnSpc>
              <a:spcBef>
                <a:spcPts val="475"/>
              </a:spcBef>
              <a:buSzPct val="96153"/>
              <a:buFont typeface="Wingdings"/>
              <a:buChar char=""/>
              <a:tabLst>
                <a:tab pos="308610" algn="l"/>
              </a:tabLst>
            </a:pPr>
            <a:r>
              <a:rPr sz="2600" b="1" spc="-10" dirty="0">
                <a:latin typeface="Aptos"/>
                <a:cs typeface="Aptos"/>
              </a:rPr>
              <a:t>Advantages</a:t>
            </a:r>
            <a:r>
              <a:rPr sz="2600" spc="-145" dirty="0">
                <a:latin typeface="Times New Roman"/>
                <a:cs typeface="Times New Roman"/>
              </a:rPr>
              <a:t> </a:t>
            </a:r>
            <a:r>
              <a:rPr sz="2600" b="1" dirty="0">
                <a:latin typeface="Aptos"/>
                <a:cs typeface="Aptos"/>
              </a:rPr>
              <a:t>of</a:t>
            </a:r>
            <a:r>
              <a:rPr sz="2600" spc="-75" dirty="0">
                <a:latin typeface="Times New Roman"/>
                <a:cs typeface="Times New Roman"/>
              </a:rPr>
              <a:t> </a:t>
            </a:r>
            <a:r>
              <a:rPr sz="2600" b="1" spc="-10" dirty="0">
                <a:latin typeface="Aptos"/>
                <a:cs typeface="Aptos"/>
              </a:rPr>
              <a:t>Computer</a:t>
            </a:r>
            <a:r>
              <a:rPr sz="2600" spc="-120" dirty="0">
                <a:latin typeface="Times New Roman"/>
                <a:cs typeface="Times New Roman"/>
              </a:rPr>
              <a:t> </a:t>
            </a:r>
            <a:r>
              <a:rPr sz="2600" b="1" spc="-10" dirty="0">
                <a:latin typeface="Aptos"/>
                <a:cs typeface="Aptos"/>
              </a:rPr>
              <a:t>Networking</a:t>
            </a:r>
            <a:endParaRPr sz="2600">
              <a:latin typeface="Aptos"/>
              <a:cs typeface="Aptos"/>
            </a:endParaRPr>
          </a:p>
          <a:p>
            <a:pPr marL="275590" indent="-263525">
              <a:lnSpc>
                <a:spcPts val="3115"/>
              </a:lnSpc>
              <a:spcBef>
                <a:spcPts val="375"/>
              </a:spcBef>
              <a:buSzPct val="96153"/>
              <a:buFont typeface="Wingdings"/>
              <a:buChar char=""/>
              <a:tabLst>
                <a:tab pos="276225" algn="l"/>
              </a:tabLst>
            </a:pPr>
            <a:r>
              <a:rPr sz="2600" b="1" dirty="0">
                <a:latin typeface="Aptos"/>
                <a:cs typeface="Aptos"/>
              </a:rPr>
              <a:t>Sharing</a:t>
            </a:r>
            <a:r>
              <a:rPr sz="2600" spc="-145" dirty="0">
                <a:latin typeface="Times New Roman"/>
                <a:cs typeface="Times New Roman"/>
              </a:rPr>
              <a:t> </a:t>
            </a:r>
            <a:r>
              <a:rPr sz="2600" b="1" spc="-10" dirty="0">
                <a:latin typeface="Aptos"/>
                <a:cs typeface="Aptos"/>
              </a:rPr>
              <a:t>Data</a:t>
            </a:r>
            <a:r>
              <a:rPr sz="2600" spc="-140" dirty="0">
                <a:latin typeface="Times New Roman"/>
                <a:cs typeface="Times New Roman"/>
              </a:rPr>
              <a:t> </a:t>
            </a:r>
            <a:r>
              <a:rPr sz="2600" b="1" dirty="0">
                <a:latin typeface="Aptos"/>
                <a:cs typeface="Aptos"/>
              </a:rPr>
              <a:t>and</a:t>
            </a:r>
            <a:r>
              <a:rPr sz="2600" spc="-125" dirty="0">
                <a:latin typeface="Times New Roman"/>
                <a:cs typeface="Times New Roman"/>
              </a:rPr>
              <a:t> </a:t>
            </a:r>
            <a:r>
              <a:rPr sz="2600" b="1" spc="-10" dirty="0">
                <a:latin typeface="Aptos"/>
                <a:cs typeface="Aptos"/>
              </a:rPr>
              <a:t>Resources</a:t>
            </a:r>
            <a:endParaRPr sz="2600">
              <a:latin typeface="Aptos"/>
              <a:cs typeface="Aptos"/>
            </a:endParaRPr>
          </a:p>
          <a:p>
            <a:pPr marL="469900" marR="165735">
              <a:lnSpc>
                <a:spcPts val="2110"/>
              </a:lnSpc>
              <a:spcBef>
                <a:spcPts val="509"/>
              </a:spcBef>
            </a:pPr>
            <a:r>
              <a:rPr sz="2200" spc="-10" dirty="0">
                <a:latin typeface="Aptos"/>
                <a:cs typeface="Aptos"/>
              </a:rPr>
              <a:t>Enables</a:t>
            </a:r>
            <a:r>
              <a:rPr sz="2200" spc="-95" dirty="0">
                <a:latin typeface="Times New Roman"/>
                <a:cs typeface="Times New Roman"/>
              </a:rPr>
              <a:t> </a:t>
            </a:r>
            <a:r>
              <a:rPr sz="2200" spc="-10" dirty="0">
                <a:latin typeface="Aptos"/>
                <a:cs typeface="Aptos"/>
              </a:rPr>
              <a:t>multiple</a:t>
            </a:r>
            <a:r>
              <a:rPr sz="2200" spc="-105" dirty="0">
                <a:latin typeface="Times New Roman"/>
                <a:cs typeface="Times New Roman"/>
              </a:rPr>
              <a:t> </a:t>
            </a:r>
            <a:r>
              <a:rPr sz="2200" spc="-10" dirty="0">
                <a:latin typeface="Aptos"/>
                <a:cs typeface="Aptos"/>
              </a:rPr>
              <a:t>users</a:t>
            </a:r>
            <a:r>
              <a:rPr sz="2200" spc="-95" dirty="0">
                <a:latin typeface="Times New Roman"/>
                <a:cs typeface="Times New Roman"/>
              </a:rPr>
              <a:t> </a:t>
            </a:r>
            <a:r>
              <a:rPr sz="2200" dirty="0">
                <a:latin typeface="Aptos"/>
                <a:cs typeface="Aptos"/>
              </a:rPr>
              <a:t>to</a:t>
            </a:r>
            <a:r>
              <a:rPr sz="2200" spc="-110" dirty="0">
                <a:latin typeface="Times New Roman"/>
                <a:cs typeface="Times New Roman"/>
              </a:rPr>
              <a:t> </a:t>
            </a:r>
            <a:r>
              <a:rPr sz="2200" spc="-10" dirty="0">
                <a:latin typeface="Aptos"/>
                <a:cs typeface="Aptos"/>
              </a:rPr>
              <a:t>access</a:t>
            </a:r>
            <a:r>
              <a:rPr sz="2200" spc="-90" dirty="0">
                <a:latin typeface="Times New Roman"/>
                <a:cs typeface="Times New Roman"/>
              </a:rPr>
              <a:t> </a:t>
            </a:r>
            <a:r>
              <a:rPr sz="2200" spc="-10" dirty="0">
                <a:latin typeface="Aptos"/>
                <a:cs typeface="Aptos"/>
              </a:rPr>
              <a:t>files,</a:t>
            </a:r>
            <a:r>
              <a:rPr sz="2200" spc="-110" dirty="0">
                <a:latin typeface="Times New Roman"/>
                <a:cs typeface="Times New Roman"/>
              </a:rPr>
              <a:t> </a:t>
            </a:r>
            <a:r>
              <a:rPr sz="2200" spc="-20" dirty="0">
                <a:latin typeface="Aptos"/>
                <a:cs typeface="Aptos"/>
              </a:rPr>
              <a:t>printers,</a:t>
            </a:r>
            <a:r>
              <a:rPr sz="2200" spc="-90" dirty="0">
                <a:latin typeface="Times New Roman"/>
                <a:cs typeface="Times New Roman"/>
              </a:rPr>
              <a:t> </a:t>
            </a:r>
            <a:r>
              <a:rPr sz="2200" spc="-10" dirty="0">
                <a:latin typeface="Aptos"/>
                <a:cs typeface="Aptos"/>
              </a:rPr>
              <a:t>and</a:t>
            </a:r>
            <a:r>
              <a:rPr sz="2200" spc="-110" dirty="0">
                <a:latin typeface="Times New Roman"/>
                <a:cs typeface="Times New Roman"/>
              </a:rPr>
              <a:t> </a:t>
            </a:r>
            <a:r>
              <a:rPr sz="2200" spc="-25" dirty="0">
                <a:latin typeface="Aptos"/>
                <a:cs typeface="Aptos"/>
              </a:rPr>
              <a:t>storage</a:t>
            </a:r>
            <a:r>
              <a:rPr sz="2200" spc="-100" dirty="0">
                <a:latin typeface="Times New Roman"/>
                <a:cs typeface="Times New Roman"/>
              </a:rPr>
              <a:t> </a:t>
            </a:r>
            <a:r>
              <a:rPr sz="2200" spc="-10" dirty="0">
                <a:latin typeface="Aptos"/>
                <a:cs typeface="Aptos"/>
              </a:rPr>
              <a:t>devices</a:t>
            </a:r>
            <a:r>
              <a:rPr sz="2200" spc="-85" dirty="0">
                <a:latin typeface="Times New Roman"/>
                <a:cs typeface="Times New Roman"/>
              </a:rPr>
              <a:t> </a:t>
            </a:r>
            <a:r>
              <a:rPr sz="2200" spc="-20" dirty="0">
                <a:latin typeface="Aptos"/>
                <a:cs typeface="Aptos"/>
              </a:rPr>
              <a:t>across</a:t>
            </a:r>
            <a:r>
              <a:rPr sz="2200" spc="-105" dirty="0">
                <a:latin typeface="Times New Roman"/>
                <a:cs typeface="Times New Roman"/>
              </a:rPr>
              <a:t> </a:t>
            </a:r>
            <a:r>
              <a:rPr sz="2200" spc="-25" dirty="0">
                <a:latin typeface="Aptos"/>
                <a:cs typeface="Aptos"/>
              </a:rPr>
              <a:t>the</a:t>
            </a:r>
            <a:r>
              <a:rPr sz="2200" spc="-25" dirty="0">
                <a:latin typeface="Times New Roman"/>
                <a:cs typeface="Times New Roman"/>
              </a:rPr>
              <a:t> </a:t>
            </a:r>
            <a:r>
              <a:rPr sz="2200" spc="-20" dirty="0">
                <a:latin typeface="Aptos"/>
                <a:cs typeface="Aptos"/>
              </a:rPr>
              <a:t>network,</a:t>
            </a:r>
            <a:r>
              <a:rPr sz="2200" spc="-80" dirty="0">
                <a:latin typeface="Times New Roman"/>
                <a:cs typeface="Times New Roman"/>
              </a:rPr>
              <a:t> </a:t>
            </a:r>
            <a:r>
              <a:rPr sz="2200" spc="-20" dirty="0">
                <a:latin typeface="Aptos"/>
                <a:cs typeface="Aptos"/>
              </a:rPr>
              <a:t>reducing</a:t>
            </a:r>
            <a:r>
              <a:rPr sz="2200" spc="-90" dirty="0">
                <a:latin typeface="Times New Roman"/>
                <a:cs typeface="Times New Roman"/>
              </a:rPr>
              <a:t> </a:t>
            </a:r>
            <a:r>
              <a:rPr sz="2200" spc="-10" dirty="0">
                <a:latin typeface="Aptos"/>
                <a:cs typeface="Aptos"/>
              </a:rPr>
              <a:t>redundancy</a:t>
            </a:r>
            <a:r>
              <a:rPr sz="2200" spc="-65" dirty="0">
                <a:latin typeface="Times New Roman"/>
                <a:cs typeface="Times New Roman"/>
              </a:rPr>
              <a:t> </a:t>
            </a:r>
            <a:r>
              <a:rPr sz="2200" spc="-10" dirty="0">
                <a:latin typeface="Aptos"/>
                <a:cs typeface="Aptos"/>
              </a:rPr>
              <a:t>and</a:t>
            </a:r>
            <a:r>
              <a:rPr sz="2200" spc="-90" dirty="0">
                <a:latin typeface="Times New Roman"/>
                <a:cs typeface="Times New Roman"/>
              </a:rPr>
              <a:t> </a:t>
            </a:r>
            <a:r>
              <a:rPr sz="2200" spc="-10" dirty="0">
                <a:latin typeface="Aptos"/>
                <a:cs typeface="Aptos"/>
              </a:rPr>
              <a:t>costs.</a:t>
            </a:r>
            <a:endParaRPr sz="2200">
              <a:latin typeface="Aptos"/>
              <a:cs typeface="Aptos"/>
            </a:endParaRPr>
          </a:p>
          <a:p>
            <a:pPr marL="276225" indent="-264160">
              <a:lnSpc>
                <a:spcPts val="3115"/>
              </a:lnSpc>
              <a:spcBef>
                <a:spcPts val="375"/>
              </a:spcBef>
              <a:buSzPct val="96153"/>
              <a:buFont typeface="Wingdings"/>
              <a:buChar char=""/>
              <a:tabLst>
                <a:tab pos="276860" algn="l"/>
              </a:tabLst>
            </a:pPr>
            <a:r>
              <a:rPr sz="2600" b="1" spc="-10" dirty="0">
                <a:latin typeface="Aptos"/>
                <a:cs typeface="Aptos"/>
              </a:rPr>
              <a:t>Faster</a:t>
            </a:r>
            <a:r>
              <a:rPr sz="2600" spc="-165" dirty="0">
                <a:latin typeface="Times New Roman"/>
                <a:cs typeface="Times New Roman"/>
              </a:rPr>
              <a:t> </a:t>
            </a:r>
            <a:r>
              <a:rPr sz="2600" b="1" dirty="0">
                <a:latin typeface="Aptos"/>
                <a:cs typeface="Aptos"/>
              </a:rPr>
              <a:t>and</a:t>
            </a:r>
            <a:r>
              <a:rPr sz="2600" spc="-130" dirty="0">
                <a:latin typeface="Times New Roman"/>
                <a:cs typeface="Times New Roman"/>
              </a:rPr>
              <a:t> </a:t>
            </a:r>
            <a:r>
              <a:rPr sz="2600" b="1" dirty="0">
                <a:latin typeface="Aptos"/>
                <a:cs typeface="Aptos"/>
              </a:rPr>
              <a:t>Cheaper</a:t>
            </a:r>
            <a:r>
              <a:rPr sz="2600" spc="-140" dirty="0">
                <a:latin typeface="Times New Roman"/>
                <a:cs typeface="Times New Roman"/>
              </a:rPr>
              <a:t> </a:t>
            </a:r>
            <a:r>
              <a:rPr sz="2600" b="1" spc="-10" dirty="0">
                <a:latin typeface="Aptos"/>
                <a:cs typeface="Aptos"/>
              </a:rPr>
              <a:t>Communication</a:t>
            </a:r>
            <a:endParaRPr sz="2600">
              <a:latin typeface="Aptos"/>
              <a:cs typeface="Aptos"/>
            </a:endParaRPr>
          </a:p>
          <a:p>
            <a:pPr marL="469900" marR="5080">
              <a:lnSpc>
                <a:spcPts val="2110"/>
              </a:lnSpc>
              <a:spcBef>
                <a:spcPts val="509"/>
              </a:spcBef>
            </a:pPr>
            <a:r>
              <a:rPr sz="2200" spc="-10" dirty="0">
                <a:latin typeface="Aptos"/>
                <a:cs typeface="Aptos"/>
              </a:rPr>
              <a:t>Instant</a:t>
            </a:r>
            <a:r>
              <a:rPr sz="2200" spc="-95" dirty="0">
                <a:latin typeface="Times New Roman"/>
                <a:cs typeface="Times New Roman"/>
              </a:rPr>
              <a:t> </a:t>
            </a:r>
            <a:r>
              <a:rPr sz="2200" spc="-10" dirty="0">
                <a:latin typeface="Aptos"/>
                <a:cs typeface="Aptos"/>
              </a:rPr>
              <a:t>messaging,</a:t>
            </a:r>
            <a:r>
              <a:rPr sz="2200" spc="-85" dirty="0">
                <a:latin typeface="Times New Roman"/>
                <a:cs typeface="Times New Roman"/>
              </a:rPr>
              <a:t> </a:t>
            </a:r>
            <a:r>
              <a:rPr sz="2200" spc="-10" dirty="0">
                <a:latin typeface="Aptos"/>
                <a:cs typeface="Aptos"/>
              </a:rPr>
              <a:t>email,</a:t>
            </a:r>
            <a:r>
              <a:rPr sz="2200" spc="-105" dirty="0">
                <a:latin typeface="Times New Roman"/>
                <a:cs typeface="Times New Roman"/>
              </a:rPr>
              <a:t> </a:t>
            </a:r>
            <a:r>
              <a:rPr sz="2200" dirty="0">
                <a:latin typeface="Aptos"/>
                <a:cs typeface="Aptos"/>
              </a:rPr>
              <a:t>and</a:t>
            </a:r>
            <a:r>
              <a:rPr sz="2200" spc="-95" dirty="0">
                <a:latin typeface="Times New Roman"/>
                <a:cs typeface="Times New Roman"/>
              </a:rPr>
              <a:t> </a:t>
            </a:r>
            <a:r>
              <a:rPr sz="2200" spc="-40" dirty="0">
                <a:latin typeface="Aptos"/>
                <a:cs typeface="Aptos"/>
              </a:rPr>
              <a:t>VoIP</a:t>
            </a:r>
            <a:r>
              <a:rPr sz="2200" spc="-100" dirty="0">
                <a:latin typeface="Times New Roman"/>
                <a:cs typeface="Times New Roman"/>
              </a:rPr>
              <a:t> </a:t>
            </a:r>
            <a:r>
              <a:rPr sz="2200" spc="-10" dirty="0">
                <a:latin typeface="Aptos"/>
                <a:cs typeface="Aptos"/>
              </a:rPr>
              <a:t>replace</a:t>
            </a:r>
            <a:r>
              <a:rPr sz="2200" spc="-85" dirty="0">
                <a:latin typeface="Times New Roman"/>
                <a:cs typeface="Times New Roman"/>
              </a:rPr>
              <a:t> </a:t>
            </a:r>
            <a:r>
              <a:rPr sz="2200" spc="-20" dirty="0">
                <a:latin typeface="Aptos"/>
                <a:cs typeface="Aptos"/>
              </a:rPr>
              <a:t>traditional</a:t>
            </a:r>
            <a:r>
              <a:rPr sz="2200" spc="-95" dirty="0">
                <a:latin typeface="Times New Roman"/>
                <a:cs typeface="Times New Roman"/>
              </a:rPr>
              <a:t> </a:t>
            </a:r>
            <a:r>
              <a:rPr sz="2200" spc="-20" dirty="0">
                <a:latin typeface="Aptos"/>
                <a:cs typeface="Aptos"/>
              </a:rPr>
              <a:t>methods,</a:t>
            </a:r>
            <a:r>
              <a:rPr sz="2200" spc="-85" dirty="0">
                <a:latin typeface="Times New Roman"/>
                <a:cs typeface="Times New Roman"/>
              </a:rPr>
              <a:t> </a:t>
            </a:r>
            <a:r>
              <a:rPr sz="2200" spc="-10" dirty="0">
                <a:latin typeface="Aptos"/>
                <a:cs typeface="Aptos"/>
              </a:rPr>
              <a:t>saving</a:t>
            </a:r>
            <a:r>
              <a:rPr sz="2200" spc="-110" dirty="0">
                <a:latin typeface="Times New Roman"/>
                <a:cs typeface="Times New Roman"/>
              </a:rPr>
              <a:t> </a:t>
            </a:r>
            <a:r>
              <a:rPr sz="2200" spc="-10" dirty="0">
                <a:latin typeface="Aptos"/>
                <a:cs typeface="Aptos"/>
              </a:rPr>
              <a:t>time</a:t>
            </a:r>
            <a:r>
              <a:rPr sz="2200" spc="-100" dirty="0">
                <a:latin typeface="Times New Roman"/>
                <a:cs typeface="Times New Roman"/>
              </a:rPr>
              <a:t> </a:t>
            </a:r>
            <a:r>
              <a:rPr sz="2200" spc="-25" dirty="0">
                <a:latin typeface="Aptos"/>
                <a:cs typeface="Aptos"/>
              </a:rPr>
              <a:t>and</a:t>
            </a:r>
            <a:r>
              <a:rPr sz="2200" spc="-25" dirty="0">
                <a:latin typeface="Times New Roman"/>
                <a:cs typeface="Times New Roman"/>
              </a:rPr>
              <a:t> </a:t>
            </a:r>
            <a:r>
              <a:rPr sz="2200" spc="-20" dirty="0">
                <a:latin typeface="Aptos"/>
                <a:cs typeface="Aptos"/>
              </a:rPr>
              <a:t>expenses</a:t>
            </a:r>
            <a:r>
              <a:rPr sz="2200" spc="-60" dirty="0">
                <a:latin typeface="Times New Roman"/>
                <a:cs typeface="Times New Roman"/>
              </a:rPr>
              <a:t> </a:t>
            </a:r>
            <a:r>
              <a:rPr sz="2200" spc="-20" dirty="0">
                <a:latin typeface="Aptos"/>
                <a:cs typeface="Aptos"/>
              </a:rPr>
              <a:t>(e.g.,</a:t>
            </a:r>
            <a:r>
              <a:rPr sz="2200" spc="-100" dirty="0">
                <a:latin typeface="Times New Roman"/>
                <a:cs typeface="Times New Roman"/>
              </a:rPr>
              <a:t> </a:t>
            </a:r>
            <a:r>
              <a:rPr sz="2200" spc="-20" dirty="0">
                <a:latin typeface="Aptos"/>
                <a:cs typeface="Aptos"/>
              </a:rPr>
              <a:t>reduced</a:t>
            </a:r>
            <a:r>
              <a:rPr sz="2200" spc="-80" dirty="0">
                <a:latin typeface="Times New Roman"/>
                <a:cs typeface="Times New Roman"/>
              </a:rPr>
              <a:t> </a:t>
            </a:r>
            <a:r>
              <a:rPr sz="2200" spc="-25" dirty="0">
                <a:latin typeface="Aptos"/>
                <a:cs typeface="Aptos"/>
              </a:rPr>
              <a:t>travel</a:t>
            </a:r>
            <a:r>
              <a:rPr sz="2200" spc="-80" dirty="0">
                <a:latin typeface="Times New Roman"/>
                <a:cs typeface="Times New Roman"/>
              </a:rPr>
              <a:t> </a:t>
            </a:r>
            <a:r>
              <a:rPr sz="2200" spc="-10" dirty="0">
                <a:latin typeface="Aptos"/>
                <a:cs typeface="Aptos"/>
              </a:rPr>
              <a:t>for</a:t>
            </a:r>
            <a:r>
              <a:rPr sz="2200" spc="-105" dirty="0">
                <a:latin typeface="Times New Roman"/>
                <a:cs typeface="Times New Roman"/>
              </a:rPr>
              <a:t> </a:t>
            </a:r>
            <a:r>
              <a:rPr sz="2200" spc="-10" dirty="0">
                <a:latin typeface="Aptos"/>
                <a:cs typeface="Aptos"/>
              </a:rPr>
              <a:t>meetings).</a:t>
            </a:r>
            <a:endParaRPr sz="2200">
              <a:latin typeface="Aptos"/>
              <a:cs typeface="Aptos"/>
            </a:endParaRPr>
          </a:p>
          <a:p>
            <a:pPr marL="275590" indent="-263525">
              <a:lnSpc>
                <a:spcPts val="3115"/>
              </a:lnSpc>
              <a:spcBef>
                <a:spcPts val="375"/>
              </a:spcBef>
              <a:buSzPct val="96153"/>
              <a:buFont typeface="Wingdings"/>
              <a:buChar char=""/>
              <a:tabLst>
                <a:tab pos="276225" algn="l"/>
              </a:tabLst>
            </a:pPr>
            <a:r>
              <a:rPr sz="2600" b="1" spc="-10" dirty="0">
                <a:latin typeface="Aptos"/>
                <a:cs typeface="Aptos"/>
              </a:rPr>
              <a:t>Centralized</a:t>
            </a:r>
            <a:r>
              <a:rPr sz="2600" spc="-165" dirty="0">
                <a:latin typeface="Times New Roman"/>
                <a:cs typeface="Times New Roman"/>
              </a:rPr>
              <a:t> </a:t>
            </a:r>
            <a:r>
              <a:rPr sz="2600" b="1" spc="-10" dirty="0">
                <a:latin typeface="Aptos"/>
                <a:cs typeface="Aptos"/>
              </a:rPr>
              <a:t>Control</a:t>
            </a:r>
            <a:endParaRPr sz="2600">
              <a:latin typeface="Aptos"/>
              <a:cs typeface="Aptos"/>
            </a:endParaRPr>
          </a:p>
          <a:p>
            <a:pPr marL="469900">
              <a:lnSpc>
                <a:spcPts val="2375"/>
              </a:lnSpc>
            </a:pPr>
            <a:r>
              <a:rPr sz="2200" spc="-10" dirty="0">
                <a:latin typeface="Aptos"/>
                <a:cs typeface="Aptos"/>
              </a:rPr>
              <a:t>Simplifies</a:t>
            </a:r>
            <a:r>
              <a:rPr sz="2200" spc="-95" dirty="0">
                <a:latin typeface="Times New Roman"/>
                <a:cs typeface="Times New Roman"/>
              </a:rPr>
              <a:t> </a:t>
            </a:r>
            <a:r>
              <a:rPr sz="2200" spc="-20" dirty="0">
                <a:latin typeface="Aptos"/>
                <a:cs typeface="Aptos"/>
              </a:rPr>
              <a:t>management</a:t>
            </a:r>
            <a:r>
              <a:rPr sz="2200" spc="-75" dirty="0">
                <a:latin typeface="Times New Roman"/>
                <a:cs typeface="Times New Roman"/>
              </a:rPr>
              <a:t> </a:t>
            </a:r>
            <a:r>
              <a:rPr sz="2200" dirty="0">
                <a:latin typeface="Aptos"/>
                <a:cs typeface="Aptos"/>
              </a:rPr>
              <a:t>of</a:t>
            </a:r>
            <a:r>
              <a:rPr sz="2200" spc="-110" dirty="0">
                <a:latin typeface="Times New Roman"/>
                <a:cs typeface="Times New Roman"/>
              </a:rPr>
              <a:t> </a:t>
            </a:r>
            <a:r>
              <a:rPr sz="2200" spc="-10" dirty="0">
                <a:latin typeface="Aptos"/>
                <a:cs typeface="Aptos"/>
              </a:rPr>
              <a:t>software</a:t>
            </a:r>
            <a:r>
              <a:rPr sz="2200" spc="-70" dirty="0">
                <a:latin typeface="Times New Roman"/>
                <a:cs typeface="Times New Roman"/>
              </a:rPr>
              <a:t> </a:t>
            </a:r>
            <a:r>
              <a:rPr sz="2200" spc="-20" dirty="0">
                <a:latin typeface="Aptos"/>
                <a:cs typeface="Aptos"/>
              </a:rPr>
              <a:t>updates,</a:t>
            </a:r>
            <a:r>
              <a:rPr sz="2200" spc="-70" dirty="0">
                <a:latin typeface="Times New Roman"/>
                <a:cs typeface="Times New Roman"/>
              </a:rPr>
              <a:t> </a:t>
            </a:r>
            <a:r>
              <a:rPr sz="2200" spc="-10" dirty="0">
                <a:latin typeface="Aptos"/>
                <a:cs typeface="Aptos"/>
              </a:rPr>
              <a:t>security</a:t>
            </a:r>
            <a:r>
              <a:rPr sz="2200" spc="-80" dirty="0">
                <a:latin typeface="Times New Roman"/>
                <a:cs typeface="Times New Roman"/>
              </a:rPr>
              <a:t> </a:t>
            </a:r>
            <a:r>
              <a:rPr sz="2200" spc="-20" dirty="0">
                <a:latin typeface="Aptos"/>
                <a:cs typeface="Aptos"/>
              </a:rPr>
              <a:t>policies,</a:t>
            </a:r>
            <a:r>
              <a:rPr sz="2200" spc="-110" dirty="0">
                <a:latin typeface="Times New Roman"/>
                <a:cs typeface="Times New Roman"/>
              </a:rPr>
              <a:t> </a:t>
            </a:r>
            <a:r>
              <a:rPr sz="2200" spc="-10" dirty="0">
                <a:latin typeface="Aptos"/>
                <a:cs typeface="Aptos"/>
              </a:rPr>
              <a:t>and</a:t>
            </a:r>
            <a:r>
              <a:rPr sz="2200" spc="-95" dirty="0">
                <a:latin typeface="Times New Roman"/>
                <a:cs typeface="Times New Roman"/>
              </a:rPr>
              <a:t> </a:t>
            </a:r>
            <a:r>
              <a:rPr sz="2200" spc="-20" dirty="0">
                <a:latin typeface="Aptos"/>
                <a:cs typeface="Aptos"/>
              </a:rPr>
              <a:t>user</a:t>
            </a:r>
            <a:endParaRPr sz="2200">
              <a:latin typeface="Aptos"/>
              <a:cs typeface="Aptos"/>
            </a:endParaRPr>
          </a:p>
          <a:p>
            <a:pPr marL="469900">
              <a:lnSpc>
                <a:spcPts val="2375"/>
              </a:lnSpc>
            </a:pPr>
            <a:r>
              <a:rPr sz="2200" spc="-10" dirty="0">
                <a:latin typeface="Aptos"/>
                <a:cs typeface="Aptos"/>
              </a:rPr>
              <a:t>permissions</a:t>
            </a:r>
            <a:r>
              <a:rPr sz="2200" spc="-75" dirty="0">
                <a:latin typeface="Times New Roman"/>
                <a:cs typeface="Times New Roman"/>
              </a:rPr>
              <a:t> </a:t>
            </a:r>
            <a:r>
              <a:rPr sz="2200" spc="-20" dirty="0">
                <a:latin typeface="Aptos"/>
                <a:cs typeface="Aptos"/>
              </a:rPr>
              <a:t>from</a:t>
            </a:r>
            <a:r>
              <a:rPr sz="2200" spc="-114" dirty="0">
                <a:latin typeface="Times New Roman"/>
                <a:cs typeface="Times New Roman"/>
              </a:rPr>
              <a:t> </a:t>
            </a:r>
            <a:r>
              <a:rPr sz="2200" dirty="0">
                <a:latin typeface="Aptos"/>
                <a:cs typeface="Aptos"/>
              </a:rPr>
              <a:t>a</a:t>
            </a:r>
            <a:r>
              <a:rPr sz="2200" spc="-114" dirty="0">
                <a:latin typeface="Times New Roman"/>
                <a:cs typeface="Times New Roman"/>
              </a:rPr>
              <a:t> </a:t>
            </a:r>
            <a:r>
              <a:rPr sz="2200" spc="-10" dirty="0">
                <a:latin typeface="Aptos"/>
                <a:cs typeface="Aptos"/>
              </a:rPr>
              <a:t>single</a:t>
            </a:r>
            <a:r>
              <a:rPr sz="2200" spc="-114" dirty="0">
                <a:latin typeface="Times New Roman"/>
                <a:cs typeface="Times New Roman"/>
              </a:rPr>
              <a:t> </a:t>
            </a:r>
            <a:r>
              <a:rPr sz="2200" spc="-10" dirty="0">
                <a:latin typeface="Aptos"/>
                <a:cs typeface="Aptos"/>
              </a:rPr>
              <a:t>server.</a:t>
            </a:r>
            <a:endParaRPr sz="2200">
              <a:latin typeface="Aptos"/>
              <a:cs typeface="Aptos"/>
            </a:endParaRPr>
          </a:p>
          <a:p>
            <a:pPr marL="275590" indent="-263525">
              <a:lnSpc>
                <a:spcPts val="3115"/>
              </a:lnSpc>
              <a:spcBef>
                <a:spcPts val="355"/>
              </a:spcBef>
              <a:buSzPct val="96153"/>
              <a:buFont typeface="Wingdings"/>
              <a:buChar char=""/>
              <a:tabLst>
                <a:tab pos="276225" algn="l"/>
              </a:tabLst>
            </a:pPr>
            <a:r>
              <a:rPr sz="2600" b="1" spc="-10" dirty="0">
                <a:latin typeface="Aptos"/>
                <a:cs typeface="Aptos"/>
              </a:rPr>
              <a:t>Backup</a:t>
            </a:r>
            <a:r>
              <a:rPr sz="2600" spc="-140" dirty="0">
                <a:latin typeface="Times New Roman"/>
                <a:cs typeface="Times New Roman"/>
              </a:rPr>
              <a:t> </a:t>
            </a:r>
            <a:r>
              <a:rPr sz="2600" b="1" dirty="0">
                <a:latin typeface="Aptos"/>
                <a:cs typeface="Aptos"/>
              </a:rPr>
              <a:t>and</a:t>
            </a:r>
            <a:r>
              <a:rPr sz="2600" spc="-114" dirty="0">
                <a:latin typeface="Times New Roman"/>
                <a:cs typeface="Times New Roman"/>
              </a:rPr>
              <a:t> </a:t>
            </a:r>
            <a:r>
              <a:rPr sz="2600" b="1" spc="-10" dirty="0">
                <a:latin typeface="Aptos"/>
                <a:cs typeface="Aptos"/>
              </a:rPr>
              <a:t>Recovery</a:t>
            </a:r>
            <a:endParaRPr sz="2600">
              <a:latin typeface="Aptos"/>
              <a:cs typeface="Aptos"/>
            </a:endParaRPr>
          </a:p>
          <a:p>
            <a:pPr marL="469900">
              <a:lnSpc>
                <a:spcPts val="2635"/>
              </a:lnSpc>
            </a:pPr>
            <a:r>
              <a:rPr sz="2200" spc="-25" dirty="0">
                <a:latin typeface="Aptos"/>
                <a:cs typeface="Aptos"/>
              </a:rPr>
              <a:t>Centralized</a:t>
            </a:r>
            <a:r>
              <a:rPr sz="2200" spc="-70" dirty="0">
                <a:latin typeface="Times New Roman"/>
                <a:cs typeface="Times New Roman"/>
              </a:rPr>
              <a:t> </a:t>
            </a:r>
            <a:r>
              <a:rPr sz="2200" spc="-10" dirty="0">
                <a:latin typeface="Aptos"/>
                <a:cs typeface="Aptos"/>
              </a:rPr>
              <a:t>data</a:t>
            </a:r>
            <a:r>
              <a:rPr sz="2200" spc="-80" dirty="0">
                <a:latin typeface="Times New Roman"/>
                <a:cs typeface="Times New Roman"/>
              </a:rPr>
              <a:t> </a:t>
            </a:r>
            <a:r>
              <a:rPr sz="2200" spc="-25" dirty="0">
                <a:latin typeface="Aptos"/>
                <a:cs typeface="Aptos"/>
              </a:rPr>
              <a:t>storage</a:t>
            </a:r>
            <a:r>
              <a:rPr sz="2200" spc="-85" dirty="0">
                <a:latin typeface="Times New Roman"/>
                <a:cs typeface="Times New Roman"/>
              </a:rPr>
              <a:t> </a:t>
            </a:r>
            <a:r>
              <a:rPr sz="2200" spc="-20" dirty="0">
                <a:latin typeface="Aptos"/>
                <a:cs typeface="Aptos"/>
              </a:rPr>
              <a:t>allows</a:t>
            </a:r>
            <a:r>
              <a:rPr sz="2200" spc="-90" dirty="0">
                <a:latin typeface="Times New Roman"/>
                <a:cs typeface="Times New Roman"/>
              </a:rPr>
              <a:t> </a:t>
            </a:r>
            <a:r>
              <a:rPr sz="2200" spc="-20" dirty="0">
                <a:latin typeface="Aptos"/>
                <a:cs typeface="Aptos"/>
              </a:rPr>
              <a:t>automated</a:t>
            </a:r>
            <a:r>
              <a:rPr sz="2200" spc="-55" dirty="0">
                <a:latin typeface="Times New Roman"/>
                <a:cs typeface="Times New Roman"/>
              </a:rPr>
              <a:t> </a:t>
            </a:r>
            <a:r>
              <a:rPr sz="2200" spc="-20" dirty="0">
                <a:latin typeface="Aptos"/>
                <a:cs typeface="Aptos"/>
              </a:rPr>
              <a:t>backups,</a:t>
            </a:r>
            <a:r>
              <a:rPr sz="2200" spc="-95" dirty="0">
                <a:latin typeface="Times New Roman"/>
                <a:cs typeface="Times New Roman"/>
              </a:rPr>
              <a:t> </a:t>
            </a:r>
            <a:r>
              <a:rPr sz="2200" spc="-20" dirty="0">
                <a:latin typeface="Aptos"/>
                <a:cs typeface="Aptos"/>
              </a:rPr>
              <a:t>minimizing</a:t>
            </a:r>
            <a:r>
              <a:rPr sz="2200" spc="-105" dirty="0">
                <a:latin typeface="Times New Roman"/>
                <a:cs typeface="Times New Roman"/>
              </a:rPr>
              <a:t> </a:t>
            </a:r>
            <a:r>
              <a:rPr sz="2200" spc="-10" dirty="0">
                <a:latin typeface="Aptos"/>
                <a:cs typeface="Aptos"/>
              </a:rPr>
              <a:t>data</a:t>
            </a:r>
            <a:r>
              <a:rPr sz="2200" spc="-80" dirty="0">
                <a:latin typeface="Times New Roman"/>
                <a:cs typeface="Times New Roman"/>
              </a:rPr>
              <a:t> </a:t>
            </a:r>
            <a:r>
              <a:rPr sz="2200" dirty="0">
                <a:latin typeface="Aptos"/>
                <a:cs typeface="Aptos"/>
              </a:rPr>
              <a:t>loss</a:t>
            </a:r>
            <a:r>
              <a:rPr sz="2200" spc="-85" dirty="0">
                <a:latin typeface="Times New Roman"/>
                <a:cs typeface="Times New Roman"/>
              </a:rPr>
              <a:t> </a:t>
            </a:r>
            <a:r>
              <a:rPr sz="2200" spc="-10" dirty="0">
                <a:latin typeface="Aptos"/>
                <a:cs typeface="Aptos"/>
              </a:rPr>
              <a:t>risks.</a:t>
            </a:r>
            <a:endParaRPr sz="2200">
              <a:latin typeface="Aptos"/>
              <a:cs typeface="Aptos"/>
            </a:endParaRPr>
          </a:p>
          <a:p>
            <a:pPr marL="275590" indent="-263525">
              <a:lnSpc>
                <a:spcPts val="3115"/>
              </a:lnSpc>
              <a:spcBef>
                <a:spcPts val="360"/>
              </a:spcBef>
              <a:buSzPct val="96153"/>
              <a:buFont typeface="Wingdings"/>
              <a:buChar char=""/>
              <a:tabLst>
                <a:tab pos="276225" algn="l"/>
              </a:tabLst>
            </a:pPr>
            <a:r>
              <a:rPr sz="2600" b="1" dirty="0">
                <a:latin typeface="Aptos"/>
                <a:cs typeface="Aptos"/>
              </a:rPr>
              <a:t>Remote</a:t>
            </a:r>
            <a:r>
              <a:rPr sz="2600" spc="-155" dirty="0">
                <a:latin typeface="Times New Roman"/>
                <a:cs typeface="Times New Roman"/>
              </a:rPr>
              <a:t> </a:t>
            </a:r>
            <a:r>
              <a:rPr sz="2600" b="1" spc="-10" dirty="0">
                <a:latin typeface="Aptos"/>
                <a:cs typeface="Aptos"/>
              </a:rPr>
              <a:t>Access</a:t>
            </a:r>
            <a:endParaRPr sz="2600">
              <a:latin typeface="Aptos"/>
              <a:cs typeface="Aptos"/>
            </a:endParaRPr>
          </a:p>
          <a:p>
            <a:pPr marL="469900" marR="38735">
              <a:lnSpc>
                <a:spcPts val="2110"/>
              </a:lnSpc>
              <a:spcBef>
                <a:spcPts val="505"/>
              </a:spcBef>
            </a:pPr>
            <a:r>
              <a:rPr sz="2200" spc="-10" dirty="0">
                <a:latin typeface="Aptos"/>
                <a:cs typeface="Aptos"/>
              </a:rPr>
              <a:t>Supports</a:t>
            </a:r>
            <a:r>
              <a:rPr sz="2200" spc="-100" dirty="0">
                <a:latin typeface="Times New Roman"/>
                <a:cs typeface="Times New Roman"/>
              </a:rPr>
              <a:t> </a:t>
            </a:r>
            <a:r>
              <a:rPr sz="2200" spc="-20" dirty="0">
                <a:latin typeface="Aptos"/>
                <a:cs typeface="Aptos"/>
              </a:rPr>
              <a:t>remote</a:t>
            </a:r>
            <a:r>
              <a:rPr sz="2200" spc="-100" dirty="0">
                <a:latin typeface="Times New Roman"/>
                <a:cs typeface="Times New Roman"/>
              </a:rPr>
              <a:t> </a:t>
            </a:r>
            <a:r>
              <a:rPr sz="2200" spc="-10" dirty="0">
                <a:latin typeface="Aptos"/>
                <a:cs typeface="Aptos"/>
              </a:rPr>
              <a:t>work</a:t>
            </a:r>
            <a:r>
              <a:rPr sz="2200" spc="-110" dirty="0">
                <a:latin typeface="Times New Roman"/>
                <a:cs typeface="Times New Roman"/>
              </a:rPr>
              <a:t> </a:t>
            </a:r>
            <a:r>
              <a:rPr sz="2200" dirty="0">
                <a:latin typeface="Aptos"/>
                <a:cs typeface="Aptos"/>
              </a:rPr>
              <a:t>by</a:t>
            </a:r>
            <a:r>
              <a:rPr sz="2200" spc="-120" dirty="0">
                <a:latin typeface="Times New Roman"/>
                <a:cs typeface="Times New Roman"/>
              </a:rPr>
              <a:t> </a:t>
            </a:r>
            <a:r>
              <a:rPr sz="2200" spc="-10" dirty="0">
                <a:latin typeface="Aptos"/>
                <a:cs typeface="Aptos"/>
              </a:rPr>
              <a:t>allowing</a:t>
            </a:r>
            <a:r>
              <a:rPr sz="2200" spc="-110" dirty="0">
                <a:latin typeface="Times New Roman"/>
                <a:cs typeface="Times New Roman"/>
              </a:rPr>
              <a:t> </a:t>
            </a:r>
            <a:r>
              <a:rPr sz="2200" spc="-20" dirty="0">
                <a:latin typeface="Aptos"/>
                <a:cs typeface="Aptos"/>
              </a:rPr>
              <a:t>employees</a:t>
            </a:r>
            <a:r>
              <a:rPr sz="2200" spc="-70" dirty="0">
                <a:latin typeface="Times New Roman"/>
                <a:cs typeface="Times New Roman"/>
              </a:rPr>
              <a:t> </a:t>
            </a:r>
            <a:r>
              <a:rPr sz="2200" dirty="0">
                <a:latin typeface="Aptos"/>
                <a:cs typeface="Aptos"/>
              </a:rPr>
              <a:t>to</a:t>
            </a:r>
            <a:r>
              <a:rPr sz="2200" spc="-120" dirty="0">
                <a:latin typeface="Times New Roman"/>
                <a:cs typeface="Times New Roman"/>
              </a:rPr>
              <a:t> </a:t>
            </a:r>
            <a:r>
              <a:rPr sz="2200" spc="-10" dirty="0">
                <a:latin typeface="Aptos"/>
                <a:cs typeface="Aptos"/>
              </a:rPr>
              <a:t>access</a:t>
            </a:r>
            <a:r>
              <a:rPr sz="2200" spc="-95" dirty="0">
                <a:latin typeface="Times New Roman"/>
                <a:cs typeface="Times New Roman"/>
              </a:rPr>
              <a:t> </a:t>
            </a:r>
            <a:r>
              <a:rPr sz="2200" spc="-10" dirty="0">
                <a:latin typeface="Aptos"/>
                <a:cs typeface="Aptos"/>
              </a:rPr>
              <a:t>network</a:t>
            </a:r>
            <a:r>
              <a:rPr sz="2200" spc="-95" dirty="0">
                <a:latin typeface="Times New Roman"/>
                <a:cs typeface="Times New Roman"/>
              </a:rPr>
              <a:t> </a:t>
            </a:r>
            <a:r>
              <a:rPr sz="2200" spc="-20" dirty="0">
                <a:latin typeface="Aptos"/>
                <a:cs typeface="Aptos"/>
              </a:rPr>
              <a:t>resources</a:t>
            </a:r>
            <a:r>
              <a:rPr sz="2200" spc="-90" dirty="0">
                <a:latin typeface="Times New Roman"/>
                <a:cs typeface="Times New Roman"/>
              </a:rPr>
              <a:t> </a:t>
            </a:r>
            <a:r>
              <a:rPr sz="2200" spc="-20" dirty="0">
                <a:latin typeface="Aptos"/>
                <a:cs typeface="Aptos"/>
              </a:rPr>
              <a:t>from</a:t>
            </a:r>
            <a:r>
              <a:rPr sz="2200" spc="-20" dirty="0">
                <a:latin typeface="Times New Roman"/>
                <a:cs typeface="Times New Roman"/>
              </a:rPr>
              <a:t> </a:t>
            </a:r>
            <a:r>
              <a:rPr sz="2200" spc="-20" dirty="0">
                <a:latin typeface="Aptos"/>
                <a:cs typeface="Aptos"/>
              </a:rPr>
              <a:t>anywhere</a:t>
            </a:r>
            <a:r>
              <a:rPr sz="2200" spc="-65" dirty="0">
                <a:latin typeface="Times New Roman"/>
                <a:cs typeface="Times New Roman"/>
              </a:rPr>
              <a:t> </a:t>
            </a:r>
            <a:r>
              <a:rPr sz="2200" spc="-20" dirty="0">
                <a:latin typeface="Aptos"/>
                <a:cs typeface="Aptos"/>
              </a:rPr>
              <a:t>(e.g.,</a:t>
            </a:r>
            <a:r>
              <a:rPr sz="2200" spc="-95" dirty="0">
                <a:latin typeface="Times New Roman"/>
                <a:cs typeface="Times New Roman"/>
              </a:rPr>
              <a:t> </a:t>
            </a:r>
            <a:r>
              <a:rPr sz="2200" spc="-20" dirty="0">
                <a:latin typeface="Aptos"/>
                <a:cs typeface="Aptos"/>
              </a:rPr>
              <a:t>VPNs,</a:t>
            </a:r>
            <a:r>
              <a:rPr sz="2200" spc="-105" dirty="0">
                <a:latin typeface="Times New Roman"/>
                <a:cs typeface="Times New Roman"/>
              </a:rPr>
              <a:t> </a:t>
            </a:r>
            <a:r>
              <a:rPr sz="2200" spc="-10" dirty="0">
                <a:latin typeface="Aptos"/>
                <a:cs typeface="Aptos"/>
              </a:rPr>
              <a:t>cloud</a:t>
            </a:r>
            <a:r>
              <a:rPr sz="2200" spc="-95" dirty="0">
                <a:latin typeface="Times New Roman"/>
                <a:cs typeface="Times New Roman"/>
              </a:rPr>
              <a:t> </a:t>
            </a:r>
            <a:r>
              <a:rPr sz="2200" spc="-10" dirty="0">
                <a:latin typeface="Aptos"/>
                <a:cs typeface="Aptos"/>
              </a:rPr>
              <a:t>services).</a:t>
            </a:r>
            <a:endParaRPr sz="2200">
              <a:latin typeface="Aptos"/>
              <a:cs typeface="Apto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524319"/>
            <a:ext cx="10343515" cy="5110480"/>
          </a:xfrm>
          <a:prstGeom prst="rect">
            <a:avLst/>
          </a:prstGeom>
        </p:spPr>
        <p:txBody>
          <a:bodyPr vert="horz" wrap="square" lIns="0" tIns="13335" rIns="0" bIns="0" rtlCol="0">
            <a:spAutoFit/>
          </a:bodyPr>
          <a:lstStyle/>
          <a:p>
            <a:pPr marL="374015" indent="-361950">
              <a:lnSpc>
                <a:spcPct val="100000"/>
              </a:lnSpc>
              <a:spcBef>
                <a:spcPts val="105"/>
              </a:spcBef>
              <a:buFont typeface="Wingdings"/>
              <a:buChar char=""/>
              <a:tabLst>
                <a:tab pos="374650" algn="l"/>
              </a:tabLst>
            </a:pPr>
            <a:r>
              <a:rPr sz="2600" b="1" spc="-10" dirty="0">
                <a:latin typeface="Aptos"/>
                <a:cs typeface="Aptos"/>
              </a:rPr>
              <a:t>Disadvantages</a:t>
            </a:r>
            <a:r>
              <a:rPr sz="2600" spc="-114" dirty="0">
                <a:latin typeface="Times New Roman"/>
                <a:cs typeface="Times New Roman"/>
              </a:rPr>
              <a:t> </a:t>
            </a:r>
            <a:r>
              <a:rPr sz="2600" b="1" dirty="0">
                <a:latin typeface="Aptos"/>
                <a:cs typeface="Aptos"/>
              </a:rPr>
              <a:t>of</a:t>
            </a:r>
            <a:r>
              <a:rPr sz="2600" spc="-80" dirty="0">
                <a:latin typeface="Times New Roman"/>
                <a:cs typeface="Times New Roman"/>
              </a:rPr>
              <a:t> </a:t>
            </a:r>
            <a:r>
              <a:rPr sz="2600" b="1" spc="-10" dirty="0">
                <a:latin typeface="Aptos"/>
                <a:cs typeface="Aptos"/>
              </a:rPr>
              <a:t>Computer</a:t>
            </a:r>
            <a:r>
              <a:rPr sz="2600" spc="-100" dirty="0">
                <a:latin typeface="Times New Roman"/>
                <a:cs typeface="Times New Roman"/>
              </a:rPr>
              <a:t> </a:t>
            </a:r>
            <a:r>
              <a:rPr sz="2600" b="1" spc="-10" dirty="0">
                <a:latin typeface="Aptos"/>
                <a:cs typeface="Aptos"/>
              </a:rPr>
              <a:t>Networking</a:t>
            </a:r>
            <a:endParaRPr sz="2600">
              <a:latin typeface="Aptos"/>
              <a:cs typeface="Aptos"/>
            </a:endParaRPr>
          </a:p>
          <a:p>
            <a:pPr marL="275590" indent="-263525">
              <a:lnSpc>
                <a:spcPts val="2980"/>
              </a:lnSpc>
              <a:spcBef>
                <a:spcPts val="65"/>
              </a:spcBef>
              <a:buSzPct val="96153"/>
              <a:buFont typeface="Wingdings"/>
              <a:buChar char=""/>
              <a:tabLst>
                <a:tab pos="276225" algn="l"/>
              </a:tabLst>
            </a:pPr>
            <a:r>
              <a:rPr sz="2600" b="1" spc="-10" dirty="0">
                <a:latin typeface="Aptos"/>
                <a:cs typeface="Aptos"/>
              </a:rPr>
              <a:t>Privacy</a:t>
            </a:r>
            <a:r>
              <a:rPr sz="2600" spc="-140" dirty="0">
                <a:latin typeface="Times New Roman"/>
                <a:cs typeface="Times New Roman"/>
              </a:rPr>
              <a:t> </a:t>
            </a:r>
            <a:r>
              <a:rPr sz="2600" b="1" spc="-10" dirty="0">
                <a:latin typeface="Aptos"/>
                <a:cs typeface="Aptos"/>
              </a:rPr>
              <a:t>Issues</a:t>
            </a:r>
            <a:endParaRPr sz="2600">
              <a:latin typeface="Aptos"/>
              <a:cs typeface="Aptos"/>
            </a:endParaRPr>
          </a:p>
          <a:p>
            <a:pPr marL="469900" marR="5080">
              <a:lnSpc>
                <a:spcPct val="70000"/>
              </a:lnSpc>
              <a:spcBef>
                <a:spcPts val="650"/>
              </a:spcBef>
            </a:pPr>
            <a:r>
              <a:rPr sz="2200" spc="-20" dirty="0">
                <a:latin typeface="Aptos"/>
                <a:cs typeface="Aptos"/>
              </a:rPr>
              <a:t>Unauthorized</a:t>
            </a:r>
            <a:r>
              <a:rPr sz="2200" spc="-85" dirty="0">
                <a:latin typeface="Times New Roman"/>
                <a:cs typeface="Times New Roman"/>
              </a:rPr>
              <a:t> </a:t>
            </a:r>
            <a:r>
              <a:rPr sz="2200" spc="-10" dirty="0">
                <a:latin typeface="Aptos"/>
                <a:cs typeface="Aptos"/>
              </a:rPr>
              <a:t>access</a:t>
            </a:r>
            <a:r>
              <a:rPr sz="2200" spc="-95" dirty="0">
                <a:latin typeface="Times New Roman"/>
                <a:cs typeface="Times New Roman"/>
              </a:rPr>
              <a:t> </a:t>
            </a:r>
            <a:r>
              <a:rPr sz="2200" dirty="0">
                <a:latin typeface="Aptos"/>
                <a:cs typeface="Aptos"/>
              </a:rPr>
              <a:t>to</a:t>
            </a:r>
            <a:r>
              <a:rPr sz="2200" spc="-114" dirty="0">
                <a:latin typeface="Times New Roman"/>
                <a:cs typeface="Times New Roman"/>
              </a:rPr>
              <a:t> </a:t>
            </a:r>
            <a:r>
              <a:rPr sz="2200" spc="-10" dirty="0">
                <a:latin typeface="Aptos"/>
                <a:cs typeface="Aptos"/>
              </a:rPr>
              <a:t>sensitive</a:t>
            </a:r>
            <a:r>
              <a:rPr sz="2200" spc="-85" dirty="0">
                <a:latin typeface="Times New Roman"/>
                <a:cs typeface="Times New Roman"/>
              </a:rPr>
              <a:t> </a:t>
            </a:r>
            <a:r>
              <a:rPr sz="2200" spc="-10" dirty="0">
                <a:latin typeface="Aptos"/>
                <a:cs typeface="Aptos"/>
              </a:rPr>
              <a:t>data</a:t>
            </a:r>
            <a:r>
              <a:rPr sz="2200" spc="-90" dirty="0">
                <a:latin typeface="Times New Roman"/>
                <a:cs typeface="Times New Roman"/>
              </a:rPr>
              <a:t> </a:t>
            </a:r>
            <a:r>
              <a:rPr sz="2200" spc="-20" dirty="0">
                <a:latin typeface="Aptos"/>
                <a:cs typeface="Aptos"/>
              </a:rPr>
              <a:t>(e.g.,</a:t>
            </a:r>
            <a:r>
              <a:rPr sz="2200" spc="-114" dirty="0">
                <a:latin typeface="Times New Roman"/>
                <a:cs typeface="Times New Roman"/>
              </a:rPr>
              <a:t> </a:t>
            </a:r>
            <a:r>
              <a:rPr sz="2200" dirty="0">
                <a:latin typeface="Aptos"/>
                <a:cs typeface="Aptos"/>
              </a:rPr>
              <a:t>via</a:t>
            </a:r>
            <a:r>
              <a:rPr sz="2200" spc="-110" dirty="0">
                <a:latin typeface="Times New Roman"/>
                <a:cs typeface="Times New Roman"/>
              </a:rPr>
              <a:t> </a:t>
            </a:r>
            <a:r>
              <a:rPr sz="2200" spc="-10" dirty="0">
                <a:latin typeface="Aptos"/>
                <a:cs typeface="Aptos"/>
              </a:rPr>
              <a:t>weak</a:t>
            </a:r>
            <a:r>
              <a:rPr sz="2200" spc="-85" dirty="0">
                <a:latin typeface="Times New Roman"/>
                <a:cs typeface="Times New Roman"/>
              </a:rPr>
              <a:t> </a:t>
            </a:r>
            <a:r>
              <a:rPr sz="2200" spc="-20" dirty="0">
                <a:latin typeface="Aptos"/>
                <a:cs typeface="Aptos"/>
              </a:rPr>
              <a:t>passwords</a:t>
            </a:r>
            <a:r>
              <a:rPr sz="2200" spc="-75" dirty="0">
                <a:latin typeface="Times New Roman"/>
                <a:cs typeface="Times New Roman"/>
              </a:rPr>
              <a:t> </a:t>
            </a:r>
            <a:r>
              <a:rPr sz="2200" dirty="0">
                <a:latin typeface="Aptos"/>
                <a:cs typeface="Aptos"/>
              </a:rPr>
              <a:t>or</a:t>
            </a:r>
            <a:r>
              <a:rPr sz="2200" spc="-120" dirty="0">
                <a:latin typeface="Times New Roman"/>
                <a:cs typeface="Times New Roman"/>
              </a:rPr>
              <a:t> </a:t>
            </a:r>
            <a:r>
              <a:rPr sz="2200" spc="-10" dirty="0">
                <a:latin typeface="Aptos"/>
                <a:cs typeface="Aptos"/>
              </a:rPr>
              <a:t>insider</a:t>
            </a:r>
            <a:r>
              <a:rPr sz="2200" spc="-100" dirty="0">
                <a:latin typeface="Times New Roman"/>
                <a:cs typeface="Times New Roman"/>
              </a:rPr>
              <a:t> </a:t>
            </a:r>
            <a:r>
              <a:rPr sz="2200" spc="-10" dirty="0">
                <a:latin typeface="Aptos"/>
                <a:cs typeface="Aptos"/>
              </a:rPr>
              <a:t>threats)</a:t>
            </a:r>
            <a:r>
              <a:rPr sz="2200" spc="-10" dirty="0">
                <a:latin typeface="Times New Roman"/>
                <a:cs typeface="Times New Roman"/>
              </a:rPr>
              <a:t> </a:t>
            </a:r>
            <a:r>
              <a:rPr sz="2200" spc="-10" dirty="0">
                <a:latin typeface="Aptos"/>
                <a:cs typeface="Aptos"/>
              </a:rPr>
              <a:t>can</a:t>
            </a:r>
            <a:r>
              <a:rPr sz="2200" spc="-130" dirty="0">
                <a:latin typeface="Times New Roman"/>
                <a:cs typeface="Times New Roman"/>
              </a:rPr>
              <a:t> </a:t>
            </a:r>
            <a:r>
              <a:rPr sz="2200" dirty="0">
                <a:latin typeface="Aptos"/>
                <a:cs typeface="Aptos"/>
              </a:rPr>
              <a:t>lead</a:t>
            </a:r>
            <a:r>
              <a:rPr sz="2200" spc="-125" dirty="0">
                <a:latin typeface="Times New Roman"/>
                <a:cs typeface="Times New Roman"/>
              </a:rPr>
              <a:t> </a:t>
            </a:r>
            <a:r>
              <a:rPr sz="2200" dirty="0">
                <a:latin typeface="Aptos"/>
                <a:cs typeface="Aptos"/>
              </a:rPr>
              <a:t>to</a:t>
            </a:r>
            <a:r>
              <a:rPr sz="2200" spc="-135" dirty="0">
                <a:latin typeface="Times New Roman"/>
                <a:cs typeface="Times New Roman"/>
              </a:rPr>
              <a:t> </a:t>
            </a:r>
            <a:r>
              <a:rPr sz="2200" spc="-10" dirty="0">
                <a:latin typeface="Aptos"/>
                <a:cs typeface="Aptos"/>
              </a:rPr>
              <a:t>breaches.</a:t>
            </a:r>
            <a:endParaRPr sz="2200">
              <a:latin typeface="Aptos"/>
              <a:cs typeface="Aptos"/>
            </a:endParaRPr>
          </a:p>
          <a:p>
            <a:pPr marL="276225" indent="-264160">
              <a:lnSpc>
                <a:spcPts val="2980"/>
              </a:lnSpc>
              <a:spcBef>
                <a:spcPts val="55"/>
              </a:spcBef>
              <a:buSzPct val="96153"/>
              <a:buFont typeface="Wingdings"/>
              <a:buChar char=""/>
              <a:tabLst>
                <a:tab pos="276860" algn="l"/>
              </a:tabLst>
            </a:pPr>
            <a:r>
              <a:rPr sz="2600" b="1" spc="-10" dirty="0">
                <a:latin typeface="Aptos"/>
                <a:cs typeface="Aptos"/>
              </a:rPr>
              <a:t>Complex</a:t>
            </a:r>
            <a:r>
              <a:rPr sz="2600" spc="-130" dirty="0">
                <a:latin typeface="Times New Roman"/>
                <a:cs typeface="Times New Roman"/>
              </a:rPr>
              <a:t> </a:t>
            </a:r>
            <a:r>
              <a:rPr sz="2600" b="1" spc="-20" dirty="0">
                <a:latin typeface="Aptos"/>
                <a:cs typeface="Aptos"/>
              </a:rPr>
              <a:t>Setup</a:t>
            </a:r>
            <a:endParaRPr sz="2600">
              <a:latin typeface="Aptos"/>
              <a:cs typeface="Aptos"/>
            </a:endParaRPr>
          </a:p>
          <a:p>
            <a:pPr marL="469900" marR="1031875">
              <a:lnSpc>
                <a:spcPct val="70000"/>
              </a:lnSpc>
              <a:spcBef>
                <a:spcPts val="650"/>
              </a:spcBef>
            </a:pPr>
            <a:r>
              <a:rPr sz="2200" spc="-10" dirty="0">
                <a:latin typeface="Aptos"/>
                <a:cs typeface="Aptos"/>
              </a:rPr>
              <a:t>Requires</a:t>
            </a:r>
            <a:r>
              <a:rPr sz="2200" spc="-85" dirty="0">
                <a:latin typeface="Times New Roman"/>
                <a:cs typeface="Times New Roman"/>
              </a:rPr>
              <a:t> </a:t>
            </a:r>
            <a:r>
              <a:rPr sz="2200" spc="-20" dirty="0">
                <a:latin typeface="Aptos"/>
                <a:cs typeface="Aptos"/>
              </a:rPr>
              <a:t>expertise</a:t>
            </a:r>
            <a:r>
              <a:rPr sz="2200" spc="-65" dirty="0">
                <a:latin typeface="Times New Roman"/>
                <a:cs typeface="Times New Roman"/>
              </a:rPr>
              <a:t> </a:t>
            </a:r>
            <a:r>
              <a:rPr sz="2200" dirty="0">
                <a:latin typeface="Aptos"/>
                <a:cs typeface="Aptos"/>
              </a:rPr>
              <a:t>to</a:t>
            </a:r>
            <a:r>
              <a:rPr sz="2200" spc="-100" dirty="0">
                <a:latin typeface="Times New Roman"/>
                <a:cs typeface="Times New Roman"/>
              </a:rPr>
              <a:t> </a:t>
            </a:r>
            <a:r>
              <a:rPr sz="2200" spc="-20" dirty="0">
                <a:latin typeface="Aptos"/>
                <a:cs typeface="Aptos"/>
              </a:rPr>
              <a:t>configure</a:t>
            </a:r>
            <a:r>
              <a:rPr sz="2200" spc="-110" dirty="0">
                <a:latin typeface="Times New Roman"/>
                <a:cs typeface="Times New Roman"/>
              </a:rPr>
              <a:t> </a:t>
            </a:r>
            <a:r>
              <a:rPr sz="2200" spc="-20" dirty="0">
                <a:latin typeface="Aptos"/>
                <a:cs typeface="Aptos"/>
              </a:rPr>
              <a:t>hardware</a:t>
            </a:r>
            <a:r>
              <a:rPr sz="2200" spc="-75" dirty="0">
                <a:latin typeface="Times New Roman"/>
                <a:cs typeface="Times New Roman"/>
              </a:rPr>
              <a:t> </a:t>
            </a:r>
            <a:r>
              <a:rPr sz="2200" spc="-20" dirty="0">
                <a:latin typeface="Aptos"/>
                <a:cs typeface="Aptos"/>
              </a:rPr>
              <a:t>(routers,</a:t>
            </a:r>
            <a:r>
              <a:rPr sz="2200" spc="-80" dirty="0">
                <a:latin typeface="Times New Roman"/>
                <a:cs typeface="Times New Roman"/>
              </a:rPr>
              <a:t> </a:t>
            </a:r>
            <a:r>
              <a:rPr sz="2200" spc="-10" dirty="0">
                <a:latin typeface="Aptos"/>
                <a:cs typeface="Aptos"/>
              </a:rPr>
              <a:t>switches)</a:t>
            </a:r>
            <a:r>
              <a:rPr sz="2200" spc="-85" dirty="0">
                <a:latin typeface="Times New Roman"/>
                <a:cs typeface="Times New Roman"/>
              </a:rPr>
              <a:t> </a:t>
            </a:r>
            <a:r>
              <a:rPr sz="2200" spc="-10" dirty="0">
                <a:latin typeface="Aptos"/>
                <a:cs typeface="Aptos"/>
              </a:rPr>
              <a:t>and</a:t>
            </a:r>
            <a:r>
              <a:rPr sz="2200" spc="-100" dirty="0">
                <a:latin typeface="Times New Roman"/>
                <a:cs typeface="Times New Roman"/>
              </a:rPr>
              <a:t> </a:t>
            </a:r>
            <a:r>
              <a:rPr sz="2200" spc="-10" dirty="0">
                <a:latin typeface="Aptos"/>
                <a:cs typeface="Aptos"/>
              </a:rPr>
              <a:t>software</a:t>
            </a:r>
            <a:r>
              <a:rPr sz="2200" spc="-10" dirty="0">
                <a:latin typeface="Times New Roman"/>
                <a:cs typeface="Times New Roman"/>
              </a:rPr>
              <a:t> </a:t>
            </a:r>
            <a:r>
              <a:rPr sz="2200" spc="-20" dirty="0">
                <a:latin typeface="Aptos"/>
                <a:cs typeface="Aptos"/>
              </a:rPr>
              <a:t>(firewalls,</a:t>
            </a:r>
            <a:r>
              <a:rPr sz="2200" spc="-95" dirty="0">
                <a:latin typeface="Times New Roman"/>
                <a:cs typeface="Times New Roman"/>
              </a:rPr>
              <a:t> </a:t>
            </a:r>
            <a:r>
              <a:rPr sz="2200" spc="-10" dirty="0">
                <a:latin typeface="Aptos"/>
                <a:cs typeface="Aptos"/>
              </a:rPr>
              <a:t>protocols),</a:t>
            </a:r>
            <a:r>
              <a:rPr sz="2200" spc="-110" dirty="0">
                <a:latin typeface="Times New Roman"/>
                <a:cs typeface="Times New Roman"/>
              </a:rPr>
              <a:t> </a:t>
            </a:r>
            <a:r>
              <a:rPr sz="2200" spc="-10" dirty="0">
                <a:latin typeface="Aptos"/>
                <a:cs typeface="Aptos"/>
              </a:rPr>
              <a:t>which</a:t>
            </a:r>
            <a:r>
              <a:rPr sz="2200" spc="-114" dirty="0">
                <a:latin typeface="Times New Roman"/>
                <a:cs typeface="Times New Roman"/>
              </a:rPr>
              <a:t> </a:t>
            </a:r>
            <a:r>
              <a:rPr sz="2200" spc="-10" dirty="0">
                <a:latin typeface="Aptos"/>
                <a:cs typeface="Aptos"/>
              </a:rPr>
              <a:t>may</a:t>
            </a:r>
            <a:r>
              <a:rPr sz="2200" spc="-105" dirty="0">
                <a:latin typeface="Times New Roman"/>
                <a:cs typeface="Times New Roman"/>
              </a:rPr>
              <a:t> </a:t>
            </a:r>
            <a:r>
              <a:rPr sz="2200" dirty="0">
                <a:latin typeface="Aptos"/>
                <a:cs typeface="Aptos"/>
              </a:rPr>
              <a:t>be</a:t>
            </a:r>
            <a:r>
              <a:rPr sz="2200" spc="-120" dirty="0">
                <a:latin typeface="Times New Roman"/>
                <a:cs typeface="Times New Roman"/>
              </a:rPr>
              <a:t> </a:t>
            </a:r>
            <a:r>
              <a:rPr sz="2200" spc="-10" dirty="0">
                <a:latin typeface="Aptos"/>
                <a:cs typeface="Aptos"/>
              </a:rPr>
              <a:t>costly</a:t>
            </a:r>
            <a:r>
              <a:rPr sz="2200" spc="-100" dirty="0">
                <a:latin typeface="Times New Roman"/>
                <a:cs typeface="Times New Roman"/>
              </a:rPr>
              <a:t> </a:t>
            </a:r>
            <a:r>
              <a:rPr sz="2200" spc="-10" dirty="0">
                <a:latin typeface="Aptos"/>
                <a:cs typeface="Aptos"/>
              </a:rPr>
              <a:t>for</a:t>
            </a:r>
            <a:r>
              <a:rPr sz="2200" spc="-120" dirty="0">
                <a:latin typeface="Times New Roman"/>
                <a:cs typeface="Times New Roman"/>
              </a:rPr>
              <a:t> </a:t>
            </a:r>
            <a:r>
              <a:rPr sz="2200" dirty="0">
                <a:latin typeface="Aptos"/>
                <a:cs typeface="Aptos"/>
              </a:rPr>
              <a:t>small</a:t>
            </a:r>
            <a:r>
              <a:rPr sz="2200" spc="-95" dirty="0">
                <a:latin typeface="Times New Roman"/>
                <a:cs typeface="Times New Roman"/>
              </a:rPr>
              <a:t> </a:t>
            </a:r>
            <a:r>
              <a:rPr sz="2200" spc="-10" dirty="0">
                <a:latin typeface="Aptos"/>
                <a:cs typeface="Aptos"/>
              </a:rPr>
              <a:t>organizations.</a:t>
            </a:r>
            <a:endParaRPr sz="2200">
              <a:latin typeface="Aptos"/>
              <a:cs typeface="Aptos"/>
            </a:endParaRPr>
          </a:p>
          <a:p>
            <a:pPr marL="275590" indent="-263525">
              <a:lnSpc>
                <a:spcPts val="2980"/>
              </a:lnSpc>
              <a:spcBef>
                <a:spcPts val="55"/>
              </a:spcBef>
              <a:buSzPct val="96153"/>
              <a:buFont typeface="Wingdings"/>
              <a:buChar char=""/>
              <a:tabLst>
                <a:tab pos="276225" algn="l"/>
              </a:tabLst>
            </a:pPr>
            <a:r>
              <a:rPr sz="2600" b="1" dirty="0">
                <a:latin typeface="Aptos"/>
                <a:cs typeface="Aptos"/>
              </a:rPr>
              <a:t>Hacking</a:t>
            </a:r>
            <a:r>
              <a:rPr sz="2600" spc="-155" dirty="0">
                <a:latin typeface="Times New Roman"/>
                <a:cs typeface="Times New Roman"/>
              </a:rPr>
              <a:t> </a:t>
            </a:r>
            <a:r>
              <a:rPr sz="2600" b="1" spc="-20" dirty="0">
                <a:latin typeface="Aptos"/>
                <a:cs typeface="Aptos"/>
              </a:rPr>
              <a:t>Risks</a:t>
            </a:r>
            <a:endParaRPr sz="2600">
              <a:latin typeface="Aptos"/>
              <a:cs typeface="Aptos"/>
            </a:endParaRPr>
          </a:p>
          <a:p>
            <a:pPr marL="469900">
              <a:lnSpc>
                <a:spcPts val="2100"/>
              </a:lnSpc>
            </a:pPr>
            <a:r>
              <a:rPr sz="2200" spc="-20" dirty="0">
                <a:latin typeface="Aptos"/>
                <a:cs typeface="Aptos"/>
              </a:rPr>
              <a:t>Networks</a:t>
            </a:r>
            <a:r>
              <a:rPr sz="2200" spc="-70" dirty="0">
                <a:latin typeface="Times New Roman"/>
                <a:cs typeface="Times New Roman"/>
              </a:rPr>
              <a:t> </a:t>
            </a:r>
            <a:r>
              <a:rPr sz="2200" spc="-10" dirty="0">
                <a:latin typeface="Aptos"/>
                <a:cs typeface="Aptos"/>
              </a:rPr>
              <a:t>are</a:t>
            </a:r>
            <a:r>
              <a:rPr sz="2200" spc="-100" dirty="0">
                <a:latin typeface="Times New Roman"/>
                <a:cs typeface="Times New Roman"/>
              </a:rPr>
              <a:t> </a:t>
            </a:r>
            <a:r>
              <a:rPr sz="2200" spc="-20" dirty="0">
                <a:latin typeface="Aptos"/>
                <a:cs typeface="Aptos"/>
              </a:rPr>
              <a:t>vulnerable</a:t>
            </a:r>
            <a:r>
              <a:rPr sz="2200" spc="-85" dirty="0">
                <a:latin typeface="Times New Roman"/>
                <a:cs typeface="Times New Roman"/>
              </a:rPr>
              <a:t> </a:t>
            </a:r>
            <a:r>
              <a:rPr sz="2200" dirty="0">
                <a:latin typeface="Aptos"/>
                <a:cs typeface="Aptos"/>
              </a:rPr>
              <a:t>to</a:t>
            </a:r>
            <a:r>
              <a:rPr sz="2200" spc="-105" dirty="0">
                <a:latin typeface="Times New Roman"/>
                <a:cs typeface="Times New Roman"/>
              </a:rPr>
              <a:t> </a:t>
            </a:r>
            <a:r>
              <a:rPr sz="2200" spc="-25" dirty="0">
                <a:latin typeface="Aptos"/>
                <a:cs typeface="Aptos"/>
              </a:rPr>
              <a:t>cyberattacks</a:t>
            </a:r>
            <a:r>
              <a:rPr sz="2200" spc="-55" dirty="0">
                <a:latin typeface="Times New Roman"/>
                <a:cs typeface="Times New Roman"/>
              </a:rPr>
              <a:t> </a:t>
            </a:r>
            <a:r>
              <a:rPr sz="2200" spc="-20" dirty="0">
                <a:latin typeface="Aptos"/>
                <a:cs typeface="Aptos"/>
              </a:rPr>
              <a:t>like</a:t>
            </a:r>
            <a:r>
              <a:rPr sz="2200" spc="-100" dirty="0">
                <a:latin typeface="Times New Roman"/>
                <a:cs typeface="Times New Roman"/>
              </a:rPr>
              <a:t> </a:t>
            </a:r>
            <a:r>
              <a:rPr sz="2200" spc="-20" dirty="0">
                <a:latin typeface="Aptos"/>
                <a:cs typeface="Aptos"/>
              </a:rPr>
              <a:t>DDoS,</a:t>
            </a:r>
            <a:r>
              <a:rPr sz="2200" spc="-114" dirty="0">
                <a:latin typeface="Times New Roman"/>
                <a:cs typeface="Times New Roman"/>
              </a:rPr>
              <a:t> </a:t>
            </a:r>
            <a:r>
              <a:rPr sz="2200" spc="-10" dirty="0">
                <a:latin typeface="Aptos"/>
                <a:cs typeface="Aptos"/>
              </a:rPr>
              <a:t>phishing,</a:t>
            </a:r>
            <a:r>
              <a:rPr sz="2200" spc="-110" dirty="0">
                <a:latin typeface="Times New Roman"/>
                <a:cs typeface="Times New Roman"/>
              </a:rPr>
              <a:t> </a:t>
            </a:r>
            <a:r>
              <a:rPr sz="2200" dirty="0">
                <a:latin typeface="Aptos"/>
                <a:cs typeface="Aptos"/>
              </a:rPr>
              <a:t>or</a:t>
            </a:r>
            <a:r>
              <a:rPr sz="2200" spc="-114" dirty="0">
                <a:latin typeface="Times New Roman"/>
                <a:cs typeface="Times New Roman"/>
              </a:rPr>
              <a:t> </a:t>
            </a:r>
            <a:r>
              <a:rPr sz="2200" spc="-10" dirty="0">
                <a:latin typeface="Aptos"/>
                <a:cs typeface="Aptos"/>
              </a:rPr>
              <a:t>ransomware</a:t>
            </a:r>
            <a:endParaRPr sz="2200">
              <a:latin typeface="Aptos"/>
              <a:cs typeface="Aptos"/>
            </a:endParaRPr>
          </a:p>
          <a:p>
            <a:pPr marL="469900">
              <a:lnSpc>
                <a:spcPts val="2245"/>
              </a:lnSpc>
            </a:pPr>
            <a:r>
              <a:rPr sz="2200" spc="-10" dirty="0">
                <a:latin typeface="Aptos"/>
                <a:cs typeface="Aptos"/>
              </a:rPr>
              <a:t>without</a:t>
            </a:r>
            <a:r>
              <a:rPr sz="2200" spc="-120" dirty="0">
                <a:latin typeface="Times New Roman"/>
                <a:cs typeface="Times New Roman"/>
              </a:rPr>
              <a:t> </a:t>
            </a:r>
            <a:r>
              <a:rPr sz="2200" spc="-20" dirty="0">
                <a:latin typeface="Aptos"/>
                <a:cs typeface="Aptos"/>
              </a:rPr>
              <a:t>robust</a:t>
            </a:r>
            <a:r>
              <a:rPr sz="2200" spc="-95" dirty="0">
                <a:latin typeface="Times New Roman"/>
                <a:cs typeface="Times New Roman"/>
              </a:rPr>
              <a:t> </a:t>
            </a:r>
            <a:r>
              <a:rPr sz="2200" spc="-10" dirty="0">
                <a:latin typeface="Aptos"/>
                <a:cs typeface="Aptos"/>
              </a:rPr>
              <a:t>security</a:t>
            </a:r>
            <a:r>
              <a:rPr sz="2200" spc="-80" dirty="0">
                <a:latin typeface="Times New Roman"/>
                <a:cs typeface="Times New Roman"/>
              </a:rPr>
              <a:t> </a:t>
            </a:r>
            <a:r>
              <a:rPr sz="2200" spc="-10" dirty="0">
                <a:latin typeface="Aptos"/>
                <a:cs typeface="Aptos"/>
              </a:rPr>
              <a:t>measures.</a:t>
            </a:r>
            <a:endParaRPr sz="2200">
              <a:latin typeface="Aptos"/>
              <a:cs typeface="Aptos"/>
            </a:endParaRPr>
          </a:p>
          <a:p>
            <a:pPr marL="275590" indent="-263525">
              <a:lnSpc>
                <a:spcPts val="2980"/>
              </a:lnSpc>
              <a:spcBef>
                <a:spcPts val="60"/>
              </a:spcBef>
              <a:buSzPct val="96153"/>
              <a:buFont typeface="Wingdings"/>
              <a:buChar char=""/>
              <a:tabLst>
                <a:tab pos="276225" algn="l"/>
              </a:tabLst>
            </a:pPr>
            <a:r>
              <a:rPr sz="2600" b="1" dirty="0">
                <a:latin typeface="Aptos"/>
                <a:cs typeface="Aptos"/>
              </a:rPr>
              <a:t>Dependence</a:t>
            </a:r>
            <a:r>
              <a:rPr sz="2600" spc="-135" dirty="0">
                <a:latin typeface="Times New Roman"/>
                <a:cs typeface="Times New Roman"/>
              </a:rPr>
              <a:t> </a:t>
            </a:r>
            <a:r>
              <a:rPr sz="2600" b="1" dirty="0">
                <a:latin typeface="Aptos"/>
                <a:cs typeface="Aptos"/>
              </a:rPr>
              <a:t>on</a:t>
            </a:r>
            <a:r>
              <a:rPr sz="2600" spc="-105" dirty="0">
                <a:latin typeface="Times New Roman"/>
                <a:cs typeface="Times New Roman"/>
              </a:rPr>
              <a:t> </a:t>
            </a:r>
            <a:r>
              <a:rPr sz="2600" b="1" spc="-30" dirty="0">
                <a:latin typeface="Aptos"/>
                <a:cs typeface="Aptos"/>
              </a:rPr>
              <a:t>Technical</a:t>
            </a:r>
            <a:r>
              <a:rPr sz="2600" spc="-130" dirty="0">
                <a:latin typeface="Times New Roman"/>
                <a:cs typeface="Times New Roman"/>
              </a:rPr>
              <a:t> </a:t>
            </a:r>
            <a:r>
              <a:rPr sz="2600" b="1" spc="-10" dirty="0">
                <a:latin typeface="Aptos"/>
                <a:cs typeface="Aptos"/>
              </a:rPr>
              <a:t>Personnel</a:t>
            </a:r>
            <a:endParaRPr sz="2600">
              <a:latin typeface="Aptos"/>
              <a:cs typeface="Aptos"/>
            </a:endParaRPr>
          </a:p>
          <a:p>
            <a:pPr marL="469900" marR="101600">
              <a:lnSpc>
                <a:spcPct val="70000"/>
              </a:lnSpc>
              <a:spcBef>
                <a:spcPts val="650"/>
              </a:spcBef>
            </a:pPr>
            <a:r>
              <a:rPr sz="2200" spc="-20" dirty="0">
                <a:latin typeface="Aptos"/>
                <a:cs typeface="Aptos"/>
              </a:rPr>
              <a:t>Ongoing</a:t>
            </a:r>
            <a:r>
              <a:rPr sz="2200" spc="-120" dirty="0">
                <a:latin typeface="Times New Roman"/>
                <a:cs typeface="Times New Roman"/>
              </a:rPr>
              <a:t> </a:t>
            </a:r>
            <a:r>
              <a:rPr sz="2200" spc="-10" dirty="0">
                <a:latin typeface="Aptos"/>
                <a:cs typeface="Aptos"/>
              </a:rPr>
              <a:t>maintenance</a:t>
            </a:r>
            <a:r>
              <a:rPr sz="2200" spc="-95" dirty="0">
                <a:latin typeface="Times New Roman"/>
                <a:cs typeface="Times New Roman"/>
              </a:rPr>
              <a:t> </a:t>
            </a:r>
            <a:r>
              <a:rPr sz="2200" spc="-10" dirty="0">
                <a:latin typeface="Aptos"/>
                <a:cs typeface="Aptos"/>
              </a:rPr>
              <a:t>(troubleshooting,</a:t>
            </a:r>
            <a:r>
              <a:rPr sz="2200" spc="-95" dirty="0">
                <a:latin typeface="Times New Roman"/>
                <a:cs typeface="Times New Roman"/>
              </a:rPr>
              <a:t> </a:t>
            </a:r>
            <a:r>
              <a:rPr sz="2200" spc="-10" dirty="0">
                <a:latin typeface="Aptos"/>
                <a:cs typeface="Aptos"/>
              </a:rPr>
              <a:t>updates)</a:t>
            </a:r>
            <a:r>
              <a:rPr sz="2200" spc="-80" dirty="0">
                <a:latin typeface="Times New Roman"/>
                <a:cs typeface="Times New Roman"/>
              </a:rPr>
              <a:t> </a:t>
            </a:r>
            <a:r>
              <a:rPr sz="2200" spc="-10" dirty="0">
                <a:latin typeface="Aptos"/>
                <a:cs typeface="Aptos"/>
              </a:rPr>
              <a:t>demands</a:t>
            </a:r>
            <a:r>
              <a:rPr sz="2200" spc="-85" dirty="0">
                <a:latin typeface="Times New Roman"/>
                <a:cs typeface="Times New Roman"/>
              </a:rPr>
              <a:t> </a:t>
            </a:r>
            <a:r>
              <a:rPr sz="2200" spc="-10" dirty="0">
                <a:latin typeface="Aptos"/>
                <a:cs typeface="Aptos"/>
              </a:rPr>
              <a:t>skilled</a:t>
            </a:r>
            <a:r>
              <a:rPr sz="2200" spc="-95" dirty="0">
                <a:latin typeface="Times New Roman"/>
                <a:cs typeface="Times New Roman"/>
              </a:rPr>
              <a:t> </a:t>
            </a:r>
            <a:r>
              <a:rPr sz="2200" dirty="0">
                <a:latin typeface="Aptos"/>
                <a:cs typeface="Aptos"/>
              </a:rPr>
              <a:t>IT</a:t>
            </a:r>
            <a:r>
              <a:rPr sz="2200" spc="-135" dirty="0">
                <a:latin typeface="Times New Roman"/>
                <a:cs typeface="Times New Roman"/>
              </a:rPr>
              <a:t> </a:t>
            </a:r>
            <a:r>
              <a:rPr sz="2200" spc="-25" dirty="0">
                <a:latin typeface="Aptos"/>
                <a:cs typeface="Aptos"/>
              </a:rPr>
              <a:t>staff,</a:t>
            </a:r>
            <a:r>
              <a:rPr sz="2200" spc="-90" dirty="0">
                <a:latin typeface="Times New Roman"/>
                <a:cs typeface="Times New Roman"/>
              </a:rPr>
              <a:t> </a:t>
            </a:r>
            <a:r>
              <a:rPr sz="2200" spc="-10" dirty="0">
                <a:latin typeface="Aptos"/>
                <a:cs typeface="Aptos"/>
              </a:rPr>
              <a:t>adding</a:t>
            </a:r>
            <a:r>
              <a:rPr sz="2200" spc="-10" dirty="0">
                <a:latin typeface="Times New Roman"/>
                <a:cs typeface="Times New Roman"/>
              </a:rPr>
              <a:t> </a:t>
            </a:r>
            <a:r>
              <a:rPr sz="2200" spc="-20" dirty="0">
                <a:latin typeface="Aptos"/>
                <a:cs typeface="Aptos"/>
              </a:rPr>
              <a:t>operational</a:t>
            </a:r>
            <a:r>
              <a:rPr sz="2200" spc="-70" dirty="0">
                <a:latin typeface="Times New Roman"/>
                <a:cs typeface="Times New Roman"/>
              </a:rPr>
              <a:t> </a:t>
            </a:r>
            <a:r>
              <a:rPr sz="2200" spc="-10" dirty="0">
                <a:latin typeface="Aptos"/>
                <a:cs typeface="Aptos"/>
              </a:rPr>
              <a:t>costs.</a:t>
            </a:r>
            <a:endParaRPr sz="2200">
              <a:latin typeface="Aptos"/>
              <a:cs typeface="Aptos"/>
            </a:endParaRPr>
          </a:p>
          <a:p>
            <a:pPr marL="276225" indent="-264160">
              <a:lnSpc>
                <a:spcPts val="2980"/>
              </a:lnSpc>
              <a:spcBef>
                <a:spcPts val="55"/>
              </a:spcBef>
              <a:buSzPct val="96153"/>
              <a:buFont typeface="Wingdings"/>
              <a:buChar char=""/>
              <a:tabLst>
                <a:tab pos="276860" algn="l"/>
              </a:tabLst>
            </a:pPr>
            <a:r>
              <a:rPr sz="2600" b="1" dirty="0">
                <a:latin typeface="Aptos"/>
                <a:cs typeface="Aptos"/>
              </a:rPr>
              <a:t>Virus</a:t>
            </a:r>
            <a:r>
              <a:rPr sz="2600" spc="-145" dirty="0">
                <a:latin typeface="Times New Roman"/>
                <a:cs typeface="Times New Roman"/>
              </a:rPr>
              <a:t> </a:t>
            </a:r>
            <a:r>
              <a:rPr sz="2600" b="1" spc="-10" dirty="0">
                <a:latin typeface="Aptos"/>
                <a:cs typeface="Aptos"/>
              </a:rPr>
              <a:t>Spread</a:t>
            </a:r>
            <a:endParaRPr sz="2600">
              <a:latin typeface="Aptos"/>
              <a:cs typeface="Aptos"/>
            </a:endParaRPr>
          </a:p>
          <a:p>
            <a:pPr marL="469900" marR="99060">
              <a:lnSpc>
                <a:spcPct val="70000"/>
              </a:lnSpc>
              <a:spcBef>
                <a:spcPts val="650"/>
              </a:spcBef>
            </a:pPr>
            <a:r>
              <a:rPr sz="2200" spc="-20" dirty="0">
                <a:latin typeface="Aptos"/>
                <a:cs typeface="Aptos"/>
              </a:rPr>
              <a:t>Malware</a:t>
            </a:r>
            <a:r>
              <a:rPr sz="2200" spc="-70" dirty="0">
                <a:latin typeface="Times New Roman"/>
                <a:cs typeface="Times New Roman"/>
              </a:rPr>
              <a:t> </a:t>
            </a:r>
            <a:r>
              <a:rPr sz="2200" spc="-10" dirty="0">
                <a:latin typeface="Aptos"/>
                <a:cs typeface="Aptos"/>
              </a:rPr>
              <a:t>can</a:t>
            </a:r>
            <a:r>
              <a:rPr sz="2200" spc="-105" dirty="0">
                <a:latin typeface="Times New Roman"/>
                <a:cs typeface="Times New Roman"/>
              </a:rPr>
              <a:t> </a:t>
            </a:r>
            <a:r>
              <a:rPr sz="2200" spc="-20" dirty="0">
                <a:latin typeface="Aptos"/>
                <a:cs typeface="Aptos"/>
              </a:rPr>
              <a:t>propagate</a:t>
            </a:r>
            <a:r>
              <a:rPr sz="2200" spc="-80" dirty="0">
                <a:latin typeface="Times New Roman"/>
                <a:cs typeface="Times New Roman"/>
              </a:rPr>
              <a:t> </a:t>
            </a:r>
            <a:r>
              <a:rPr sz="2200" spc="-20" dirty="0">
                <a:latin typeface="Aptos"/>
                <a:cs typeface="Aptos"/>
              </a:rPr>
              <a:t>rapidly</a:t>
            </a:r>
            <a:r>
              <a:rPr sz="2200" spc="-85" dirty="0">
                <a:latin typeface="Times New Roman"/>
                <a:cs typeface="Times New Roman"/>
              </a:rPr>
              <a:t> </a:t>
            </a:r>
            <a:r>
              <a:rPr sz="2200" spc="-20" dirty="0">
                <a:latin typeface="Aptos"/>
                <a:cs typeface="Aptos"/>
              </a:rPr>
              <a:t>across</a:t>
            </a:r>
            <a:r>
              <a:rPr sz="2200" spc="-85" dirty="0">
                <a:latin typeface="Times New Roman"/>
                <a:cs typeface="Times New Roman"/>
              </a:rPr>
              <a:t> </a:t>
            </a:r>
            <a:r>
              <a:rPr sz="2200" spc="-10" dirty="0">
                <a:latin typeface="Aptos"/>
                <a:cs typeface="Aptos"/>
              </a:rPr>
              <a:t>connected</a:t>
            </a:r>
            <a:r>
              <a:rPr sz="2200" spc="-80" dirty="0">
                <a:latin typeface="Times New Roman"/>
                <a:cs typeface="Times New Roman"/>
              </a:rPr>
              <a:t> </a:t>
            </a:r>
            <a:r>
              <a:rPr sz="2200" spc="-10" dirty="0">
                <a:latin typeface="Aptos"/>
                <a:cs typeface="Aptos"/>
              </a:rPr>
              <a:t>devices</a:t>
            </a:r>
            <a:r>
              <a:rPr sz="2200" spc="-75" dirty="0">
                <a:latin typeface="Times New Roman"/>
                <a:cs typeface="Times New Roman"/>
              </a:rPr>
              <a:t> </a:t>
            </a:r>
            <a:r>
              <a:rPr sz="2200" dirty="0">
                <a:latin typeface="Aptos"/>
                <a:cs typeface="Aptos"/>
              </a:rPr>
              <a:t>if</a:t>
            </a:r>
            <a:r>
              <a:rPr sz="2200" spc="-105" dirty="0">
                <a:latin typeface="Times New Roman"/>
                <a:cs typeface="Times New Roman"/>
              </a:rPr>
              <a:t> </a:t>
            </a:r>
            <a:r>
              <a:rPr sz="2200" spc="-10" dirty="0">
                <a:latin typeface="Aptos"/>
                <a:cs typeface="Aptos"/>
              </a:rPr>
              <a:t>antivirus</a:t>
            </a:r>
            <a:r>
              <a:rPr sz="2200" spc="-85" dirty="0">
                <a:latin typeface="Times New Roman"/>
                <a:cs typeface="Times New Roman"/>
              </a:rPr>
              <a:t> </a:t>
            </a:r>
            <a:r>
              <a:rPr sz="2200" spc="-20" dirty="0">
                <a:latin typeface="Aptos"/>
                <a:cs typeface="Aptos"/>
              </a:rPr>
              <a:t>protection</a:t>
            </a:r>
            <a:r>
              <a:rPr sz="2200" spc="-80" dirty="0">
                <a:latin typeface="Times New Roman"/>
                <a:cs typeface="Times New Roman"/>
              </a:rPr>
              <a:t> </a:t>
            </a:r>
            <a:r>
              <a:rPr sz="2200" spc="-25" dirty="0">
                <a:latin typeface="Aptos"/>
                <a:cs typeface="Aptos"/>
              </a:rPr>
              <a:t>is</a:t>
            </a:r>
            <a:r>
              <a:rPr sz="2200" spc="-25" dirty="0">
                <a:latin typeface="Times New Roman"/>
                <a:cs typeface="Times New Roman"/>
              </a:rPr>
              <a:t> </a:t>
            </a:r>
            <a:r>
              <a:rPr sz="2200" spc="-10" dirty="0">
                <a:latin typeface="Aptos"/>
                <a:cs typeface="Aptos"/>
              </a:rPr>
              <a:t>inadequate.</a:t>
            </a:r>
            <a:endParaRPr sz="2200">
              <a:latin typeface="Aptos"/>
              <a:cs typeface="Apto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38200" y="357187"/>
            <a:ext cx="10515600" cy="6257925"/>
          </a:xfrm>
          <a:custGeom>
            <a:avLst/>
            <a:gdLst/>
            <a:ahLst/>
            <a:cxnLst/>
            <a:rect l="l" t="t" r="r" b="b"/>
            <a:pathLst>
              <a:path w="10515600" h="6257925">
                <a:moveTo>
                  <a:pt x="0" y="6257924"/>
                </a:moveTo>
                <a:lnTo>
                  <a:pt x="10515599" y="6257924"/>
                </a:lnTo>
                <a:lnTo>
                  <a:pt x="10515599" y="0"/>
                </a:lnTo>
                <a:lnTo>
                  <a:pt x="0" y="0"/>
                </a:lnTo>
                <a:lnTo>
                  <a:pt x="0" y="6257924"/>
                </a:lnTo>
                <a:close/>
              </a:path>
            </a:pathLst>
          </a:custGeom>
          <a:ln w="19049">
            <a:solidFill>
              <a:srgbClr val="000000"/>
            </a:solidFill>
          </a:ln>
        </p:spPr>
        <p:txBody>
          <a:bodyPr wrap="square" lIns="0" tIns="0" rIns="0" bIns="0" rtlCol="0"/>
          <a:lstStyle/>
          <a:p>
            <a:endParaRPr/>
          </a:p>
        </p:txBody>
      </p:sp>
      <p:sp>
        <p:nvSpPr>
          <p:cNvPr id="3" name="object 3"/>
          <p:cNvSpPr txBox="1">
            <a:spLocks noGrp="1"/>
          </p:cNvSpPr>
          <p:nvPr>
            <p:ph type="title"/>
          </p:nvPr>
        </p:nvSpPr>
        <p:spPr>
          <a:xfrm>
            <a:off x="916940" y="304609"/>
            <a:ext cx="4493259" cy="391795"/>
          </a:xfrm>
          <a:prstGeom prst="rect">
            <a:avLst/>
          </a:prstGeom>
        </p:spPr>
        <p:txBody>
          <a:bodyPr vert="horz" wrap="square" lIns="0" tIns="12700" rIns="0" bIns="0" rtlCol="0">
            <a:spAutoFit/>
          </a:bodyPr>
          <a:lstStyle/>
          <a:p>
            <a:pPr marL="12700">
              <a:lnSpc>
                <a:spcPct val="100000"/>
              </a:lnSpc>
              <a:spcBef>
                <a:spcPts val="100"/>
              </a:spcBef>
            </a:pPr>
            <a:r>
              <a:rPr sz="2400" b="1" dirty="0">
                <a:latin typeface="Aptos"/>
                <a:cs typeface="Aptos"/>
              </a:rPr>
              <a:t>Modes</a:t>
            </a:r>
            <a:r>
              <a:rPr sz="2400" spc="-150" dirty="0">
                <a:latin typeface="Times New Roman"/>
                <a:cs typeface="Times New Roman"/>
              </a:rPr>
              <a:t> </a:t>
            </a:r>
            <a:r>
              <a:rPr sz="2400" b="1" dirty="0">
                <a:latin typeface="Aptos"/>
                <a:cs typeface="Aptos"/>
              </a:rPr>
              <a:t>of</a:t>
            </a:r>
            <a:r>
              <a:rPr sz="2400" spc="-130" dirty="0">
                <a:latin typeface="Times New Roman"/>
                <a:cs typeface="Times New Roman"/>
              </a:rPr>
              <a:t> </a:t>
            </a:r>
            <a:r>
              <a:rPr sz="2400" b="1" spc="-10" dirty="0">
                <a:latin typeface="Aptos"/>
                <a:cs typeface="Aptos"/>
              </a:rPr>
              <a:t>communication</a:t>
            </a:r>
            <a:endParaRPr sz="2400" dirty="0">
              <a:latin typeface="Aptos"/>
              <a:cs typeface="Aptos"/>
            </a:endParaRPr>
          </a:p>
        </p:txBody>
      </p:sp>
      <p:sp>
        <p:nvSpPr>
          <p:cNvPr id="4" name="object 4"/>
          <p:cNvSpPr txBox="1"/>
          <p:nvPr/>
        </p:nvSpPr>
        <p:spPr>
          <a:xfrm>
            <a:off x="4575177" y="6120484"/>
            <a:ext cx="3198495"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Aptos"/>
                <a:cs typeface="Aptos"/>
              </a:rPr>
              <a:t>Fig:</a:t>
            </a:r>
            <a:r>
              <a:rPr sz="2000" spc="-105" dirty="0">
                <a:latin typeface="Times New Roman"/>
                <a:cs typeface="Times New Roman"/>
              </a:rPr>
              <a:t> </a:t>
            </a:r>
            <a:r>
              <a:rPr sz="2000" spc="-10" dirty="0">
                <a:latin typeface="Aptos"/>
                <a:cs typeface="Aptos"/>
              </a:rPr>
              <a:t>Simplex</a:t>
            </a:r>
            <a:r>
              <a:rPr sz="2000" spc="-105" dirty="0">
                <a:latin typeface="Times New Roman"/>
                <a:cs typeface="Times New Roman"/>
              </a:rPr>
              <a:t> </a:t>
            </a:r>
            <a:r>
              <a:rPr sz="2000" spc="-10" dirty="0">
                <a:latin typeface="Aptos"/>
                <a:cs typeface="Aptos"/>
              </a:rPr>
              <a:t>communication:</a:t>
            </a:r>
            <a:endParaRPr sz="2000">
              <a:latin typeface="Aptos"/>
              <a:cs typeface="Aptos"/>
            </a:endParaRPr>
          </a:p>
        </p:txBody>
      </p:sp>
      <p:grpSp>
        <p:nvGrpSpPr>
          <p:cNvPr id="5" name="object 5"/>
          <p:cNvGrpSpPr/>
          <p:nvPr/>
        </p:nvGrpSpPr>
        <p:grpSpPr>
          <a:xfrm>
            <a:off x="3708402" y="2643187"/>
            <a:ext cx="6600825" cy="3200400"/>
            <a:chOff x="3708402" y="2643187"/>
            <a:chExt cx="6600825" cy="3200400"/>
          </a:xfrm>
        </p:grpSpPr>
        <p:pic>
          <p:nvPicPr>
            <p:cNvPr id="6" name="object 6"/>
            <p:cNvPicPr/>
            <p:nvPr/>
          </p:nvPicPr>
          <p:blipFill>
            <a:blip r:embed="rId2" cstate="print"/>
            <a:stretch>
              <a:fillRect/>
            </a:stretch>
          </p:blipFill>
          <p:spPr>
            <a:xfrm>
              <a:off x="3708402" y="2643187"/>
              <a:ext cx="4432294" cy="3200399"/>
            </a:xfrm>
            <a:prstGeom prst="rect">
              <a:avLst/>
            </a:prstGeom>
          </p:spPr>
        </p:pic>
        <p:sp>
          <p:nvSpPr>
            <p:cNvPr id="7" name="object 7"/>
            <p:cNvSpPr/>
            <p:nvPr/>
          </p:nvSpPr>
          <p:spPr>
            <a:xfrm>
              <a:off x="9241688" y="2955035"/>
              <a:ext cx="1067435" cy="228600"/>
            </a:xfrm>
            <a:custGeom>
              <a:avLst/>
              <a:gdLst/>
              <a:ahLst/>
              <a:cxnLst/>
              <a:rect l="l" t="t" r="r" b="b"/>
              <a:pathLst>
                <a:path w="1067434" h="228600">
                  <a:moveTo>
                    <a:pt x="838428" y="0"/>
                  </a:moveTo>
                  <a:lnTo>
                    <a:pt x="838428" y="228600"/>
                  </a:lnTo>
                  <a:lnTo>
                    <a:pt x="990828" y="152400"/>
                  </a:lnTo>
                  <a:lnTo>
                    <a:pt x="876551" y="152400"/>
                  </a:lnTo>
                  <a:lnTo>
                    <a:pt x="876551" y="76200"/>
                  </a:lnTo>
                  <a:lnTo>
                    <a:pt x="990828" y="76200"/>
                  </a:lnTo>
                  <a:lnTo>
                    <a:pt x="838428" y="0"/>
                  </a:lnTo>
                  <a:close/>
                </a:path>
                <a:path w="1067434" h="228600">
                  <a:moveTo>
                    <a:pt x="838428" y="76200"/>
                  </a:moveTo>
                  <a:lnTo>
                    <a:pt x="0" y="76200"/>
                  </a:lnTo>
                  <a:lnTo>
                    <a:pt x="0" y="152400"/>
                  </a:lnTo>
                  <a:lnTo>
                    <a:pt x="838428" y="152400"/>
                  </a:lnTo>
                  <a:lnTo>
                    <a:pt x="838428" y="76200"/>
                  </a:lnTo>
                  <a:close/>
                </a:path>
                <a:path w="1067434" h="228600">
                  <a:moveTo>
                    <a:pt x="990828" y="76200"/>
                  </a:moveTo>
                  <a:lnTo>
                    <a:pt x="876551" y="76200"/>
                  </a:lnTo>
                  <a:lnTo>
                    <a:pt x="876551" y="152400"/>
                  </a:lnTo>
                  <a:lnTo>
                    <a:pt x="990828" y="152400"/>
                  </a:lnTo>
                  <a:lnTo>
                    <a:pt x="1067028" y="114300"/>
                  </a:lnTo>
                  <a:lnTo>
                    <a:pt x="990828" y="76200"/>
                  </a:lnTo>
                  <a:close/>
                </a:path>
              </a:pathLst>
            </a:custGeom>
            <a:solidFill>
              <a:srgbClr val="155F81"/>
            </a:solidFill>
          </p:spPr>
          <p:txBody>
            <a:bodyPr wrap="square" lIns="0" tIns="0" rIns="0" bIns="0" rtlCol="0"/>
            <a:lstStyle/>
            <a:p>
              <a:endParaRPr/>
            </a:p>
          </p:txBody>
        </p:sp>
      </p:grpSp>
      <p:sp>
        <p:nvSpPr>
          <p:cNvPr id="8" name="object 8"/>
          <p:cNvSpPr txBox="1"/>
          <p:nvPr/>
        </p:nvSpPr>
        <p:spPr>
          <a:xfrm>
            <a:off x="916935" y="724271"/>
            <a:ext cx="9636125" cy="2758440"/>
          </a:xfrm>
          <a:prstGeom prst="rect">
            <a:avLst/>
          </a:prstGeom>
        </p:spPr>
        <p:txBody>
          <a:bodyPr vert="horz" wrap="square" lIns="0" tIns="83820" rIns="0" bIns="0" rtlCol="0">
            <a:spAutoFit/>
          </a:bodyPr>
          <a:lstStyle/>
          <a:p>
            <a:pPr marL="12700" marR="501650">
              <a:lnSpc>
                <a:spcPts val="2300"/>
              </a:lnSpc>
              <a:spcBef>
                <a:spcPts val="660"/>
              </a:spcBef>
            </a:pPr>
            <a:r>
              <a:rPr sz="2400" spc="-10" dirty="0">
                <a:latin typeface="Aptos"/>
                <a:cs typeface="Aptos"/>
              </a:rPr>
              <a:t>Data</a:t>
            </a:r>
            <a:r>
              <a:rPr sz="2400" spc="-145" dirty="0">
                <a:latin typeface="Times New Roman"/>
                <a:cs typeface="Times New Roman"/>
              </a:rPr>
              <a:t> </a:t>
            </a:r>
            <a:r>
              <a:rPr sz="2400" dirty="0">
                <a:latin typeface="Aptos"/>
                <a:cs typeface="Aptos"/>
              </a:rPr>
              <a:t>communication</a:t>
            </a:r>
            <a:r>
              <a:rPr sz="2400" spc="-114" dirty="0">
                <a:latin typeface="Times New Roman"/>
                <a:cs typeface="Times New Roman"/>
              </a:rPr>
              <a:t> </a:t>
            </a:r>
            <a:r>
              <a:rPr sz="2400" dirty="0">
                <a:latin typeface="Aptos"/>
                <a:cs typeface="Aptos"/>
              </a:rPr>
              <a:t>can</a:t>
            </a:r>
            <a:r>
              <a:rPr sz="2400" spc="-125" dirty="0">
                <a:latin typeface="Times New Roman"/>
                <a:cs typeface="Times New Roman"/>
              </a:rPr>
              <a:t> </a:t>
            </a:r>
            <a:r>
              <a:rPr sz="2400" dirty="0">
                <a:latin typeface="Aptos"/>
                <a:cs typeface="Aptos"/>
              </a:rPr>
              <a:t>be</a:t>
            </a:r>
            <a:r>
              <a:rPr sz="2400" spc="-120" dirty="0">
                <a:latin typeface="Times New Roman"/>
                <a:cs typeface="Times New Roman"/>
              </a:rPr>
              <a:t> </a:t>
            </a:r>
            <a:r>
              <a:rPr sz="2400" dirty="0">
                <a:latin typeface="Aptos"/>
                <a:cs typeface="Aptos"/>
              </a:rPr>
              <a:t>classified</a:t>
            </a:r>
            <a:r>
              <a:rPr sz="2400" spc="-114" dirty="0">
                <a:latin typeface="Times New Roman"/>
                <a:cs typeface="Times New Roman"/>
              </a:rPr>
              <a:t> </a:t>
            </a:r>
            <a:r>
              <a:rPr sz="2400" dirty="0">
                <a:latin typeface="Aptos"/>
                <a:cs typeface="Aptos"/>
              </a:rPr>
              <a:t>into</a:t>
            </a:r>
            <a:r>
              <a:rPr sz="2400" spc="-135" dirty="0">
                <a:latin typeface="Times New Roman"/>
                <a:cs typeface="Times New Roman"/>
              </a:rPr>
              <a:t> </a:t>
            </a:r>
            <a:r>
              <a:rPr sz="2400" spc="-10" dirty="0">
                <a:latin typeface="Aptos"/>
                <a:cs typeface="Aptos"/>
              </a:rPr>
              <a:t>three</a:t>
            </a:r>
            <a:r>
              <a:rPr sz="2400" spc="-135" dirty="0">
                <a:latin typeface="Times New Roman"/>
                <a:cs typeface="Times New Roman"/>
              </a:rPr>
              <a:t> </a:t>
            </a:r>
            <a:r>
              <a:rPr sz="2400" dirty="0">
                <a:latin typeface="Aptos"/>
                <a:cs typeface="Aptos"/>
              </a:rPr>
              <a:t>types</a:t>
            </a:r>
            <a:r>
              <a:rPr sz="2400" spc="-130" dirty="0">
                <a:latin typeface="Times New Roman"/>
                <a:cs typeface="Times New Roman"/>
              </a:rPr>
              <a:t> </a:t>
            </a:r>
            <a:r>
              <a:rPr sz="2400" dirty="0">
                <a:latin typeface="Aptos"/>
                <a:cs typeface="Aptos"/>
              </a:rPr>
              <a:t>on</a:t>
            </a:r>
            <a:r>
              <a:rPr sz="2400" spc="-125" dirty="0">
                <a:latin typeface="Times New Roman"/>
                <a:cs typeface="Times New Roman"/>
              </a:rPr>
              <a:t> </a:t>
            </a:r>
            <a:r>
              <a:rPr sz="2400" dirty="0">
                <a:latin typeface="Aptos"/>
                <a:cs typeface="Aptos"/>
              </a:rPr>
              <a:t>the</a:t>
            </a:r>
            <a:r>
              <a:rPr sz="2400" spc="-130" dirty="0">
                <a:latin typeface="Times New Roman"/>
                <a:cs typeface="Times New Roman"/>
              </a:rPr>
              <a:t> </a:t>
            </a:r>
            <a:r>
              <a:rPr sz="2400" dirty="0">
                <a:latin typeface="Aptos"/>
                <a:cs typeface="Aptos"/>
              </a:rPr>
              <a:t>basis</a:t>
            </a:r>
            <a:r>
              <a:rPr sz="2400" spc="-125" dirty="0">
                <a:latin typeface="Times New Roman"/>
                <a:cs typeface="Times New Roman"/>
              </a:rPr>
              <a:t> </a:t>
            </a:r>
            <a:r>
              <a:rPr sz="2400" spc="-25" dirty="0">
                <a:latin typeface="Aptos"/>
                <a:cs typeface="Aptos"/>
              </a:rPr>
              <a:t>of</a:t>
            </a:r>
            <a:r>
              <a:rPr sz="2400" spc="-25" dirty="0">
                <a:latin typeface="Times New Roman"/>
                <a:cs typeface="Times New Roman"/>
              </a:rPr>
              <a:t> </a:t>
            </a:r>
            <a:r>
              <a:rPr sz="2400" dirty="0">
                <a:latin typeface="Aptos"/>
                <a:cs typeface="Aptos"/>
              </a:rPr>
              <a:t>direction</a:t>
            </a:r>
            <a:r>
              <a:rPr sz="2400" spc="-135" dirty="0">
                <a:latin typeface="Times New Roman"/>
                <a:cs typeface="Times New Roman"/>
              </a:rPr>
              <a:t> </a:t>
            </a:r>
            <a:r>
              <a:rPr sz="2400" dirty="0">
                <a:latin typeface="Aptos"/>
                <a:cs typeface="Aptos"/>
              </a:rPr>
              <a:t>of</a:t>
            </a:r>
            <a:r>
              <a:rPr sz="2400" spc="-145" dirty="0">
                <a:latin typeface="Times New Roman"/>
                <a:cs typeface="Times New Roman"/>
              </a:rPr>
              <a:t> </a:t>
            </a:r>
            <a:r>
              <a:rPr sz="2400" dirty="0">
                <a:latin typeface="Aptos"/>
                <a:cs typeface="Aptos"/>
              </a:rPr>
              <a:t>communication</a:t>
            </a:r>
            <a:r>
              <a:rPr sz="2400" spc="-125" dirty="0">
                <a:latin typeface="Times New Roman"/>
                <a:cs typeface="Times New Roman"/>
              </a:rPr>
              <a:t> </a:t>
            </a:r>
            <a:r>
              <a:rPr sz="2400" spc="-10" dirty="0">
                <a:latin typeface="Aptos"/>
                <a:cs typeface="Aptos"/>
              </a:rPr>
              <a:t>flow:</a:t>
            </a:r>
            <a:endParaRPr sz="2400">
              <a:latin typeface="Aptos"/>
              <a:cs typeface="Aptos"/>
            </a:endParaRPr>
          </a:p>
          <a:p>
            <a:pPr marL="12700">
              <a:lnSpc>
                <a:spcPct val="100000"/>
              </a:lnSpc>
              <a:spcBef>
                <a:spcPts val="455"/>
              </a:spcBef>
            </a:pPr>
            <a:r>
              <a:rPr sz="2400" b="1" dirty="0">
                <a:latin typeface="Aptos"/>
                <a:cs typeface="Aptos"/>
              </a:rPr>
              <a:t>a)</a:t>
            </a:r>
            <a:r>
              <a:rPr sz="2400" spc="-145" dirty="0">
                <a:latin typeface="Times New Roman"/>
                <a:cs typeface="Times New Roman"/>
              </a:rPr>
              <a:t> </a:t>
            </a:r>
            <a:r>
              <a:rPr sz="2400" b="1" spc="-10" dirty="0">
                <a:latin typeface="Aptos"/>
                <a:cs typeface="Aptos"/>
              </a:rPr>
              <a:t>Simplex</a:t>
            </a:r>
            <a:endParaRPr sz="2400">
              <a:latin typeface="Aptos"/>
              <a:cs typeface="Aptos"/>
            </a:endParaRPr>
          </a:p>
          <a:p>
            <a:pPr marL="12700" marR="123189">
              <a:lnSpc>
                <a:spcPts val="2300"/>
              </a:lnSpc>
              <a:spcBef>
                <a:spcPts val="985"/>
              </a:spcBef>
            </a:pPr>
            <a:r>
              <a:rPr sz="2400" spc="-10" dirty="0">
                <a:latin typeface="Aptos"/>
                <a:cs typeface="Aptos"/>
              </a:rPr>
              <a:t>Simplex</a:t>
            </a:r>
            <a:r>
              <a:rPr sz="2400" spc="-110" dirty="0">
                <a:latin typeface="Times New Roman"/>
                <a:cs typeface="Times New Roman"/>
              </a:rPr>
              <a:t> </a:t>
            </a:r>
            <a:r>
              <a:rPr sz="2400" dirty="0">
                <a:latin typeface="Aptos"/>
                <a:cs typeface="Aptos"/>
              </a:rPr>
              <a:t>mode</a:t>
            </a:r>
            <a:r>
              <a:rPr sz="2400" spc="-100" dirty="0">
                <a:latin typeface="Times New Roman"/>
                <a:cs typeface="Times New Roman"/>
              </a:rPr>
              <a:t> </a:t>
            </a:r>
            <a:r>
              <a:rPr sz="2400" dirty="0">
                <a:latin typeface="Aptos"/>
                <a:cs typeface="Aptos"/>
              </a:rPr>
              <a:t>is</a:t>
            </a:r>
            <a:r>
              <a:rPr sz="2400" spc="-114" dirty="0">
                <a:latin typeface="Times New Roman"/>
                <a:cs typeface="Times New Roman"/>
              </a:rPr>
              <a:t> </a:t>
            </a:r>
            <a:r>
              <a:rPr sz="2400" dirty="0">
                <a:latin typeface="Aptos"/>
                <a:cs typeface="Aptos"/>
              </a:rPr>
              <a:t>a</a:t>
            </a:r>
            <a:r>
              <a:rPr sz="2400" spc="-105" dirty="0">
                <a:latin typeface="Times New Roman"/>
                <a:cs typeface="Times New Roman"/>
              </a:rPr>
              <a:t> </a:t>
            </a:r>
            <a:r>
              <a:rPr sz="2400" spc="-10" dirty="0">
                <a:latin typeface="Aptos"/>
                <a:cs typeface="Aptos"/>
              </a:rPr>
              <a:t>transmission</a:t>
            </a:r>
            <a:r>
              <a:rPr sz="2400" spc="-114" dirty="0">
                <a:latin typeface="Times New Roman"/>
                <a:cs typeface="Times New Roman"/>
              </a:rPr>
              <a:t> </a:t>
            </a:r>
            <a:r>
              <a:rPr sz="2400" dirty="0">
                <a:latin typeface="Aptos"/>
                <a:cs typeface="Aptos"/>
              </a:rPr>
              <a:t>mode</a:t>
            </a:r>
            <a:r>
              <a:rPr sz="2400" spc="-120" dirty="0">
                <a:latin typeface="Times New Roman"/>
                <a:cs typeface="Times New Roman"/>
              </a:rPr>
              <a:t> </a:t>
            </a:r>
            <a:r>
              <a:rPr sz="2400" dirty="0">
                <a:latin typeface="Aptos"/>
                <a:cs typeface="Aptos"/>
              </a:rPr>
              <a:t>in</a:t>
            </a:r>
            <a:r>
              <a:rPr sz="2400" spc="-105" dirty="0">
                <a:latin typeface="Times New Roman"/>
                <a:cs typeface="Times New Roman"/>
              </a:rPr>
              <a:t> </a:t>
            </a:r>
            <a:r>
              <a:rPr sz="2400" dirty="0">
                <a:latin typeface="Aptos"/>
                <a:cs typeface="Aptos"/>
              </a:rPr>
              <a:t>which</a:t>
            </a:r>
            <a:r>
              <a:rPr sz="2400" spc="-95" dirty="0">
                <a:latin typeface="Times New Roman"/>
                <a:cs typeface="Times New Roman"/>
              </a:rPr>
              <a:t> </a:t>
            </a:r>
            <a:r>
              <a:rPr sz="2400" spc="-10" dirty="0">
                <a:latin typeface="Aptos"/>
                <a:cs typeface="Aptos"/>
              </a:rPr>
              <a:t>information</a:t>
            </a:r>
            <a:r>
              <a:rPr sz="2400" spc="-90" dirty="0">
                <a:latin typeface="Times New Roman"/>
                <a:cs typeface="Times New Roman"/>
              </a:rPr>
              <a:t> </a:t>
            </a:r>
            <a:r>
              <a:rPr sz="2400" dirty="0">
                <a:latin typeface="Aptos"/>
                <a:cs typeface="Aptos"/>
              </a:rPr>
              <a:t>is</a:t>
            </a:r>
            <a:r>
              <a:rPr sz="2400" spc="-105" dirty="0">
                <a:latin typeface="Times New Roman"/>
                <a:cs typeface="Times New Roman"/>
              </a:rPr>
              <a:t> </a:t>
            </a:r>
            <a:r>
              <a:rPr sz="2400" dirty="0">
                <a:latin typeface="Aptos"/>
                <a:cs typeface="Aptos"/>
              </a:rPr>
              <a:t>sent</a:t>
            </a:r>
            <a:r>
              <a:rPr sz="2400" spc="-114" dirty="0">
                <a:latin typeface="Times New Roman"/>
                <a:cs typeface="Times New Roman"/>
              </a:rPr>
              <a:t> </a:t>
            </a:r>
            <a:r>
              <a:rPr sz="2400" dirty="0">
                <a:latin typeface="Aptos"/>
                <a:cs typeface="Aptos"/>
              </a:rPr>
              <a:t>in</a:t>
            </a:r>
            <a:r>
              <a:rPr sz="2400" spc="-105" dirty="0">
                <a:latin typeface="Times New Roman"/>
                <a:cs typeface="Times New Roman"/>
              </a:rPr>
              <a:t> </a:t>
            </a:r>
            <a:r>
              <a:rPr sz="2400" spc="-25" dirty="0">
                <a:latin typeface="Aptos"/>
                <a:cs typeface="Aptos"/>
              </a:rPr>
              <a:t>one</a:t>
            </a:r>
            <a:r>
              <a:rPr sz="2400" spc="-25" dirty="0">
                <a:latin typeface="Times New Roman"/>
                <a:cs typeface="Times New Roman"/>
              </a:rPr>
              <a:t> </a:t>
            </a:r>
            <a:r>
              <a:rPr sz="2400" dirty="0">
                <a:latin typeface="Aptos"/>
                <a:cs typeface="Aptos"/>
              </a:rPr>
              <a:t>direction</a:t>
            </a:r>
            <a:r>
              <a:rPr sz="2400" spc="-130" dirty="0">
                <a:latin typeface="Times New Roman"/>
                <a:cs typeface="Times New Roman"/>
              </a:rPr>
              <a:t> </a:t>
            </a:r>
            <a:r>
              <a:rPr sz="2400" spc="-35" dirty="0">
                <a:latin typeface="Aptos"/>
                <a:cs typeface="Aptos"/>
              </a:rPr>
              <a:t>only,</a:t>
            </a:r>
            <a:r>
              <a:rPr sz="2400" spc="-110" dirty="0">
                <a:latin typeface="Times New Roman"/>
                <a:cs typeface="Times New Roman"/>
              </a:rPr>
              <a:t> </a:t>
            </a:r>
            <a:r>
              <a:rPr sz="2400" dirty="0">
                <a:latin typeface="Aptos"/>
                <a:cs typeface="Aptos"/>
              </a:rPr>
              <a:t>also</a:t>
            </a:r>
            <a:r>
              <a:rPr sz="2400" spc="-145" dirty="0">
                <a:latin typeface="Times New Roman"/>
                <a:cs typeface="Times New Roman"/>
              </a:rPr>
              <a:t> </a:t>
            </a:r>
            <a:r>
              <a:rPr sz="2400" dirty="0">
                <a:latin typeface="Aptos"/>
                <a:cs typeface="Aptos"/>
              </a:rPr>
              <a:t>known</a:t>
            </a:r>
            <a:r>
              <a:rPr sz="2400" spc="-135" dirty="0">
                <a:latin typeface="Times New Roman"/>
                <a:cs typeface="Times New Roman"/>
              </a:rPr>
              <a:t> </a:t>
            </a:r>
            <a:r>
              <a:rPr sz="2400" dirty="0">
                <a:latin typeface="Aptos"/>
                <a:cs typeface="Aptos"/>
              </a:rPr>
              <a:t>as</a:t>
            </a:r>
            <a:r>
              <a:rPr sz="2400" spc="-135" dirty="0">
                <a:latin typeface="Times New Roman"/>
                <a:cs typeface="Times New Roman"/>
              </a:rPr>
              <a:t> </a:t>
            </a:r>
            <a:r>
              <a:rPr sz="2400" spc="-10" dirty="0">
                <a:latin typeface="Aptos"/>
                <a:cs typeface="Aptos"/>
              </a:rPr>
              <a:t>unidirectional/one</a:t>
            </a:r>
            <a:r>
              <a:rPr sz="2400" spc="-120" dirty="0">
                <a:latin typeface="Times New Roman"/>
                <a:cs typeface="Times New Roman"/>
              </a:rPr>
              <a:t> </a:t>
            </a:r>
            <a:r>
              <a:rPr sz="2400" dirty="0">
                <a:latin typeface="Aptos"/>
                <a:cs typeface="Aptos"/>
              </a:rPr>
              <a:t>way</a:t>
            </a:r>
            <a:r>
              <a:rPr sz="2400" spc="-145" dirty="0">
                <a:latin typeface="Times New Roman"/>
                <a:cs typeface="Times New Roman"/>
              </a:rPr>
              <a:t> </a:t>
            </a:r>
            <a:r>
              <a:rPr sz="2400" spc="-10" dirty="0">
                <a:latin typeface="Aptos"/>
                <a:cs typeface="Aptos"/>
              </a:rPr>
              <a:t>direction.</a:t>
            </a:r>
            <a:endParaRPr sz="2400">
              <a:latin typeface="Aptos"/>
              <a:cs typeface="Aptos"/>
            </a:endParaRPr>
          </a:p>
          <a:p>
            <a:pPr>
              <a:lnSpc>
                <a:spcPct val="100000"/>
              </a:lnSpc>
              <a:spcBef>
                <a:spcPts val="50"/>
              </a:spcBef>
            </a:pPr>
            <a:endParaRPr sz="2400">
              <a:latin typeface="Aptos"/>
              <a:cs typeface="Aptos"/>
            </a:endParaRPr>
          </a:p>
          <a:p>
            <a:pPr marL="8067040" algn="ctr">
              <a:lnSpc>
                <a:spcPts val="2150"/>
              </a:lnSpc>
              <a:spcBef>
                <a:spcPts val="5"/>
              </a:spcBef>
              <a:tabLst>
                <a:tab pos="9471660" algn="l"/>
              </a:tabLst>
            </a:pPr>
            <a:r>
              <a:rPr sz="1800" spc="-50" dirty="0">
                <a:latin typeface="Aptos"/>
                <a:cs typeface="Aptos"/>
              </a:rPr>
              <a:t>A</a:t>
            </a:r>
            <a:r>
              <a:rPr sz="1800" dirty="0">
                <a:latin typeface="Times New Roman"/>
                <a:cs typeface="Times New Roman"/>
              </a:rPr>
              <a:t>	</a:t>
            </a:r>
            <a:r>
              <a:rPr sz="1800" spc="-50" dirty="0">
                <a:latin typeface="Aptos"/>
                <a:cs typeface="Aptos"/>
              </a:rPr>
              <a:t>B</a:t>
            </a:r>
            <a:endParaRPr sz="1800">
              <a:latin typeface="Aptos"/>
              <a:cs typeface="Aptos"/>
            </a:endParaRPr>
          </a:p>
          <a:p>
            <a:pPr marL="8105775" algn="ctr">
              <a:lnSpc>
                <a:spcPts val="2150"/>
              </a:lnSpc>
            </a:pPr>
            <a:r>
              <a:rPr sz="1800" spc="-10" dirty="0">
                <a:latin typeface="Aptos"/>
                <a:cs typeface="Aptos"/>
              </a:rPr>
              <a:t>Fig:</a:t>
            </a:r>
            <a:r>
              <a:rPr sz="1800" spc="-75" dirty="0">
                <a:latin typeface="Times New Roman"/>
                <a:cs typeface="Times New Roman"/>
              </a:rPr>
              <a:t> </a:t>
            </a:r>
            <a:r>
              <a:rPr sz="1800" spc="-10" dirty="0">
                <a:latin typeface="Aptos"/>
                <a:cs typeface="Aptos"/>
              </a:rPr>
              <a:t>simplex</a:t>
            </a:r>
            <a:endParaRPr sz="1800">
              <a:latin typeface="Aptos"/>
              <a:cs typeface="Apto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0" y="79945"/>
            <a:ext cx="2893059" cy="452120"/>
          </a:xfrm>
          <a:prstGeom prst="rect">
            <a:avLst/>
          </a:prstGeom>
        </p:spPr>
        <p:txBody>
          <a:bodyPr vert="horz" wrap="square" lIns="0" tIns="12065" rIns="0" bIns="0" rtlCol="0">
            <a:spAutoFit/>
          </a:bodyPr>
          <a:lstStyle/>
          <a:p>
            <a:pPr marL="12700">
              <a:lnSpc>
                <a:spcPct val="100000"/>
              </a:lnSpc>
              <a:spcBef>
                <a:spcPts val="95"/>
              </a:spcBef>
            </a:pPr>
            <a:r>
              <a:rPr sz="2800" b="1" dirty="0">
                <a:latin typeface="Aptos"/>
                <a:cs typeface="Aptos"/>
              </a:rPr>
              <a:t>b)</a:t>
            </a:r>
            <a:r>
              <a:rPr sz="2800" spc="-150" dirty="0">
                <a:latin typeface="Times New Roman"/>
                <a:cs typeface="Times New Roman"/>
              </a:rPr>
              <a:t> </a:t>
            </a:r>
            <a:r>
              <a:rPr sz="2800" b="1" spc="-10" dirty="0">
                <a:latin typeface="Aptos"/>
                <a:cs typeface="Aptos"/>
              </a:rPr>
              <a:t>Half-duplex</a:t>
            </a:r>
            <a:endParaRPr sz="2800" dirty="0">
              <a:latin typeface="Aptos"/>
              <a:cs typeface="Aptos"/>
            </a:endParaRPr>
          </a:p>
        </p:txBody>
      </p:sp>
      <p:sp>
        <p:nvSpPr>
          <p:cNvPr id="3" name="object 3"/>
          <p:cNvSpPr txBox="1"/>
          <p:nvPr/>
        </p:nvSpPr>
        <p:spPr>
          <a:xfrm>
            <a:off x="916941" y="591044"/>
            <a:ext cx="9725025" cy="835660"/>
          </a:xfrm>
          <a:prstGeom prst="rect">
            <a:avLst/>
          </a:prstGeom>
        </p:spPr>
        <p:txBody>
          <a:bodyPr vert="horz" wrap="square" lIns="0" tIns="60960" rIns="0" bIns="0" rtlCol="0">
            <a:spAutoFit/>
          </a:bodyPr>
          <a:lstStyle/>
          <a:p>
            <a:pPr marL="12700" marR="5080">
              <a:lnSpc>
                <a:spcPts val="3020"/>
              </a:lnSpc>
              <a:spcBef>
                <a:spcPts val="480"/>
              </a:spcBef>
            </a:pPr>
            <a:r>
              <a:rPr sz="2800" spc="-25" dirty="0">
                <a:latin typeface="Aptos"/>
                <a:cs typeface="Aptos"/>
              </a:rPr>
              <a:t>Half-</a:t>
            </a:r>
            <a:r>
              <a:rPr sz="2800" spc="-20" dirty="0">
                <a:latin typeface="Aptos"/>
                <a:cs typeface="Aptos"/>
              </a:rPr>
              <a:t>duplex</a:t>
            </a:r>
            <a:r>
              <a:rPr sz="2800" spc="-135" dirty="0">
                <a:latin typeface="Times New Roman"/>
                <a:cs typeface="Times New Roman"/>
              </a:rPr>
              <a:t> </a:t>
            </a:r>
            <a:r>
              <a:rPr sz="2800" spc="-10" dirty="0">
                <a:latin typeface="Aptos"/>
                <a:cs typeface="Aptos"/>
              </a:rPr>
              <a:t>mode</a:t>
            </a:r>
            <a:r>
              <a:rPr sz="2800" spc="-130" dirty="0">
                <a:latin typeface="Times New Roman"/>
                <a:cs typeface="Times New Roman"/>
              </a:rPr>
              <a:t> </a:t>
            </a:r>
            <a:r>
              <a:rPr sz="2800" dirty="0">
                <a:latin typeface="Aptos"/>
                <a:cs typeface="Aptos"/>
              </a:rPr>
              <a:t>is</a:t>
            </a:r>
            <a:r>
              <a:rPr sz="2800" spc="-135" dirty="0">
                <a:latin typeface="Times New Roman"/>
                <a:cs typeface="Times New Roman"/>
              </a:rPr>
              <a:t> </a:t>
            </a:r>
            <a:r>
              <a:rPr sz="2800" dirty="0">
                <a:latin typeface="Aptos"/>
                <a:cs typeface="Aptos"/>
              </a:rPr>
              <a:t>a</a:t>
            </a:r>
            <a:r>
              <a:rPr sz="2800" spc="-130" dirty="0">
                <a:latin typeface="Times New Roman"/>
                <a:cs typeface="Times New Roman"/>
              </a:rPr>
              <a:t> </a:t>
            </a:r>
            <a:r>
              <a:rPr sz="2800" spc="-25" dirty="0">
                <a:latin typeface="Aptos"/>
                <a:cs typeface="Aptos"/>
              </a:rPr>
              <a:t>communication</a:t>
            </a:r>
            <a:r>
              <a:rPr sz="2800" spc="-135" dirty="0">
                <a:latin typeface="Times New Roman"/>
                <a:cs typeface="Times New Roman"/>
              </a:rPr>
              <a:t> </a:t>
            </a:r>
            <a:r>
              <a:rPr sz="2800" spc="-10" dirty="0">
                <a:latin typeface="Aptos"/>
                <a:cs typeface="Aptos"/>
              </a:rPr>
              <a:t>mode</a:t>
            </a:r>
            <a:r>
              <a:rPr sz="2800" spc="-130" dirty="0">
                <a:latin typeface="Times New Roman"/>
                <a:cs typeface="Times New Roman"/>
              </a:rPr>
              <a:t> </a:t>
            </a:r>
            <a:r>
              <a:rPr sz="2800" spc="-20" dirty="0">
                <a:latin typeface="Aptos"/>
                <a:cs typeface="Aptos"/>
              </a:rPr>
              <a:t>where</a:t>
            </a:r>
            <a:r>
              <a:rPr sz="2800" spc="-125" dirty="0">
                <a:latin typeface="Times New Roman"/>
                <a:cs typeface="Times New Roman"/>
              </a:rPr>
              <a:t> </a:t>
            </a:r>
            <a:r>
              <a:rPr sz="2800" spc="-20" dirty="0">
                <a:latin typeface="Aptos"/>
                <a:cs typeface="Aptos"/>
              </a:rPr>
              <a:t>two</a:t>
            </a:r>
            <a:r>
              <a:rPr sz="2800" spc="-140" dirty="0">
                <a:latin typeface="Times New Roman"/>
                <a:cs typeface="Times New Roman"/>
              </a:rPr>
              <a:t> </a:t>
            </a:r>
            <a:r>
              <a:rPr sz="2800" spc="-10" dirty="0">
                <a:latin typeface="Aptos"/>
                <a:cs typeface="Aptos"/>
              </a:rPr>
              <a:t>devices</a:t>
            </a:r>
            <a:r>
              <a:rPr sz="2800" spc="-10" dirty="0">
                <a:latin typeface="Times New Roman"/>
                <a:cs typeface="Times New Roman"/>
              </a:rPr>
              <a:t> </a:t>
            </a:r>
            <a:r>
              <a:rPr sz="2800" spc="-10" dirty="0">
                <a:latin typeface="Aptos"/>
                <a:cs typeface="Aptos"/>
              </a:rPr>
              <a:t>can</a:t>
            </a:r>
            <a:r>
              <a:rPr sz="2800" spc="-145" dirty="0">
                <a:latin typeface="Times New Roman"/>
                <a:cs typeface="Times New Roman"/>
              </a:rPr>
              <a:t> </a:t>
            </a:r>
            <a:r>
              <a:rPr sz="2800" spc="-25" dirty="0">
                <a:latin typeface="Aptos"/>
                <a:cs typeface="Aptos"/>
              </a:rPr>
              <a:t>communicate</a:t>
            </a:r>
            <a:r>
              <a:rPr sz="2800" spc="-135" dirty="0">
                <a:latin typeface="Times New Roman"/>
                <a:cs typeface="Times New Roman"/>
              </a:rPr>
              <a:t> </a:t>
            </a:r>
            <a:r>
              <a:rPr sz="2800" spc="-10" dirty="0">
                <a:latin typeface="Aptos"/>
                <a:cs typeface="Aptos"/>
              </a:rPr>
              <a:t>with</a:t>
            </a:r>
            <a:r>
              <a:rPr sz="2800" spc="-150" dirty="0">
                <a:latin typeface="Times New Roman"/>
                <a:cs typeface="Times New Roman"/>
              </a:rPr>
              <a:t> </a:t>
            </a:r>
            <a:r>
              <a:rPr sz="2800" spc="-10" dirty="0">
                <a:latin typeface="Aptos"/>
                <a:cs typeface="Aptos"/>
              </a:rPr>
              <a:t>each</a:t>
            </a:r>
            <a:r>
              <a:rPr sz="2800" spc="-140" dirty="0">
                <a:latin typeface="Times New Roman"/>
                <a:cs typeface="Times New Roman"/>
              </a:rPr>
              <a:t> </a:t>
            </a:r>
            <a:r>
              <a:rPr sz="2800" spc="-50" dirty="0">
                <a:latin typeface="Aptos"/>
                <a:cs typeface="Aptos"/>
              </a:rPr>
              <a:t>other,</a:t>
            </a:r>
            <a:r>
              <a:rPr sz="2800" spc="-125" dirty="0">
                <a:latin typeface="Times New Roman"/>
                <a:cs typeface="Times New Roman"/>
              </a:rPr>
              <a:t> </a:t>
            </a:r>
            <a:r>
              <a:rPr sz="2800" dirty="0">
                <a:latin typeface="Aptos"/>
                <a:cs typeface="Aptos"/>
              </a:rPr>
              <a:t>but</a:t>
            </a:r>
            <a:r>
              <a:rPr sz="2800" spc="-130" dirty="0">
                <a:latin typeface="Times New Roman"/>
                <a:cs typeface="Times New Roman"/>
              </a:rPr>
              <a:t> </a:t>
            </a:r>
            <a:r>
              <a:rPr sz="2800" spc="-10" dirty="0">
                <a:latin typeface="Aptos"/>
                <a:cs typeface="Aptos"/>
              </a:rPr>
              <a:t>not</a:t>
            </a:r>
            <a:r>
              <a:rPr sz="2800" spc="-150" dirty="0">
                <a:latin typeface="Times New Roman"/>
                <a:cs typeface="Times New Roman"/>
              </a:rPr>
              <a:t> </a:t>
            </a:r>
            <a:r>
              <a:rPr sz="2800" spc="-10" dirty="0">
                <a:latin typeface="Aptos"/>
                <a:cs typeface="Aptos"/>
              </a:rPr>
              <a:t>simultaneously.</a:t>
            </a:r>
            <a:endParaRPr sz="2800">
              <a:latin typeface="Aptos"/>
              <a:cs typeface="Aptos"/>
            </a:endParaRPr>
          </a:p>
        </p:txBody>
      </p:sp>
      <p:grpSp>
        <p:nvGrpSpPr>
          <p:cNvPr id="4" name="object 4"/>
          <p:cNvGrpSpPr/>
          <p:nvPr/>
        </p:nvGrpSpPr>
        <p:grpSpPr>
          <a:xfrm>
            <a:off x="1950720" y="2338067"/>
            <a:ext cx="8839835" cy="2454275"/>
            <a:chOff x="1950720" y="2338067"/>
            <a:chExt cx="8839835" cy="2454275"/>
          </a:xfrm>
        </p:grpSpPr>
        <p:pic>
          <p:nvPicPr>
            <p:cNvPr id="5" name="object 5"/>
            <p:cNvPicPr/>
            <p:nvPr/>
          </p:nvPicPr>
          <p:blipFill>
            <a:blip r:embed="rId2" cstate="print"/>
            <a:stretch>
              <a:fillRect/>
            </a:stretch>
          </p:blipFill>
          <p:spPr>
            <a:xfrm>
              <a:off x="1950720" y="2338067"/>
              <a:ext cx="7766176" cy="2453769"/>
            </a:xfrm>
            <a:prstGeom prst="rect">
              <a:avLst/>
            </a:prstGeom>
          </p:spPr>
        </p:pic>
        <p:sp>
          <p:nvSpPr>
            <p:cNvPr id="6" name="object 6"/>
            <p:cNvSpPr/>
            <p:nvPr/>
          </p:nvSpPr>
          <p:spPr>
            <a:xfrm>
              <a:off x="9722739" y="2845688"/>
              <a:ext cx="1068070" cy="228600"/>
            </a:xfrm>
            <a:custGeom>
              <a:avLst/>
              <a:gdLst/>
              <a:ahLst/>
              <a:cxnLst/>
              <a:rect l="l" t="t" r="r" b="b"/>
              <a:pathLst>
                <a:path w="1068070" h="228600">
                  <a:moveTo>
                    <a:pt x="840105" y="0"/>
                  </a:moveTo>
                  <a:lnTo>
                    <a:pt x="839292" y="76188"/>
                  </a:lnTo>
                  <a:lnTo>
                    <a:pt x="877443" y="76581"/>
                  </a:lnTo>
                  <a:lnTo>
                    <a:pt x="876681" y="152781"/>
                  </a:lnTo>
                  <a:lnTo>
                    <a:pt x="838475" y="152781"/>
                  </a:lnTo>
                  <a:lnTo>
                    <a:pt x="837666" y="228600"/>
                  </a:lnTo>
                  <a:lnTo>
                    <a:pt x="993276" y="152781"/>
                  </a:lnTo>
                  <a:lnTo>
                    <a:pt x="876681" y="152781"/>
                  </a:lnTo>
                  <a:lnTo>
                    <a:pt x="838479" y="152388"/>
                  </a:lnTo>
                  <a:lnTo>
                    <a:pt x="994082" y="152388"/>
                  </a:lnTo>
                  <a:lnTo>
                    <a:pt x="1067562" y="116586"/>
                  </a:lnTo>
                  <a:lnTo>
                    <a:pt x="840105" y="0"/>
                  </a:lnTo>
                  <a:close/>
                </a:path>
                <a:path w="1068070" h="228600">
                  <a:moveTo>
                    <a:pt x="839292" y="76188"/>
                  </a:moveTo>
                  <a:lnTo>
                    <a:pt x="838479" y="152388"/>
                  </a:lnTo>
                  <a:lnTo>
                    <a:pt x="876681" y="152781"/>
                  </a:lnTo>
                  <a:lnTo>
                    <a:pt x="877443" y="76581"/>
                  </a:lnTo>
                  <a:lnTo>
                    <a:pt x="839292" y="76188"/>
                  </a:lnTo>
                  <a:close/>
                </a:path>
                <a:path w="1068070" h="228600">
                  <a:moveTo>
                    <a:pt x="762" y="67566"/>
                  </a:moveTo>
                  <a:lnTo>
                    <a:pt x="0" y="143766"/>
                  </a:lnTo>
                  <a:lnTo>
                    <a:pt x="838479" y="152388"/>
                  </a:lnTo>
                  <a:lnTo>
                    <a:pt x="839292" y="76188"/>
                  </a:lnTo>
                  <a:lnTo>
                    <a:pt x="762" y="67566"/>
                  </a:lnTo>
                  <a:close/>
                </a:path>
              </a:pathLst>
            </a:custGeom>
            <a:solidFill>
              <a:srgbClr val="155F81"/>
            </a:solidFill>
          </p:spPr>
          <p:txBody>
            <a:bodyPr wrap="square" lIns="0" tIns="0" rIns="0" bIns="0" rtlCol="0"/>
            <a:lstStyle/>
            <a:p>
              <a:endParaRPr/>
            </a:p>
          </p:txBody>
        </p:sp>
      </p:grpSp>
      <p:sp>
        <p:nvSpPr>
          <p:cNvPr id="7" name="object 7"/>
          <p:cNvSpPr txBox="1"/>
          <p:nvPr/>
        </p:nvSpPr>
        <p:spPr>
          <a:xfrm>
            <a:off x="2396494" y="5008876"/>
            <a:ext cx="871219"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ptos"/>
                <a:cs typeface="Aptos"/>
              </a:rPr>
              <a:t>Device</a:t>
            </a:r>
            <a:r>
              <a:rPr sz="1800" spc="-90" dirty="0">
                <a:latin typeface="Times New Roman"/>
                <a:cs typeface="Times New Roman"/>
              </a:rPr>
              <a:t> </a:t>
            </a:r>
            <a:r>
              <a:rPr sz="1800" spc="-50" dirty="0">
                <a:latin typeface="Aptos"/>
                <a:cs typeface="Aptos"/>
              </a:rPr>
              <a:t>1</a:t>
            </a:r>
            <a:endParaRPr sz="1800">
              <a:latin typeface="Aptos"/>
              <a:cs typeface="Aptos"/>
            </a:endParaRPr>
          </a:p>
        </p:txBody>
      </p:sp>
      <p:sp>
        <p:nvSpPr>
          <p:cNvPr id="8" name="object 8"/>
          <p:cNvSpPr txBox="1"/>
          <p:nvPr/>
        </p:nvSpPr>
        <p:spPr>
          <a:xfrm>
            <a:off x="7899034" y="4920813"/>
            <a:ext cx="869950" cy="300355"/>
          </a:xfrm>
          <a:prstGeom prst="rect">
            <a:avLst/>
          </a:prstGeom>
        </p:spPr>
        <p:txBody>
          <a:bodyPr vert="horz" wrap="square" lIns="0" tIns="12700" rIns="0" bIns="0" rtlCol="0">
            <a:spAutoFit/>
          </a:bodyPr>
          <a:lstStyle/>
          <a:p>
            <a:pPr marL="12700">
              <a:lnSpc>
                <a:spcPct val="100000"/>
              </a:lnSpc>
              <a:spcBef>
                <a:spcPts val="100"/>
              </a:spcBef>
            </a:pPr>
            <a:r>
              <a:rPr sz="1800" spc="-10" dirty="0">
                <a:latin typeface="Aptos"/>
                <a:cs typeface="Aptos"/>
              </a:rPr>
              <a:t>Device</a:t>
            </a:r>
            <a:r>
              <a:rPr sz="1800" spc="-55" dirty="0">
                <a:latin typeface="Times New Roman"/>
                <a:cs typeface="Times New Roman"/>
              </a:rPr>
              <a:t> </a:t>
            </a:r>
            <a:r>
              <a:rPr sz="1800" spc="-50" dirty="0">
                <a:latin typeface="Aptos"/>
                <a:cs typeface="Aptos"/>
              </a:rPr>
              <a:t>2</a:t>
            </a:r>
            <a:endParaRPr sz="1800">
              <a:latin typeface="Aptos"/>
              <a:cs typeface="Aptos"/>
            </a:endParaRPr>
          </a:p>
        </p:txBody>
      </p:sp>
      <p:sp>
        <p:nvSpPr>
          <p:cNvPr id="9" name="object 9"/>
          <p:cNvSpPr txBox="1"/>
          <p:nvPr/>
        </p:nvSpPr>
        <p:spPr>
          <a:xfrm>
            <a:off x="9465964" y="2792976"/>
            <a:ext cx="16065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ptos"/>
                <a:cs typeface="Aptos"/>
              </a:rPr>
              <a:t>A</a:t>
            </a:r>
            <a:endParaRPr sz="1800">
              <a:latin typeface="Aptos"/>
              <a:cs typeface="Aptos"/>
            </a:endParaRPr>
          </a:p>
        </p:txBody>
      </p:sp>
      <p:sp>
        <p:nvSpPr>
          <p:cNvPr id="10" name="object 10"/>
          <p:cNvSpPr txBox="1"/>
          <p:nvPr/>
        </p:nvSpPr>
        <p:spPr>
          <a:xfrm>
            <a:off x="10870203" y="2792976"/>
            <a:ext cx="16383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ptos"/>
                <a:cs typeface="Aptos"/>
              </a:rPr>
              <a:t>B</a:t>
            </a:r>
            <a:endParaRPr sz="1800">
              <a:latin typeface="Aptos"/>
              <a:cs typeface="Aptos"/>
            </a:endParaRPr>
          </a:p>
        </p:txBody>
      </p:sp>
      <p:sp>
        <p:nvSpPr>
          <p:cNvPr id="11" name="object 11"/>
          <p:cNvSpPr/>
          <p:nvPr/>
        </p:nvSpPr>
        <p:spPr>
          <a:xfrm>
            <a:off x="9706889" y="3444750"/>
            <a:ext cx="1155700" cy="228600"/>
          </a:xfrm>
          <a:custGeom>
            <a:avLst/>
            <a:gdLst/>
            <a:ahLst/>
            <a:cxnLst/>
            <a:rect l="l" t="t" r="r" b="b"/>
            <a:pathLst>
              <a:path w="1155700" h="228600">
                <a:moveTo>
                  <a:pt x="228600" y="0"/>
                </a:moveTo>
                <a:lnTo>
                  <a:pt x="0" y="114300"/>
                </a:lnTo>
                <a:lnTo>
                  <a:pt x="228600" y="228600"/>
                </a:lnTo>
                <a:lnTo>
                  <a:pt x="228600" y="152400"/>
                </a:lnTo>
                <a:lnTo>
                  <a:pt x="190477" y="152400"/>
                </a:lnTo>
                <a:lnTo>
                  <a:pt x="190477" y="76200"/>
                </a:lnTo>
                <a:lnTo>
                  <a:pt x="228600" y="76200"/>
                </a:lnTo>
                <a:lnTo>
                  <a:pt x="228600" y="0"/>
                </a:lnTo>
                <a:close/>
              </a:path>
              <a:path w="1155700" h="228600">
                <a:moveTo>
                  <a:pt x="228600" y="76200"/>
                </a:moveTo>
                <a:lnTo>
                  <a:pt x="190477" y="76200"/>
                </a:lnTo>
                <a:lnTo>
                  <a:pt x="190477" y="152400"/>
                </a:lnTo>
                <a:lnTo>
                  <a:pt x="228600" y="152400"/>
                </a:lnTo>
                <a:lnTo>
                  <a:pt x="228600" y="76200"/>
                </a:lnTo>
                <a:close/>
              </a:path>
              <a:path w="1155700" h="228600">
                <a:moveTo>
                  <a:pt x="1155420" y="76200"/>
                </a:moveTo>
                <a:lnTo>
                  <a:pt x="228600" y="76200"/>
                </a:lnTo>
                <a:lnTo>
                  <a:pt x="228600" y="152400"/>
                </a:lnTo>
                <a:lnTo>
                  <a:pt x="1155420" y="152400"/>
                </a:lnTo>
                <a:lnTo>
                  <a:pt x="1155420" y="76200"/>
                </a:lnTo>
                <a:close/>
              </a:path>
            </a:pathLst>
          </a:custGeom>
          <a:solidFill>
            <a:srgbClr val="155F81"/>
          </a:solidFill>
        </p:spPr>
        <p:txBody>
          <a:bodyPr wrap="square" lIns="0" tIns="0" rIns="0" bIns="0" rtlCol="0"/>
          <a:lstStyle/>
          <a:p>
            <a:endParaRPr/>
          </a:p>
        </p:txBody>
      </p:sp>
      <p:sp>
        <p:nvSpPr>
          <p:cNvPr id="12" name="object 12"/>
          <p:cNvSpPr txBox="1"/>
          <p:nvPr/>
        </p:nvSpPr>
        <p:spPr>
          <a:xfrm>
            <a:off x="9511430" y="3386066"/>
            <a:ext cx="16065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ptos"/>
                <a:cs typeface="Aptos"/>
              </a:rPr>
              <a:t>A</a:t>
            </a:r>
            <a:endParaRPr sz="1800">
              <a:latin typeface="Aptos"/>
              <a:cs typeface="Aptos"/>
            </a:endParaRPr>
          </a:p>
        </p:txBody>
      </p:sp>
      <p:sp>
        <p:nvSpPr>
          <p:cNvPr id="13" name="object 13"/>
          <p:cNvSpPr txBox="1"/>
          <p:nvPr/>
        </p:nvSpPr>
        <p:spPr>
          <a:xfrm>
            <a:off x="9671706" y="3386066"/>
            <a:ext cx="1567180" cy="779145"/>
          </a:xfrm>
          <a:prstGeom prst="rect">
            <a:avLst/>
          </a:prstGeom>
        </p:spPr>
        <p:txBody>
          <a:bodyPr vert="horz" wrap="square" lIns="0" tIns="12700" rIns="0" bIns="0" rtlCol="0">
            <a:spAutoFit/>
          </a:bodyPr>
          <a:lstStyle/>
          <a:p>
            <a:pPr marR="163830" algn="r">
              <a:lnSpc>
                <a:spcPct val="100000"/>
              </a:lnSpc>
              <a:spcBef>
                <a:spcPts val="100"/>
              </a:spcBef>
            </a:pPr>
            <a:r>
              <a:rPr sz="1800" dirty="0">
                <a:latin typeface="Aptos"/>
                <a:cs typeface="Aptos"/>
              </a:rPr>
              <a:t>B</a:t>
            </a:r>
            <a:endParaRPr sz="1800">
              <a:latin typeface="Aptos"/>
              <a:cs typeface="Aptos"/>
            </a:endParaRPr>
          </a:p>
          <a:p>
            <a:pPr marL="12700">
              <a:lnSpc>
                <a:spcPct val="100000"/>
              </a:lnSpc>
              <a:spcBef>
                <a:spcPts val="1610"/>
              </a:spcBef>
            </a:pPr>
            <a:r>
              <a:rPr sz="1800" spc="-10" dirty="0">
                <a:latin typeface="Aptos"/>
                <a:cs typeface="Aptos"/>
              </a:rPr>
              <a:t>Fig:</a:t>
            </a:r>
            <a:r>
              <a:rPr sz="1800" spc="-100" dirty="0">
                <a:latin typeface="Times New Roman"/>
                <a:cs typeface="Times New Roman"/>
              </a:rPr>
              <a:t> </a:t>
            </a:r>
            <a:r>
              <a:rPr sz="1800" dirty="0">
                <a:latin typeface="Aptos"/>
                <a:cs typeface="Aptos"/>
              </a:rPr>
              <a:t>Half</a:t>
            </a:r>
            <a:r>
              <a:rPr sz="1800" spc="-80" dirty="0">
                <a:latin typeface="Times New Roman"/>
                <a:cs typeface="Times New Roman"/>
              </a:rPr>
              <a:t> </a:t>
            </a:r>
            <a:r>
              <a:rPr sz="1800" spc="-10" dirty="0">
                <a:latin typeface="Aptos"/>
                <a:cs typeface="Aptos"/>
              </a:rPr>
              <a:t>Duplex</a:t>
            </a:r>
            <a:endParaRPr sz="1800">
              <a:latin typeface="Aptos"/>
              <a:cs typeface="Aptos"/>
            </a:endParaRPr>
          </a:p>
        </p:txBody>
      </p:sp>
      <p:sp>
        <p:nvSpPr>
          <p:cNvPr id="14" name="object 14"/>
          <p:cNvSpPr txBox="1"/>
          <p:nvPr/>
        </p:nvSpPr>
        <p:spPr>
          <a:xfrm>
            <a:off x="4932438" y="5198106"/>
            <a:ext cx="1791970" cy="239395"/>
          </a:xfrm>
          <a:prstGeom prst="rect">
            <a:avLst/>
          </a:prstGeom>
        </p:spPr>
        <p:txBody>
          <a:bodyPr vert="horz" wrap="square" lIns="0" tIns="13335" rIns="0" bIns="0" rtlCol="0">
            <a:spAutoFit/>
          </a:bodyPr>
          <a:lstStyle/>
          <a:p>
            <a:pPr marL="12700">
              <a:lnSpc>
                <a:spcPct val="100000"/>
              </a:lnSpc>
              <a:spcBef>
                <a:spcPts val="105"/>
              </a:spcBef>
            </a:pPr>
            <a:r>
              <a:rPr sz="1400" dirty="0">
                <a:latin typeface="Aptos"/>
                <a:cs typeface="Aptos"/>
              </a:rPr>
              <a:t>One</a:t>
            </a:r>
            <a:r>
              <a:rPr sz="1400" spc="-70" dirty="0">
                <a:latin typeface="Times New Roman"/>
                <a:cs typeface="Times New Roman"/>
              </a:rPr>
              <a:t> </a:t>
            </a:r>
            <a:r>
              <a:rPr sz="1400" spc="-10" dirty="0">
                <a:latin typeface="Aptos"/>
                <a:cs typeface="Aptos"/>
              </a:rPr>
              <a:t>Direction</a:t>
            </a:r>
            <a:r>
              <a:rPr sz="1400" spc="-65" dirty="0">
                <a:latin typeface="Times New Roman"/>
                <a:cs typeface="Times New Roman"/>
              </a:rPr>
              <a:t> </a:t>
            </a:r>
            <a:r>
              <a:rPr sz="1400" dirty="0">
                <a:latin typeface="Aptos"/>
                <a:cs typeface="Aptos"/>
              </a:rPr>
              <a:t>at</a:t>
            </a:r>
            <a:r>
              <a:rPr sz="1400" spc="-55" dirty="0">
                <a:latin typeface="Times New Roman"/>
                <a:cs typeface="Times New Roman"/>
              </a:rPr>
              <a:t> </a:t>
            </a:r>
            <a:r>
              <a:rPr sz="1400" dirty="0">
                <a:latin typeface="Aptos"/>
                <a:cs typeface="Aptos"/>
              </a:rPr>
              <a:t>a</a:t>
            </a:r>
            <a:r>
              <a:rPr sz="1400" spc="-40" dirty="0">
                <a:latin typeface="Times New Roman"/>
                <a:cs typeface="Times New Roman"/>
              </a:rPr>
              <a:t> </a:t>
            </a:r>
            <a:r>
              <a:rPr sz="1400" spc="-20" dirty="0">
                <a:latin typeface="Aptos"/>
                <a:cs typeface="Aptos"/>
              </a:rPr>
              <a:t>time</a:t>
            </a:r>
            <a:endParaRPr sz="1400">
              <a:latin typeface="Aptos"/>
              <a:cs typeface="Apto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1" y="579183"/>
            <a:ext cx="3045459" cy="452120"/>
          </a:xfrm>
          <a:prstGeom prst="rect">
            <a:avLst/>
          </a:prstGeom>
        </p:spPr>
        <p:txBody>
          <a:bodyPr vert="horz" wrap="square" lIns="0" tIns="12065" rIns="0" bIns="0" rtlCol="0">
            <a:spAutoFit/>
          </a:bodyPr>
          <a:lstStyle/>
          <a:p>
            <a:pPr marL="12700">
              <a:lnSpc>
                <a:spcPct val="100000"/>
              </a:lnSpc>
              <a:spcBef>
                <a:spcPts val="95"/>
              </a:spcBef>
            </a:pPr>
            <a:r>
              <a:rPr sz="2800" b="1" dirty="0">
                <a:latin typeface="Aptos"/>
                <a:cs typeface="Aptos"/>
              </a:rPr>
              <a:t>c</a:t>
            </a:r>
            <a:r>
              <a:rPr sz="2800" spc="-135" dirty="0">
                <a:latin typeface="Times New Roman"/>
                <a:cs typeface="Times New Roman"/>
              </a:rPr>
              <a:t> </a:t>
            </a:r>
            <a:r>
              <a:rPr sz="2800" b="1" dirty="0">
                <a:latin typeface="Aptos"/>
                <a:cs typeface="Aptos"/>
              </a:rPr>
              <a:t>)</a:t>
            </a:r>
            <a:r>
              <a:rPr sz="2800" spc="-140" dirty="0">
                <a:latin typeface="Times New Roman"/>
                <a:cs typeface="Times New Roman"/>
              </a:rPr>
              <a:t> </a:t>
            </a:r>
            <a:r>
              <a:rPr sz="2800" b="1" spc="-10" dirty="0">
                <a:latin typeface="Aptos"/>
                <a:cs typeface="Aptos"/>
              </a:rPr>
              <a:t>Full</a:t>
            </a:r>
            <a:r>
              <a:rPr sz="2800" spc="-160" dirty="0">
                <a:latin typeface="Times New Roman"/>
                <a:cs typeface="Times New Roman"/>
              </a:rPr>
              <a:t> </a:t>
            </a:r>
            <a:r>
              <a:rPr sz="2800" b="1" spc="-10" dirty="0">
                <a:latin typeface="Aptos"/>
                <a:cs typeface="Aptos"/>
              </a:rPr>
              <a:t>duplex</a:t>
            </a:r>
            <a:endParaRPr sz="2800" dirty="0">
              <a:latin typeface="Aptos"/>
              <a:cs typeface="Aptos"/>
            </a:endParaRPr>
          </a:p>
        </p:txBody>
      </p:sp>
      <p:pic>
        <p:nvPicPr>
          <p:cNvPr id="3" name="object 3"/>
          <p:cNvPicPr/>
          <p:nvPr/>
        </p:nvPicPr>
        <p:blipFill>
          <a:blip r:embed="rId2" cstate="print"/>
          <a:stretch>
            <a:fillRect/>
          </a:stretch>
        </p:blipFill>
        <p:spPr>
          <a:xfrm>
            <a:off x="1654934" y="3378586"/>
            <a:ext cx="7277099" cy="1930397"/>
          </a:xfrm>
          <a:prstGeom prst="rect">
            <a:avLst/>
          </a:prstGeom>
        </p:spPr>
      </p:pic>
      <p:sp>
        <p:nvSpPr>
          <p:cNvPr id="4" name="object 4"/>
          <p:cNvSpPr txBox="1"/>
          <p:nvPr/>
        </p:nvSpPr>
        <p:spPr>
          <a:xfrm>
            <a:off x="2625349" y="5599579"/>
            <a:ext cx="86995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ptos"/>
                <a:cs typeface="Aptos"/>
              </a:rPr>
              <a:t>Device</a:t>
            </a:r>
            <a:r>
              <a:rPr sz="1800" spc="-114" dirty="0">
                <a:latin typeface="Times New Roman"/>
                <a:cs typeface="Times New Roman"/>
              </a:rPr>
              <a:t> </a:t>
            </a:r>
            <a:r>
              <a:rPr sz="1800" spc="-50" dirty="0">
                <a:latin typeface="Aptos"/>
                <a:cs typeface="Aptos"/>
              </a:rPr>
              <a:t>1</a:t>
            </a:r>
            <a:endParaRPr sz="1800">
              <a:latin typeface="Aptos"/>
              <a:cs typeface="Aptos"/>
            </a:endParaRPr>
          </a:p>
        </p:txBody>
      </p:sp>
      <p:sp>
        <p:nvSpPr>
          <p:cNvPr id="5" name="object 5"/>
          <p:cNvSpPr txBox="1"/>
          <p:nvPr/>
        </p:nvSpPr>
        <p:spPr>
          <a:xfrm>
            <a:off x="7220472" y="5574282"/>
            <a:ext cx="86995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ptos"/>
                <a:cs typeface="Aptos"/>
              </a:rPr>
              <a:t>Device</a:t>
            </a:r>
            <a:r>
              <a:rPr sz="1800" spc="-114" dirty="0">
                <a:latin typeface="Times New Roman"/>
                <a:cs typeface="Times New Roman"/>
              </a:rPr>
              <a:t> </a:t>
            </a:r>
            <a:r>
              <a:rPr sz="1800" spc="-50" dirty="0">
                <a:latin typeface="Aptos"/>
                <a:cs typeface="Aptos"/>
              </a:rPr>
              <a:t>2</a:t>
            </a:r>
            <a:endParaRPr sz="1800">
              <a:latin typeface="Aptos"/>
              <a:cs typeface="Aptos"/>
            </a:endParaRPr>
          </a:p>
        </p:txBody>
      </p:sp>
      <p:sp>
        <p:nvSpPr>
          <p:cNvPr id="6" name="object 6"/>
          <p:cNvSpPr/>
          <p:nvPr/>
        </p:nvSpPr>
        <p:spPr>
          <a:xfrm>
            <a:off x="9723120" y="2839463"/>
            <a:ext cx="1067435" cy="234950"/>
          </a:xfrm>
          <a:custGeom>
            <a:avLst/>
            <a:gdLst/>
            <a:ahLst/>
            <a:cxnLst/>
            <a:rect l="l" t="t" r="r" b="b"/>
            <a:pathLst>
              <a:path w="1067434" h="234950">
                <a:moveTo>
                  <a:pt x="839724" y="6225"/>
                </a:moveTo>
                <a:lnTo>
                  <a:pt x="838911" y="82418"/>
                </a:lnTo>
                <a:lnTo>
                  <a:pt x="877062" y="82806"/>
                </a:lnTo>
                <a:lnTo>
                  <a:pt x="876300" y="159006"/>
                </a:lnTo>
                <a:lnTo>
                  <a:pt x="838094" y="159006"/>
                </a:lnTo>
                <a:lnTo>
                  <a:pt x="837285" y="234825"/>
                </a:lnTo>
                <a:lnTo>
                  <a:pt x="992895" y="159006"/>
                </a:lnTo>
                <a:lnTo>
                  <a:pt x="876300" y="159006"/>
                </a:lnTo>
                <a:lnTo>
                  <a:pt x="838098" y="158617"/>
                </a:lnTo>
                <a:lnTo>
                  <a:pt x="993692" y="158617"/>
                </a:lnTo>
                <a:lnTo>
                  <a:pt x="1067181" y="122811"/>
                </a:lnTo>
                <a:lnTo>
                  <a:pt x="839724" y="6225"/>
                </a:lnTo>
                <a:close/>
              </a:path>
              <a:path w="1067434" h="234950">
                <a:moveTo>
                  <a:pt x="229743" y="0"/>
                </a:moveTo>
                <a:lnTo>
                  <a:pt x="0" y="111892"/>
                </a:lnTo>
                <a:lnTo>
                  <a:pt x="227457" y="228600"/>
                </a:lnTo>
                <a:lnTo>
                  <a:pt x="177421" y="151896"/>
                </a:lnTo>
                <a:lnTo>
                  <a:pt x="152019" y="151638"/>
                </a:lnTo>
                <a:lnTo>
                  <a:pt x="152781" y="75438"/>
                </a:lnTo>
                <a:lnTo>
                  <a:pt x="178354" y="75438"/>
                </a:lnTo>
                <a:lnTo>
                  <a:pt x="229743" y="0"/>
                </a:lnTo>
                <a:close/>
              </a:path>
              <a:path w="1067434" h="234950">
                <a:moveTo>
                  <a:pt x="838911" y="82418"/>
                </a:moveTo>
                <a:lnTo>
                  <a:pt x="838098" y="158617"/>
                </a:lnTo>
                <a:lnTo>
                  <a:pt x="876300" y="159006"/>
                </a:lnTo>
                <a:lnTo>
                  <a:pt x="877062" y="82806"/>
                </a:lnTo>
                <a:lnTo>
                  <a:pt x="838911" y="82418"/>
                </a:lnTo>
                <a:close/>
              </a:path>
              <a:path w="1067434" h="234950">
                <a:moveTo>
                  <a:pt x="178178" y="75696"/>
                </a:moveTo>
                <a:lnTo>
                  <a:pt x="152400" y="113538"/>
                </a:lnTo>
                <a:lnTo>
                  <a:pt x="177421" y="151896"/>
                </a:lnTo>
                <a:lnTo>
                  <a:pt x="838098" y="158617"/>
                </a:lnTo>
                <a:lnTo>
                  <a:pt x="838911" y="82418"/>
                </a:lnTo>
                <a:lnTo>
                  <a:pt x="178178" y="75696"/>
                </a:lnTo>
                <a:close/>
              </a:path>
              <a:path w="1067434" h="234950">
                <a:moveTo>
                  <a:pt x="152400" y="113538"/>
                </a:moveTo>
                <a:lnTo>
                  <a:pt x="152019" y="151638"/>
                </a:lnTo>
                <a:lnTo>
                  <a:pt x="177421" y="151896"/>
                </a:lnTo>
                <a:lnTo>
                  <a:pt x="152400" y="113538"/>
                </a:lnTo>
                <a:close/>
              </a:path>
              <a:path w="1067434" h="234950">
                <a:moveTo>
                  <a:pt x="152781" y="75438"/>
                </a:moveTo>
                <a:lnTo>
                  <a:pt x="152400" y="113538"/>
                </a:lnTo>
                <a:lnTo>
                  <a:pt x="178178" y="75696"/>
                </a:lnTo>
                <a:lnTo>
                  <a:pt x="152781" y="75438"/>
                </a:lnTo>
                <a:close/>
              </a:path>
              <a:path w="1067434" h="234950">
                <a:moveTo>
                  <a:pt x="178354" y="75438"/>
                </a:moveTo>
                <a:lnTo>
                  <a:pt x="152781" y="75438"/>
                </a:lnTo>
                <a:lnTo>
                  <a:pt x="178178" y="75696"/>
                </a:lnTo>
                <a:lnTo>
                  <a:pt x="178354" y="75438"/>
                </a:lnTo>
                <a:close/>
              </a:path>
            </a:pathLst>
          </a:custGeom>
          <a:solidFill>
            <a:srgbClr val="155F81"/>
          </a:solidFill>
        </p:spPr>
        <p:txBody>
          <a:bodyPr wrap="square" lIns="0" tIns="0" rIns="0" bIns="0" rtlCol="0"/>
          <a:lstStyle/>
          <a:p>
            <a:endParaRPr/>
          </a:p>
        </p:txBody>
      </p:sp>
      <p:sp>
        <p:nvSpPr>
          <p:cNvPr id="7" name="object 7"/>
          <p:cNvSpPr txBox="1"/>
          <p:nvPr/>
        </p:nvSpPr>
        <p:spPr>
          <a:xfrm>
            <a:off x="916941" y="1090410"/>
            <a:ext cx="10200005" cy="2435860"/>
          </a:xfrm>
          <a:prstGeom prst="rect">
            <a:avLst/>
          </a:prstGeom>
        </p:spPr>
        <p:txBody>
          <a:bodyPr vert="horz" wrap="square" lIns="0" tIns="60960" rIns="0" bIns="0" rtlCol="0">
            <a:spAutoFit/>
          </a:bodyPr>
          <a:lstStyle/>
          <a:p>
            <a:pPr marL="12700" marR="5080">
              <a:lnSpc>
                <a:spcPts val="3020"/>
              </a:lnSpc>
              <a:spcBef>
                <a:spcPts val="480"/>
              </a:spcBef>
            </a:pPr>
            <a:r>
              <a:rPr sz="2800" spc="-20" dirty="0">
                <a:latin typeface="Aptos"/>
                <a:cs typeface="Aptos"/>
              </a:rPr>
              <a:t>Full-duplex</a:t>
            </a:r>
            <a:r>
              <a:rPr sz="2800" spc="-130" dirty="0">
                <a:latin typeface="Times New Roman"/>
                <a:cs typeface="Times New Roman"/>
              </a:rPr>
              <a:t> </a:t>
            </a:r>
            <a:r>
              <a:rPr sz="2800" spc="-25" dirty="0">
                <a:latin typeface="Aptos"/>
                <a:cs typeface="Aptos"/>
              </a:rPr>
              <a:t>communication</a:t>
            </a:r>
            <a:r>
              <a:rPr sz="2800" spc="-130" dirty="0">
                <a:latin typeface="Times New Roman"/>
                <a:cs typeface="Times New Roman"/>
              </a:rPr>
              <a:t> </a:t>
            </a:r>
            <a:r>
              <a:rPr sz="2800" dirty="0">
                <a:latin typeface="Aptos"/>
                <a:cs typeface="Aptos"/>
              </a:rPr>
              <a:t>is</a:t>
            </a:r>
            <a:r>
              <a:rPr sz="2800" spc="-130" dirty="0">
                <a:latin typeface="Times New Roman"/>
                <a:cs typeface="Times New Roman"/>
              </a:rPr>
              <a:t> </a:t>
            </a:r>
            <a:r>
              <a:rPr sz="2800" dirty="0">
                <a:latin typeface="Aptos"/>
                <a:cs typeface="Aptos"/>
              </a:rPr>
              <a:t>a</a:t>
            </a:r>
            <a:r>
              <a:rPr sz="2800" spc="-130" dirty="0">
                <a:latin typeface="Times New Roman"/>
                <a:cs typeface="Times New Roman"/>
              </a:rPr>
              <a:t> </a:t>
            </a:r>
            <a:r>
              <a:rPr sz="2800" spc="-20" dirty="0">
                <a:latin typeface="Aptos"/>
                <a:cs typeface="Aptos"/>
              </a:rPr>
              <a:t>method</a:t>
            </a:r>
            <a:r>
              <a:rPr sz="2800" spc="-114" dirty="0">
                <a:latin typeface="Times New Roman"/>
                <a:cs typeface="Times New Roman"/>
              </a:rPr>
              <a:t> </a:t>
            </a:r>
            <a:r>
              <a:rPr sz="2800" spc="-20" dirty="0">
                <a:latin typeface="Aptos"/>
                <a:cs typeface="Aptos"/>
              </a:rPr>
              <a:t>that</a:t>
            </a:r>
            <a:r>
              <a:rPr sz="2800" spc="-135" dirty="0">
                <a:latin typeface="Times New Roman"/>
                <a:cs typeface="Times New Roman"/>
              </a:rPr>
              <a:t> </a:t>
            </a:r>
            <a:r>
              <a:rPr sz="2800" spc="-25" dirty="0">
                <a:latin typeface="Aptos"/>
                <a:cs typeface="Aptos"/>
              </a:rPr>
              <a:t>allows</a:t>
            </a:r>
            <a:r>
              <a:rPr sz="2800" spc="-150" dirty="0">
                <a:latin typeface="Times New Roman"/>
                <a:cs typeface="Times New Roman"/>
              </a:rPr>
              <a:t> </a:t>
            </a:r>
            <a:r>
              <a:rPr sz="2800" spc="-20" dirty="0">
                <a:latin typeface="Aptos"/>
                <a:cs typeface="Aptos"/>
              </a:rPr>
              <a:t>data</a:t>
            </a:r>
            <a:r>
              <a:rPr sz="2800" spc="-130" dirty="0">
                <a:latin typeface="Times New Roman"/>
                <a:cs typeface="Times New Roman"/>
              </a:rPr>
              <a:t> </a:t>
            </a:r>
            <a:r>
              <a:rPr sz="2800" dirty="0">
                <a:latin typeface="Aptos"/>
                <a:cs typeface="Aptos"/>
              </a:rPr>
              <a:t>to</a:t>
            </a:r>
            <a:r>
              <a:rPr sz="2800" spc="-120" dirty="0">
                <a:latin typeface="Times New Roman"/>
                <a:cs typeface="Times New Roman"/>
              </a:rPr>
              <a:t> </a:t>
            </a:r>
            <a:r>
              <a:rPr sz="2800" dirty="0">
                <a:latin typeface="Aptos"/>
                <a:cs typeface="Aptos"/>
              </a:rPr>
              <a:t>be</a:t>
            </a:r>
            <a:r>
              <a:rPr sz="2800" spc="-120" dirty="0">
                <a:latin typeface="Times New Roman"/>
                <a:cs typeface="Times New Roman"/>
              </a:rPr>
              <a:t> </a:t>
            </a:r>
            <a:r>
              <a:rPr sz="2800" spc="-20" dirty="0">
                <a:latin typeface="Aptos"/>
                <a:cs typeface="Aptos"/>
              </a:rPr>
              <a:t>sent</a:t>
            </a:r>
            <a:r>
              <a:rPr sz="2800" spc="-20" dirty="0">
                <a:latin typeface="Times New Roman"/>
                <a:cs typeface="Times New Roman"/>
              </a:rPr>
              <a:t> </a:t>
            </a:r>
            <a:r>
              <a:rPr sz="2800" spc="-10" dirty="0">
                <a:latin typeface="Aptos"/>
                <a:cs typeface="Aptos"/>
              </a:rPr>
              <a:t>and</a:t>
            </a:r>
            <a:r>
              <a:rPr sz="2800" spc="-145" dirty="0">
                <a:latin typeface="Times New Roman"/>
                <a:cs typeface="Times New Roman"/>
              </a:rPr>
              <a:t> </a:t>
            </a:r>
            <a:r>
              <a:rPr sz="2800" spc="-20" dirty="0">
                <a:latin typeface="Aptos"/>
                <a:cs typeface="Aptos"/>
              </a:rPr>
              <a:t>received</a:t>
            </a:r>
            <a:r>
              <a:rPr sz="2800" spc="-140" dirty="0">
                <a:latin typeface="Times New Roman"/>
                <a:cs typeface="Times New Roman"/>
              </a:rPr>
              <a:t> </a:t>
            </a:r>
            <a:r>
              <a:rPr sz="2800" spc="-10" dirty="0">
                <a:latin typeface="Aptos"/>
                <a:cs typeface="Aptos"/>
              </a:rPr>
              <a:t>simultaneously.</a:t>
            </a:r>
            <a:endParaRPr sz="2800">
              <a:latin typeface="Aptos"/>
              <a:cs typeface="Aptos"/>
            </a:endParaRPr>
          </a:p>
          <a:p>
            <a:pPr marL="12700" marR="1260475">
              <a:lnSpc>
                <a:spcPts val="3030"/>
              </a:lnSpc>
              <a:spcBef>
                <a:spcPts val="1005"/>
              </a:spcBef>
            </a:pPr>
            <a:r>
              <a:rPr sz="2800" spc="-25" dirty="0">
                <a:latin typeface="Aptos"/>
                <a:cs typeface="Aptos"/>
              </a:rPr>
              <a:t>It's</a:t>
            </a:r>
            <a:r>
              <a:rPr sz="2800" spc="-150" dirty="0">
                <a:latin typeface="Times New Roman"/>
                <a:cs typeface="Times New Roman"/>
              </a:rPr>
              <a:t> </a:t>
            </a:r>
            <a:r>
              <a:rPr sz="2800" spc="-10" dirty="0">
                <a:latin typeface="Aptos"/>
                <a:cs typeface="Aptos"/>
              </a:rPr>
              <a:t>similar</a:t>
            </a:r>
            <a:r>
              <a:rPr sz="2800" spc="-150" dirty="0">
                <a:latin typeface="Times New Roman"/>
                <a:cs typeface="Times New Roman"/>
              </a:rPr>
              <a:t> </a:t>
            </a:r>
            <a:r>
              <a:rPr sz="2800" spc="-10" dirty="0">
                <a:latin typeface="Aptos"/>
                <a:cs typeface="Aptos"/>
              </a:rPr>
              <a:t>to</a:t>
            </a:r>
            <a:r>
              <a:rPr sz="2800" spc="-135" dirty="0">
                <a:latin typeface="Times New Roman"/>
                <a:cs typeface="Times New Roman"/>
              </a:rPr>
              <a:t> </a:t>
            </a:r>
            <a:r>
              <a:rPr sz="2800" dirty="0">
                <a:latin typeface="Aptos"/>
                <a:cs typeface="Aptos"/>
              </a:rPr>
              <a:t>a</a:t>
            </a:r>
            <a:r>
              <a:rPr sz="2800" spc="-135" dirty="0">
                <a:latin typeface="Times New Roman"/>
                <a:cs typeface="Times New Roman"/>
              </a:rPr>
              <a:t> </a:t>
            </a:r>
            <a:r>
              <a:rPr sz="2800" spc="-30" dirty="0">
                <a:latin typeface="Aptos"/>
                <a:cs typeface="Aptos"/>
              </a:rPr>
              <a:t>two-</a:t>
            </a:r>
            <a:r>
              <a:rPr sz="2800" spc="-20" dirty="0">
                <a:latin typeface="Aptos"/>
                <a:cs typeface="Aptos"/>
              </a:rPr>
              <a:t>way</a:t>
            </a:r>
            <a:r>
              <a:rPr sz="2800" spc="-145" dirty="0">
                <a:latin typeface="Times New Roman"/>
                <a:cs typeface="Times New Roman"/>
              </a:rPr>
              <a:t> </a:t>
            </a:r>
            <a:r>
              <a:rPr sz="2800" spc="-20" dirty="0">
                <a:latin typeface="Aptos"/>
                <a:cs typeface="Aptos"/>
              </a:rPr>
              <a:t>road,</a:t>
            </a:r>
            <a:r>
              <a:rPr sz="2800" spc="-135" dirty="0">
                <a:latin typeface="Times New Roman"/>
                <a:cs typeface="Times New Roman"/>
              </a:rPr>
              <a:t> </a:t>
            </a:r>
            <a:r>
              <a:rPr sz="2800" spc="-20" dirty="0">
                <a:latin typeface="Aptos"/>
                <a:cs typeface="Aptos"/>
              </a:rPr>
              <a:t>where</a:t>
            </a:r>
            <a:r>
              <a:rPr sz="2800" spc="-140" dirty="0">
                <a:latin typeface="Times New Roman"/>
                <a:cs typeface="Times New Roman"/>
              </a:rPr>
              <a:t> </a:t>
            </a:r>
            <a:r>
              <a:rPr sz="2800" spc="-30" dirty="0">
                <a:latin typeface="Aptos"/>
                <a:cs typeface="Aptos"/>
              </a:rPr>
              <a:t>traffic</a:t>
            </a:r>
            <a:r>
              <a:rPr sz="2800" spc="-145" dirty="0">
                <a:latin typeface="Times New Roman"/>
                <a:cs typeface="Times New Roman"/>
              </a:rPr>
              <a:t> </a:t>
            </a:r>
            <a:r>
              <a:rPr sz="2800" spc="-10" dirty="0">
                <a:latin typeface="Aptos"/>
                <a:cs typeface="Aptos"/>
              </a:rPr>
              <a:t>can</a:t>
            </a:r>
            <a:r>
              <a:rPr sz="2800" spc="-130" dirty="0">
                <a:latin typeface="Times New Roman"/>
                <a:cs typeface="Times New Roman"/>
              </a:rPr>
              <a:t> </a:t>
            </a:r>
            <a:r>
              <a:rPr sz="2800" spc="-20" dirty="0">
                <a:latin typeface="Aptos"/>
                <a:cs typeface="Aptos"/>
              </a:rPr>
              <a:t>flow</a:t>
            </a:r>
            <a:r>
              <a:rPr sz="2800" spc="-145" dirty="0">
                <a:latin typeface="Times New Roman"/>
                <a:cs typeface="Times New Roman"/>
              </a:rPr>
              <a:t> </a:t>
            </a:r>
            <a:r>
              <a:rPr sz="2800" dirty="0">
                <a:latin typeface="Aptos"/>
                <a:cs typeface="Aptos"/>
              </a:rPr>
              <a:t>in</a:t>
            </a:r>
            <a:r>
              <a:rPr sz="2800" spc="-150" dirty="0">
                <a:latin typeface="Times New Roman"/>
                <a:cs typeface="Times New Roman"/>
              </a:rPr>
              <a:t> </a:t>
            </a:r>
            <a:r>
              <a:rPr sz="2800" spc="-20" dirty="0">
                <a:latin typeface="Aptos"/>
                <a:cs typeface="Aptos"/>
              </a:rPr>
              <a:t>both</a:t>
            </a:r>
            <a:r>
              <a:rPr sz="2800" spc="-20" dirty="0">
                <a:latin typeface="Times New Roman"/>
                <a:cs typeface="Times New Roman"/>
              </a:rPr>
              <a:t> </a:t>
            </a:r>
            <a:r>
              <a:rPr sz="2800" spc="-20" dirty="0">
                <a:latin typeface="Aptos"/>
                <a:cs typeface="Aptos"/>
              </a:rPr>
              <a:t>directions</a:t>
            </a:r>
            <a:r>
              <a:rPr sz="2800" spc="-145" dirty="0">
                <a:latin typeface="Times New Roman"/>
                <a:cs typeface="Times New Roman"/>
              </a:rPr>
              <a:t> </a:t>
            </a:r>
            <a:r>
              <a:rPr sz="2800" spc="-10" dirty="0">
                <a:latin typeface="Aptos"/>
                <a:cs typeface="Aptos"/>
              </a:rPr>
              <a:t>at</a:t>
            </a:r>
            <a:r>
              <a:rPr sz="2800" spc="-140" dirty="0">
                <a:latin typeface="Times New Roman"/>
                <a:cs typeface="Times New Roman"/>
              </a:rPr>
              <a:t> </a:t>
            </a:r>
            <a:r>
              <a:rPr sz="2800" spc="-10" dirty="0">
                <a:latin typeface="Aptos"/>
                <a:cs typeface="Aptos"/>
              </a:rPr>
              <a:t>the</a:t>
            </a:r>
            <a:r>
              <a:rPr sz="2800" spc="-135" dirty="0">
                <a:latin typeface="Times New Roman"/>
                <a:cs typeface="Times New Roman"/>
              </a:rPr>
              <a:t> </a:t>
            </a:r>
            <a:r>
              <a:rPr sz="2800" spc="-10" dirty="0">
                <a:latin typeface="Aptos"/>
                <a:cs typeface="Aptos"/>
              </a:rPr>
              <a:t>same</a:t>
            </a:r>
            <a:r>
              <a:rPr sz="2800" spc="-130" dirty="0">
                <a:latin typeface="Times New Roman"/>
                <a:cs typeface="Times New Roman"/>
              </a:rPr>
              <a:t> </a:t>
            </a:r>
            <a:r>
              <a:rPr sz="2800" spc="-10" dirty="0">
                <a:latin typeface="Aptos"/>
                <a:cs typeface="Aptos"/>
              </a:rPr>
              <a:t>time.</a:t>
            </a:r>
            <a:endParaRPr sz="2800">
              <a:latin typeface="Aptos"/>
              <a:cs typeface="Aptos"/>
            </a:endParaRPr>
          </a:p>
          <a:p>
            <a:pPr marL="8561705">
              <a:lnSpc>
                <a:spcPts val="2080"/>
              </a:lnSpc>
              <a:tabLst>
                <a:tab pos="9965690" algn="l"/>
              </a:tabLst>
            </a:pPr>
            <a:r>
              <a:rPr sz="1800" spc="-50" dirty="0">
                <a:latin typeface="Aptos"/>
                <a:cs typeface="Aptos"/>
              </a:rPr>
              <a:t>A</a:t>
            </a:r>
            <a:r>
              <a:rPr sz="1800" dirty="0">
                <a:latin typeface="Times New Roman"/>
                <a:cs typeface="Times New Roman"/>
              </a:rPr>
              <a:t>	</a:t>
            </a:r>
            <a:r>
              <a:rPr sz="1800" spc="-50" dirty="0">
                <a:latin typeface="Aptos"/>
                <a:cs typeface="Aptos"/>
              </a:rPr>
              <a:t>B</a:t>
            </a:r>
            <a:endParaRPr sz="1800">
              <a:latin typeface="Aptos"/>
              <a:cs typeface="Aptos"/>
            </a:endParaRPr>
          </a:p>
          <a:p>
            <a:pPr marL="8596630">
              <a:lnSpc>
                <a:spcPct val="100000"/>
              </a:lnSpc>
              <a:spcBef>
                <a:spcPts val="1250"/>
              </a:spcBef>
            </a:pPr>
            <a:r>
              <a:rPr sz="1800" spc="-10" dirty="0">
                <a:latin typeface="Aptos"/>
                <a:cs typeface="Aptos"/>
              </a:rPr>
              <a:t>Fig:</a:t>
            </a:r>
            <a:r>
              <a:rPr sz="1800" spc="-95" dirty="0">
                <a:latin typeface="Times New Roman"/>
                <a:cs typeface="Times New Roman"/>
              </a:rPr>
              <a:t> </a:t>
            </a:r>
            <a:r>
              <a:rPr sz="1800" dirty="0">
                <a:latin typeface="Aptos"/>
                <a:cs typeface="Aptos"/>
              </a:rPr>
              <a:t>Full</a:t>
            </a:r>
            <a:r>
              <a:rPr sz="1800" spc="-90" dirty="0">
                <a:latin typeface="Times New Roman"/>
                <a:cs typeface="Times New Roman"/>
              </a:rPr>
              <a:t> </a:t>
            </a:r>
            <a:r>
              <a:rPr sz="1800" spc="-10" dirty="0">
                <a:latin typeface="Aptos"/>
                <a:cs typeface="Aptos"/>
              </a:rPr>
              <a:t>Duplex</a:t>
            </a:r>
            <a:endParaRPr sz="1800">
              <a:latin typeface="Aptos"/>
              <a:cs typeface="Aptos"/>
            </a:endParaRPr>
          </a:p>
        </p:txBody>
      </p:sp>
      <p:sp>
        <p:nvSpPr>
          <p:cNvPr id="8" name="object 8"/>
          <p:cNvSpPr txBox="1"/>
          <p:nvPr/>
        </p:nvSpPr>
        <p:spPr>
          <a:xfrm>
            <a:off x="4505080" y="5230109"/>
            <a:ext cx="233870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ptos"/>
                <a:cs typeface="Aptos"/>
              </a:rPr>
              <a:t>Both</a:t>
            </a:r>
            <a:r>
              <a:rPr sz="1800" spc="-95" dirty="0">
                <a:latin typeface="Times New Roman"/>
                <a:cs typeface="Times New Roman"/>
              </a:rPr>
              <a:t> </a:t>
            </a:r>
            <a:r>
              <a:rPr sz="1800" spc="-10" dirty="0">
                <a:latin typeface="Aptos"/>
                <a:cs typeface="Aptos"/>
              </a:rPr>
              <a:t>Direction</a:t>
            </a:r>
            <a:r>
              <a:rPr sz="1800" spc="-90" dirty="0">
                <a:latin typeface="Times New Roman"/>
                <a:cs typeface="Times New Roman"/>
              </a:rPr>
              <a:t> </a:t>
            </a:r>
            <a:r>
              <a:rPr sz="1800" dirty="0">
                <a:latin typeface="Aptos"/>
                <a:cs typeface="Aptos"/>
              </a:rPr>
              <a:t>at</a:t>
            </a:r>
            <a:r>
              <a:rPr sz="1800" spc="-75" dirty="0">
                <a:latin typeface="Times New Roman"/>
                <a:cs typeface="Times New Roman"/>
              </a:rPr>
              <a:t> </a:t>
            </a:r>
            <a:r>
              <a:rPr sz="1800" dirty="0">
                <a:latin typeface="Aptos"/>
                <a:cs typeface="Aptos"/>
              </a:rPr>
              <a:t>a</a:t>
            </a:r>
            <a:r>
              <a:rPr sz="1800" spc="-65" dirty="0">
                <a:latin typeface="Times New Roman"/>
                <a:cs typeface="Times New Roman"/>
              </a:rPr>
              <a:t> </a:t>
            </a:r>
            <a:r>
              <a:rPr sz="1800" spc="-20" dirty="0">
                <a:latin typeface="Aptos"/>
                <a:cs typeface="Aptos"/>
              </a:rPr>
              <a:t>time</a:t>
            </a:r>
            <a:endParaRPr sz="1800">
              <a:latin typeface="Aptos"/>
              <a:cs typeface="Apto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501634"/>
            <a:ext cx="9572625" cy="1504950"/>
          </a:xfrm>
          <a:prstGeom prst="rect">
            <a:avLst/>
          </a:prstGeom>
        </p:spPr>
        <p:txBody>
          <a:bodyPr vert="horz" wrap="square" lIns="0" tIns="109220" rIns="0" bIns="0" rtlCol="0">
            <a:spAutoFit/>
          </a:bodyPr>
          <a:lstStyle/>
          <a:p>
            <a:pPr marL="12700">
              <a:lnSpc>
                <a:spcPct val="100000"/>
              </a:lnSpc>
              <a:spcBef>
                <a:spcPts val="860"/>
              </a:spcBef>
            </a:pPr>
            <a:r>
              <a:rPr sz="2000" b="1" spc="-20" dirty="0">
                <a:latin typeface="Aptos"/>
                <a:cs typeface="Aptos"/>
              </a:rPr>
              <a:t>Types</a:t>
            </a:r>
            <a:r>
              <a:rPr sz="2000" spc="-110" dirty="0">
                <a:latin typeface="Times New Roman"/>
                <a:cs typeface="Times New Roman"/>
              </a:rPr>
              <a:t> </a:t>
            </a:r>
            <a:r>
              <a:rPr sz="2000" b="1" dirty="0">
                <a:latin typeface="Aptos"/>
                <a:cs typeface="Aptos"/>
              </a:rPr>
              <a:t>of</a:t>
            </a:r>
            <a:r>
              <a:rPr sz="2000" spc="-80" dirty="0">
                <a:latin typeface="Times New Roman"/>
                <a:cs typeface="Times New Roman"/>
              </a:rPr>
              <a:t> </a:t>
            </a:r>
            <a:r>
              <a:rPr sz="2000" b="1" spc="-10" dirty="0">
                <a:latin typeface="Aptos"/>
                <a:cs typeface="Aptos"/>
              </a:rPr>
              <a:t>computer</a:t>
            </a:r>
            <a:r>
              <a:rPr sz="2000" spc="-80" dirty="0">
                <a:latin typeface="Times New Roman"/>
                <a:cs typeface="Times New Roman"/>
              </a:rPr>
              <a:t> </a:t>
            </a:r>
            <a:r>
              <a:rPr sz="2000" b="1" spc="-10" dirty="0">
                <a:latin typeface="Aptos"/>
                <a:cs typeface="Aptos"/>
              </a:rPr>
              <a:t>network</a:t>
            </a:r>
            <a:endParaRPr sz="2000">
              <a:latin typeface="Aptos"/>
              <a:cs typeface="Aptos"/>
            </a:endParaRPr>
          </a:p>
          <a:p>
            <a:pPr marL="12700">
              <a:lnSpc>
                <a:spcPct val="100000"/>
              </a:lnSpc>
              <a:spcBef>
                <a:spcPts val="760"/>
              </a:spcBef>
            </a:pPr>
            <a:r>
              <a:rPr sz="2000" b="1" dirty="0">
                <a:latin typeface="Aptos"/>
                <a:cs typeface="Aptos"/>
              </a:rPr>
              <a:t>1</a:t>
            </a:r>
            <a:r>
              <a:rPr sz="2000" spc="-85" dirty="0">
                <a:latin typeface="Times New Roman"/>
                <a:cs typeface="Times New Roman"/>
              </a:rPr>
              <a:t> </a:t>
            </a:r>
            <a:r>
              <a:rPr sz="2000" b="1" dirty="0">
                <a:latin typeface="Aptos"/>
                <a:cs typeface="Aptos"/>
              </a:rPr>
              <a:t>)</a:t>
            </a:r>
            <a:r>
              <a:rPr sz="2000" spc="-85" dirty="0">
                <a:latin typeface="Times New Roman"/>
                <a:cs typeface="Times New Roman"/>
              </a:rPr>
              <a:t> </a:t>
            </a:r>
            <a:r>
              <a:rPr sz="2000" b="1" dirty="0">
                <a:latin typeface="Aptos"/>
                <a:cs typeface="Aptos"/>
              </a:rPr>
              <a:t>On</a:t>
            </a:r>
            <a:r>
              <a:rPr sz="2000" spc="-100" dirty="0">
                <a:latin typeface="Times New Roman"/>
                <a:cs typeface="Times New Roman"/>
              </a:rPr>
              <a:t> </a:t>
            </a:r>
            <a:r>
              <a:rPr sz="2000" b="1" dirty="0">
                <a:latin typeface="Aptos"/>
                <a:cs typeface="Aptos"/>
              </a:rPr>
              <a:t>the</a:t>
            </a:r>
            <a:r>
              <a:rPr sz="2000" spc="-114" dirty="0">
                <a:latin typeface="Times New Roman"/>
                <a:cs typeface="Times New Roman"/>
              </a:rPr>
              <a:t> </a:t>
            </a:r>
            <a:r>
              <a:rPr sz="2000" b="1" dirty="0">
                <a:latin typeface="Aptos"/>
                <a:cs typeface="Aptos"/>
              </a:rPr>
              <a:t>basis</a:t>
            </a:r>
            <a:r>
              <a:rPr sz="2000" spc="-110" dirty="0">
                <a:latin typeface="Times New Roman"/>
                <a:cs typeface="Times New Roman"/>
              </a:rPr>
              <a:t> </a:t>
            </a:r>
            <a:r>
              <a:rPr sz="2000" b="1" dirty="0">
                <a:latin typeface="Aptos"/>
                <a:cs typeface="Aptos"/>
              </a:rPr>
              <a:t>of</a:t>
            </a:r>
            <a:r>
              <a:rPr sz="2000" spc="-100" dirty="0">
                <a:latin typeface="Times New Roman"/>
                <a:cs typeface="Times New Roman"/>
              </a:rPr>
              <a:t> </a:t>
            </a:r>
            <a:r>
              <a:rPr sz="2000" b="1" spc="-10" dirty="0">
                <a:latin typeface="Aptos"/>
                <a:cs typeface="Aptos"/>
              </a:rPr>
              <a:t>Geographical</a:t>
            </a:r>
            <a:r>
              <a:rPr sz="2000" spc="-110" dirty="0">
                <a:latin typeface="Times New Roman"/>
                <a:cs typeface="Times New Roman"/>
              </a:rPr>
              <a:t> </a:t>
            </a:r>
            <a:r>
              <a:rPr sz="2000" b="1" spc="-20" dirty="0">
                <a:latin typeface="Aptos"/>
                <a:cs typeface="Aptos"/>
              </a:rPr>
              <a:t>Area</a:t>
            </a:r>
            <a:endParaRPr sz="2000">
              <a:latin typeface="Aptos"/>
              <a:cs typeface="Aptos"/>
            </a:endParaRPr>
          </a:p>
          <a:p>
            <a:pPr marL="12700" marR="5080">
              <a:lnSpc>
                <a:spcPts val="2160"/>
              </a:lnSpc>
              <a:spcBef>
                <a:spcPts val="1040"/>
              </a:spcBef>
            </a:pPr>
            <a:r>
              <a:rPr sz="2000" dirty="0">
                <a:latin typeface="Aptos"/>
                <a:cs typeface="Aptos"/>
              </a:rPr>
              <a:t>On</a:t>
            </a:r>
            <a:r>
              <a:rPr sz="2000" spc="-110" dirty="0">
                <a:latin typeface="Times New Roman"/>
                <a:cs typeface="Times New Roman"/>
              </a:rPr>
              <a:t> </a:t>
            </a:r>
            <a:r>
              <a:rPr sz="2000" dirty="0">
                <a:latin typeface="Aptos"/>
                <a:cs typeface="Aptos"/>
              </a:rPr>
              <a:t>the</a:t>
            </a:r>
            <a:r>
              <a:rPr sz="2000" spc="-100" dirty="0">
                <a:latin typeface="Times New Roman"/>
                <a:cs typeface="Times New Roman"/>
              </a:rPr>
              <a:t> </a:t>
            </a:r>
            <a:r>
              <a:rPr sz="2000" dirty="0">
                <a:latin typeface="Aptos"/>
                <a:cs typeface="Aptos"/>
              </a:rPr>
              <a:t>basis</a:t>
            </a:r>
            <a:r>
              <a:rPr sz="2000" spc="-110" dirty="0">
                <a:latin typeface="Times New Roman"/>
                <a:cs typeface="Times New Roman"/>
              </a:rPr>
              <a:t> </a:t>
            </a:r>
            <a:r>
              <a:rPr sz="2000" dirty="0">
                <a:latin typeface="Aptos"/>
                <a:cs typeface="Aptos"/>
              </a:rPr>
              <a:t>of</a:t>
            </a:r>
            <a:r>
              <a:rPr sz="2000" spc="-95" dirty="0">
                <a:latin typeface="Times New Roman"/>
                <a:cs typeface="Times New Roman"/>
              </a:rPr>
              <a:t> </a:t>
            </a:r>
            <a:r>
              <a:rPr sz="2000" spc="-10" dirty="0">
                <a:latin typeface="Aptos"/>
                <a:cs typeface="Aptos"/>
              </a:rPr>
              <a:t>geographical</a:t>
            </a:r>
            <a:r>
              <a:rPr sz="2000" spc="-114" dirty="0">
                <a:latin typeface="Times New Roman"/>
                <a:cs typeface="Times New Roman"/>
              </a:rPr>
              <a:t> </a:t>
            </a:r>
            <a:r>
              <a:rPr sz="2000" dirty="0">
                <a:latin typeface="Aptos"/>
                <a:cs typeface="Aptos"/>
              </a:rPr>
              <a:t>area,</a:t>
            </a:r>
            <a:r>
              <a:rPr sz="2000" spc="-100" dirty="0">
                <a:latin typeface="Times New Roman"/>
                <a:cs typeface="Times New Roman"/>
              </a:rPr>
              <a:t> </a:t>
            </a:r>
            <a:r>
              <a:rPr sz="2000" dirty="0">
                <a:latin typeface="Aptos"/>
                <a:cs typeface="Aptos"/>
              </a:rPr>
              <a:t>computer</a:t>
            </a:r>
            <a:r>
              <a:rPr sz="2000" spc="-110" dirty="0">
                <a:latin typeface="Times New Roman"/>
                <a:cs typeface="Times New Roman"/>
              </a:rPr>
              <a:t> </a:t>
            </a:r>
            <a:r>
              <a:rPr sz="2000" spc="-10" dirty="0">
                <a:latin typeface="Aptos"/>
                <a:cs typeface="Aptos"/>
              </a:rPr>
              <a:t>networks</a:t>
            </a:r>
            <a:r>
              <a:rPr sz="2000" spc="-95" dirty="0">
                <a:latin typeface="Times New Roman"/>
                <a:cs typeface="Times New Roman"/>
              </a:rPr>
              <a:t> </a:t>
            </a:r>
            <a:r>
              <a:rPr sz="2000" spc="-10" dirty="0">
                <a:latin typeface="Aptos"/>
                <a:cs typeface="Aptos"/>
              </a:rPr>
              <a:t>are</a:t>
            </a:r>
            <a:r>
              <a:rPr sz="2000" spc="-110" dirty="0">
                <a:latin typeface="Times New Roman"/>
                <a:cs typeface="Times New Roman"/>
              </a:rPr>
              <a:t> </a:t>
            </a:r>
            <a:r>
              <a:rPr sz="2000" dirty="0">
                <a:latin typeface="Aptos"/>
                <a:cs typeface="Aptos"/>
              </a:rPr>
              <a:t>classified</a:t>
            </a:r>
            <a:r>
              <a:rPr sz="2000" spc="-105" dirty="0">
                <a:latin typeface="Times New Roman"/>
                <a:cs typeface="Times New Roman"/>
              </a:rPr>
              <a:t> </a:t>
            </a:r>
            <a:r>
              <a:rPr sz="2000" dirty="0">
                <a:latin typeface="Aptos"/>
                <a:cs typeface="Aptos"/>
              </a:rPr>
              <a:t>into</a:t>
            </a:r>
            <a:r>
              <a:rPr sz="2000" spc="-100" dirty="0">
                <a:latin typeface="Times New Roman"/>
                <a:cs typeface="Times New Roman"/>
              </a:rPr>
              <a:t> </a:t>
            </a:r>
            <a:r>
              <a:rPr sz="2000" spc="-10" dirty="0">
                <a:latin typeface="Aptos"/>
                <a:cs typeface="Aptos"/>
              </a:rPr>
              <a:t>following</a:t>
            </a:r>
            <a:r>
              <a:rPr sz="2000" spc="-95" dirty="0">
                <a:latin typeface="Times New Roman"/>
                <a:cs typeface="Times New Roman"/>
              </a:rPr>
              <a:t> </a:t>
            </a:r>
            <a:r>
              <a:rPr sz="2000" spc="-10" dirty="0">
                <a:latin typeface="Aptos"/>
                <a:cs typeface="Aptos"/>
              </a:rPr>
              <a:t>three</a:t>
            </a:r>
            <a:r>
              <a:rPr sz="2000" spc="-10" dirty="0">
                <a:latin typeface="Times New Roman"/>
                <a:cs typeface="Times New Roman"/>
              </a:rPr>
              <a:t> </a:t>
            </a:r>
            <a:r>
              <a:rPr sz="2000" spc="-10" dirty="0">
                <a:latin typeface="Aptos"/>
                <a:cs typeface="Aptos"/>
              </a:rPr>
              <a:t>categories:</a:t>
            </a:r>
            <a:endParaRPr sz="2000">
              <a:latin typeface="Aptos"/>
              <a:cs typeface="Apto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501634"/>
            <a:ext cx="9978390" cy="2054225"/>
          </a:xfrm>
          <a:prstGeom prst="rect">
            <a:avLst/>
          </a:prstGeom>
        </p:spPr>
        <p:txBody>
          <a:bodyPr vert="horz" wrap="square" lIns="0" tIns="109220" rIns="0" bIns="0" rtlCol="0">
            <a:spAutoFit/>
          </a:bodyPr>
          <a:lstStyle/>
          <a:p>
            <a:pPr marL="12700">
              <a:lnSpc>
                <a:spcPct val="100000"/>
              </a:lnSpc>
              <a:spcBef>
                <a:spcPts val="860"/>
              </a:spcBef>
            </a:pPr>
            <a:r>
              <a:rPr sz="2000" b="1" dirty="0">
                <a:latin typeface="Aptos"/>
                <a:cs typeface="Aptos"/>
              </a:rPr>
              <a:t>a</a:t>
            </a:r>
            <a:r>
              <a:rPr sz="2000" spc="-80" dirty="0">
                <a:latin typeface="Times New Roman"/>
                <a:cs typeface="Times New Roman"/>
              </a:rPr>
              <a:t> </a:t>
            </a:r>
            <a:r>
              <a:rPr sz="2000" b="1" dirty="0">
                <a:latin typeface="Aptos"/>
                <a:cs typeface="Aptos"/>
              </a:rPr>
              <a:t>)</a:t>
            </a:r>
            <a:r>
              <a:rPr sz="2000" spc="-75" dirty="0">
                <a:latin typeface="Times New Roman"/>
                <a:cs typeface="Times New Roman"/>
              </a:rPr>
              <a:t> </a:t>
            </a:r>
            <a:r>
              <a:rPr sz="2000" b="1" dirty="0">
                <a:latin typeface="Aptos"/>
                <a:cs typeface="Aptos"/>
              </a:rPr>
              <a:t>Local</a:t>
            </a:r>
            <a:r>
              <a:rPr sz="2000" spc="-105" dirty="0">
                <a:latin typeface="Times New Roman"/>
                <a:cs typeface="Times New Roman"/>
              </a:rPr>
              <a:t> </a:t>
            </a:r>
            <a:r>
              <a:rPr sz="2000" b="1" spc="-10" dirty="0">
                <a:latin typeface="Aptos"/>
                <a:cs typeface="Aptos"/>
              </a:rPr>
              <a:t>Area</a:t>
            </a:r>
            <a:r>
              <a:rPr sz="2000" spc="-114" dirty="0">
                <a:latin typeface="Times New Roman"/>
                <a:cs typeface="Times New Roman"/>
              </a:rPr>
              <a:t> </a:t>
            </a:r>
            <a:r>
              <a:rPr sz="2000" b="1" spc="-10" dirty="0">
                <a:latin typeface="Aptos"/>
                <a:cs typeface="Aptos"/>
              </a:rPr>
              <a:t>Network</a:t>
            </a:r>
            <a:r>
              <a:rPr sz="2000" spc="-114" dirty="0">
                <a:latin typeface="Times New Roman"/>
                <a:cs typeface="Times New Roman"/>
              </a:rPr>
              <a:t> </a:t>
            </a:r>
            <a:r>
              <a:rPr sz="2000" b="1" spc="-20" dirty="0">
                <a:latin typeface="Aptos"/>
                <a:cs typeface="Aptos"/>
              </a:rPr>
              <a:t>(LAN)</a:t>
            </a:r>
            <a:endParaRPr sz="2000">
              <a:latin typeface="Aptos"/>
              <a:cs typeface="Aptos"/>
            </a:endParaRPr>
          </a:p>
          <a:p>
            <a:pPr marL="12700" marR="5080">
              <a:lnSpc>
                <a:spcPts val="2160"/>
              </a:lnSpc>
              <a:spcBef>
                <a:spcPts val="1030"/>
              </a:spcBef>
            </a:pPr>
            <a:r>
              <a:rPr sz="2000" dirty="0">
                <a:latin typeface="Aptos"/>
                <a:cs typeface="Aptos"/>
              </a:rPr>
              <a:t>A</a:t>
            </a:r>
            <a:r>
              <a:rPr sz="2000" spc="-100" dirty="0">
                <a:latin typeface="Times New Roman"/>
                <a:cs typeface="Times New Roman"/>
              </a:rPr>
              <a:t> </a:t>
            </a:r>
            <a:r>
              <a:rPr sz="2000" dirty="0">
                <a:latin typeface="Aptos"/>
                <a:cs typeface="Aptos"/>
              </a:rPr>
              <a:t>local</a:t>
            </a:r>
            <a:r>
              <a:rPr sz="2000" spc="-80" dirty="0">
                <a:latin typeface="Times New Roman"/>
                <a:cs typeface="Times New Roman"/>
              </a:rPr>
              <a:t> </a:t>
            </a:r>
            <a:r>
              <a:rPr sz="2000" spc="-10" dirty="0">
                <a:latin typeface="Aptos"/>
                <a:cs typeface="Aptos"/>
              </a:rPr>
              <a:t>area</a:t>
            </a:r>
            <a:r>
              <a:rPr sz="2000" spc="-100" dirty="0">
                <a:latin typeface="Times New Roman"/>
                <a:cs typeface="Times New Roman"/>
              </a:rPr>
              <a:t> </a:t>
            </a:r>
            <a:r>
              <a:rPr sz="2000" spc="-10" dirty="0">
                <a:latin typeface="Aptos"/>
                <a:cs typeface="Aptos"/>
              </a:rPr>
              <a:t>network</a:t>
            </a:r>
            <a:r>
              <a:rPr sz="2000" spc="-90" dirty="0">
                <a:latin typeface="Times New Roman"/>
                <a:cs typeface="Times New Roman"/>
              </a:rPr>
              <a:t> </a:t>
            </a:r>
            <a:r>
              <a:rPr sz="2000" dirty="0">
                <a:latin typeface="Aptos"/>
                <a:cs typeface="Aptos"/>
              </a:rPr>
              <a:t>(LAN)</a:t>
            </a:r>
            <a:r>
              <a:rPr sz="2000" spc="-90" dirty="0">
                <a:latin typeface="Times New Roman"/>
                <a:cs typeface="Times New Roman"/>
              </a:rPr>
              <a:t> </a:t>
            </a:r>
            <a:r>
              <a:rPr sz="2000" dirty="0">
                <a:latin typeface="Aptos"/>
                <a:cs typeface="Aptos"/>
              </a:rPr>
              <a:t>is</a:t>
            </a:r>
            <a:r>
              <a:rPr sz="2000" spc="-90" dirty="0">
                <a:latin typeface="Times New Roman"/>
                <a:cs typeface="Times New Roman"/>
              </a:rPr>
              <a:t> </a:t>
            </a:r>
            <a:r>
              <a:rPr sz="2000" spc="-10" dirty="0">
                <a:latin typeface="Aptos"/>
                <a:cs typeface="Aptos"/>
              </a:rPr>
              <a:t>privately</a:t>
            </a:r>
            <a:r>
              <a:rPr sz="2000" spc="-110" dirty="0">
                <a:latin typeface="Times New Roman"/>
                <a:cs typeface="Times New Roman"/>
              </a:rPr>
              <a:t> </a:t>
            </a:r>
            <a:r>
              <a:rPr sz="2000" dirty="0">
                <a:latin typeface="Aptos"/>
                <a:cs typeface="Aptos"/>
              </a:rPr>
              <a:t>owned</a:t>
            </a:r>
            <a:r>
              <a:rPr sz="2000" spc="-90" dirty="0">
                <a:latin typeface="Times New Roman"/>
                <a:cs typeface="Times New Roman"/>
              </a:rPr>
              <a:t> </a:t>
            </a:r>
            <a:r>
              <a:rPr sz="2000" dirty="0">
                <a:latin typeface="Aptos"/>
                <a:cs typeface="Aptos"/>
              </a:rPr>
              <a:t>small</a:t>
            </a:r>
            <a:r>
              <a:rPr sz="2000" spc="-85" dirty="0">
                <a:latin typeface="Times New Roman"/>
                <a:cs typeface="Times New Roman"/>
              </a:rPr>
              <a:t> </a:t>
            </a:r>
            <a:r>
              <a:rPr sz="2000" spc="-10" dirty="0">
                <a:latin typeface="Aptos"/>
                <a:cs typeface="Aptos"/>
              </a:rPr>
              <a:t>sized</a:t>
            </a:r>
            <a:r>
              <a:rPr sz="2000" spc="-90" dirty="0">
                <a:latin typeface="Times New Roman"/>
                <a:cs typeface="Times New Roman"/>
              </a:rPr>
              <a:t> </a:t>
            </a:r>
            <a:r>
              <a:rPr sz="2000" spc="-10" dirty="0">
                <a:latin typeface="Aptos"/>
                <a:cs typeface="Aptos"/>
              </a:rPr>
              <a:t>network</a:t>
            </a:r>
            <a:r>
              <a:rPr sz="2000" spc="-90" dirty="0">
                <a:latin typeface="Times New Roman"/>
                <a:cs typeface="Times New Roman"/>
              </a:rPr>
              <a:t> </a:t>
            </a:r>
            <a:r>
              <a:rPr sz="2000" spc="-10" dirty="0">
                <a:latin typeface="Aptos"/>
                <a:cs typeface="Aptos"/>
              </a:rPr>
              <a:t>which</a:t>
            </a:r>
            <a:r>
              <a:rPr sz="2000" spc="-114" dirty="0">
                <a:latin typeface="Times New Roman"/>
                <a:cs typeface="Times New Roman"/>
              </a:rPr>
              <a:t> </a:t>
            </a:r>
            <a:r>
              <a:rPr sz="2000" dirty="0">
                <a:latin typeface="Aptos"/>
                <a:cs typeface="Aptos"/>
              </a:rPr>
              <a:t>spans</a:t>
            </a:r>
            <a:r>
              <a:rPr sz="2000" spc="-90" dirty="0">
                <a:latin typeface="Times New Roman"/>
                <a:cs typeface="Times New Roman"/>
              </a:rPr>
              <a:t> </a:t>
            </a:r>
            <a:r>
              <a:rPr sz="2000" dirty="0">
                <a:latin typeface="Aptos"/>
                <a:cs typeface="Aptos"/>
              </a:rPr>
              <a:t>only</a:t>
            </a:r>
            <a:r>
              <a:rPr sz="2000" spc="-85" dirty="0">
                <a:latin typeface="Times New Roman"/>
                <a:cs typeface="Times New Roman"/>
              </a:rPr>
              <a:t> </a:t>
            </a:r>
            <a:r>
              <a:rPr sz="2000" dirty="0">
                <a:latin typeface="Aptos"/>
                <a:cs typeface="Aptos"/>
              </a:rPr>
              <a:t>in</a:t>
            </a:r>
            <a:r>
              <a:rPr sz="2000" spc="-90" dirty="0">
                <a:latin typeface="Times New Roman"/>
                <a:cs typeface="Times New Roman"/>
              </a:rPr>
              <a:t> </a:t>
            </a:r>
            <a:r>
              <a:rPr sz="2000" spc="-10" dirty="0">
                <a:latin typeface="Aptos"/>
                <a:cs typeface="Aptos"/>
              </a:rPr>
              <a:t>small</a:t>
            </a:r>
            <a:r>
              <a:rPr sz="2000" spc="-10" dirty="0">
                <a:latin typeface="Times New Roman"/>
                <a:cs typeface="Times New Roman"/>
              </a:rPr>
              <a:t> </a:t>
            </a:r>
            <a:r>
              <a:rPr sz="2000" spc="-10" dirty="0">
                <a:latin typeface="Aptos"/>
                <a:cs typeface="Aptos"/>
              </a:rPr>
              <a:t>geographical</a:t>
            </a:r>
            <a:r>
              <a:rPr sz="2000" spc="-125" dirty="0">
                <a:latin typeface="Times New Roman"/>
                <a:cs typeface="Times New Roman"/>
              </a:rPr>
              <a:t> </a:t>
            </a:r>
            <a:r>
              <a:rPr sz="2000" spc="-10" dirty="0">
                <a:latin typeface="Aptos"/>
                <a:cs typeface="Aptos"/>
              </a:rPr>
              <a:t>area</a:t>
            </a:r>
            <a:r>
              <a:rPr sz="2000" spc="-95" dirty="0">
                <a:latin typeface="Times New Roman"/>
                <a:cs typeface="Times New Roman"/>
              </a:rPr>
              <a:t> </a:t>
            </a:r>
            <a:r>
              <a:rPr sz="2000" dirty="0">
                <a:latin typeface="Aptos"/>
                <a:cs typeface="Aptos"/>
              </a:rPr>
              <a:t>such</a:t>
            </a:r>
            <a:r>
              <a:rPr sz="2000" spc="-90" dirty="0">
                <a:latin typeface="Times New Roman"/>
                <a:cs typeface="Times New Roman"/>
              </a:rPr>
              <a:t> </a:t>
            </a:r>
            <a:r>
              <a:rPr sz="2000" dirty="0">
                <a:latin typeface="Aptos"/>
                <a:cs typeface="Aptos"/>
              </a:rPr>
              <a:t>as</a:t>
            </a:r>
            <a:r>
              <a:rPr sz="2000" spc="-85" dirty="0">
                <a:latin typeface="Times New Roman"/>
                <a:cs typeface="Times New Roman"/>
              </a:rPr>
              <a:t> </a:t>
            </a:r>
            <a:r>
              <a:rPr sz="2000" dirty="0">
                <a:latin typeface="Aptos"/>
                <a:cs typeface="Aptos"/>
              </a:rPr>
              <a:t>within</a:t>
            </a:r>
            <a:r>
              <a:rPr sz="2000" spc="-105" dirty="0">
                <a:latin typeface="Times New Roman"/>
                <a:cs typeface="Times New Roman"/>
              </a:rPr>
              <a:t> </a:t>
            </a:r>
            <a:r>
              <a:rPr sz="2000" dirty="0">
                <a:latin typeface="Aptos"/>
                <a:cs typeface="Aptos"/>
              </a:rPr>
              <a:t>a</a:t>
            </a:r>
            <a:r>
              <a:rPr sz="2000" spc="-85" dirty="0">
                <a:latin typeface="Times New Roman"/>
                <a:cs typeface="Times New Roman"/>
              </a:rPr>
              <a:t> </a:t>
            </a:r>
            <a:r>
              <a:rPr sz="2000" spc="-10" dirty="0">
                <a:latin typeface="Aptos"/>
                <a:cs typeface="Aptos"/>
              </a:rPr>
              <a:t>room,</a:t>
            </a:r>
            <a:r>
              <a:rPr sz="2000" spc="-95" dirty="0">
                <a:latin typeface="Times New Roman"/>
                <a:cs typeface="Times New Roman"/>
              </a:rPr>
              <a:t> </a:t>
            </a:r>
            <a:r>
              <a:rPr sz="2000" spc="-10" dirty="0">
                <a:latin typeface="Aptos"/>
                <a:cs typeface="Aptos"/>
              </a:rPr>
              <a:t>office,</a:t>
            </a:r>
            <a:r>
              <a:rPr sz="2000" spc="-90" dirty="0">
                <a:latin typeface="Times New Roman"/>
                <a:cs typeface="Times New Roman"/>
              </a:rPr>
              <a:t> </a:t>
            </a:r>
            <a:r>
              <a:rPr sz="2000" spc="-10" dirty="0">
                <a:latin typeface="Aptos"/>
                <a:cs typeface="Aptos"/>
              </a:rPr>
              <a:t>building</a:t>
            </a:r>
            <a:r>
              <a:rPr sz="2000" spc="-100" dirty="0">
                <a:latin typeface="Times New Roman"/>
                <a:cs typeface="Times New Roman"/>
              </a:rPr>
              <a:t> </a:t>
            </a:r>
            <a:r>
              <a:rPr sz="2000" dirty="0">
                <a:latin typeface="Aptos"/>
                <a:cs typeface="Aptos"/>
              </a:rPr>
              <a:t>or</a:t>
            </a:r>
            <a:r>
              <a:rPr sz="2000" spc="-85" dirty="0">
                <a:latin typeface="Times New Roman"/>
                <a:cs typeface="Times New Roman"/>
              </a:rPr>
              <a:t> </a:t>
            </a:r>
            <a:r>
              <a:rPr sz="2000" dirty="0">
                <a:latin typeface="Aptos"/>
                <a:cs typeface="Aptos"/>
              </a:rPr>
              <a:t>up</a:t>
            </a:r>
            <a:r>
              <a:rPr sz="2000" spc="-85" dirty="0">
                <a:latin typeface="Times New Roman"/>
                <a:cs typeface="Times New Roman"/>
              </a:rPr>
              <a:t> </a:t>
            </a:r>
            <a:r>
              <a:rPr sz="2000" dirty="0">
                <a:latin typeface="Aptos"/>
                <a:cs typeface="Aptos"/>
              </a:rPr>
              <a:t>to</a:t>
            </a:r>
            <a:r>
              <a:rPr sz="2000" spc="-80" dirty="0">
                <a:latin typeface="Times New Roman"/>
                <a:cs typeface="Times New Roman"/>
              </a:rPr>
              <a:t> </a:t>
            </a:r>
            <a:r>
              <a:rPr sz="2000" spc="-10" dirty="0">
                <a:latin typeface="Aptos"/>
                <a:cs typeface="Aptos"/>
              </a:rPr>
              <a:t>few</a:t>
            </a:r>
            <a:r>
              <a:rPr sz="2000" spc="-100" dirty="0">
                <a:latin typeface="Times New Roman"/>
                <a:cs typeface="Times New Roman"/>
              </a:rPr>
              <a:t> </a:t>
            </a:r>
            <a:r>
              <a:rPr sz="2000" spc="-10" dirty="0">
                <a:latin typeface="Aptos"/>
                <a:cs typeface="Aptos"/>
              </a:rPr>
              <a:t>kilometers</a:t>
            </a:r>
            <a:r>
              <a:rPr sz="2000" spc="-90" dirty="0">
                <a:latin typeface="Times New Roman"/>
                <a:cs typeface="Times New Roman"/>
              </a:rPr>
              <a:t> </a:t>
            </a:r>
            <a:r>
              <a:rPr sz="2000" dirty="0">
                <a:latin typeface="Aptos"/>
                <a:cs typeface="Aptos"/>
              </a:rPr>
              <a:t>(2</a:t>
            </a:r>
            <a:r>
              <a:rPr sz="2000" spc="-85" dirty="0">
                <a:latin typeface="Times New Roman"/>
                <a:cs typeface="Times New Roman"/>
              </a:rPr>
              <a:t> </a:t>
            </a:r>
            <a:r>
              <a:rPr sz="2000" dirty="0">
                <a:latin typeface="Aptos"/>
                <a:cs typeface="Aptos"/>
              </a:rPr>
              <a:t>or</a:t>
            </a:r>
            <a:r>
              <a:rPr sz="2000" spc="-75" dirty="0">
                <a:latin typeface="Times New Roman"/>
                <a:cs typeface="Times New Roman"/>
              </a:rPr>
              <a:t> </a:t>
            </a:r>
            <a:r>
              <a:rPr sz="2000" spc="-50" dirty="0">
                <a:latin typeface="Aptos"/>
                <a:cs typeface="Aptos"/>
              </a:rPr>
              <a:t>3</a:t>
            </a:r>
            <a:r>
              <a:rPr sz="2000" spc="-50" dirty="0">
                <a:latin typeface="Times New Roman"/>
                <a:cs typeface="Times New Roman"/>
              </a:rPr>
              <a:t> </a:t>
            </a:r>
            <a:r>
              <a:rPr sz="2000" spc="-10" dirty="0">
                <a:latin typeface="Aptos"/>
                <a:cs typeface="Aptos"/>
              </a:rPr>
              <a:t>kilometers).</a:t>
            </a:r>
            <a:endParaRPr sz="2000">
              <a:latin typeface="Aptos"/>
              <a:cs typeface="Aptos"/>
            </a:endParaRPr>
          </a:p>
          <a:p>
            <a:pPr marL="12700">
              <a:lnSpc>
                <a:spcPts val="2280"/>
              </a:lnSpc>
              <a:spcBef>
                <a:spcPts val="735"/>
              </a:spcBef>
            </a:pPr>
            <a:r>
              <a:rPr sz="2000" dirty="0">
                <a:latin typeface="Aptos"/>
                <a:cs typeface="Aptos"/>
              </a:rPr>
              <a:t>For</a:t>
            </a:r>
            <a:r>
              <a:rPr sz="2000" spc="-90" dirty="0">
                <a:latin typeface="Times New Roman"/>
                <a:cs typeface="Times New Roman"/>
              </a:rPr>
              <a:t> </a:t>
            </a:r>
            <a:r>
              <a:rPr sz="2000" spc="-25" dirty="0">
                <a:latin typeface="Aptos"/>
                <a:cs typeface="Aptos"/>
              </a:rPr>
              <a:t>example,</a:t>
            </a:r>
            <a:r>
              <a:rPr sz="2000" spc="-95" dirty="0">
                <a:latin typeface="Times New Roman"/>
                <a:cs typeface="Times New Roman"/>
              </a:rPr>
              <a:t> </a:t>
            </a:r>
            <a:r>
              <a:rPr sz="2000" spc="-10" dirty="0">
                <a:latin typeface="Aptos"/>
                <a:cs typeface="Aptos"/>
              </a:rPr>
              <a:t>network</a:t>
            </a:r>
            <a:r>
              <a:rPr sz="2000" spc="-95" dirty="0">
                <a:latin typeface="Times New Roman"/>
                <a:cs typeface="Times New Roman"/>
              </a:rPr>
              <a:t> </a:t>
            </a:r>
            <a:r>
              <a:rPr sz="2000" dirty="0">
                <a:latin typeface="Aptos"/>
                <a:cs typeface="Aptos"/>
              </a:rPr>
              <a:t>used</a:t>
            </a:r>
            <a:r>
              <a:rPr sz="2000" spc="-85" dirty="0">
                <a:latin typeface="Times New Roman"/>
                <a:cs typeface="Times New Roman"/>
              </a:rPr>
              <a:t> </a:t>
            </a:r>
            <a:r>
              <a:rPr sz="2000" dirty="0">
                <a:latin typeface="Aptos"/>
                <a:cs typeface="Aptos"/>
              </a:rPr>
              <a:t>in</a:t>
            </a:r>
            <a:r>
              <a:rPr sz="2000" spc="-100" dirty="0">
                <a:latin typeface="Times New Roman"/>
                <a:cs typeface="Times New Roman"/>
              </a:rPr>
              <a:t> </a:t>
            </a:r>
            <a:r>
              <a:rPr sz="2000" dirty="0">
                <a:latin typeface="Aptos"/>
                <a:cs typeface="Aptos"/>
              </a:rPr>
              <a:t>our</a:t>
            </a:r>
            <a:r>
              <a:rPr sz="2000" spc="-85" dirty="0">
                <a:latin typeface="Times New Roman"/>
                <a:cs typeface="Times New Roman"/>
              </a:rPr>
              <a:t> </a:t>
            </a:r>
            <a:r>
              <a:rPr sz="2000" dirty="0">
                <a:latin typeface="Aptos"/>
                <a:cs typeface="Aptos"/>
              </a:rPr>
              <a:t>college</a:t>
            </a:r>
            <a:r>
              <a:rPr sz="2000" spc="-85" dirty="0">
                <a:latin typeface="Times New Roman"/>
                <a:cs typeface="Times New Roman"/>
              </a:rPr>
              <a:t> </a:t>
            </a:r>
            <a:r>
              <a:rPr sz="2000" dirty="0">
                <a:latin typeface="Aptos"/>
                <a:cs typeface="Aptos"/>
              </a:rPr>
              <a:t>or</a:t>
            </a:r>
            <a:r>
              <a:rPr sz="2000" spc="-80" dirty="0">
                <a:latin typeface="Times New Roman"/>
                <a:cs typeface="Times New Roman"/>
              </a:rPr>
              <a:t> </a:t>
            </a:r>
            <a:r>
              <a:rPr sz="2000" spc="-20" dirty="0">
                <a:latin typeface="Aptos"/>
                <a:cs typeface="Aptos"/>
              </a:rPr>
              <a:t>office.</a:t>
            </a:r>
            <a:r>
              <a:rPr sz="2000" spc="-105" dirty="0">
                <a:latin typeface="Times New Roman"/>
                <a:cs typeface="Times New Roman"/>
              </a:rPr>
              <a:t> </a:t>
            </a:r>
            <a:r>
              <a:rPr sz="2000" dirty="0">
                <a:latin typeface="Aptos"/>
                <a:cs typeface="Aptos"/>
              </a:rPr>
              <a:t>It</a:t>
            </a:r>
            <a:r>
              <a:rPr sz="2000" spc="-70" dirty="0">
                <a:latin typeface="Times New Roman"/>
                <a:cs typeface="Times New Roman"/>
              </a:rPr>
              <a:t> </a:t>
            </a:r>
            <a:r>
              <a:rPr sz="2000" dirty="0">
                <a:latin typeface="Aptos"/>
                <a:cs typeface="Aptos"/>
              </a:rPr>
              <a:t>is</a:t>
            </a:r>
            <a:r>
              <a:rPr sz="2000" spc="-90" dirty="0">
                <a:latin typeface="Times New Roman"/>
                <a:cs typeface="Times New Roman"/>
              </a:rPr>
              <a:t> </a:t>
            </a:r>
            <a:r>
              <a:rPr sz="2000" spc="-30" dirty="0">
                <a:latin typeface="Aptos"/>
                <a:cs typeface="Aptos"/>
              </a:rPr>
              <a:t>simpler,</a:t>
            </a:r>
            <a:r>
              <a:rPr sz="2000" spc="-95" dirty="0">
                <a:latin typeface="Times New Roman"/>
                <a:cs typeface="Times New Roman"/>
              </a:rPr>
              <a:t> </a:t>
            </a:r>
            <a:r>
              <a:rPr sz="2000" dirty="0">
                <a:latin typeface="Aptos"/>
                <a:cs typeface="Aptos"/>
              </a:rPr>
              <a:t>cheaper</a:t>
            </a:r>
            <a:r>
              <a:rPr sz="2000" spc="-95" dirty="0">
                <a:latin typeface="Times New Roman"/>
                <a:cs typeface="Times New Roman"/>
              </a:rPr>
              <a:t> </a:t>
            </a:r>
            <a:r>
              <a:rPr sz="2000" dirty="0">
                <a:latin typeface="Aptos"/>
                <a:cs typeface="Aptos"/>
              </a:rPr>
              <a:t>and</a:t>
            </a:r>
            <a:r>
              <a:rPr sz="2000" spc="-95" dirty="0">
                <a:latin typeface="Times New Roman"/>
                <a:cs typeface="Times New Roman"/>
              </a:rPr>
              <a:t> </a:t>
            </a:r>
            <a:r>
              <a:rPr sz="2000" spc="-10" dirty="0">
                <a:latin typeface="Aptos"/>
                <a:cs typeface="Aptos"/>
              </a:rPr>
              <a:t>highly</a:t>
            </a:r>
            <a:r>
              <a:rPr sz="2000" spc="-90" dirty="0">
                <a:latin typeface="Times New Roman"/>
                <a:cs typeface="Times New Roman"/>
              </a:rPr>
              <a:t> </a:t>
            </a:r>
            <a:r>
              <a:rPr sz="2000" spc="-10" dirty="0">
                <a:latin typeface="Aptos"/>
                <a:cs typeface="Aptos"/>
              </a:rPr>
              <a:t>secured</a:t>
            </a:r>
            <a:endParaRPr sz="2000">
              <a:latin typeface="Aptos"/>
              <a:cs typeface="Aptos"/>
            </a:endParaRPr>
          </a:p>
          <a:p>
            <a:pPr marL="12700">
              <a:lnSpc>
                <a:spcPts val="2280"/>
              </a:lnSpc>
            </a:pPr>
            <a:r>
              <a:rPr sz="2000" spc="-10" dirty="0">
                <a:latin typeface="Aptos"/>
                <a:cs typeface="Aptos"/>
              </a:rPr>
              <a:t>network</a:t>
            </a:r>
            <a:r>
              <a:rPr sz="2000" spc="-80" dirty="0">
                <a:latin typeface="Times New Roman"/>
                <a:cs typeface="Times New Roman"/>
              </a:rPr>
              <a:t> </a:t>
            </a:r>
            <a:r>
              <a:rPr sz="2000" spc="-50" dirty="0">
                <a:latin typeface="Aptos"/>
                <a:cs typeface="Aptos"/>
              </a:rPr>
              <a:t>.</a:t>
            </a:r>
            <a:endParaRPr sz="2000">
              <a:latin typeface="Aptos"/>
              <a:cs typeface="Aptos"/>
            </a:endParaRPr>
          </a:p>
        </p:txBody>
      </p:sp>
      <p:pic>
        <p:nvPicPr>
          <p:cNvPr id="3" name="object 3"/>
          <p:cNvPicPr/>
          <p:nvPr/>
        </p:nvPicPr>
        <p:blipFill>
          <a:blip r:embed="rId2" cstate="print"/>
          <a:stretch>
            <a:fillRect/>
          </a:stretch>
        </p:blipFill>
        <p:spPr>
          <a:xfrm>
            <a:off x="3099604" y="2918636"/>
            <a:ext cx="4742831" cy="287167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494361"/>
            <a:ext cx="9884410" cy="4626610"/>
          </a:xfrm>
          <a:prstGeom prst="rect">
            <a:avLst/>
          </a:prstGeom>
        </p:spPr>
        <p:txBody>
          <a:bodyPr vert="horz" wrap="square" lIns="0" tIns="97155" rIns="0" bIns="0" rtlCol="0">
            <a:spAutoFit/>
          </a:bodyPr>
          <a:lstStyle/>
          <a:p>
            <a:pPr marL="329565" indent="-317500">
              <a:lnSpc>
                <a:spcPct val="100000"/>
              </a:lnSpc>
              <a:spcBef>
                <a:spcPts val="765"/>
              </a:spcBef>
              <a:buSzPct val="96428"/>
              <a:buFont typeface="Wingdings"/>
              <a:buChar char=""/>
              <a:tabLst>
                <a:tab pos="330200" algn="l"/>
              </a:tabLst>
            </a:pPr>
            <a:r>
              <a:rPr sz="2800" b="1" spc="-20" dirty="0">
                <a:latin typeface="Aptos"/>
                <a:cs typeface="Aptos"/>
              </a:rPr>
              <a:t>Advantages</a:t>
            </a:r>
            <a:r>
              <a:rPr sz="2800" spc="-140" dirty="0">
                <a:latin typeface="Times New Roman"/>
                <a:cs typeface="Times New Roman"/>
              </a:rPr>
              <a:t> </a:t>
            </a:r>
            <a:r>
              <a:rPr sz="2800" b="1" dirty="0">
                <a:latin typeface="Aptos"/>
                <a:cs typeface="Aptos"/>
              </a:rPr>
              <a:t>of</a:t>
            </a:r>
            <a:r>
              <a:rPr sz="2800" spc="-114" dirty="0">
                <a:latin typeface="Times New Roman"/>
                <a:cs typeface="Times New Roman"/>
              </a:rPr>
              <a:t> </a:t>
            </a:r>
            <a:r>
              <a:rPr sz="2800" b="1" spc="-25" dirty="0">
                <a:latin typeface="Aptos"/>
                <a:cs typeface="Aptos"/>
              </a:rPr>
              <a:t>LAN</a:t>
            </a:r>
            <a:endParaRPr sz="2800">
              <a:latin typeface="Aptos"/>
              <a:cs typeface="Aptos"/>
            </a:endParaRPr>
          </a:p>
          <a:p>
            <a:pPr marL="527685" indent="-515620">
              <a:lnSpc>
                <a:spcPct val="100000"/>
              </a:lnSpc>
              <a:spcBef>
                <a:spcPts val="665"/>
              </a:spcBef>
              <a:buAutoNum type="arabicPeriod"/>
              <a:tabLst>
                <a:tab pos="527685" algn="l"/>
                <a:tab pos="528320" algn="l"/>
              </a:tabLst>
            </a:pPr>
            <a:r>
              <a:rPr sz="2800" dirty="0">
                <a:latin typeface="Aptos"/>
                <a:cs typeface="Aptos"/>
              </a:rPr>
              <a:t>It</a:t>
            </a:r>
            <a:r>
              <a:rPr sz="2800" spc="-165" dirty="0">
                <a:latin typeface="Times New Roman"/>
                <a:cs typeface="Times New Roman"/>
              </a:rPr>
              <a:t> </a:t>
            </a:r>
            <a:r>
              <a:rPr sz="2800" dirty="0">
                <a:latin typeface="Aptos"/>
                <a:cs typeface="Aptos"/>
              </a:rPr>
              <a:t>is</a:t>
            </a:r>
            <a:r>
              <a:rPr sz="2800" spc="-160" dirty="0">
                <a:latin typeface="Times New Roman"/>
                <a:cs typeface="Times New Roman"/>
              </a:rPr>
              <a:t> </a:t>
            </a:r>
            <a:r>
              <a:rPr sz="2800" spc="-10" dirty="0">
                <a:latin typeface="Aptos"/>
                <a:cs typeface="Aptos"/>
              </a:rPr>
              <a:t>cheaper</a:t>
            </a:r>
            <a:r>
              <a:rPr sz="2800" spc="-135" dirty="0">
                <a:latin typeface="Times New Roman"/>
                <a:cs typeface="Times New Roman"/>
              </a:rPr>
              <a:t> </a:t>
            </a:r>
            <a:r>
              <a:rPr sz="2800" dirty="0">
                <a:latin typeface="Aptos"/>
                <a:cs typeface="Aptos"/>
              </a:rPr>
              <a:t>to</a:t>
            </a:r>
            <a:r>
              <a:rPr sz="2800" spc="-150" dirty="0">
                <a:latin typeface="Times New Roman"/>
                <a:cs typeface="Times New Roman"/>
              </a:rPr>
              <a:t> </a:t>
            </a:r>
            <a:r>
              <a:rPr sz="2800" spc="-10" dirty="0">
                <a:latin typeface="Aptos"/>
                <a:cs typeface="Aptos"/>
              </a:rPr>
              <a:t>establish.</a:t>
            </a:r>
            <a:endParaRPr sz="2800">
              <a:latin typeface="Aptos"/>
              <a:cs typeface="Aptos"/>
            </a:endParaRPr>
          </a:p>
          <a:p>
            <a:pPr marL="527685" indent="-515620">
              <a:lnSpc>
                <a:spcPct val="100000"/>
              </a:lnSpc>
              <a:spcBef>
                <a:spcPts val="670"/>
              </a:spcBef>
              <a:buAutoNum type="arabicPeriod"/>
              <a:tabLst>
                <a:tab pos="527685" algn="l"/>
                <a:tab pos="528320" algn="l"/>
              </a:tabLst>
            </a:pPr>
            <a:r>
              <a:rPr sz="2800" spc="-20" dirty="0">
                <a:latin typeface="Aptos"/>
                <a:cs typeface="Aptos"/>
              </a:rPr>
              <a:t>Data</a:t>
            </a:r>
            <a:r>
              <a:rPr sz="2800" spc="-145" dirty="0">
                <a:latin typeface="Times New Roman"/>
                <a:cs typeface="Times New Roman"/>
              </a:rPr>
              <a:t> </a:t>
            </a:r>
            <a:r>
              <a:rPr sz="2800" spc="-25" dirty="0">
                <a:latin typeface="Aptos"/>
                <a:cs typeface="Aptos"/>
              </a:rPr>
              <a:t>transmission</a:t>
            </a:r>
            <a:r>
              <a:rPr sz="2800" spc="-130" dirty="0">
                <a:latin typeface="Times New Roman"/>
                <a:cs typeface="Times New Roman"/>
              </a:rPr>
              <a:t> </a:t>
            </a:r>
            <a:r>
              <a:rPr sz="2800" dirty="0">
                <a:latin typeface="Aptos"/>
                <a:cs typeface="Aptos"/>
              </a:rPr>
              <a:t>is</a:t>
            </a:r>
            <a:r>
              <a:rPr sz="2800" spc="-150" dirty="0">
                <a:latin typeface="Times New Roman"/>
                <a:cs typeface="Times New Roman"/>
              </a:rPr>
              <a:t> </a:t>
            </a:r>
            <a:r>
              <a:rPr sz="2800" spc="-25" dirty="0">
                <a:latin typeface="Aptos"/>
                <a:cs typeface="Aptos"/>
              </a:rPr>
              <a:t>faster</a:t>
            </a:r>
            <a:r>
              <a:rPr sz="2800" spc="-135" dirty="0">
                <a:latin typeface="Times New Roman"/>
                <a:cs typeface="Times New Roman"/>
              </a:rPr>
              <a:t> </a:t>
            </a:r>
            <a:r>
              <a:rPr sz="2800" spc="-20" dirty="0">
                <a:latin typeface="Aptos"/>
                <a:cs typeface="Aptos"/>
              </a:rPr>
              <a:t>than</a:t>
            </a:r>
            <a:r>
              <a:rPr sz="2800" spc="-155" dirty="0">
                <a:latin typeface="Times New Roman"/>
                <a:cs typeface="Times New Roman"/>
              </a:rPr>
              <a:t> </a:t>
            </a:r>
            <a:r>
              <a:rPr sz="2800" spc="-10" dirty="0">
                <a:latin typeface="Aptos"/>
                <a:cs typeface="Aptos"/>
              </a:rPr>
              <a:t>MAN</a:t>
            </a:r>
            <a:r>
              <a:rPr sz="2800" spc="-140" dirty="0">
                <a:latin typeface="Times New Roman"/>
                <a:cs typeface="Times New Roman"/>
              </a:rPr>
              <a:t> </a:t>
            </a:r>
            <a:r>
              <a:rPr sz="2800" spc="-10" dirty="0">
                <a:latin typeface="Aptos"/>
                <a:cs typeface="Aptos"/>
              </a:rPr>
              <a:t>and</a:t>
            </a:r>
            <a:r>
              <a:rPr sz="2800" spc="-145" dirty="0">
                <a:latin typeface="Times New Roman"/>
                <a:cs typeface="Times New Roman"/>
              </a:rPr>
              <a:t> </a:t>
            </a:r>
            <a:r>
              <a:rPr sz="2800" spc="-20" dirty="0">
                <a:latin typeface="Aptos"/>
                <a:cs typeface="Aptos"/>
              </a:rPr>
              <a:t>WAN.</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It</a:t>
            </a:r>
            <a:r>
              <a:rPr sz="2800" spc="-155" dirty="0">
                <a:latin typeface="Times New Roman"/>
                <a:cs typeface="Times New Roman"/>
              </a:rPr>
              <a:t> </a:t>
            </a:r>
            <a:r>
              <a:rPr sz="2800" spc="-10" dirty="0">
                <a:latin typeface="Aptos"/>
                <a:cs typeface="Aptos"/>
              </a:rPr>
              <a:t>has</a:t>
            </a:r>
            <a:r>
              <a:rPr sz="2800" spc="-140" dirty="0">
                <a:latin typeface="Times New Roman"/>
                <a:cs typeface="Times New Roman"/>
              </a:rPr>
              <a:t> </a:t>
            </a:r>
            <a:r>
              <a:rPr sz="2800" spc="-20" dirty="0">
                <a:latin typeface="Aptos"/>
                <a:cs typeface="Aptos"/>
              </a:rPr>
              <a:t>higher</a:t>
            </a:r>
            <a:r>
              <a:rPr sz="2800" spc="-150" dirty="0">
                <a:latin typeface="Times New Roman"/>
                <a:cs typeface="Times New Roman"/>
              </a:rPr>
              <a:t> </a:t>
            </a:r>
            <a:r>
              <a:rPr sz="2800" spc="-10" dirty="0">
                <a:latin typeface="Aptos"/>
                <a:cs typeface="Aptos"/>
              </a:rPr>
              <a:t>security</a:t>
            </a:r>
            <a:r>
              <a:rPr sz="2800" spc="-140" dirty="0">
                <a:latin typeface="Times New Roman"/>
                <a:cs typeface="Times New Roman"/>
              </a:rPr>
              <a:t> </a:t>
            </a:r>
            <a:r>
              <a:rPr sz="2800" dirty="0">
                <a:latin typeface="Aptos"/>
                <a:cs typeface="Aptos"/>
              </a:rPr>
              <a:t>to</a:t>
            </a:r>
            <a:r>
              <a:rPr sz="2800" spc="-135" dirty="0">
                <a:latin typeface="Times New Roman"/>
                <a:cs typeface="Times New Roman"/>
              </a:rPr>
              <a:t> </a:t>
            </a:r>
            <a:r>
              <a:rPr sz="2800" spc="-20" dirty="0">
                <a:latin typeface="Aptos"/>
                <a:cs typeface="Aptos"/>
              </a:rPr>
              <a:t>resources</a:t>
            </a:r>
            <a:r>
              <a:rPr sz="2800" spc="-130" dirty="0">
                <a:latin typeface="Times New Roman"/>
                <a:cs typeface="Times New Roman"/>
              </a:rPr>
              <a:t> </a:t>
            </a:r>
            <a:r>
              <a:rPr sz="2800" dirty="0">
                <a:latin typeface="Aptos"/>
                <a:cs typeface="Aptos"/>
              </a:rPr>
              <a:t>of</a:t>
            </a:r>
            <a:r>
              <a:rPr sz="2800" spc="-140" dirty="0">
                <a:latin typeface="Times New Roman"/>
                <a:cs typeface="Times New Roman"/>
              </a:rPr>
              <a:t> </a:t>
            </a:r>
            <a:r>
              <a:rPr sz="2800" spc="-10" dirty="0">
                <a:latin typeface="Aptos"/>
                <a:cs typeface="Aptos"/>
              </a:rPr>
              <a:t>the</a:t>
            </a:r>
            <a:r>
              <a:rPr sz="2800" spc="-155" dirty="0">
                <a:latin typeface="Times New Roman"/>
                <a:cs typeface="Times New Roman"/>
              </a:rPr>
              <a:t> </a:t>
            </a:r>
            <a:r>
              <a:rPr sz="2800" spc="-10" dirty="0">
                <a:latin typeface="Aptos"/>
                <a:cs typeface="Aptos"/>
              </a:rPr>
              <a:t>network</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It</a:t>
            </a:r>
            <a:r>
              <a:rPr sz="2800" spc="-150" dirty="0">
                <a:latin typeface="Times New Roman"/>
                <a:cs typeface="Times New Roman"/>
              </a:rPr>
              <a:t> </a:t>
            </a:r>
            <a:r>
              <a:rPr sz="2800" dirty="0">
                <a:latin typeface="Aptos"/>
                <a:cs typeface="Aptos"/>
              </a:rPr>
              <a:t>is</a:t>
            </a:r>
            <a:r>
              <a:rPr sz="2800" spc="-150" dirty="0">
                <a:latin typeface="Times New Roman"/>
                <a:cs typeface="Times New Roman"/>
              </a:rPr>
              <a:t> </a:t>
            </a:r>
            <a:r>
              <a:rPr sz="2800" spc="-10" dirty="0">
                <a:latin typeface="Aptos"/>
                <a:cs typeface="Aptos"/>
              </a:rPr>
              <a:t>easier</a:t>
            </a:r>
            <a:r>
              <a:rPr sz="2800" spc="-140" dirty="0">
                <a:latin typeface="Times New Roman"/>
                <a:cs typeface="Times New Roman"/>
              </a:rPr>
              <a:t> </a:t>
            </a:r>
            <a:r>
              <a:rPr sz="2800" dirty="0">
                <a:latin typeface="Aptos"/>
                <a:cs typeface="Aptos"/>
              </a:rPr>
              <a:t>to</a:t>
            </a:r>
            <a:r>
              <a:rPr sz="2800" spc="-135" dirty="0">
                <a:latin typeface="Times New Roman"/>
                <a:cs typeface="Times New Roman"/>
              </a:rPr>
              <a:t> </a:t>
            </a:r>
            <a:r>
              <a:rPr sz="2800" spc="-20" dirty="0">
                <a:latin typeface="Aptos"/>
                <a:cs typeface="Aptos"/>
              </a:rPr>
              <a:t>establish,</a:t>
            </a:r>
            <a:r>
              <a:rPr sz="2800" spc="-140" dirty="0">
                <a:latin typeface="Times New Roman"/>
                <a:cs typeface="Times New Roman"/>
              </a:rPr>
              <a:t> </a:t>
            </a:r>
            <a:r>
              <a:rPr sz="2800" spc="-20" dirty="0">
                <a:latin typeface="Aptos"/>
                <a:cs typeface="Aptos"/>
              </a:rPr>
              <a:t>managees</a:t>
            </a:r>
            <a:r>
              <a:rPr sz="2800" spc="-125" dirty="0">
                <a:latin typeface="Times New Roman"/>
                <a:cs typeface="Times New Roman"/>
              </a:rPr>
              <a:t> </a:t>
            </a:r>
            <a:r>
              <a:rPr sz="2800" dirty="0">
                <a:latin typeface="Aptos"/>
                <a:cs typeface="Aptos"/>
              </a:rPr>
              <a:t>of</a:t>
            </a:r>
            <a:r>
              <a:rPr sz="2800" spc="-135" dirty="0">
                <a:latin typeface="Times New Roman"/>
                <a:cs typeface="Times New Roman"/>
              </a:rPr>
              <a:t> </a:t>
            </a:r>
            <a:r>
              <a:rPr sz="2800" spc="-10" dirty="0">
                <a:latin typeface="Aptos"/>
                <a:cs typeface="Aptos"/>
              </a:rPr>
              <a:t>the</a:t>
            </a:r>
            <a:r>
              <a:rPr sz="2800" spc="-150" dirty="0">
                <a:latin typeface="Times New Roman"/>
                <a:cs typeface="Times New Roman"/>
              </a:rPr>
              <a:t> </a:t>
            </a:r>
            <a:r>
              <a:rPr sz="2800" spc="-20" dirty="0">
                <a:latin typeface="Aptos"/>
                <a:cs typeface="Aptos"/>
              </a:rPr>
              <a:t>network</a:t>
            </a:r>
            <a:r>
              <a:rPr sz="2800" spc="-145" dirty="0">
                <a:latin typeface="Times New Roman"/>
                <a:cs typeface="Times New Roman"/>
              </a:rPr>
              <a:t> </a:t>
            </a:r>
            <a:r>
              <a:rPr sz="2800" spc="-10" dirty="0">
                <a:latin typeface="Aptos"/>
                <a:cs typeface="Aptos"/>
              </a:rPr>
              <a:t>and</a:t>
            </a:r>
            <a:r>
              <a:rPr sz="2800" spc="-145" dirty="0">
                <a:latin typeface="Times New Roman"/>
                <a:cs typeface="Times New Roman"/>
              </a:rPr>
              <a:t> </a:t>
            </a:r>
            <a:r>
              <a:rPr sz="2800" spc="-10" dirty="0">
                <a:latin typeface="Aptos"/>
                <a:cs typeface="Aptos"/>
              </a:rPr>
              <a:t>operate</a:t>
            </a:r>
            <a:endParaRPr sz="2800">
              <a:latin typeface="Aptos"/>
              <a:cs typeface="Aptos"/>
            </a:endParaRPr>
          </a:p>
          <a:p>
            <a:pPr marL="329565" indent="-317500">
              <a:lnSpc>
                <a:spcPct val="100000"/>
              </a:lnSpc>
              <a:spcBef>
                <a:spcPts val="675"/>
              </a:spcBef>
              <a:buSzPct val="96428"/>
              <a:buFont typeface="Wingdings"/>
              <a:buChar char=""/>
              <a:tabLst>
                <a:tab pos="330200" algn="l"/>
              </a:tabLst>
            </a:pPr>
            <a:r>
              <a:rPr sz="2800" b="1" spc="-20" dirty="0">
                <a:latin typeface="Aptos"/>
                <a:cs typeface="Aptos"/>
              </a:rPr>
              <a:t>Disadvantages</a:t>
            </a:r>
            <a:r>
              <a:rPr sz="2800" spc="-140" dirty="0">
                <a:latin typeface="Times New Roman"/>
                <a:cs typeface="Times New Roman"/>
              </a:rPr>
              <a:t> </a:t>
            </a:r>
            <a:r>
              <a:rPr sz="2800" b="1" dirty="0">
                <a:latin typeface="Aptos"/>
                <a:cs typeface="Aptos"/>
              </a:rPr>
              <a:t>of</a:t>
            </a:r>
            <a:r>
              <a:rPr sz="2800" spc="-80" dirty="0">
                <a:latin typeface="Times New Roman"/>
                <a:cs typeface="Times New Roman"/>
              </a:rPr>
              <a:t> </a:t>
            </a:r>
            <a:r>
              <a:rPr sz="2800" b="1" spc="-25" dirty="0">
                <a:latin typeface="Aptos"/>
                <a:cs typeface="Aptos"/>
              </a:rPr>
              <a:t>LAN</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It</a:t>
            </a:r>
            <a:r>
              <a:rPr sz="2800" spc="-155" dirty="0">
                <a:latin typeface="Times New Roman"/>
                <a:cs typeface="Times New Roman"/>
              </a:rPr>
              <a:t> </a:t>
            </a:r>
            <a:r>
              <a:rPr sz="2800" dirty="0">
                <a:latin typeface="Aptos"/>
                <a:cs typeface="Aptos"/>
              </a:rPr>
              <a:t>is</a:t>
            </a:r>
            <a:r>
              <a:rPr sz="2800" spc="-155" dirty="0">
                <a:latin typeface="Times New Roman"/>
                <a:cs typeface="Times New Roman"/>
              </a:rPr>
              <a:t> </a:t>
            </a:r>
            <a:r>
              <a:rPr sz="2800" spc="-10" dirty="0">
                <a:latin typeface="Aptos"/>
                <a:cs typeface="Aptos"/>
              </a:rPr>
              <a:t>limited</a:t>
            </a:r>
            <a:r>
              <a:rPr sz="2800" spc="-160" dirty="0">
                <a:latin typeface="Times New Roman"/>
                <a:cs typeface="Times New Roman"/>
              </a:rPr>
              <a:t> </a:t>
            </a:r>
            <a:r>
              <a:rPr sz="2800" spc="-10" dirty="0">
                <a:latin typeface="Aptos"/>
                <a:cs typeface="Aptos"/>
              </a:rPr>
              <a:t>only</a:t>
            </a:r>
            <a:r>
              <a:rPr sz="2800" spc="-150" dirty="0">
                <a:latin typeface="Times New Roman"/>
                <a:cs typeface="Times New Roman"/>
              </a:rPr>
              <a:t> </a:t>
            </a:r>
            <a:r>
              <a:rPr sz="2800" dirty="0">
                <a:latin typeface="Aptos"/>
                <a:cs typeface="Aptos"/>
              </a:rPr>
              <a:t>to</a:t>
            </a:r>
            <a:r>
              <a:rPr sz="2800" spc="-140" dirty="0">
                <a:latin typeface="Times New Roman"/>
                <a:cs typeface="Times New Roman"/>
              </a:rPr>
              <a:t> </a:t>
            </a:r>
            <a:r>
              <a:rPr sz="2800" dirty="0">
                <a:latin typeface="Aptos"/>
                <a:cs typeface="Aptos"/>
              </a:rPr>
              <a:t>a</a:t>
            </a:r>
            <a:r>
              <a:rPr sz="2800" spc="-155" dirty="0">
                <a:latin typeface="Times New Roman"/>
                <a:cs typeface="Times New Roman"/>
              </a:rPr>
              <a:t> </a:t>
            </a:r>
            <a:r>
              <a:rPr sz="2800" spc="-10" dirty="0">
                <a:latin typeface="Aptos"/>
                <a:cs typeface="Aptos"/>
              </a:rPr>
              <a:t>small</a:t>
            </a:r>
            <a:r>
              <a:rPr sz="2800" spc="-140" dirty="0">
                <a:latin typeface="Times New Roman"/>
                <a:cs typeface="Times New Roman"/>
              </a:rPr>
              <a:t> </a:t>
            </a:r>
            <a:r>
              <a:rPr sz="2800" spc="-10" dirty="0">
                <a:latin typeface="Aptos"/>
                <a:cs typeface="Aptos"/>
              </a:rPr>
              <a:t>area.</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It</a:t>
            </a:r>
            <a:r>
              <a:rPr sz="2800" spc="-155" dirty="0">
                <a:latin typeface="Times New Roman"/>
                <a:cs typeface="Times New Roman"/>
              </a:rPr>
              <a:t> </a:t>
            </a:r>
            <a:r>
              <a:rPr sz="2800" spc="-10" dirty="0">
                <a:latin typeface="Aptos"/>
                <a:cs typeface="Aptos"/>
              </a:rPr>
              <a:t>can</a:t>
            </a:r>
            <a:r>
              <a:rPr sz="2800" spc="-140" dirty="0">
                <a:latin typeface="Times New Roman"/>
                <a:cs typeface="Times New Roman"/>
              </a:rPr>
              <a:t> </a:t>
            </a:r>
            <a:r>
              <a:rPr sz="2800" spc="-10" dirty="0">
                <a:latin typeface="Aptos"/>
                <a:cs typeface="Aptos"/>
              </a:rPr>
              <a:t>connect</a:t>
            </a:r>
            <a:r>
              <a:rPr sz="2800" spc="-130" dirty="0">
                <a:latin typeface="Times New Roman"/>
                <a:cs typeface="Times New Roman"/>
              </a:rPr>
              <a:t> </a:t>
            </a:r>
            <a:r>
              <a:rPr sz="2800" spc="-10" dirty="0">
                <a:latin typeface="Aptos"/>
                <a:cs typeface="Aptos"/>
              </a:rPr>
              <a:t>less</a:t>
            </a:r>
            <a:r>
              <a:rPr sz="2800" spc="-150" dirty="0">
                <a:latin typeface="Times New Roman"/>
                <a:cs typeface="Times New Roman"/>
              </a:rPr>
              <a:t> </a:t>
            </a:r>
            <a:r>
              <a:rPr sz="2800" spc="-20" dirty="0">
                <a:latin typeface="Aptos"/>
                <a:cs typeface="Aptos"/>
              </a:rPr>
              <a:t>number</a:t>
            </a:r>
            <a:r>
              <a:rPr sz="2800" spc="-135" dirty="0">
                <a:latin typeface="Times New Roman"/>
                <a:cs typeface="Times New Roman"/>
              </a:rPr>
              <a:t> </a:t>
            </a:r>
            <a:r>
              <a:rPr sz="2800" dirty="0">
                <a:latin typeface="Aptos"/>
                <a:cs typeface="Aptos"/>
              </a:rPr>
              <a:t>of</a:t>
            </a:r>
            <a:r>
              <a:rPr sz="2800" spc="-145" dirty="0">
                <a:latin typeface="Times New Roman"/>
                <a:cs typeface="Times New Roman"/>
              </a:rPr>
              <a:t> </a:t>
            </a:r>
            <a:r>
              <a:rPr sz="2800" spc="-20" dirty="0">
                <a:latin typeface="Aptos"/>
                <a:cs typeface="Aptos"/>
              </a:rPr>
              <a:t>computers</a:t>
            </a:r>
            <a:r>
              <a:rPr sz="2800" spc="-140" dirty="0">
                <a:latin typeface="Times New Roman"/>
                <a:cs typeface="Times New Roman"/>
              </a:rPr>
              <a:t> </a:t>
            </a:r>
            <a:r>
              <a:rPr sz="2800" spc="-10" dirty="0">
                <a:latin typeface="Aptos"/>
                <a:cs typeface="Aptos"/>
              </a:rPr>
              <a:t>comparatively.</a:t>
            </a:r>
            <a:endParaRPr sz="2800">
              <a:latin typeface="Aptos"/>
              <a:cs typeface="Aptos"/>
            </a:endParaRPr>
          </a:p>
          <a:p>
            <a:pPr marL="527685" indent="-515620">
              <a:lnSpc>
                <a:spcPct val="100000"/>
              </a:lnSpc>
              <a:spcBef>
                <a:spcPts val="675"/>
              </a:spcBef>
              <a:buAutoNum type="arabicPeriod"/>
              <a:tabLst>
                <a:tab pos="527685" algn="l"/>
                <a:tab pos="528320" algn="l"/>
              </a:tabLst>
            </a:pPr>
            <a:r>
              <a:rPr sz="2800" spc="-20" dirty="0">
                <a:latin typeface="Aptos"/>
                <a:cs typeface="Aptos"/>
              </a:rPr>
              <a:t>Cannot</a:t>
            </a:r>
            <a:r>
              <a:rPr sz="2800" spc="-130" dirty="0">
                <a:latin typeface="Times New Roman"/>
                <a:cs typeface="Times New Roman"/>
              </a:rPr>
              <a:t> </a:t>
            </a:r>
            <a:r>
              <a:rPr sz="2800" dirty="0">
                <a:latin typeface="Aptos"/>
                <a:cs typeface="Aptos"/>
              </a:rPr>
              <a:t>be</a:t>
            </a:r>
            <a:r>
              <a:rPr sz="2800" spc="-140" dirty="0">
                <a:latin typeface="Times New Roman"/>
                <a:cs typeface="Times New Roman"/>
              </a:rPr>
              <a:t> </a:t>
            </a:r>
            <a:r>
              <a:rPr sz="2800" spc="-10" dirty="0">
                <a:latin typeface="Aptos"/>
                <a:cs typeface="Aptos"/>
              </a:rPr>
              <a:t>used</a:t>
            </a:r>
            <a:r>
              <a:rPr sz="2800" spc="-130" dirty="0">
                <a:latin typeface="Times New Roman"/>
                <a:cs typeface="Times New Roman"/>
              </a:rPr>
              <a:t> </a:t>
            </a:r>
            <a:r>
              <a:rPr sz="2800" dirty="0">
                <a:latin typeface="Aptos"/>
                <a:cs typeface="Aptos"/>
              </a:rPr>
              <a:t>as</a:t>
            </a:r>
            <a:r>
              <a:rPr sz="2800" spc="-150" dirty="0">
                <a:latin typeface="Times New Roman"/>
                <a:cs typeface="Times New Roman"/>
              </a:rPr>
              <a:t> </a:t>
            </a:r>
            <a:r>
              <a:rPr sz="2800" spc="-20" dirty="0">
                <a:latin typeface="Aptos"/>
                <a:cs typeface="Aptos"/>
              </a:rPr>
              <a:t>distributed</a:t>
            </a:r>
            <a:r>
              <a:rPr sz="2800" spc="-150" dirty="0">
                <a:latin typeface="Times New Roman"/>
                <a:cs typeface="Times New Roman"/>
              </a:rPr>
              <a:t> </a:t>
            </a:r>
            <a:r>
              <a:rPr sz="2800" spc="-10" dirty="0">
                <a:latin typeface="Aptos"/>
                <a:cs typeface="Aptos"/>
              </a:rPr>
              <a:t>network.</a:t>
            </a:r>
            <a:endParaRPr sz="2800">
              <a:latin typeface="Aptos"/>
              <a:cs typeface="Apto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494361"/>
            <a:ext cx="10358755" cy="3864610"/>
          </a:xfrm>
          <a:prstGeom prst="rect">
            <a:avLst/>
          </a:prstGeom>
        </p:spPr>
        <p:txBody>
          <a:bodyPr vert="horz" wrap="square" lIns="0" tIns="97155" rIns="0" bIns="0" rtlCol="0">
            <a:spAutoFit/>
          </a:bodyPr>
          <a:lstStyle/>
          <a:p>
            <a:pPr marL="12700" algn="just">
              <a:lnSpc>
                <a:spcPct val="100000"/>
              </a:lnSpc>
              <a:spcBef>
                <a:spcPts val="765"/>
              </a:spcBef>
            </a:pPr>
            <a:r>
              <a:rPr sz="2800" b="1" dirty="0">
                <a:latin typeface="Aptos"/>
                <a:cs typeface="Aptos"/>
              </a:rPr>
              <a:t>b</a:t>
            </a:r>
            <a:r>
              <a:rPr sz="2800" spc="-105" dirty="0">
                <a:latin typeface="Times New Roman"/>
                <a:cs typeface="Times New Roman"/>
              </a:rPr>
              <a:t> </a:t>
            </a:r>
            <a:r>
              <a:rPr sz="2800" b="1" dirty="0">
                <a:latin typeface="Aptos"/>
                <a:cs typeface="Aptos"/>
              </a:rPr>
              <a:t>)</a:t>
            </a:r>
            <a:r>
              <a:rPr sz="2800" spc="-105" dirty="0">
                <a:latin typeface="Times New Roman"/>
                <a:cs typeface="Times New Roman"/>
              </a:rPr>
              <a:t> </a:t>
            </a:r>
            <a:r>
              <a:rPr sz="2800" b="1" spc="-20" dirty="0">
                <a:latin typeface="Aptos"/>
                <a:cs typeface="Aptos"/>
              </a:rPr>
              <a:t>Metropolitan</a:t>
            </a:r>
            <a:r>
              <a:rPr sz="2800" spc="-110" dirty="0">
                <a:latin typeface="Times New Roman"/>
                <a:cs typeface="Times New Roman"/>
              </a:rPr>
              <a:t> </a:t>
            </a:r>
            <a:r>
              <a:rPr sz="2800" b="1" spc="-20" dirty="0">
                <a:latin typeface="Aptos"/>
                <a:cs typeface="Aptos"/>
              </a:rPr>
              <a:t>Area</a:t>
            </a:r>
            <a:r>
              <a:rPr sz="2800" spc="-140" dirty="0">
                <a:latin typeface="Times New Roman"/>
                <a:cs typeface="Times New Roman"/>
              </a:rPr>
              <a:t> </a:t>
            </a:r>
            <a:r>
              <a:rPr sz="2800" b="1" spc="-20" dirty="0">
                <a:latin typeface="Aptos"/>
                <a:cs typeface="Aptos"/>
              </a:rPr>
              <a:t>Network</a:t>
            </a:r>
            <a:r>
              <a:rPr sz="2800" spc="-150" dirty="0">
                <a:latin typeface="Times New Roman"/>
                <a:cs typeface="Times New Roman"/>
              </a:rPr>
              <a:t> </a:t>
            </a:r>
            <a:r>
              <a:rPr sz="2800" b="1" spc="-10" dirty="0">
                <a:latin typeface="Aptos"/>
                <a:cs typeface="Aptos"/>
              </a:rPr>
              <a:t>(MAN)</a:t>
            </a:r>
            <a:endParaRPr sz="2800">
              <a:latin typeface="Aptos"/>
              <a:cs typeface="Aptos"/>
            </a:endParaRPr>
          </a:p>
          <a:p>
            <a:pPr marL="12700" marR="5080" algn="just">
              <a:lnSpc>
                <a:spcPct val="90000"/>
              </a:lnSpc>
              <a:spcBef>
                <a:spcPts val="1000"/>
              </a:spcBef>
            </a:pPr>
            <a:r>
              <a:rPr sz="2800" dirty="0">
                <a:latin typeface="Aptos"/>
                <a:cs typeface="Aptos"/>
              </a:rPr>
              <a:t>A</a:t>
            </a:r>
            <a:r>
              <a:rPr sz="2800" spc="484" dirty="0">
                <a:latin typeface="Times New Roman"/>
                <a:cs typeface="Times New Roman"/>
              </a:rPr>
              <a:t> </a:t>
            </a:r>
            <a:r>
              <a:rPr sz="2800" dirty="0">
                <a:latin typeface="Aptos"/>
                <a:cs typeface="Aptos"/>
              </a:rPr>
              <a:t>metropolitan</a:t>
            </a:r>
            <a:r>
              <a:rPr sz="2800" spc="484" dirty="0">
                <a:latin typeface="Times New Roman"/>
                <a:cs typeface="Times New Roman"/>
              </a:rPr>
              <a:t> </a:t>
            </a:r>
            <a:r>
              <a:rPr sz="2800" dirty="0">
                <a:latin typeface="Aptos"/>
                <a:cs typeface="Aptos"/>
              </a:rPr>
              <a:t>area</a:t>
            </a:r>
            <a:r>
              <a:rPr sz="2800" spc="490" dirty="0">
                <a:latin typeface="Times New Roman"/>
                <a:cs typeface="Times New Roman"/>
              </a:rPr>
              <a:t> </a:t>
            </a:r>
            <a:r>
              <a:rPr sz="2800" dirty="0">
                <a:latin typeface="Aptos"/>
                <a:cs typeface="Aptos"/>
              </a:rPr>
              <a:t>network</a:t>
            </a:r>
            <a:r>
              <a:rPr sz="2800" spc="484" dirty="0">
                <a:latin typeface="Times New Roman"/>
                <a:cs typeface="Times New Roman"/>
              </a:rPr>
              <a:t> </a:t>
            </a:r>
            <a:r>
              <a:rPr sz="2800" dirty="0">
                <a:latin typeface="Aptos"/>
                <a:cs typeface="Aptos"/>
              </a:rPr>
              <a:t>(MAN)</a:t>
            </a:r>
            <a:r>
              <a:rPr sz="2800" spc="490" dirty="0">
                <a:latin typeface="Times New Roman"/>
                <a:cs typeface="Times New Roman"/>
              </a:rPr>
              <a:t> </a:t>
            </a:r>
            <a:r>
              <a:rPr sz="2800" dirty="0">
                <a:latin typeface="Aptos"/>
                <a:cs typeface="Aptos"/>
              </a:rPr>
              <a:t>is</a:t>
            </a:r>
            <a:r>
              <a:rPr sz="2800" spc="490" dirty="0">
                <a:latin typeface="Times New Roman"/>
                <a:cs typeface="Times New Roman"/>
              </a:rPr>
              <a:t> </a:t>
            </a:r>
            <a:r>
              <a:rPr sz="2800" dirty="0">
                <a:latin typeface="Aptos"/>
                <a:cs typeface="Aptos"/>
              </a:rPr>
              <a:t>a</a:t>
            </a:r>
            <a:r>
              <a:rPr sz="2800" spc="500" dirty="0">
                <a:latin typeface="Times New Roman"/>
                <a:cs typeface="Times New Roman"/>
              </a:rPr>
              <a:t> </a:t>
            </a:r>
            <a:r>
              <a:rPr sz="2800" dirty="0">
                <a:latin typeface="Aptos"/>
                <a:cs typeface="Aptos"/>
              </a:rPr>
              <a:t>computer</a:t>
            </a:r>
            <a:r>
              <a:rPr sz="2800" spc="500" dirty="0">
                <a:latin typeface="Times New Roman"/>
                <a:cs typeface="Times New Roman"/>
              </a:rPr>
              <a:t> </a:t>
            </a:r>
            <a:r>
              <a:rPr sz="2800" dirty="0">
                <a:latin typeface="Aptos"/>
                <a:cs typeface="Aptos"/>
              </a:rPr>
              <a:t>network</a:t>
            </a:r>
            <a:r>
              <a:rPr sz="2800" spc="480" dirty="0">
                <a:latin typeface="Times New Roman"/>
                <a:cs typeface="Times New Roman"/>
              </a:rPr>
              <a:t> </a:t>
            </a:r>
            <a:r>
              <a:rPr sz="2800" spc="-20" dirty="0">
                <a:latin typeface="Aptos"/>
                <a:cs typeface="Aptos"/>
              </a:rPr>
              <a:t>that</a:t>
            </a:r>
            <a:r>
              <a:rPr sz="2800" spc="-20" dirty="0">
                <a:latin typeface="Times New Roman"/>
                <a:cs typeface="Times New Roman"/>
              </a:rPr>
              <a:t> </a:t>
            </a:r>
            <a:r>
              <a:rPr sz="2800" dirty="0">
                <a:latin typeface="Aptos"/>
                <a:cs typeface="Aptos"/>
              </a:rPr>
              <a:t>connects</a:t>
            </a:r>
            <a:r>
              <a:rPr sz="2800" spc="50" dirty="0">
                <a:latin typeface="Times New Roman"/>
                <a:cs typeface="Times New Roman"/>
              </a:rPr>
              <a:t> </a:t>
            </a:r>
            <a:r>
              <a:rPr sz="2800" dirty="0">
                <a:latin typeface="Aptos"/>
                <a:cs typeface="Aptos"/>
              </a:rPr>
              <a:t>computers</a:t>
            </a:r>
            <a:r>
              <a:rPr sz="2800" spc="35" dirty="0">
                <a:latin typeface="Times New Roman"/>
                <a:cs typeface="Times New Roman"/>
              </a:rPr>
              <a:t> </a:t>
            </a:r>
            <a:r>
              <a:rPr sz="2800" dirty="0">
                <a:latin typeface="Aptos"/>
                <a:cs typeface="Aptos"/>
              </a:rPr>
              <a:t>within</a:t>
            </a:r>
            <a:r>
              <a:rPr sz="2800" spc="45" dirty="0">
                <a:latin typeface="Times New Roman"/>
                <a:cs typeface="Times New Roman"/>
              </a:rPr>
              <a:t> </a:t>
            </a:r>
            <a:r>
              <a:rPr sz="2800" dirty="0">
                <a:latin typeface="Aptos"/>
                <a:cs typeface="Aptos"/>
              </a:rPr>
              <a:t>a</a:t>
            </a:r>
            <a:r>
              <a:rPr sz="2800" spc="45" dirty="0">
                <a:latin typeface="Times New Roman"/>
                <a:cs typeface="Times New Roman"/>
              </a:rPr>
              <a:t> </a:t>
            </a:r>
            <a:r>
              <a:rPr sz="2800" dirty="0">
                <a:latin typeface="Aptos"/>
                <a:cs typeface="Aptos"/>
              </a:rPr>
              <a:t>metropolitan</a:t>
            </a:r>
            <a:r>
              <a:rPr sz="2800" spc="50" dirty="0">
                <a:latin typeface="Times New Roman"/>
                <a:cs typeface="Times New Roman"/>
              </a:rPr>
              <a:t> </a:t>
            </a:r>
            <a:r>
              <a:rPr sz="2800" dirty="0">
                <a:latin typeface="Aptos"/>
                <a:cs typeface="Aptos"/>
              </a:rPr>
              <a:t>area,</a:t>
            </a:r>
            <a:r>
              <a:rPr sz="2800" spc="40" dirty="0">
                <a:latin typeface="Times New Roman"/>
                <a:cs typeface="Times New Roman"/>
              </a:rPr>
              <a:t> </a:t>
            </a:r>
            <a:r>
              <a:rPr sz="2800" dirty="0">
                <a:latin typeface="Aptos"/>
                <a:cs typeface="Aptos"/>
              </a:rPr>
              <a:t>which</a:t>
            </a:r>
            <a:r>
              <a:rPr sz="2800" spc="55" dirty="0">
                <a:latin typeface="Times New Roman"/>
                <a:cs typeface="Times New Roman"/>
              </a:rPr>
              <a:t> </a:t>
            </a:r>
            <a:r>
              <a:rPr sz="2800" dirty="0">
                <a:latin typeface="Aptos"/>
                <a:cs typeface="Aptos"/>
              </a:rPr>
              <a:t>could</a:t>
            </a:r>
            <a:r>
              <a:rPr sz="2800" spc="35" dirty="0">
                <a:latin typeface="Times New Roman"/>
                <a:cs typeface="Times New Roman"/>
              </a:rPr>
              <a:t> </a:t>
            </a:r>
            <a:r>
              <a:rPr sz="2800" dirty="0">
                <a:latin typeface="Aptos"/>
                <a:cs typeface="Aptos"/>
              </a:rPr>
              <a:t>be</a:t>
            </a:r>
            <a:r>
              <a:rPr sz="2800" spc="60" dirty="0">
                <a:latin typeface="Times New Roman"/>
                <a:cs typeface="Times New Roman"/>
              </a:rPr>
              <a:t> </a:t>
            </a:r>
            <a:r>
              <a:rPr sz="2800" spc="-50" dirty="0">
                <a:latin typeface="Aptos"/>
                <a:cs typeface="Aptos"/>
              </a:rPr>
              <a:t>a</a:t>
            </a:r>
            <a:r>
              <a:rPr sz="2800" spc="-50" dirty="0">
                <a:latin typeface="Times New Roman"/>
                <a:cs typeface="Times New Roman"/>
              </a:rPr>
              <a:t> </a:t>
            </a:r>
            <a:r>
              <a:rPr sz="2800" dirty="0">
                <a:latin typeface="Aptos"/>
                <a:cs typeface="Aptos"/>
              </a:rPr>
              <a:t>single</a:t>
            </a:r>
            <a:r>
              <a:rPr sz="2800" spc="80" dirty="0">
                <a:latin typeface="Times New Roman"/>
                <a:cs typeface="Times New Roman"/>
              </a:rPr>
              <a:t> </a:t>
            </a:r>
            <a:r>
              <a:rPr sz="2800" dirty="0">
                <a:latin typeface="Aptos"/>
                <a:cs typeface="Aptos"/>
              </a:rPr>
              <a:t>large</a:t>
            </a:r>
            <a:r>
              <a:rPr sz="2800" spc="95" dirty="0">
                <a:latin typeface="Times New Roman"/>
                <a:cs typeface="Times New Roman"/>
              </a:rPr>
              <a:t> </a:t>
            </a:r>
            <a:r>
              <a:rPr sz="2800" dirty="0">
                <a:latin typeface="Aptos"/>
                <a:cs typeface="Aptos"/>
              </a:rPr>
              <a:t>city,</a:t>
            </a:r>
            <a:r>
              <a:rPr sz="2800" spc="80" dirty="0">
                <a:latin typeface="Times New Roman"/>
                <a:cs typeface="Times New Roman"/>
              </a:rPr>
              <a:t> </a:t>
            </a:r>
            <a:r>
              <a:rPr sz="2800" dirty="0">
                <a:latin typeface="Aptos"/>
                <a:cs typeface="Aptos"/>
              </a:rPr>
              <a:t>multiple</a:t>
            </a:r>
            <a:r>
              <a:rPr sz="2800" spc="75" dirty="0">
                <a:latin typeface="Times New Roman"/>
                <a:cs typeface="Times New Roman"/>
              </a:rPr>
              <a:t> </a:t>
            </a:r>
            <a:r>
              <a:rPr sz="2800" dirty="0">
                <a:latin typeface="Aptos"/>
                <a:cs typeface="Aptos"/>
              </a:rPr>
              <a:t>cities</a:t>
            </a:r>
            <a:r>
              <a:rPr sz="2800" spc="75" dirty="0">
                <a:latin typeface="Times New Roman"/>
                <a:cs typeface="Times New Roman"/>
              </a:rPr>
              <a:t> </a:t>
            </a:r>
            <a:r>
              <a:rPr sz="2800" dirty="0">
                <a:latin typeface="Aptos"/>
                <a:cs typeface="Aptos"/>
              </a:rPr>
              <a:t>and</a:t>
            </a:r>
            <a:r>
              <a:rPr sz="2800" spc="90" dirty="0">
                <a:latin typeface="Times New Roman"/>
                <a:cs typeface="Times New Roman"/>
              </a:rPr>
              <a:t> </a:t>
            </a:r>
            <a:r>
              <a:rPr sz="2800" dirty="0">
                <a:latin typeface="Aptos"/>
                <a:cs typeface="Aptos"/>
              </a:rPr>
              <a:t>towns,</a:t>
            </a:r>
            <a:r>
              <a:rPr sz="2800" spc="75" dirty="0">
                <a:latin typeface="Times New Roman"/>
                <a:cs typeface="Times New Roman"/>
              </a:rPr>
              <a:t> </a:t>
            </a:r>
            <a:r>
              <a:rPr sz="2800" dirty="0">
                <a:latin typeface="Aptos"/>
                <a:cs typeface="Aptos"/>
              </a:rPr>
              <a:t>or</a:t>
            </a:r>
            <a:r>
              <a:rPr sz="2800" spc="90" dirty="0">
                <a:latin typeface="Times New Roman"/>
                <a:cs typeface="Times New Roman"/>
              </a:rPr>
              <a:t> </a:t>
            </a:r>
            <a:r>
              <a:rPr sz="2800" dirty="0">
                <a:latin typeface="Aptos"/>
                <a:cs typeface="Aptos"/>
              </a:rPr>
              <a:t>any</a:t>
            </a:r>
            <a:r>
              <a:rPr sz="2800" spc="90" dirty="0">
                <a:latin typeface="Times New Roman"/>
                <a:cs typeface="Times New Roman"/>
              </a:rPr>
              <a:t> </a:t>
            </a:r>
            <a:r>
              <a:rPr sz="2800" dirty="0">
                <a:latin typeface="Aptos"/>
                <a:cs typeface="Aptos"/>
              </a:rPr>
              <a:t>given</a:t>
            </a:r>
            <a:r>
              <a:rPr sz="2800" spc="75" dirty="0">
                <a:latin typeface="Times New Roman"/>
                <a:cs typeface="Times New Roman"/>
              </a:rPr>
              <a:t> </a:t>
            </a:r>
            <a:r>
              <a:rPr sz="2800" dirty="0">
                <a:latin typeface="Aptos"/>
                <a:cs typeface="Aptos"/>
              </a:rPr>
              <a:t>large</a:t>
            </a:r>
            <a:r>
              <a:rPr sz="2800" spc="90" dirty="0">
                <a:latin typeface="Times New Roman"/>
                <a:cs typeface="Times New Roman"/>
              </a:rPr>
              <a:t> </a:t>
            </a:r>
            <a:r>
              <a:rPr sz="2800" spc="-20" dirty="0">
                <a:latin typeface="Aptos"/>
                <a:cs typeface="Aptos"/>
              </a:rPr>
              <a:t>area</a:t>
            </a:r>
            <a:r>
              <a:rPr sz="2800" spc="-20" dirty="0">
                <a:latin typeface="Times New Roman"/>
                <a:cs typeface="Times New Roman"/>
              </a:rPr>
              <a:t> </a:t>
            </a:r>
            <a:r>
              <a:rPr sz="2800" dirty="0">
                <a:latin typeface="Aptos"/>
                <a:cs typeface="Aptos"/>
              </a:rPr>
              <a:t>with</a:t>
            </a:r>
            <a:r>
              <a:rPr sz="2800" spc="114" dirty="0">
                <a:latin typeface="Times New Roman"/>
                <a:cs typeface="Times New Roman"/>
              </a:rPr>
              <a:t> </a:t>
            </a:r>
            <a:r>
              <a:rPr sz="2800" dirty="0">
                <a:latin typeface="Aptos"/>
                <a:cs typeface="Aptos"/>
              </a:rPr>
              <a:t>multiple</a:t>
            </a:r>
            <a:r>
              <a:rPr sz="2800" spc="125" dirty="0">
                <a:latin typeface="Times New Roman"/>
                <a:cs typeface="Times New Roman"/>
              </a:rPr>
              <a:t> </a:t>
            </a:r>
            <a:r>
              <a:rPr sz="2800" dirty="0">
                <a:latin typeface="Aptos"/>
                <a:cs typeface="Aptos"/>
              </a:rPr>
              <a:t>buildings.</a:t>
            </a:r>
            <a:r>
              <a:rPr sz="2800" spc="140" dirty="0">
                <a:latin typeface="Times New Roman"/>
                <a:cs typeface="Times New Roman"/>
              </a:rPr>
              <a:t> </a:t>
            </a:r>
            <a:r>
              <a:rPr sz="2800" dirty="0">
                <a:latin typeface="Aptos"/>
                <a:cs typeface="Aptos"/>
              </a:rPr>
              <a:t>A</a:t>
            </a:r>
            <a:r>
              <a:rPr sz="2800" spc="140" dirty="0">
                <a:latin typeface="Times New Roman"/>
                <a:cs typeface="Times New Roman"/>
              </a:rPr>
              <a:t> </a:t>
            </a:r>
            <a:r>
              <a:rPr sz="2800" dirty="0">
                <a:latin typeface="Aptos"/>
                <a:cs typeface="Aptos"/>
              </a:rPr>
              <a:t>MAN</a:t>
            </a:r>
            <a:r>
              <a:rPr sz="2800" spc="125" dirty="0">
                <a:latin typeface="Times New Roman"/>
                <a:cs typeface="Times New Roman"/>
              </a:rPr>
              <a:t> </a:t>
            </a:r>
            <a:r>
              <a:rPr sz="2800" dirty="0">
                <a:latin typeface="Aptos"/>
                <a:cs typeface="Aptos"/>
              </a:rPr>
              <a:t>is</a:t>
            </a:r>
            <a:r>
              <a:rPr sz="2800" spc="130" dirty="0">
                <a:latin typeface="Times New Roman"/>
                <a:cs typeface="Times New Roman"/>
              </a:rPr>
              <a:t> </a:t>
            </a:r>
            <a:r>
              <a:rPr sz="2800" dirty="0">
                <a:latin typeface="Aptos"/>
                <a:cs typeface="Aptos"/>
              </a:rPr>
              <a:t>larger</a:t>
            </a:r>
            <a:r>
              <a:rPr sz="2800" spc="125" dirty="0">
                <a:latin typeface="Times New Roman"/>
                <a:cs typeface="Times New Roman"/>
              </a:rPr>
              <a:t> </a:t>
            </a:r>
            <a:r>
              <a:rPr sz="2800" dirty="0">
                <a:latin typeface="Aptos"/>
                <a:cs typeface="Aptos"/>
              </a:rPr>
              <a:t>than</a:t>
            </a:r>
            <a:r>
              <a:rPr sz="2800" spc="135" dirty="0">
                <a:latin typeface="Times New Roman"/>
                <a:cs typeface="Times New Roman"/>
              </a:rPr>
              <a:t> </a:t>
            </a:r>
            <a:r>
              <a:rPr sz="2800" dirty="0">
                <a:latin typeface="Aptos"/>
                <a:cs typeface="Aptos"/>
              </a:rPr>
              <a:t>a</a:t>
            </a:r>
            <a:r>
              <a:rPr sz="2800" spc="145" dirty="0">
                <a:latin typeface="Times New Roman"/>
                <a:cs typeface="Times New Roman"/>
              </a:rPr>
              <a:t> </a:t>
            </a:r>
            <a:r>
              <a:rPr sz="2800" dirty="0">
                <a:latin typeface="Aptos"/>
                <a:cs typeface="Aptos"/>
              </a:rPr>
              <a:t>local</a:t>
            </a:r>
            <a:r>
              <a:rPr sz="2800" spc="140" dirty="0">
                <a:latin typeface="Times New Roman"/>
                <a:cs typeface="Times New Roman"/>
              </a:rPr>
              <a:t> </a:t>
            </a:r>
            <a:r>
              <a:rPr sz="2800" dirty="0">
                <a:latin typeface="Aptos"/>
                <a:cs typeface="Aptos"/>
              </a:rPr>
              <a:t>area</a:t>
            </a:r>
            <a:r>
              <a:rPr sz="2800" spc="135" dirty="0">
                <a:latin typeface="Times New Roman"/>
                <a:cs typeface="Times New Roman"/>
              </a:rPr>
              <a:t> </a:t>
            </a:r>
            <a:r>
              <a:rPr sz="2800" spc="-10" dirty="0">
                <a:latin typeface="Aptos"/>
                <a:cs typeface="Aptos"/>
              </a:rPr>
              <a:t>network</a:t>
            </a:r>
            <a:r>
              <a:rPr sz="2800" spc="-10" dirty="0">
                <a:latin typeface="Times New Roman"/>
                <a:cs typeface="Times New Roman"/>
              </a:rPr>
              <a:t> </a:t>
            </a:r>
            <a:r>
              <a:rPr sz="2800" dirty="0">
                <a:latin typeface="Aptos"/>
                <a:cs typeface="Aptos"/>
              </a:rPr>
              <a:t>(LAN)</a:t>
            </a:r>
            <a:r>
              <a:rPr sz="2800" spc="130" dirty="0">
                <a:latin typeface="Times New Roman"/>
                <a:cs typeface="Times New Roman"/>
              </a:rPr>
              <a:t> </a:t>
            </a:r>
            <a:r>
              <a:rPr sz="2800" dirty="0">
                <a:latin typeface="Aptos"/>
                <a:cs typeface="Aptos"/>
              </a:rPr>
              <a:t>but</a:t>
            </a:r>
            <a:r>
              <a:rPr sz="2800" spc="125" dirty="0">
                <a:latin typeface="Times New Roman"/>
                <a:cs typeface="Times New Roman"/>
              </a:rPr>
              <a:t> </a:t>
            </a:r>
            <a:r>
              <a:rPr sz="2800" dirty="0">
                <a:latin typeface="Aptos"/>
                <a:cs typeface="Aptos"/>
              </a:rPr>
              <a:t>smaller</a:t>
            </a:r>
            <a:r>
              <a:rPr sz="2800" spc="120" dirty="0">
                <a:latin typeface="Times New Roman"/>
                <a:cs typeface="Times New Roman"/>
              </a:rPr>
              <a:t> </a:t>
            </a:r>
            <a:r>
              <a:rPr sz="2800" dirty="0">
                <a:latin typeface="Aptos"/>
                <a:cs typeface="Aptos"/>
              </a:rPr>
              <a:t>than</a:t>
            </a:r>
            <a:r>
              <a:rPr sz="2800" spc="105" dirty="0">
                <a:latin typeface="Times New Roman"/>
                <a:cs typeface="Times New Roman"/>
              </a:rPr>
              <a:t> </a:t>
            </a:r>
            <a:r>
              <a:rPr sz="2800" dirty="0">
                <a:latin typeface="Aptos"/>
                <a:cs typeface="Aptos"/>
              </a:rPr>
              <a:t>a</a:t>
            </a:r>
            <a:r>
              <a:rPr sz="2800" spc="120" dirty="0">
                <a:latin typeface="Times New Roman"/>
                <a:cs typeface="Times New Roman"/>
              </a:rPr>
              <a:t> </a:t>
            </a:r>
            <a:r>
              <a:rPr sz="2800" dirty="0">
                <a:latin typeface="Aptos"/>
                <a:cs typeface="Aptos"/>
              </a:rPr>
              <a:t>wide</a:t>
            </a:r>
            <a:r>
              <a:rPr sz="2800" spc="110" dirty="0">
                <a:latin typeface="Times New Roman"/>
                <a:cs typeface="Times New Roman"/>
              </a:rPr>
              <a:t> </a:t>
            </a:r>
            <a:r>
              <a:rPr sz="2800" dirty="0">
                <a:latin typeface="Aptos"/>
                <a:cs typeface="Aptos"/>
              </a:rPr>
              <a:t>area</a:t>
            </a:r>
            <a:r>
              <a:rPr sz="2800" spc="125" dirty="0">
                <a:latin typeface="Times New Roman"/>
                <a:cs typeface="Times New Roman"/>
              </a:rPr>
              <a:t> </a:t>
            </a:r>
            <a:r>
              <a:rPr sz="2800" dirty="0">
                <a:latin typeface="Aptos"/>
                <a:cs typeface="Aptos"/>
              </a:rPr>
              <a:t>network</a:t>
            </a:r>
            <a:r>
              <a:rPr sz="2800" spc="120" dirty="0">
                <a:latin typeface="Times New Roman"/>
                <a:cs typeface="Times New Roman"/>
              </a:rPr>
              <a:t> </a:t>
            </a:r>
            <a:r>
              <a:rPr sz="2800" dirty="0">
                <a:latin typeface="Aptos"/>
                <a:cs typeface="Aptos"/>
              </a:rPr>
              <a:t>(WAN).</a:t>
            </a:r>
            <a:r>
              <a:rPr sz="2800" spc="125" dirty="0">
                <a:latin typeface="Times New Roman"/>
                <a:cs typeface="Times New Roman"/>
              </a:rPr>
              <a:t> </a:t>
            </a:r>
            <a:r>
              <a:rPr sz="2800" dirty="0">
                <a:latin typeface="Aptos"/>
                <a:cs typeface="Aptos"/>
              </a:rPr>
              <a:t>Network</a:t>
            </a:r>
            <a:r>
              <a:rPr sz="2800" spc="125" dirty="0">
                <a:latin typeface="Times New Roman"/>
                <a:cs typeface="Times New Roman"/>
              </a:rPr>
              <a:t> </a:t>
            </a:r>
            <a:r>
              <a:rPr sz="2800" spc="-20" dirty="0">
                <a:latin typeface="Aptos"/>
                <a:cs typeface="Aptos"/>
              </a:rPr>
              <a:t>used</a:t>
            </a:r>
            <a:r>
              <a:rPr sz="2800" spc="-20" dirty="0">
                <a:latin typeface="Times New Roman"/>
                <a:cs typeface="Times New Roman"/>
              </a:rPr>
              <a:t> </a:t>
            </a:r>
            <a:r>
              <a:rPr sz="2800" spc="-10" dirty="0">
                <a:latin typeface="Aptos"/>
                <a:cs typeface="Aptos"/>
              </a:rPr>
              <a:t>called</a:t>
            </a:r>
            <a:r>
              <a:rPr sz="2800" spc="-160" dirty="0">
                <a:latin typeface="Times New Roman"/>
                <a:cs typeface="Times New Roman"/>
              </a:rPr>
              <a:t> </a:t>
            </a:r>
            <a:r>
              <a:rPr sz="2800" spc="-10" dirty="0">
                <a:latin typeface="Aptos"/>
                <a:cs typeface="Aptos"/>
              </a:rPr>
              <a:t>Intranet.</a:t>
            </a:r>
            <a:endParaRPr sz="2800">
              <a:latin typeface="Aptos"/>
              <a:cs typeface="Aptos"/>
            </a:endParaRPr>
          </a:p>
          <a:p>
            <a:pPr marL="12700" marR="5715" algn="just">
              <a:lnSpc>
                <a:spcPts val="3020"/>
              </a:lnSpc>
              <a:spcBef>
                <a:spcPts val="1055"/>
              </a:spcBef>
            </a:pPr>
            <a:r>
              <a:rPr sz="2800" dirty="0">
                <a:latin typeface="Aptos"/>
                <a:cs typeface="Aptos"/>
              </a:rPr>
              <a:t>For</a:t>
            </a:r>
            <a:r>
              <a:rPr sz="2800" spc="55" dirty="0">
                <a:latin typeface="Times New Roman"/>
                <a:cs typeface="Times New Roman"/>
              </a:rPr>
              <a:t> </a:t>
            </a:r>
            <a:r>
              <a:rPr sz="2800" dirty="0">
                <a:latin typeface="Aptos"/>
                <a:cs typeface="Aptos"/>
              </a:rPr>
              <a:t>example,</a:t>
            </a:r>
            <a:r>
              <a:rPr sz="2800" spc="55" dirty="0">
                <a:latin typeface="Times New Roman"/>
                <a:cs typeface="Times New Roman"/>
              </a:rPr>
              <a:t> </a:t>
            </a:r>
            <a:r>
              <a:rPr sz="2800" dirty="0">
                <a:latin typeface="Aptos"/>
                <a:cs typeface="Aptos"/>
              </a:rPr>
              <a:t>cable</a:t>
            </a:r>
            <a:r>
              <a:rPr sz="2800" spc="60" dirty="0">
                <a:latin typeface="Times New Roman"/>
                <a:cs typeface="Times New Roman"/>
              </a:rPr>
              <a:t> </a:t>
            </a:r>
            <a:r>
              <a:rPr sz="2800" dirty="0">
                <a:latin typeface="Aptos"/>
                <a:cs typeface="Aptos"/>
              </a:rPr>
              <a:t>TV</a:t>
            </a:r>
            <a:r>
              <a:rPr sz="2800" spc="40" dirty="0">
                <a:latin typeface="Times New Roman"/>
                <a:cs typeface="Times New Roman"/>
              </a:rPr>
              <a:t> </a:t>
            </a:r>
            <a:r>
              <a:rPr sz="2800" dirty="0">
                <a:latin typeface="Aptos"/>
                <a:cs typeface="Aptos"/>
              </a:rPr>
              <a:t>network,</a:t>
            </a:r>
            <a:r>
              <a:rPr sz="2800" spc="50" dirty="0">
                <a:latin typeface="Times New Roman"/>
                <a:cs typeface="Times New Roman"/>
              </a:rPr>
              <a:t> </a:t>
            </a:r>
            <a:r>
              <a:rPr sz="2800" dirty="0">
                <a:latin typeface="Aptos"/>
                <a:cs typeface="Aptos"/>
              </a:rPr>
              <a:t>Internet</a:t>
            </a:r>
            <a:r>
              <a:rPr sz="2800" spc="50" dirty="0">
                <a:latin typeface="Times New Roman"/>
                <a:cs typeface="Times New Roman"/>
              </a:rPr>
              <a:t> </a:t>
            </a:r>
            <a:r>
              <a:rPr sz="2800" dirty="0">
                <a:latin typeface="Aptos"/>
                <a:cs typeface="Aptos"/>
              </a:rPr>
              <a:t>Service</a:t>
            </a:r>
            <a:r>
              <a:rPr sz="2800" spc="65" dirty="0">
                <a:latin typeface="Times New Roman"/>
                <a:cs typeface="Times New Roman"/>
              </a:rPr>
              <a:t> </a:t>
            </a:r>
            <a:r>
              <a:rPr sz="2800" dirty="0">
                <a:latin typeface="Aptos"/>
                <a:cs typeface="Aptos"/>
              </a:rPr>
              <a:t>Provider</a:t>
            </a:r>
            <a:r>
              <a:rPr sz="2800" spc="55" dirty="0">
                <a:latin typeface="Times New Roman"/>
                <a:cs typeface="Times New Roman"/>
              </a:rPr>
              <a:t> </a:t>
            </a:r>
            <a:r>
              <a:rPr sz="2800" dirty="0">
                <a:latin typeface="Aptos"/>
                <a:cs typeface="Aptos"/>
              </a:rPr>
              <a:t>(ISP)</a:t>
            </a:r>
            <a:r>
              <a:rPr sz="2800" spc="50" dirty="0">
                <a:latin typeface="Times New Roman"/>
                <a:cs typeface="Times New Roman"/>
              </a:rPr>
              <a:t> </a:t>
            </a:r>
            <a:r>
              <a:rPr sz="2800" dirty="0">
                <a:latin typeface="Aptos"/>
                <a:cs typeface="Aptos"/>
              </a:rPr>
              <a:t>in</a:t>
            </a:r>
            <a:r>
              <a:rPr sz="2800" spc="40" dirty="0">
                <a:latin typeface="Times New Roman"/>
                <a:cs typeface="Times New Roman"/>
              </a:rPr>
              <a:t> </a:t>
            </a:r>
            <a:r>
              <a:rPr sz="2800" spc="-50" dirty="0">
                <a:latin typeface="Aptos"/>
                <a:cs typeface="Aptos"/>
              </a:rPr>
              <a:t>a</a:t>
            </a:r>
            <a:r>
              <a:rPr sz="2800" spc="-50" dirty="0">
                <a:latin typeface="Times New Roman"/>
                <a:cs typeface="Times New Roman"/>
              </a:rPr>
              <a:t> </a:t>
            </a:r>
            <a:r>
              <a:rPr sz="2800" spc="-60" dirty="0">
                <a:latin typeface="Aptos"/>
                <a:cs typeface="Aptos"/>
              </a:rPr>
              <a:t>city,</a:t>
            </a:r>
            <a:r>
              <a:rPr sz="2800" spc="-85" dirty="0">
                <a:latin typeface="Times New Roman"/>
                <a:cs typeface="Times New Roman"/>
              </a:rPr>
              <a:t> </a:t>
            </a:r>
            <a:r>
              <a:rPr sz="2800" spc="-20" dirty="0">
                <a:latin typeface="Aptos"/>
                <a:cs typeface="Aptos"/>
              </a:rPr>
              <a:t>etc.</a:t>
            </a:r>
            <a:endParaRPr sz="2800">
              <a:latin typeface="Aptos"/>
              <a:cs typeface="Apto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476502" y="1320802"/>
            <a:ext cx="6959595" cy="4267195"/>
          </a:xfrm>
          <a:prstGeom prst="rect">
            <a:avLst/>
          </a:prstGeom>
        </p:spPr>
      </p:pic>
      <p:sp>
        <p:nvSpPr>
          <p:cNvPr id="3" name="object 3"/>
          <p:cNvSpPr txBox="1"/>
          <p:nvPr/>
        </p:nvSpPr>
        <p:spPr>
          <a:xfrm>
            <a:off x="4607823" y="5916267"/>
            <a:ext cx="3714115"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Aptos"/>
                <a:cs typeface="Aptos"/>
              </a:rPr>
              <a:t>Fig:</a:t>
            </a:r>
            <a:r>
              <a:rPr sz="1800" spc="-114" dirty="0">
                <a:latin typeface="Times New Roman"/>
                <a:cs typeface="Times New Roman"/>
              </a:rPr>
              <a:t> </a:t>
            </a:r>
            <a:r>
              <a:rPr sz="1800" dirty="0">
                <a:latin typeface="Aptos"/>
                <a:cs typeface="Aptos"/>
              </a:rPr>
              <a:t>Metropolitan</a:t>
            </a:r>
            <a:r>
              <a:rPr sz="1800" spc="250" dirty="0">
                <a:latin typeface="Times New Roman"/>
                <a:cs typeface="Times New Roman"/>
              </a:rPr>
              <a:t> </a:t>
            </a:r>
            <a:r>
              <a:rPr sz="1800" spc="-10" dirty="0">
                <a:latin typeface="Aptos"/>
                <a:cs typeface="Aptos"/>
              </a:rPr>
              <a:t>Area</a:t>
            </a:r>
            <a:r>
              <a:rPr sz="1800" spc="-85" dirty="0">
                <a:latin typeface="Times New Roman"/>
                <a:cs typeface="Times New Roman"/>
              </a:rPr>
              <a:t> </a:t>
            </a:r>
            <a:r>
              <a:rPr sz="1800" spc="-10" dirty="0">
                <a:latin typeface="Aptos"/>
                <a:cs typeface="Aptos"/>
              </a:rPr>
              <a:t>Network(MAN)</a:t>
            </a:r>
            <a:endParaRPr sz="1800">
              <a:latin typeface="Aptos"/>
              <a:cs typeface="Apto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382663"/>
            <a:ext cx="9672320" cy="5010150"/>
          </a:xfrm>
          <a:prstGeom prst="rect">
            <a:avLst/>
          </a:prstGeom>
        </p:spPr>
        <p:txBody>
          <a:bodyPr vert="horz" wrap="square" lIns="0" tIns="96520" rIns="0" bIns="0" rtlCol="0">
            <a:spAutoFit/>
          </a:bodyPr>
          <a:lstStyle/>
          <a:p>
            <a:pPr marL="329565" indent="-317500">
              <a:lnSpc>
                <a:spcPct val="100000"/>
              </a:lnSpc>
              <a:spcBef>
                <a:spcPts val="760"/>
              </a:spcBef>
              <a:buSzPct val="96428"/>
              <a:buFont typeface="Wingdings"/>
              <a:buChar char=""/>
              <a:tabLst>
                <a:tab pos="330200" algn="l"/>
              </a:tabLst>
            </a:pPr>
            <a:r>
              <a:rPr sz="2800" b="1" spc="-20" dirty="0">
                <a:latin typeface="Aptos"/>
                <a:cs typeface="Aptos"/>
              </a:rPr>
              <a:t>Advantages</a:t>
            </a:r>
            <a:r>
              <a:rPr sz="2800" spc="-140" dirty="0">
                <a:latin typeface="Times New Roman"/>
                <a:cs typeface="Times New Roman"/>
              </a:rPr>
              <a:t> </a:t>
            </a:r>
            <a:r>
              <a:rPr sz="2800" b="1" dirty="0">
                <a:latin typeface="Aptos"/>
                <a:cs typeface="Aptos"/>
              </a:rPr>
              <a:t>of</a:t>
            </a:r>
            <a:r>
              <a:rPr sz="2800" spc="-110" dirty="0">
                <a:latin typeface="Times New Roman"/>
                <a:cs typeface="Times New Roman"/>
              </a:rPr>
              <a:t> </a:t>
            </a:r>
            <a:r>
              <a:rPr sz="2800" b="1" spc="-25" dirty="0">
                <a:latin typeface="Aptos"/>
                <a:cs typeface="Aptos"/>
              </a:rPr>
              <a:t>MAN</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It</a:t>
            </a:r>
            <a:r>
              <a:rPr sz="2800" spc="-140" dirty="0">
                <a:latin typeface="Times New Roman"/>
                <a:cs typeface="Times New Roman"/>
              </a:rPr>
              <a:t> </a:t>
            </a:r>
            <a:r>
              <a:rPr sz="2800" spc="-25" dirty="0">
                <a:latin typeface="Aptos"/>
                <a:cs typeface="Aptos"/>
              </a:rPr>
              <a:t>covers</a:t>
            </a:r>
            <a:r>
              <a:rPr sz="2800" spc="-125" dirty="0">
                <a:latin typeface="Times New Roman"/>
                <a:cs typeface="Times New Roman"/>
              </a:rPr>
              <a:t> </a:t>
            </a:r>
            <a:r>
              <a:rPr sz="2800" spc="-25" dirty="0">
                <a:latin typeface="Aptos"/>
                <a:cs typeface="Aptos"/>
              </a:rPr>
              <a:t>larger</a:t>
            </a:r>
            <a:r>
              <a:rPr sz="2800" spc="-130" dirty="0">
                <a:latin typeface="Times New Roman"/>
                <a:cs typeface="Times New Roman"/>
              </a:rPr>
              <a:t> </a:t>
            </a:r>
            <a:r>
              <a:rPr sz="2800" spc="-25" dirty="0">
                <a:latin typeface="Aptos"/>
                <a:cs typeface="Aptos"/>
              </a:rPr>
              <a:t>geographical</a:t>
            </a:r>
            <a:r>
              <a:rPr sz="2800" spc="-114" dirty="0">
                <a:latin typeface="Times New Roman"/>
                <a:cs typeface="Times New Roman"/>
              </a:rPr>
              <a:t> </a:t>
            </a:r>
            <a:r>
              <a:rPr sz="2800" spc="-20" dirty="0">
                <a:latin typeface="Aptos"/>
                <a:cs typeface="Aptos"/>
              </a:rPr>
              <a:t>area</a:t>
            </a:r>
            <a:r>
              <a:rPr sz="2800" spc="-130" dirty="0">
                <a:latin typeface="Times New Roman"/>
                <a:cs typeface="Times New Roman"/>
              </a:rPr>
              <a:t> </a:t>
            </a:r>
            <a:r>
              <a:rPr sz="2800" spc="-20" dirty="0">
                <a:latin typeface="Aptos"/>
                <a:cs typeface="Aptos"/>
              </a:rPr>
              <a:t>than</a:t>
            </a:r>
            <a:r>
              <a:rPr sz="2800" spc="-145" dirty="0">
                <a:latin typeface="Times New Roman"/>
                <a:cs typeface="Times New Roman"/>
              </a:rPr>
              <a:t> </a:t>
            </a:r>
            <a:r>
              <a:rPr sz="2800" spc="-20" dirty="0">
                <a:latin typeface="Aptos"/>
                <a:cs typeface="Aptos"/>
              </a:rPr>
              <a:t>LAN.</a:t>
            </a:r>
            <a:endParaRPr sz="2800">
              <a:latin typeface="Aptos"/>
              <a:cs typeface="Aptos"/>
            </a:endParaRPr>
          </a:p>
          <a:p>
            <a:pPr marL="527685" indent="-515620">
              <a:lnSpc>
                <a:spcPct val="100000"/>
              </a:lnSpc>
              <a:spcBef>
                <a:spcPts val="670"/>
              </a:spcBef>
              <a:buAutoNum type="arabicPeriod"/>
              <a:tabLst>
                <a:tab pos="527685" algn="l"/>
                <a:tab pos="528320" algn="l"/>
              </a:tabLst>
            </a:pPr>
            <a:r>
              <a:rPr sz="2800" dirty="0">
                <a:latin typeface="Aptos"/>
                <a:cs typeface="Aptos"/>
              </a:rPr>
              <a:t>It</a:t>
            </a:r>
            <a:r>
              <a:rPr sz="2800" spc="-155" dirty="0">
                <a:latin typeface="Times New Roman"/>
                <a:cs typeface="Times New Roman"/>
              </a:rPr>
              <a:t> </a:t>
            </a:r>
            <a:r>
              <a:rPr sz="2800" spc="-10" dirty="0">
                <a:latin typeface="Aptos"/>
                <a:cs typeface="Aptos"/>
              </a:rPr>
              <a:t>can</a:t>
            </a:r>
            <a:r>
              <a:rPr sz="2800" spc="-135" dirty="0">
                <a:latin typeface="Times New Roman"/>
                <a:cs typeface="Times New Roman"/>
              </a:rPr>
              <a:t> </a:t>
            </a:r>
            <a:r>
              <a:rPr sz="2800" spc="-10" dirty="0">
                <a:latin typeface="Aptos"/>
                <a:cs typeface="Aptos"/>
              </a:rPr>
              <a:t>connect</a:t>
            </a:r>
            <a:r>
              <a:rPr sz="2800" spc="-125" dirty="0">
                <a:latin typeface="Times New Roman"/>
                <a:cs typeface="Times New Roman"/>
              </a:rPr>
              <a:t> </a:t>
            </a:r>
            <a:r>
              <a:rPr sz="2800" spc="-25" dirty="0">
                <a:latin typeface="Aptos"/>
                <a:cs typeface="Aptos"/>
              </a:rPr>
              <a:t>large</a:t>
            </a:r>
            <a:r>
              <a:rPr sz="2800" spc="-150" dirty="0">
                <a:latin typeface="Times New Roman"/>
                <a:cs typeface="Times New Roman"/>
              </a:rPr>
              <a:t> </a:t>
            </a:r>
            <a:r>
              <a:rPr sz="2800" spc="-20" dirty="0">
                <a:latin typeface="Aptos"/>
                <a:cs typeface="Aptos"/>
              </a:rPr>
              <a:t>number</a:t>
            </a:r>
            <a:r>
              <a:rPr sz="2800" spc="-125" dirty="0">
                <a:latin typeface="Times New Roman"/>
                <a:cs typeface="Times New Roman"/>
              </a:rPr>
              <a:t> </a:t>
            </a:r>
            <a:r>
              <a:rPr sz="2800" dirty="0">
                <a:latin typeface="Aptos"/>
                <a:cs typeface="Aptos"/>
              </a:rPr>
              <a:t>of</a:t>
            </a:r>
            <a:r>
              <a:rPr sz="2800" spc="-150" dirty="0">
                <a:latin typeface="Times New Roman"/>
                <a:cs typeface="Times New Roman"/>
              </a:rPr>
              <a:t> </a:t>
            </a:r>
            <a:r>
              <a:rPr sz="2800" spc="-20" dirty="0">
                <a:latin typeface="Aptos"/>
                <a:cs typeface="Aptos"/>
              </a:rPr>
              <a:t>computer</a:t>
            </a:r>
            <a:r>
              <a:rPr sz="2800" spc="-125" dirty="0">
                <a:latin typeface="Times New Roman"/>
                <a:cs typeface="Times New Roman"/>
              </a:rPr>
              <a:t> </a:t>
            </a:r>
            <a:r>
              <a:rPr sz="2800" spc="-20" dirty="0">
                <a:latin typeface="Aptos"/>
                <a:cs typeface="Aptos"/>
              </a:rPr>
              <a:t>than</a:t>
            </a:r>
            <a:r>
              <a:rPr sz="2800" spc="-150" dirty="0">
                <a:latin typeface="Times New Roman"/>
                <a:cs typeface="Times New Roman"/>
              </a:rPr>
              <a:t> </a:t>
            </a:r>
            <a:r>
              <a:rPr sz="2800" spc="-20" dirty="0">
                <a:latin typeface="Aptos"/>
                <a:cs typeface="Aptos"/>
              </a:rPr>
              <a:t>LAN.</a:t>
            </a:r>
            <a:endParaRPr sz="2800">
              <a:latin typeface="Aptos"/>
              <a:cs typeface="Aptos"/>
            </a:endParaRPr>
          </a:p>
          <a:p>
            <a:pPr marL="527685" marR="5080" indent="-515620">
              <a:lnSpc>
                <a:spcPts val="3020"/>
              </a:lnSpc>
              <a:spcBef>
                <a:spcPts val="1045"/>
              </a:spcBef>
              <a:buAutoNum type="arabicPeriod"/>
              <a:tabLst>
                <a:tab pos="527685" algn="l"/>
                <a:tab pos="528320" algn="l"/>
              </a:tabLst>
            </a:pPr>
            <a:r>
              <a:rPr sz="2800" spc="-65" dirty="0">
                <a:latin typeface="Aptos"/>
                <a:cs typeface="Aptos"/>
              </a:rPr>
              <a:t>We</a:t>
            </a:r>
            <a:r>
              <a:rPr sz="2800" spc="-125" dirty="0">
                <a:latin typeface="Times New Roman"/>
                <a:cs typeface="Times New Roman"/>
              </a:rPr>
              <a:t> </a:t>
            </a:r>
            <a:r>
              <a:rPr sz="2800" spc="-10" dirty="0">
                <a:latin typeface="Aptos"/>
                <a:cs typeface="Aptos"/>
              </a:rPr>
              <a:t>can</a:t>
            </a:r>
            <a:r>
              <a:rPr sz="2800" spc="-165" dirty="0">
                <a:latin typeface="Times New Roman"/>
                <a:cs typeface="Times New Roman"/>
              </a:rPr>
              <a:t> </a:t>
            </a:r>
            <a:r>
              <a:rPr sz="2800" dirty="0">
                <a:latin typeface="Aptos"/>
                <a:cs typeface="Aptos"/>
              </a:rPr>
              <a:t>use</a:t>
            </a:r>
            <a:r>
              <a:rPr sz="2800" spc="-140" dirty="0">
                <a:latin typeface="Times New Roman"/>
                <a:cs typeface="Times New Roman"/>
              </a:rPr>
              <a:t> </a:t>
            </a:r>
            <a:r>
              <a:rPr sz="2800" spc="-20" dirty="0">
                <a:latin typeface="Aptos"/>
                <a:cs typeface="Aptos"/>
              </a:rPr>
              <a:t>guided</a:t>
            </a:r>
            <a:r>
              <a:rPr sz="2800" spc="-145" dirty="0">
                <a:latin typeface="Times New Roman"/>
                <a:cs typeface="Times New Roman"/>
              </a:rPr>
              <a:t> </a:t>
            </a:r>
            <a:r>
              <a:rPr sz="2800" dirty="0">
                <a:latin typeface="Aptos"/>
                <a:cs typeface="Aptos"/>
              </a:rPr>
              <a:t>as</a:t>
            </a:r>
            <a:r>
              <a:rPr sz="2800" spc="-150" dirty="0">
                <a:latin typeface="Times New Roman"/>
                <a:cs typeface="Times New Roman"/>
              </a:rPr>
              <a:t> </a:t>
            </a:r>
            <a:r>
              <a:rPr sz="2800" spc="-20" dirty="0">
                <a:latin typeface="Aptos"/>
                <a:cs typeface="Aptos"/>
              </a:rPr>
              <a:t>well</a:t>
            </a:r>
            <a:r>
              <a:rPr sz="2800" spc="-155" dirty="0">
                <a:latin typeface="Times New Roman"/>
                <a:cs typeface="Times New Roman"/>
              </a:rPr>
              <a:t> </a:t>
            </a:r>
            <a:r>
              <a:rPr sz="2800" dirty="0">
                <a:latin typeface="Aptos"/>
                <a:cs typeface="Aptos"/>
              </a:rPr>
              <a:t>as</a:t>
            </a:r>
            <a:r>
              <a:rPr sz="2800" spc="-140" dirty="0">
                <a:latin typeface="Times New Roman"/>
                <a:cs typeface="Times New Roman"/>
              </a:rPr>
              <a:t> </a:t>
            </a:r>
            <a:r>
              <a:rPr sz="2800" spc="-10" dirty="0">
                <a:latin typeface="Aptos"/>
                <a:cs typeface="Aptos"/>
              </a:rPr>
              <a:t>unguided</a:t>
            </a:r>
            <a:r>
              <a:rPr sz="2800" spc="-140" dirty="0">
                <a:latin typeface="Times New Roman"/>
                <a:cs typeface="Times New Roman"/>
              </a:rPr>
              <a:t> </a:t>
            </a:r>
            <a:r>
              <a:rPr sz="2800" spc="-10" dirty="0">
                <a:latin typeface="Aptos"/>
                <a:cs typeface="Aptos"/>
              </a:rPr>
              <a:t>type</a:t>
            </a:r>
            <a:r>
              <a:rPr sz="2800" spc="-140" dirty="0">
                <a:latin typeface="Times New Roman"/>
                <a:cs typeface="Times New Roman"/>
              </a:rPr>
              <a:t> </a:t>
            </a:r>
            <a:r>
              <a:rPr sz="2800" dirty="0">
                <a:latin typeface="Aptos"/>
                <a:cs typeface="Aptos"/>
              </a:rPr>
              <a:t>of</a:t>
            </a:r>
            <a:r>
              <a:rPr sz="2800" spc="-145" dirty="0">
                <a:latin typeface="Times New Roman"/>
                <a:cs typeface="Times New Roman"/>
              </a:rPr>
              <a:t> </a:t>
            </a:r>
            <a:r>
              <a:rPr sz="2800" spc="-10" dirty="0">
                <a:latin typeface="Aptos"/>
                <a:cs typeface="Aptos"/>
              </a:rPr>
              <a:t>transmission</a:t>
            </a:r>
            <a:r>
              <a:rPr sz="2800" spc="-10" dirty="0">
                <a:latin typeface="Times New Roman"/>
                <a:cs typeface="Times New Roman"/>
              </a:rPr>
              <a:t> </a:t>
            </a:r>
            <a:r>
              <a:rPr sz="2800" spc="-10" dirty="0">
                <a:latin typeface="Aptos"/>
                <a:cs typeface="Aptos"/>
              </a:rPr>
              <a:t>media.</a:t>
            </a:r>
            <a:endParaRPr sz="2800">
              <a:latin typeface="Aptos"/>
              <a:cs typeface="Aptos"/>
            </a:endParaRPr>
          </a:p>
          <a:p>
            <a:pPr>
              <a:lnSpc>
                <a:spcPct val="100000"/>
              </a:lnSpc>
              <a:spcBef>
                <a:spcPts val="30"/>
              </a:spcBef>
            </a:pPr>
            <a:endParaRPr sz="3600">
              <a:latin typeface="Aptos"/>
              <a:cs typeface="Aptos"/>
            </a:endParaRPr>
          </a:p>
          <a:p>
            <a:pPr marL="329565" indent="-317500">
              <a:lnSpc>
                <a:spcPct val="100000"/>
              </a:lnSpc>
              <a:buSzPct val="96428"/>
              <a:buFont typeface="Wingdings"/>
              <a:buChar char=""/>
              <a:tabLst>
                <a:tab pos="330200" algn="l"/>
              </a:tabLst>
            </a:pPr>
            <a:r>
              <a:rPr sz="2800" b="1" spc="-20" dirty="0">
                <a:latin typeface="Aptos"/>
                <a:cs typeface="Aptos"/>
              </a:rPr>
              <a:t>Disadvantages</a:t>
            </a:r>
            <a:r>
              <a:rPr sz="2800" spc="-130" dirty="0">
                <a:latin typeface="Times New Roman"/>
                <a:cs typeface="Times New Roman"/>
              </a:rPr>
              <a:t> </a:t>
            </a:r>
            <a:r>
              <a:rPr sz="2800" b="1" dirty="0">
                <a:latin typeface="Aptos"/>
                <a:cs typeface="Aptos"/>
              </a:rPr>
              <a:t>of</a:t>
            </a:r>
            <a:r>
              <a:rPr sz="2800" spc="-80" dirty="0">
                <a:latin typeface="Times New Roman"/>
                <a:cs typeface="Times New Roman"/>
              </a:rPr>
              <a:t> </a:t>
            </a:r>
            <a:r>
              <a:rPr sz="2800" b="1" spc="-25" dirty="0">
                <a:latin typeface="Aptos"/>
                <a:cs typeface="Aptos"/>
              </a:rPr>
              <a:t>MAN</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It</a:t>
            </a:r>
            <a:r>
              <a:rPr sz="2800" spc="-160" dirty="0">
                <a:latin typeface="Times New Roman"/>
                <a:cs typeface="Times New Roman"/>
              </a:rPr>
              <a:t> </a:t>
            </a:r>
            <a:r>
              <a:rPr sz="2800" dirty="0">
                <a:latin typeface="Aptos"/>
                <a:cs typeface="Aptos"/>
              </a:rPr>
              <a:t>is</a:t>
            </a:r>
            <a:r>
              <a:rPr sz="2800" spc="-155" dirty="0">
                <a:latin typeface="Times New Roman"/>
                <a:cs typeface="Times New Roman"/>
              </a:rPr>
              <a:t> </a:t>
            </a:r>
            <a:r>
              <a:rPr sz="2800" spc="-25" dirty="0">
                <a:latin typeface="Aptos"/>
                <a:cs typeface="Aptos"/>
              </a:rPr>
              <a:t>expensive</a:t>
            </a:r>
            <a:r>
              <a:rPr sz="2800" spc="-145" dirty="0">
                <a:latin typeface="Times New Roman"/>
                <a:cs typeface="Times New Roman"/>
              </a:rPr>
              <a:t> </a:t>
            </a:r>
            <a:r>
              <a:rPr sz="2800" dirty="0">
                <a:latin typeface="Aptos"/>
                <a:cs typeface="Aptos"/>
              </a:rPr>
              <a:t>to</a:t>
            </a:r>
            <a:r>
              <a:rPr sz="2800" spc="-140" dirty="0">
                <a:latin typeface="Times New Roman"/>
                <a:cs typeface="Times New Roman"/>
              </a:rPr>
              <a:t> </a:t>
            </a:r>
            <a:r>
              <a:rPr sz="2800" dirty="0">
                <a:latin typeface="Aptos"/>
                <a:cs typeface="Aptos"/>
              </a:rPr>
              <a:t>set</a:t>
            </a:r>
            <a:r>
              <a:rPr sz="2800" spc="-140" dirty="0">
                <a:latin typeface="Times New Roman"/>
                <a:cs typeface="Times New Roman"/>
              </a:rPr>
              <a:t> </a:t>
            </a:r>
            <a:r>
              <a:rPr sz="2800" dirty="0">
                <a:latin typeface="Aptos"/>
                <a:cs typeface="Aptos"/>
              </a:rPr>
              <a:t>up</a:t>
            </a:r>
            <a:r>
              <a:rPr sz="2800" spc="-145" dirty="0">
                <a:latin typeface="Times New Roman"/>
                <a:cs typeface="Times New Roman"/>
              </a:rPr>
              <a:t> </a:t>
            </a:r>
            <a:r>
              <a:rPr sz="2800" spc="-20" dirty="0">
                <a:latin typeface="Aptos"/>
                <a:cs typeface="Aptos"/>
              </a:rPr>
              <a:t>then</a:t>
            </a:r>
            <a:r>
              <a:rPr sz="2800" spc="-155" dirty="0">
                <a:latin typeface="Times New Roman"/>
                <a:cs typeface="Times New Roman"/>
              </a:rPr>
              <a:t> </a:t>
            </a:r>
            <a:r>
              <a:rPr sz="2800" spc="-20" dirty="0">
                <a:latin typeface="Aptos"/>
                <a:cs typeface="Aptos"/>
              </a:rPr>
              <a:t>LAN.</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spc="-40" dirty="0">
                <a:latin typeface="Aptos"/>
                <a:cs typeface="Aptos"/>
              </a:rPr>
              <a:t>Transmission</a:t>
            </a:r>
            <a:r>
              <a:rPr sz="2800" spc="-130" dirty="0">
                <a:latin typeface="Times New Roman"/>
                <a:cs typeface="Times New Roman"/>
              </a:rPr>
              <a:t> </a:t>
            </a:r>
            <a:r>
              <a:rPr sz="2800" spc="-10" dirty="0">
                <a:latin typeface="Aptos"/>
                <a:cs typeface="Aptos"/>
              </a:rPr>
              <a:t>speed</a:t>
            </a:r>
            <a:r>
              <a:rPr sz="2800" spc="-120" dirty="0">
                <a:latin typeface="Times New Roman"/>
                <a:cs typeface="Times New Roman"/>
              </a:rPr>
              <a:t> </a:t>
            </a:r>
            <a:r>
              <a:rPr sz="2800" spc="-20" dirty="0">
                <a:latin typeface="Aptos"/>
                <a:cs typeface="Aptos"/>
              </a:rPr>
              <a:t>slower</a:t>
            </a:r>
            <a:r>
              <a:rPr sz="2800" spc="-140" dirty="0">
                <a:latin typeface="Times New Roman"/>
                <a:cs typeface="Times New Roman"/>
              </a:rPr>
              <a:t> </a:t>
            </a:r>
            <a:r>
              <a:rPr sz="2800" spc="-20" dirty="0">
                <a:latin typeface="Aptos"/>
                <a:cs typeface="Aptos"/>
              </a:rPr>
              <a:t>compared</a:t>
            </a:r>
            <a:r>
              <a:rPr sz="2800" spc="-105" dirty="0">
                <a:latin typeface="Times New Roman"/>
                <a:cs typeface="Times New Roman"/>
              </a:rPr>
              <a:t> </a:t>
            </a:r>
            <a:r>
              <a:rPr sz="2800" dirty="0">
                <a:latin typeface="Aptos"/>
                <a:cs typeface="Aptos"/>
              </a:rPr>
              <a:t>to</a:t>
            </a:r>
            <a:r>
              <a:rPr sz="2800" spc="-130" dirty="0">
                <a:latin typeface="Times New Roman"/>
                <a:cs typeface="Times New Roman"/>
              </a:rPr>
              <a:t> </a:t>
            </a:r>
            <a:r>
              <a:rPr sz="2800" spc="-20" dirty="0">
                <a:latin typeface="Aptos"/>
                <a:cs typeface="Aptos"/>
              </a:rPr>
              <a:t>LAN.</a:t>
            </a:r>
            <a:endParaRPr sz="2800">
              <a:latin typeface="Aptos"/>
              <a:cs typeface="Aptos"/>
            </a:endParaRPr>
          </a:p>
          <a:p>
            <a:pPr marL="527685" indent="-515620">
              <a:lnSpc>
                <a:spcPct val="100000"/>
              </a:lnSpc>
              <a:spcBef>
                <a:spcPts val="675"/>
              </a:spcBef>
              <a:buAutoNum type="arabicPeriod"/>
              <a:tabLst>
                <a:tab pos="527685" algn="l"/>
                <a:tab pos="528320" algn="l"/>
              </a:tabLst>
            </a:pPr>
            <a:r>
              <a:rPr sz="2800" dirty="0">
                <a:latin typeface="Aptos"/>
                <a:cs typeface="Aptos"/>
              </a:rPr>
              <a:t>It</a:t>
            </a:r>
            <a:r>
              <a:rPr sz="2800" spc="-145" dirty="0">
                <a:latin typeface="Times New Roman"/>
                <a:cs typeface="Times New Roman"/>
              </a:rPr>
              <a:t> </a:t>
            </a:r>
            <a:r>
              <a:rPr sz="2800" dirty="0">
                <a:latin typeface="Aptos"/>
                <a:cs typeface="Aptos"/>
              </a:rPr>
              <a:t>is</a:t>
            </a:r>
            <a:r>
              <a:rPr sz="2800" spc="-145" dirty="0">
                <a:latin typeface="Times New Roman"/>
                <a:cs typeface="Times New Roman"/>
              </a:rPr>
              <a:t> </a:t>
            </a:r>
            <a:r>
              <a:rPr sz="2800" spc="-20" dirty="0">
                <a:latin typeface="Aptos"/>
                <a:cs typeface="Aptos"/>
              </a:rPr>
              <a:t>complex</a:t>
            </a:r>
            <a:r>
              <a:rPr sz="2800" spc="-125" dirty="0">
                <a:latin typeface="Times New Roman"/>
                <a:cs typeface="Times New Roman"/>
              </a:rPr>
              <a:t> </a:t>
            </a:r>
            <a:r>
              <a:rPr sz="2800" dirty="0">
                <a:latin typeface="Aptos"/>
                <a:cs typeface="Aptos"/>
              </a:rPr>
              <a:t>to</a:t>
            </a:r>
            <a:r>
              <a:rPr sz="2800" spc="-130" dirty="0">
                <a:latin typeface="Times New Roman"/>
                <a:cs typeface="Times New Roman"/>
              </a:rPr>
              <a:t> </a:t>
            </a:r>
            <a:r>
              <a:rPr sz="2800" spc="-20" dirty="0">
                <a:latin typeface="Aptos"/>
                <a:cs typeface="Aptos"/>
              </a:rPr>
              <a:t>establish,</a:t>
            </a:r>
            <a:r>
              <a:rPr sz="2800" spc="-145" dirty="0">
                <a:latin typeface="Times New Roman"/>
                <a:cs typeface="Times New Roman"/>
              </a:rPr>
              <a:t> </a:t>
            </a:r>
            <a:r>
              <a:rPr sz="2800" spc="-20" dirty="0">
                <a:latin typeface="Aptos"/>
                <a:cs typeface="Aptos"/>
              </a:rPr>
              <a:t>manage</a:t>
            </a:r>
            <a:r>
              <a:rPr sz="2800" spc="-120" dirty="0">
                <a:latin typeface="Times New Roman"/>
                <a:cs typeface="Times New Roman"/>
              </a:rPr>
              <a:t> </a:t>
            </a:r>
            <a:r>
              <a:rPr sz="2800" spc="-10" dirty="0">
                <a:latin typeface="Aptos"/>
                <a:cs typeface="Aptos"/>
              </a:rPr>
              <a:t>and</a:t>
            </a:r>
            <a:r>
              <a:rPr sz="2800" spc="-140" dirty="0">
                <a:latin typeface="Times New Roman"/>
                <a:cs typeface="Times New Roman"/>
              </a:rPr>
              <a:t> </a:t>
            </a:r>
            <a:r>
              <a:rPr sz="2800" spc="-25" dirty="0">
                <a:latin typeface="Aptos"/>
                <a:cs typeface="Aptos"/>
              </a:rPr>
              <a:t>provides</a:t>
            </a:r>
            <a:r>
              <a:rPr sz="2800" spc="-135" dirty="0">
                <a:latin typeface="Times New Roman"/>
                <a:cs typeface="Times New Roman"/>
              </a:rPr>
              <a:t> </a:t>
            </a:r>
            <a:r>
              <a:rPr sz="2800" spc="-10" dirty="0">
                <a:latin typeface="Aptos"/>
                <a:cs typeface="Aptos"/>
              </a:rPr>
              <a:t>security.</a:t>
            </a:r>
            <a:endParaRPr sz="2800">
              <a:latin typeface="Aptos"/>
              <a:cs typeface="Apto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6912" y="228600"/>
            <a:ext cx="5396688" cy="452120"/>
          </a:xfrm>
          <a:prstGeom prst="rect">
            <a:avLst/>
          </a:prstGeom>
        </p:spPr>
        <p:txBody>
          <a:bodyPr vert="horz" wrap="square" lIns="0" tIns="12065" rIns="0" bIns="0" rtlCol="0">
            <a:spAutoFit/>
          </a:bodyPr>
          <a:lstStyle/>
          <a:p>
            <a:pPr marL="12700">
              <a:lnSpc>
                <a:spcPct val="100000"/>
              </a:lnSpc>
              <a:spcBef>
                <a:spcPts val="95"/>
              </a:spcBef>
            </a:pPr>
            <a:r>
              <a:rPr sz="2800" b="1" dirty="0">
                <a:latin typeface="Aptos"/>
                <a:cs typeface="Aptos"/>
              </a:rPr>
              <a:t>c</a:t>
            </a:r>
            <a:r>
              <a:rPr sz="2800" spc="-114" dirty="0">
                <a:latin typeface="Times New Roman"/>
                <a:cs typeface="Times New Roman"/>
              </a:rPr>
              <a:t> </a:t>
            </a:r>
            <a:r>
              <a:rPr sz="2800" b="1" dirty="0">
                <a:latin typeface="Aptos"/>
                <a:cs typeface="Aptos"/>
              </a:rPr>
              <a:t>)</a:t>
            </a:r>
            <a:r>
              <a:rPr sz="2800" spc="-120" dirty="0">
                <a:latin typeface="Times New Roman"/>
                <a:cs typeface="Times New Roman"/>
              </a:rPr>
              <a:t> </a:t>
            </a:r>
            <a:r>
              <a:rPr sz="2800" b="1" spc="-10" dirty="0">
                <a:latin typeface="Aptos"/>
                <a:cs typeface="Aptos"/>
              </a:rPr>
              <a:t>Wide</a:t>
            </a:r>
            <a:r>
              <a:rPr sz="2800" spc="-140" dirty="0">
                <a:latin typeface="Times New Roman"/>
                <a:cs typeface="Times New Roman"/>
              </a:rPr>
              <a:t> </a:t>
            </a:r>
            <a:r>
              <a:rPr sz="2800" b="1" spc="-20" dirty="0">
                <a:latin typeface="Aptos"/>
                <a:cs typeface="Aptos"/>
              </a:rPr>
              <a:t>Area</a:t>
            </a:r>
            <a:r>
              <a:rPr sz="2800" spc="-155" dirty="0">
                <a:latin typeface="Times New Roman"/>
                <a:cs typeface="Times New Roman"/>
              </a:rPr>
              <a:t> </a:t>
            </a:r>
            <a:r>
              <a:rPr sz="2800" b="1" spc="-20" dirty="0">
                <a:latin typeface="Aptos"/>
                <a:cs typeface="Aptos"/>
              </a:rPr>
              <a:t>Network</a:t>
            </a:r>
            <a:r>
              <a:rPr sz="2800" spc="-155" dirty="0">
                <a:latin typeface="Times New Roman"/>
                <a:cs typeface="Times New Roman"/>
              </a:rPr>
              <a:t> </a:t>
            </a:r>
            <a:r>
              <a:rPr sz="2800" b="1" spc="-10" dirty="0">
                <a:latin typeface="Aptos"/>
                <a:cs typeface="Aptos"/>
              </a:rPr>
              <a:t>(WAN)</a:t>
            </a:r>
            <a:endParaRPr sz="2800" dirty="0">
              <a:latin typeface="Aptos"/>
              <a:cs typeface="Aptos"/>
            </a:endParaRPr>
          </a:p>
        </p:txBody>
      </p:sp>
      <p:sp>
        <p:nvSpPr>
          <p:cNvPr id="3" name="object 3"/>
          <p:cNvSpPr txBox="1"/>
          <p:nvPr/>
        </p:nvSpPr>
        <p:spPr>
          <a:xfrm>
            <a:off x="546913" y="759396"/>
            <a:ext cx="10357485" cy="2500630"/>
          </a:xfrm>
          <a:prstGeom prst="rect">
            <a:avLst/>
          </a:prstGeom>
        </p:spPr>
        <p:txBody>
          <a:bodyPr vert="horz" wrap="square" lIns="0" tIns="60325" rIns="0" bIns="0" rtlCol="0">
            <a:spAutoFit/>
          </a:bodyPr>
          <a:lstStyle/>
          <a:p>
            <a:pPr marL="12700" marR="5080" algn="just">
              <a:lnSpc>
                <a:spcPts val="3030"/>
              </a:lnSpc>
              <a:spcBef>
                <a:spcPts val="475"/>
              </a:spcBef>
            </a:pPr>
            <a:r>
              <a:rPr sz="2800" dirty="0">
                <a:latin typeface="Aptos"/>
                <a:cs typeface="Aptos"/>
              </a:rPr>
              <a:t>A</a:t>
            </a:r>
            <a:r>
              <a:rPr sz="2800" spc="250" dirty="0">
                <a:latin typeface="Times New Roman"/>
                <a:cs typeface="Times New Roman"/>
              </a:rPr>
              <a:t> </a:t>
            </a:r>
            <a:r>
              <a:rPr sz="2800" spc="-20" dirty="0">
                <a:latin typeface="Aptos"/>
                <a:cs typeface="Aptos"/>
              </a:rPr>
              <a:t>wide-</a:t>
            </a:r>
            <a:r>
              <a:rPr sz="2800" dirty="0">
                <a:latin typeface="Aptos"/>
                <a:cs typeface="Aptos"/>
              </a:rPr>
              <a:t>area</a:t>
            </a:r>
            <a:r>
              <a:rPr sz="2800" spc="260" dirty="0">
                <a:latin typeface="Times New Roman"/>
                <a:cs typeface="Times New Roman"/>
              </a:rPr>
              <a:t> </a:t>
            </a:r>
            <a:r>
              <a:rPr sz="2800" dirty="0">
                <a:latin typeface="Aptos"/>
                <a:cs typeface="Aptos"/>
              </a:rPr>
              <a:t>network</a:t>
            </a:r>
            <a:r>
              <a:rPr sz="2800" spc="270" dirty="0">
                <a:latin typeface="Times New Roman"/>
                <a:cs typeface="Times New Roman"/>
              </a:rPr>
              <a:t> </a:t>
            </a:r>
            <a:r>
              <a:rPr sz="2800" dirty="0">
                <a:latin typeface="Aptos"/>
                <a:cs typeface="Aptos"/>
              </a:rPr>
              <a:t>(WAN)</a:t>
            </a:r>
            <a:r>
              <a:rPr sz="2800" spc="275" dirty="0">
                <a:latin typeface="Times New Roman"/>
                <a:cs typeface="Times New Roman"/>
              </a:rPr>
              <a:t> </a:t>
            </a:r>
            <a:r>
              <a:rPr sz="2800" dirty="0">
                <a:latin typeface="Aptos"/>
                <a:cs typeface="Aptos"/>
              </a:rPr>
              <a:t>is</a:t>
            </a:r>
            <a:r>
              <a:rPr sz="2800" spc="254" dirty="0">
                <a:latin typeface="Times New Roman"/>
                <a:cs typeface="Times New Roman"/>
              </a:rPr>
              <a:t> </a:t>
            </a:r>
            <a:r>
              <a:rPr sz="2800" dirty="0">
                <a:latin typeface="Aptos"/>
                <a:cs typeface="Aptos"/>
              </a:rPr>
              <a:t>the</a:t>
            </a:r>
            <a:r>
              <a:rPr sz="2800" spc="260" dirty="0">
                <a:latin typeface="Times New Roman"/>
                <a:cs typeface="Times New Roman"/>
              </a:rPr>
              <a:t> </a:t>
            </a:r>
            <a:r>
              <a:rPr sz="2800" dirty="0">
                <a:latin typeface="Aptos"/>
                <a:cs typeface="Aptos"/>
              </a:rPr>
              <a:t>technology</a:t>
            </a:r>
            <a:r>
              <a:rPr sz="2800" spc="280" dirty="0">
                <a:latin typeface="Times New Roman"/>
                <a:cs typeface="Times New Roman"/>
              </a:rPr>
              <a:t> </a:t>
            </a:r>
            <a:r>
              <a:rPr sz="2800" dirty="0">
                <a:latin typeface="Aptos"/>
                <a:cs typeface="Aptos"/>
              </a:rPr>
              <a:t>that</a:t>
            </a:r>
            <a:r>
              <a:rPr sz="2800" spc="265" dirty="0">
                <a:latin typeface="Times New Roman"/>
                <a:cs typeface="Times New Roman"/>
              </a:rPr>
              <a:t> </a:t>
            </a:r>
            <a:r>
              <a:rPr sz="2800" dirty="0">
                <a:latin typeface="Aptos"/>
                <a:cs typeface="Aptos"/>
              </a:rPr>
              <a:t>connects</a:t>
            </a:r>
            <a:r>
              <a:rPr sz="2800" spc="270" dirty="0">
                <a:latin typeface="Times New Roman"/>
                <a:cs typeface="Times New Roman"/>
              </a:rPr>
              <a:t> </a:t>
            </a:r>
            <a:r>
              <a:rPr sz="2800" spc="-20" dirty="0">
                <a:latin typeface="Aptos"/>
                <a:cs typeface="Aptos"/>
              </a:rPr>
              <a:t>your</a:t>
            </a:r>
            <a:r>
              <a:rPr sz="2800" spc="-20" dirty="0">
                <a:latin typeface="Times New Roman"/>
                <a:cs typeface="Times New Roman"/>
              </a:rPr>
              <a:t> </a:t>
            </a:r>
            <a:r>
              <a:rPr sz="2800" dirty="0">
                <a:latin typeface="Aptos"/>
                <a:cs typeface="Aptos"/>
              </a:rPr>
              <a:t>offices,</a:t>
            </a:r>
            <a:r>
              <a:rPr sz="2800" spc="240" dirty="0">
                <a:latin typeface="Times New Roman"/>
                <a:cs typeface="Times New Roman"/>
              </a:rPr>
              <a:t>  </a:t>
            </a:r>
            <a:r>
              <a:rPr sz="2800" dirty="0">
                <a:latin typeface="Aptos"/>
                <a:cs typeface="Aptos"/>
              </a:rPr>
              <a:t>data</a:t>
            </a:r>
            <a:r>
              <a:rPr sz="2800" spc="245" dirty="0">
                <a:latin typeface="Times New Roman"/>
                <a:cs typeface="Times New Roman"/>
              </a:rPr>
              <a:t>  </a:t>
            </a:r>
            <a:r>
              <a:rPr sz="2800" dirty="0">
                <a:latin typeface="Aptos"/>
                <a:cs typeface="Aptos"/>
              </a:rPr>
              <a:t>centers,</a:t>
            </a:r>
            <a:r>
              <a:rPr sz="2800" spc="240" dirty="0">
                <a:latin typeface="Times New Roman"/>
                <a:cs typeface="Times New Roman"/>
              </a:rPr>
              <a:t>  </a:t>
            </a:r>
            <a:r>
              <a:rPr sz="2800" dirty="0">
                <a:latin typeface="Aptos"/>
                <a:cs typeface="Aptos"/>
              </a:rPr>
              <a:t>cloud</a:t>
            </a:r>
            <a:r>
              <a:rPr sz="2800" spc="245" dirty="0">
                <a:latin typeface="Times New Roman"/>
                <a:cs typeface="Times New Roman"/>
              </a:rPr>
              <a:t>  </a:t>
            </a:r>
            <a:r>
              <a:rPr sz="2800" dirty="0">
                <a:latin typeface="Aptos"/>
                <a:cs typeface="Aptos"/>
              </a:rPr>
              <a:t>applications,</a:t>
            </a:r>
            <a:r>
              <a:rPr sz="2800" spc="245" dirty="0">
                <a:latin typeface="Times New Roman"/>
                <a:cs typeface="Times New Roman"/>
              </a:rPr>
              <a:t>  </a:t>
            </a:r>
            <a:r>
              <a:rPr sz="2800" dirty="0">
                <a:latin typeface="Aptos"/>
                <a:cs typeface="Aptos"/>
              </a:rPr>
              <a:t>and</a:t>
            </a:r>
            <a:r>
              <a:rPr sz="2800" spc="250" dirty="0">
                <a:latin typeface="Times New Roman"/>
                <a:cs typeface="Times New Roman"/>
              </a:rPr>
              <a:t>  </a:t>
            </a:r>
            <a:r>
              <a:rPr sz="2800" dirty="0">
                <a:latin typeface="Aptos"/>
                <a:cs typeface="Aptos"/>
              </a:rPr>
              <a:t>cloud</a:t>
            </a:r>
            <a:r>
              <a:rPr sz="2800" spc="240" dirty="0">
                <a:latin typeface="Times New Roman"/>
                <a:cs typeface="Times New Roman"/>
              </a:rPr>
              <a:t>  </a:t>
            </a:r>
            <a:r>
              <a:rPr sz="2800" spc="-10" dirty="0">
                <a:latin typeface="Aptos"/>
                <a:cs typeface="Aptos"/>
              </a:rPr>
              <a:t>storage</a:t>
            </a:r>
            <a:r>
              <a:rPr sz="2800" spc="-10" dirty="0">
                <a:latin typeface="Times New Roman"/>
                <a:cs typeface="Times New Roman"/>
              </a:rPr>
              <a:t> </a:t>
            </a:r>
            <a:r>
              <a:rPr sz="2800" spc="-40" dirty="0">
                <a:latin typeface="Aptos"/>
                <a:cs typeface="Aptos"/>
              </a:rPr>
              <a:t>together.</a:t>
            </a:r>
            <a:r>
              <a:rPr sz="2800" spc="-130" dirty="0">
                <a:latin typeface="Times New Roman"/>
                <a:cs typeface="Times New Roman"/>
              </a:rPr>
              <a:t> </a:t>
            </a:r>
            <a:r>
              <a:rPr sz="2800" dirty="0">
                <a:latin typeface="Aptos"/>
                <a:cs typeface="Aptos"/>
              </a:rPr>
              <a:t>It</a:t>
            </a:r>
            <a:r>
              <a:rPr sz="2800" spc="-145" dirty="0">
                <a:latin typeface="Times New Roman"/>
                <a:cs typeface="Times New Roman"/>
              </a:rPr>
              <a:t> </a:t>
            </a:r>
            <a:r>
              <a:rPr sz="2800" dirty="0">
                <a:latin typeface="Aptos"/>
                <a:cs typeface="Aptos"/>
              </a:rPr>
              <a:t>is</a:t>
            </a:r>
            <a:r>
              <a:rPr sz="2800" spc="-135" dirty="0">
                <a:latin typeface="Times New Roman"/>
                <a:cs typeface="Times New Roman"/>
              </a:rPr>
              <a:t> </a:t>
            </a:r>
            <a:r>
              <a:rPr sz="2800" spc="-10" dirty="0">
                <a:latin typeface="Aptos"/>
                <a:cs typeface="Aptos"/>
              </a:rPr>
              <a:t>called</a:t>
            </a:r>
            <a:r>
              <a:rPr sz="2800" spc="-120" dirty="0">
                <a:latin typeface="Times New Roman"/>
                <a:cs typeface="Times New Roman"/>
              </a:rPr>
              <a:t> </a:t>
            </a:r>
            <a:r>
              <a:rPr sz="2800" dirty="0">
                <a:latin typeface="Aptos"/>
                <a:cs typeface="Aptos"/>
              </a:rPr>
              <a:t>a</a:t>
            </a:r>
            <a:r>
              <a:rPr sz="2800" spc="-140" dirty="0">
                <a:latin typeface="Times New Roman"/>
                <a:cs typeface="Times New Roman"/>
              </a:rPr>
              <a:t> </a:t>
            </a:r>
            <a:r>
              <a:rPr sz="2800" spc="-20" dirty="0">
                <a:latin typeface="Aptos"/>
                <a:cs typeface="Aptos"/>
              </a:rPr>
              <a:t>wide-</a:t>
            </a:r>
            <a:r>
              <a:rPr sz="2800" spc="-10" dirty="0">
                <a:latin typeface="Aptos"/>
                <a:cs typeface="Aptos"/>
              </a:rPr>
              <a:t>area</a:t>
            </a:r>
            <a:r>
              <a:rPr sz="2800" spc="-135" dirty="0">
                <a:latin typeface="Times New Roman"/>
                <a:cs typeface="Times New Roman"/>
              </a:rPr>
              <a:t> </a:t>
            </a:r>
            <a:r>
              <a:rPr sz="2800" spc="-10" dirty="0">
                <a:latin typeface="Aptos"/>
                <a:cs typeface="Aptos"/>
              </a:rPr>
              <a:t>network</a:t>
            </a:r>
            <a:r>
              <a:rPr sz="2800" spc="-135" dirty="0">
                <a:latin typeface="Times New Roman"/>
                <a:cs typeface="Times New Roman"/>
              </a:rPr>
              <a:t> </a:t>
            </a:r>
            <a:r>
              <a:rPr sz="2800" spc="-10" dirty="0">
                <a:latin typeface="Aptos"/>
                <a:cs typeface="Aptos"/>
              </a:rPr>
              <a:t>because</a:t>
            </a:r>
            <a:r>
              <a:rPr sz="2800" spc="-135" dirty="0">
                <a:latin typeface="Times New Roman"/>
                <a:cs typeface="Times New Roman"/>
              </a:rPr>
              <a:t> </a:t>
            </a:r>
            <a:r>
              <a:rPr sz="2800" dirty="0">
                <a:latin typeface="Aptos"/>
                <a:cs typeface="Aptos"/>
              </a:rPr>
              <a:t>it</a:t>
            </a:r>
            <a:r>
              <a:rPr sz="2800" spc="-135" dirty="0">
                <a:latin typeface="Times New Roman"/>
                <a:cs typeface="Times New Roman"/>
              </a:rPr>
              <a:t> </a:t>
            </a:r>
            <a:r>
              <a:rPr sz="2800" dirty="0">
                <a:latin typeface="Aptos"/>
                <a:cs typeface="Aptos"/>
              </a:rPr>
              <a:t>spans</a:t>
            </a:r>
            <a:r>
              <a:rPr sz="2800" spc="-114" dirty="0">
                <a:latin typeface="Times New Roman"/>
                <a:cs typeface="Times New Roman"/>
              </a:rPr>
              <a:t> </a:t>
            </a:r>
            <a:r>
              <a:rPr sz="2800" spc="-20" dirty="0">
                <a:latin typeface="Aptos"/>
                <a:cs typeface="Aptos"/>
              </a:rPr>
              <a:t>beyond</a:t>
            </a:r>
            <a:r>
              <a:rPr sz="2800" spc="-140" dirty="0">
                <a:latin typeface="Times New Roman"/>
                <a:cs typeface="Times New Roman"/>
              </a:rPr>
              <a:t> </a:t>
            </a:r>
            <a:r>
              <a:rPr sz="2800" spc="-50" dirty="0">
                <a:latin typeface="Aptos"/>
                <a:cs typeface="Aptos"/>
              </a:rPr>
              <a:t>a</a:t>
            </a:r>
            <a:r>
              <a:rPr sz="2800" spc="-50" dirty="0">
                <a:latin typeface="Times New Roman"/>
                <a:cs typeface="Times New Roman"/>
              </a:rPr>
              <a:t> </a:t>
            </a:r>
            <a:r>
              <a:rPr sz="2800" spc="-10" dirty="0">
                <a:latin typeface="Aptos"/>
                <a:cs typeface="Aptos"/>
              </a:rPr>
              <a:t>single</a:t>
            </a:r>
            <a:r>
              <a:rPr sz="2800" spc="-135" dirty="0">
                <a:latin typeface="Times New Roman"/>
                <a:cs typeface="Times New Roman"/>
              </a:rPr>
              <a:t> </a:t>
            </a:r>
            <a:r>
              <a:rPr sz="2800" spc="-20" dirty="0">
                <a:latin typeface="Aptos"/>
                <a:cs typeface="Aptos"/>
              </a:rPr>
              <a:t>building</a:t>
            </a:r>
            <a:r>
              <a:rPr sz="2800" spc="-130" dirty="0">
                <a:latin typeface="Times New Roman"/>
                <a:cs typeface="Times New Roman"/>
              </a:rPr>
              <a:t> </a:t>
            </a:r>
            <a:r>
              <a:rPr sz="2800" dirty="0">
                <a:latin typeface="Aptos"/>
                <a:cs typeface="Aptos"/>
              </a:rPr>
              <a:t>or</a:t>
            </a:r>
            <a:r>
              <a:rPr sz="2800" spc="-120" dirty="0">
                <a:latin typeface="Times New Roman"/>
                <a:cs typeface="Times New Roman"/>
              </a:rPr>
              <a:t> </a:t>
            </a:r>
            <a:r>
              <a:rPr sz="2800" spc="-20" dirty="0">
                <a:latin typeface="Aptos"/>
                <a:cs typeface="Aptos"/>
              </a:rPr>
              <a:t>large</a:t>
            </a:r>
            <a:r>
              <a:rPr sz="2800" spc="-120" dirty="0">
                <a:latin typeface="Times New Roman"/>
                <a:cs typeface="Times New Roman"/>
              </a:rPr>
              <a:t> </a:t>
            </a:r>
            <a:r>
              <a:rPr sz="2800" spc="-20" dirty="0">
                <a:latin typeface="Aptos"/>
                <a:cs typeface="Aptos"/>
              </a:rPr>
              <a:t>campus</a:t>
            </a:r>
            <a:r>
              <a:rPr sz="2800" spc="-120" dirty="0">
                <a:latin typeface="Times New Roman"/>
                <a:cs typeface="Times New Roman"/>
              </a:rPr>
              <a:t> </a:t>
            </a:r>
            <a:r>
              <a:rPr sz="2800" dirty="0">
                <a:latin typeface="Aptos"/>
                <a:cs typeface="Aptos"/>
              </a:rPr>
              <a:t>to</a:t>
            </a:r>
            <a:r>
              <a:rPr sz="2800" spc="-120" dirty="0">
                <a:latin typeface="Times New Roman"/>
                <a:cs typeface="Times New Roman"/>
              </a:rPr>
              <a:t> </a:t>
            </a:r>
            <a:r>
              <a:rPr sz="2800" spc="-10" dirty="0">
                <a:latin typeface="Aptos"/>
                <a:cs typeface="Aptos"/>
              </a:rPr>
              <a:t>include</a:t>
            </a:r>
            <a:r>
              <a:rPr sz="2800" spc="-125" dirty="0">
                <a:latin typeface="Times New Roman"/>
                <a:cs typeface="Times New Roman"/>
              </a:rPr>
              <a:t> </a:t>
            </a:r>
            <a:r>
              <a:rPr sz="2800" spc="-20" dirty="0">
                <a:latin typeface="Aptos"/>
                <a:cs typeface="Aptos"/>
              </a:rPr>
              <a:t>multiple</a:t>
            </a:r>
            <a:r>
              <a:rPr sz="2800" spc="-135" dirty="0">
                <a:latin typeface="Times New Roman"/>
                <a:cs typeface="Times New Roman"/>
              </a:rPr>
              <a:t> </a:t>
            </a:r>
            <a:r>
              <a:rPr sz="2800" spc="-20" dirty="0">
                <a:latin typeface="Aptos"/>
                <a:cs typeface="Aptos"/>
              </a:rPr>
              <a:t>locations</a:t>
            </a:r>
            <a:r>
              <a:rPr sz="2800" spc="-125" dirty="0">
                <a:latin typeface="Times New Roman"/>
                <a:cs typeface="Times New Roman"/>
              </a:rPr>
              <a:t> </a:t>
            </a:r>
            <a:r>
              <a:rPr sz="2800" spc="-10" dirty="0">
                <a:latin typeface="Aptos"/>
                <a:cs typeface="Aptos"/>
              </a:rPr>
              <a:t>spread</a:t>
            </a:r>
            <a:r>
              <a:rPr sz="2800" spc="-10" dirty="0">
                <a:latin typeface="Times New Roman"/>
                <a:cs typeface="Times New Roman"/>
              </a:rPr>
              <a:t> </a:t>
            </a:r>
            <a:r>
              <a:rPr sz="2800" spc="-20" dirty="0">
                <a:latin typeface="Aptos"/>
                <a:cs typeface="Aptos"/>
              </a:rPr>
              <a:t>across</a:t>
            </a:r>
            <a:r>
              <a:rPr sz="2800" spc="-120" dirty="0">
                <a:latin typeface="Times New Roman"/>
                <a:cs typeface="Times New Roman"/>
              </a:rPr>
              <a:t> </a:t>
            </a:r>
            <a:r>
              <a:rPr sz="2800" dirty="0">
                <a:latin typeface="Aptos"/>
                <a:cs typeface="Aptos"/>
              </a:rPr>
              <a:t>a</a:t>
            </a:r>
            <a:r>
              <a:rPr sz="2800" spc="-130" dirty="0">
                <a:latin typeface="Times New Roman"/>
                <a:cs typeface="Times New Roman"/>
              </a:rPr>
              <a:t> </a:t>
            </a:r>
            <a:r>
              <a:rPr sz="2800" spc="-10" dirty="0">
                <a:latin typeface="Aptos"/>
                <a:cs typeface="Aptos"/>
              </a:rPr>
              <a:t>specific</a:t>
            </a:r>
            <a:r>
              <a:rPr sz="2800" spc="-125" dirty="0">
                <a:latin typeface="Times New Roman"/>
                <a:cs typeface="Times New Roman"/>
              </a:rPr>
              <a:t> </a:t>
            </a:r>
            <a:r>
              <a:rPr sz="2800" spc="-25" dirty="0">
                <a:latin typeface="Aptos"/>
                <a:cs typeface="Aptos"/>
              </a:rPr>
              <a:t>geographic</a:t>
            </a:r>
            <a:r>
              <a:rPr sz="2800" spc="-110" dirty="0">
                <a:latin typeface="Times New Roman"/>
                <a:cs typeface="Times New Roman"/>
              </a:rPr>
              <a:t> </a:t>
            </a:r>
            <a:r>
              <a:rPr sz="2800" spc="-20" dirty="0">
                <a:latin typeface="Aptos"/>
                <a:cs typeface="Aptos"/>
              </a:rPr>
              <a:t>area,</a:t>
            </a:r>
            <a:r>
              <a:rPr sz="2800" spc="-140" dirty="0">
                <a:latin typeface="Times New Roman"/>
                <a:cs typeface="Times New Roman"/>
              </a:rPr>
              <a:t> </a:t>
            </a:r>
            <a:r>
              <a:rPr sz="2800" dirty="0">
                <a:latin typeface="Aptos"/>
                <a:cs typeface="Aptos"/>
              </a:rPr>
              <a:t>or</a:t>
            </a:r>
            <a:r>
              <a:rPr sz="2800" spc="-135" dirty="0">
                <a:latin typeface="Times New Roman"/>
                <a:cs typeface="Times New Roman"/>
              </a:rPr>
              <a:t> </a:t>
            </a:r>
            <a:r>
              <a:rPr sz="2800" spc="-20" dirty="0">
                <a:latin typeface="Aptos"/>
                <a:cs typeface="Aptos"/>
              </a:rPr>
              <a:t>even</a:t>
            </a:r>
            <a:r>
              <a:rPr sz="2800" spc="-135" dirty="0">
                <a:latin typeface="Times New Roman"/>
                <a:cs typeface="Times New Roman"/>
              </a:rPr>
              <a:t> </a:t>
            </a:r>
            <a:r>
              <a:rPr sz="2800" spc="-10" dirty="0">
                <a:latin typeface="Aptos"/>
                <a:cs typeface="Aptos"/>
              </a:rPr>
              <a:t>the</a:t>
            </a:r>
            <a:r>
              <a:rPr sz="2800" spc="-140" dirty="0">
                <a:latin typeface="Times New Roman"/>
                <a:cs typeface="Times New Roman"/>
              </a:rPr>
              <a:t> </a:t>
            </a:r>
            <a:r>
              <a:rPr sz="2800" spc="-10" dirty="0">
                <a:latin typeface="Aptos"/>
                <a:cs typeface="Aptos"/>
              </a:rPr>
              <a:t>world.</a:t>
            </a:r>
            <a:endParaRPr sz="2800" dirty="0">
              <a:latin typeface="Aptos"/>
              <a:cs typeface="Aptos"/>
            </a:endParaRPr>
          </a:p>
          <a:p>
            <a:pPr marL="12700" algn="just">
              <a:lnSpc>
                <a:spcPct val="100000"/>
              </a:lnSpc>
              <a:spcBef>
                <a:spcPts val="605"/>
              </a:spcBef>
            </a:pPr>
            <a:r>
              <a:rPr sz="2800" spc="-20" dirty="0">
                <a:latin typeface="Aptos"/>
                <a:cs typeface="Aptos"/>
              </a:rPr>
              <a:t>For</a:t>
            </a:r>
            <a:r>
              <a:rPr sz="2800" spc="-120" dirty="0">
                <a:latin typeface="Times New Roman"/>
                <a:cs typeface="Times New Roman"/>
              </a:rPr>
              <a:t> </a:t>
            </a:r>
            <a:r>
              <a:rPr sz="2800" spc="-35" dirty="0">
                <a:latin typeface="Aptos"/>
                <a:cs typeface="Aptos"/>
              </a:rPr>
              <a:t>example,</a:t>
            </a:r>
            <a:r>
              <a:rPr sz="2800" spc="-130" dirty="0">
                <a:latin typeface="Times New Roman"/>
                <a:cs typeface="Times New Roman"/>
              </a:rPr>
              <a:t> </a:t>
            </a:r>
            <a:r>
              <a:rPr sz="2800" spc="-20" dirty="0">
                <a:latin typeface="Aptos"/>
                <a:cs typeface="Aptos"/>
              </a:rPr>
              <a:t>internet,</a:t>
            </a:r>
            <a:r>
              <a:rPr sz="2800" spc="-135" dirty="0">
                <a:latin typeface="Times New Roman"/>
                <a:cs typeface="Times New Roman"/>
              </a:rPr>
              <a:t> </a:t>
            </a:r>
            <a:r>
              <a:rPr sz="2800" spc="-20" dirty="0">
                <a:latin typeface="Aptos"/>
                <a:cs typeface="Aptos"/>
              </a:rPr>
              <a:t>networking</a:t>
            </a:r>
            <a:r>
              <a:rPr sz="2800" spc="-130" dirty="0">
                <a:latin typeface="Times New Roman"/>
                <a:cs typeface="Times New Roman"/>
              </a:rPr>
              <a:t> </a:t>
            </a:r>
            <a:r>
              <a:rPr sz="2800" dirty="0">
                <a:latin typeface="Aptos"/>
                <a:cs typeface="Aptos"/>
              </a:rPr>
              <a:t>of</a:t>
            </a:r>
            <a:r>
              <a:rPr sz="2800" spc="-130" dirty="0">
                <a:latin typeface="Times New Roman"/>
                <a:cs typeface="Times New Roman"/>
              </a:rPr>
              <a:t> </a:t>
            </a:r>
            <a:r>
              <a:rPr sz="2800" dirty="0">
                <a:latin typeface="Aptos"/>
                <a:cs typeface="Aptos"/>
              </a:rPr>
              <a:t>a</a:t>
            </a:r>
            <a:r>
              <a:rPr sz="2800" spc="-125" dirty="0">
                <a:latin typeface="Times New Roman"/>
                <a:cs typeface="Times New Roman"/>
              </a:rPr>
              <a:t> </a:t>
            </a:r>
            <a:r>
              <a:rPr sz="2800" spc="-10" dirty="0">
                <a:latin typeface="Aptos"/>
                <a:cs typeface="Aptos"/>
              </a:rPr>
              <a:t>bank,</a:t>
            </a:r>
            <a:r>
              <a:rPr sz="2800" spc="-125" dirty="0">
                <a:latin typeface="Times New Roman"/>
                <a:cs typeface="Times New Roman"/>
              </a:rPr>
              <a:t> </a:t>
            </a:r>
            <a:r>
              <a:rPr sz="2800" spc="-20" dirty="0">
                <a:latin typeface="Aptos"/>
                <a:cs typeface="Aptos"/>
              </a:rPr>
              <a:t>etc.</a:t>
            </a:r>
            <a:endParaRPr sz="2800" dirty="0">
              <a:latin typeface="Aptos"/>
              <a:cs typeface="Aptos"/>
            </a:endParaRPr>
          </a:p>
        </p:txBody>
      </p:sp>
      <p:pic>
        <p:nvPicPr>
          <p:cNvPr id="4" name="object 4"/>
          <p:cNvPicPr/>
          <p:nvPr/>
        </p:nvPicPr>
        <p:blipFill>
          <a:blip r:embed="rId2" cstate="print"/>
          <a:stretch>
            <a:fillRect/>
          </a:stretch>
        </p:blipFill>
        <p:spPr>
          <a:xfrm>
            <a:off x="3616833" y="3459097"/>
            <a:ext cx="4008630" cy="2577545"/>
          </a:xfrm>
          <a:prstGeom prst="rect">
            <a:avLst/>
          </a:prstGeom>
        </p:spPr>
      </p:pic>
      <p:sp>
        <p:nvSpPr>
          <p:cNvPr id="5" name="object 5"/>
          <p:cNvSpPr txBox="1"/>
          <p:nvPr/>
        </p:nvSpPr>
        <p:spPr>
          <a:xfrm>
            <a:off x="4149098" y="5992161"/>
            <a:ext cx="2978785"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Aptos"/>
                <a:cs typeface="Aptos"/>
              </a:rPr>
              <a:t>Fig:</a:t>
            </a:r>
            <a:r>
              <a:rPr sz="1800" spc="-95" dirty="0">
                <a:latin typeface="Times New Roman"/>
                <a:cs typeface="Times New Roman"/>
              </a:rPr>
              <a:t> </a:t>
            </a:r>
            <a:r>
              <a:rPr sz="1800" dirty="0">
                <a:latin typeface="Aptos"/>
                <a:cs typeface="Aptos"/>
              </a:rPr>
              <a:t>Wide</a:t>
            </a:r>
            <a:r>
              <a:rPr sz="1800" spc="-75" dirty="0">
                <a:latin typeface="Times New Roman"/>
                <a:cs typeface="Times New Roman"/>
              </a:rPr>
              <a:t> </a:t>
            </a:r>
            <a:r>
              <a:rPr sz="1800" spc="-10" dirty="0">
                <a:latin typeface="Aptos"/>
                <a:cs typeface="Aptos"/>
              </a:rPr>
              <a:t>Area</a:t>
            </a:r>
            <a:r>
              <a:rPr sz="1800" spc="-70" dirty="0">
                <a:latin typeface="Times New Roman"/>
                <a:cs typeface="Times New Roman"/>
              </a:rPr>
              <a:t> </a:t>
            </a:r>
            <a:r>
              <a:rPr sz="1800" spc="-10" dirty="0">
                <a:latin typeface="Aptos"/>
                <a:cs typeface="Aptos"/>
              </a:rPr>
              <a:t>Network</a:t>
            </a:r>
            <a:r>
              <a:rPr sz="1800" spc="-70" dirty="0">
                <a:latin typeface="Times New Roman"/>
                <a:cs typeface="Times New Roman"/>
              </a:rPr>
              <a:t> </a:t>
            </a:r>
            <a:r>
              <a:rPr sz="1800" spc="-20" dirty="0">
                <a:latin typeface="Aptos"/>
                <a:cs typeface="Aptos"/>
              </a:rPr>
              <a:t>(WAN)</a:t>
            </a:r>
            <a:endParaRPr sz="1800">
              <a:latin typeface="Aptos"/>
              <a:cs typeface="Apto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433209"/>
            <a:ext cx="10184130" cy="5266055"/>
          </a:xfrm>
          <a:prstGeom prst="rect">
            <a:avLst/>
          </a:prstGeom>
        </p:spPr>
        <p:txBody>
          <a:bodyPr vert="horz" wrap="square" lIns="0" tIns="96520" rIns="0" bIns="0" rtlCol="0">
            <a:spAutoFit/>
          </a:bodyPr>
          <a:lstStyle/>
          <a:p>
            <a:pPr marL="329565" indent="-317500">
              <a:lnSpc>
                <a:spcPct val="100000"/>
              </a:lnSpc>
              <a:spcBef>
                <a:spcPts val="760"/>
              </a:spcBef>
              <a:buSzPct val="96428"/>
              <a:buFont typeface="Wingdings"/>
              <a:buChar char=""/>
              <a:tabLst>
                <a:tab pos="330200" algn="l"/>
              </a:tabLst>
            </a:pPr>
            <a:r>
              <a:rPr sz="2800" b="1" spc="-20" dirty="0">
                <a:latin typeface="Aptos"/>
                <a:cs typeface="Aptos"/>
              </a:rPr>
              <a:t>Advantage</a:t>
            </a:r>
            <a:r>
              <a:rPr sz="2800" spc="-145" dirty="0">
                <a:latin typeface="Times New Roman"/>
                <a:cs typeface="Times New Roman"/>
              </a:rPr>
              <a:t> </a:t>
            </a:r>
            <a:r>
              <a:rPr sz="2800" b="1" dirty="0">
                <a:latin typeface="Aptos"/>
                <a:cs typeface="Aptos"/>
              </a:rPr>
              <a:t>of</a:t>
            </a:r>
            <a:r>
              <a:rPr sz="2800" spc="-110" dirty="0">
                <a:latin typeface="Times New Roman"/>
                <a:cs typeface="Times New Roman"/>
              </a:rPr>
              <a:t> </a:t>
            </a:r>
            <a:r>
              <a:rPr sz="2800" b="1" spc="-25" dirty="0">
                <a:latin typeface="Aptos"/>
                <a:cs typeface="Aptos"/>
              </a:rPr>
              <a:t>WAN</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It</a:t>
            </a:r>
            <a:r>
              <a:rPr sz="2800" spc="-150" dirty="0">
                <a:latin typeface="Times New Roman"/>
                <a:cs typeface="Times New Roman"/>
              </a:rPr>
              <a:t> </a:t>
            </a:r>
            <a:r>
              <a:rPr sz="2800" spc="-25" dirty="0">
                <a:latin typeface="Aptos"/>
                <a:cs typeface="Aptos"/>
              </a:rPr>
              <a:t>covers</a:t>
            </a:r>
            <a:r>
              <a:rPr sz="2800" spc="-130" dirty="0">
                <a:latin typeface="Times New Roman"/>
                <a:cs typeface="Times New Roman"/>
              </a:rPr>
              <a:t> </a:t>
            </a:r>
            <a:r>
              <a:rPr sz="2800" spc="-25" dirty="0">
                <a:latin typeface="Aptos"/>
                <a:cs typeface="Aptos"/>
              </a:rPr>
              <a:t>larger</a:t>
            </a:r>
            <a:r>
              <a:rPr sz="2800" spc="-135" dirty="0">
                <a:latin typeface="Times New Roman"/>
                <a:cs typeface="Times New Roman"/>
              </a:rPr>
              <a:t> </a:t>
            </a:r>
            <a:r>
              <a:rPr sz="2800" spc="-25" dirty="0">
                <a:latin typeface="Aptos"/>
                <a:cs typeface="Aptos"/>
              </a:rPr>
              <a:t>geographical</a:t>
            </a:r>
            <a:r>
              <a:rPr sz="2800" spc="-120" dirty="0">
                <a:latin typeface="Times New Roman"/>
                <a:cs typeface="Times New Roman"/>
              </a:rPr>
              <a:t> </a:t>
            </a:r>
            <a:r>
              <a:rPr sz="2800" spc="-20" dirty="0">
                <a:latin typeface="Aptos"/>
                <a:cs typeface="Aptos"/>
              </a:rPr>
              <a:t>area</a:t>
            </a:r>
            <a:r>
              <a:rPr sz="2800" spc="-135" dirty="0">
                <a:latin typeface="Times New Roman"/>
                <a:cs typeface="Times New Roman"/>
              </a:rPr>
              <a:t> </a:t>
            </a:r>
            <a:r>
              <a:rPr sz="2800" spc="-20" dirty="0">
                <a:latin typeface="Aptos"/>
                <a:cs typeface="Aptos"/>
              </a:rPr>
              <a:t>than</a:t>
            </a:r>
            <a:r>
              <a:rPr sz="2800" spc="-150" dirty="0">
                <a:latin typeface="Times New Roman"/>
                <a:cs typeface="Times New Roman"/>
              </a:rPr>
              <a:t> </a:t>
            </a:r>
            <a:r>
              <a:rPr sz="2800" dirty="0">
                <a:latin typeface="Aptos"/>
                <a:cs typeface="Aptos"/>
              </a:rPr>
              <a:t>LAN</a:t>
            </a:r>
            <a:r>
              <a:rPr sz="2800" spc="-125" dirty="0">
                <a:latin typeface="Times New Roman"/>
                <a:cs typeface="Times New Roman"/>
              </a:rPr>
              <a:t> </a:t>
            </a:r>
            <a:r>
              <a:rPr sz="2800" spc="-10" dirty="0">
                <a:latin typeface="Aptos"/>
                <a:cs typeface="Aptos"/>
              </a:rPr>
              <a:t>and</a:t>
            </a:r>
            <a:r>
              <a:rPr sz="2800" spc="-140" dirty="0">
                <a:latin typeface="Times New Roman"/>
                <a:cs typeface="Times New Roman"/>
              </a:rPr>
              <a:t> </a:t>
            </a:r>
            <a:r>
              <a:rPr sz="2800" spc="-20" dirty="0">
                <a:latin typeface="Aptos"/>
                <a:cs typeface="Aptos"/>
              </a:rPr>
              <a:t>MAN.</a:t>
            </a:r>
            <a:endParaRPr sz="2800">
              <a:latin typeface="Aptos"/>
              <a:cs typeface="Aptos"/>
            </a:endParaRPr>
          </a:p>
          <a:p>
            <a:pPr marL="527685" marR="5080" indent="-515620">
              <a:lnSpc>
                <a:spcPts val="3030"/>
              </a:lnSpc>
              <a:spcBef>
                <a:spcPts val="1045"/>
              </a:spcBef>
              <a:buAutoNum type="arabicPeriod"/>
              <a:tabLst>
                <a:tab pos="527685" algn="l"/>
                <a:tab pos="528320" algn="l"/>
              </a:tabLst>
            </a:pPr>
            <a:r>
              <a:rPr sz="2800" dirty="0">
                <a:latin typeface="Aptos"/>
                <a:cs typeface="Aptos"/>
              </a:rPr>
              <a:t>It</a:t>
            </a:r>
            <a:r>
              <a:rPr sz="2800" spc="-160" dirty="0">
                <a:latin typeface="Times New Roman"/>
                <a:cs typeface="Times New Roman"/>
              </a:rPr>
              <a:t> </a:t>
            </a:r>
            <a:r>
              <a:rPr sz="2800" spc="-10" dirty="0">
                <a:latin typeface="Aptos"/>
                <a:cs typeface="Aptos"/>
              </a:rPr>
              <a:t>can</a:t>
            </a:r>
            <a:r>
              <a:rPr sz="2800" spc="-140" dirty="0">
                <a:latin typeface="Times New Roman"/>
                <a:cs typeface="Times New Roman"/>
              </a:rPr>
              <a:t> </a:t>
            </a:r>
            <a:r>
              <a:rPr sz="2800" spc="-10" dirty="0">
                <a:latin typeface="Aptos"/>
                <a:cs typeface="Aptos"/>
              </a:rPr>
              <a:t>connect</a:t>
            </a:r>
            <a:r>
              <a:rPr sz="2800" spc="-130" dirty="0">
                <a:latin typeface="Times New Roman"/>
                <a:cs typeface="Times New Roman"/>
              </a:rPr>
              <a:t> </a:t>
            </a:r>
            <a:r>
              <a:rPr sz="2800" spc="-25" dirty="0">
                <a:latin typeface="Aptos"/>
                <a:cs typeface="Aptos"/>
              </a:rPr>
              <a:t>large</a:t>
            </a:r>
            <a:r>
              <a:rPr sz="2800" spc="-150" dirty="0">
                <a:latin typeface="Times New Roman"/>
                <a:cs typeface="Times New Roman"/>
              </a:rPr>
              <a:t> </a:t>
            </a:r>
            <a:r>
              <a:rPr sz="2800" spc="-20" dirty="0">
                <a:latin typeface="Aptos"/>
                <a:cs typeface="Aptos"/>
              </a:rPr>
              <a:t>number</a:t>
            </a:r>
            <a:r>
              <a:rPr sz="2800" spc="-130" dirty="0">
                <a:latin typeface="Times New Roman"/>
                <a:cs typeface="Times New Roman"/>
              </a:rPr>
              <a:t> </a:t>
            </a:r>
            <a:r>
              <a:rPr sz="2800" dirty="0">
                <a:latin typeface="Aptos"/>
                <a:cs typeface="Aptos"/>
              </a:rPr>
              <a:t>of</a:t>
            </a:r>
            <a:r>
              <a:rPr sz="2800" spc="-155" dirty="0">
                <a:latin typeface="Times New Roman"/>
                <a:cs typeface="Times New Roman"/>
              </a:rPr>
              <a:t> </a:t>
            </a:r>
            <a:r>
              <a:rPr sz="2800" spc="-20" dirty="0">
                <a:latin typeface="Aptos"/>
                <a:cs typeface="Aptos"/>
              </a:rPr>
              <a:t>computer</a:t>
            </a:r>
            <a:r>
              <a:rPr sz="2800" spc="-130" dirty="0">
                <a:latin typeface="Times New Roman"/>
                <a:cs typeface="Times New Roman"/>
              </a:rPr>
              <a:t> </a:t>
            </a:r>
            <a:r>
              <a:rPr sz="2800" spc="-20" dirty="0">
                <a:latin typeface="Aptos"/>
                <a:cs typeface="Aptos"/>
              </a:rPr>
              <a:t>compared</a:t>
            </a:r>
            <a:r>
              <a:rPr sz="2800" spc="-135" dirty="0">
                <a:latin typeface="Times New Roman"/>
                <a:cs typeface="Times New Roman"/>
              </a:rPr>
              <a:t> </a:t>
            </a:r>
            <a:r>
              <a:rPr sz="2800" dirty="0">
                <a:latin typeface="Aptos"/>
                <a:cs typeface="Aptos"/>
              </a:rPr>
              <a:t>to</a:t>
            </a:r>
            <a:r>
              <a:rPr sz="2800" spc="-145" dirty="0">
                <a:latin typeface="Times New Roman"/>
                <a:cs typeface="Times New Roman"/>
              </a:rPr>
              <a:t> </a:t>
            </a:r>
            <a:r>
              <a:rPr sz="2800" dirty="0">
                <a:latin typeface="Aptos"/>
                <a:cs typeface="Aptos"/>
              </a:rPr>
              <a:t>LAN</a:t>
            </a:r>
            <a:r>
              <a:rPr sz="2800" spc="-155" dirty="0">
                <a:latin typeface="Times New Roman"/>
                <a:cs typeface="Times New Roman"/>
              </a:rPr>
              <a:t> </a:t>
            </a:r>
            <a:r>
              <a:rPr sz="2800" spc="-25" dirty="0">
                <a:latin typeface="Aptos"/>
                <a:cs typeface="Aptos"/>
              </a:rPr>
              <a:t>and</a:t>
            </a:r>
            <a:r>
              <a:rPr sz="2800" spc="-25" dirty="0">
                <a:latin typeface="Times New Roman"/>
                <a:cs typeface="Times New Roman"/>
              </a:rPr>
              <a:t> </a:t>
            </a:r>
            <a:r>
              <a:rPr sz="2800" spc="-20" dirty="0">
                <a:latin typeface="Aptos"/>
                <a:cs typeface="Aptos"/>
              </a:rPr>
              <a:t>MAN.</a:t>
            </a:r>
            <a:endParaRPr sz="2800">
              <a:latin typeface="Aptos"/>
              <a:cs typeface="Aptos"/>
            </a:endParaRPr>
          </a:p>
          <a:p>
            <a:pPr marL="527685" indent="-515620">
              <a:lnSpc>
                <a:spcPct val="100000"/>
              </a:lnSpc>
              <a:spcBef>
                <a:spcPts val="610"/>
              </a:spcBef>
              <a:buAutoNum type="arabicPeriod"/>
              <a:tabLst>
                <a:tab pos="527685" algn="l"/>
                <a:tab pos="528320" algn="l"/>
              </a:tabLst>
            </a:pPr>
            <a:r>
              <a:rPr sz="2800" spc="-10" dirty="0">
                <a:latin typeface="Aptos"/>
                <a:cs typeface="Aptos"/>
              </a:rPr>
              <a:t>Using</a:t>
            </a:r>
            <a:r>
              <a:rPr sz="2800" spc="-155" dirty="0">
                <a:latin typeface="Times New Roman"/>
                <a:cs typeface="Times New Roman"/>
              </a:rPr>
              <a:t> </a:t>
            </a:r>
            <a:r>
              <a:rPr sz="2800" spc="-35" dirty="0">
                <a:latin typeface="Aptos"/>
                <a:cs typeface="Aptos"/>
              </a:rPr>
              <a:t>WAN</a:t>
            </a:r>
            <a:r>
              <a:rPr sz="2800" spc="-140" dirty="0">
                <a:latin typeface="Times New Roman"/>
                <a:cs typeface="Times New Roman"/>
              </a:rPr>
              <a:t> </a:t>
            </a:r>
            <a:r>
              <a:rPr sz="2800" spc="-20" dirty="0">
                <a:latin typeface="Aptos"/>
                <a:cs typeface="Aptos"/>
              </a:rPr>
              <a:t>communication</a:t>
            </a:r>
            <a:r>
              <a:rPr sz="2800" spc="-135" dirty="0">
                <a:latin typeface="Times New Roman"/>
                <a:cs typeface="Times New Roman"/>
              </a:rPr>
              <a:t> </a:t>
            </a:r>
            <a:r>
              <a:rPr sz="2800" spc="-20" dirty="0">
                <a:latin typeface="Aptos"/>
                <a:cs typeface="Aptos"/>
              </a:rPr>
              <a:t>can</a:t>
            </a:r>
            <a:r>
              <a:rPr sz="2800" spc="-150" dirty="0">
                <a:latin typeface="Times New Roman"/>
                <a:cs typeface="Times New Roman"/>
              </a:rPr>
              <a:t> </a:t>
            </a:r>
            <a:r>
              <a:rPr sz="2800" dirty="0">
                <a:latin typeface="Aptos"/>
                <a:cs typeface="Aptos"/>
              </a:rPr>
              <a:t>be</a:t>
            </a:r>
            <a:r>
              <a:rPr sz="2800" spc="-145" dirty="0">
                <a:latin typeface="Times New Roman"/>
                <a:cs typeface="Times New Roman"/>
              </a:rPr>
              <a:t> </a:t>
            </a:r>
            <a:r>
              <a:rPr sz="2800" dirty="0">
                <a:latin typeface="Aptos"/>
                <a:cs typeface="Aptos"/>
              </a:rPr>
              <a:t>done</a:t>
            </a:r>
            <a:r>
              <a:rPr sz="2800" spc="-130" dirty="0">
                <a:latin typeface="Times New Roman"/>
                <a:cs typeface="Times New Roman"/>
              </a:rPr>
              <a:t> </a:t>
            </a:r>
            <a:r>
              <a:rPr sz="2800" spc="-20" dirty="0">
                <a:latin typeface="Aptos"/>
                <a:cs typeface="Aptos"/>
              </a:rPr>
              <a:t>over</a:t>
            </a:r>
            <a:r>
              <a:rPr sz="2800" spc="-140" dirty="0">
                <a:latin typeface="Times New Roman"/>
                <a:cs typeface="Times New Roman"/>
              </a:rPr>
              <a:t> </a:t>
            </a:r>
            <a:r>
              <a:rPr sz="2800" dirty="0">
                <a:latin typeface="Aptos"/>
                <a:cs typeface="Aptos"/>
              </a:rPr>
              <a:t>a</a:t>
            </a:r>
            <a:r>
              <a:rPr sz="2800" spc="-155" dirty="0">
                <a:latin typeface="Times New Roman"/>
                <a:cs typeface="Times New Roman"/>
              </a:rPr>
              <a:t> </a:t>
            </a:r>
            <a:r>
              <a:rPr sz="2800" spc="-25" dirty="0">
                <a:latin typeface="Aptos"/>
                <a:cs typeface="Aptos"/>
              </a:rPr>
              <a:t>large</a:t>
            </a:r>
            <a:r>
              <a:rPr sz="2800" spc="-135" dirty="0">
                <a:latin typeface="Times New Roman"/>
                <a:cs typeface="Times New Roman"/>
              </a:rPr>
              <a:t> </a:t>
            </a:r>
            <a:r>
              <a:rPr sz="2800" spc="-10" dirty="0">
                <a:latin typeface="Aptos"/>
                <a:cs typeface="Aptos"/>
              </a:rPr>
              <a:t>distance.</a:t>
            </a:r>
            <a:endParaRPr sz="2800">
              <a:latin typeface="Aptos"/>
              <a:cs typeface="Aptos"/>
            </a:endParaRPr>
          </a:p>
          <a:p>
            <a:pPr marL="329565" indent="-317500">
              <a:lnSpc>
                <a:spcPct val="100000"/>
              </a:lnSpc>
              <a:spcBef>
                <a:spcPts val="660"/>
              </a:spcBef>
              <a:buSzPct val="96428"/>
              <a:buFont typeface="Wingdings"/>
              <a:buChar char=""/>
              <a:tabLst>
                <a:tab pos="330200" algn="l"/>
              </a:tabLst>
            </a:pPr>
            <a:r>
              <a:rPr sz="2800" b="1" spc="-20" dirty="0">
                <a:latin typeface="Aptos"/>
                <a:cs typeface="Aptos"/>
              </a:rPr>
              <a:t>Disadvantage</a:t>
            </a:r>
            <a:r>
              <a:rPr sz="2800" spc="-150" dirty="0">
                <a:latin typeface="Times New Roman"/>
                <a:cs typeface="Times New Roman"/>
              </a:rPr>
              <a:t> </a:t>
            </a:r>
            <a:r>
              <a:rPr sz="2800" b="1" dirty="0">
                <a:latin typeface="Aptos"/>
                <a:cs typeface="Aptos"/>
              </a:rPr>
              <a:t>of</a:t>
            </a:r>
            <a:r>
              <a:rPr sz="2800" spc="-80" dirty="0">
                <a:latin typeface="Times New Roman"/>
                <a:cs typeface="Times New Roman"/>
              </a:rPr>
              <a:t> </a:t>
            </a:r>
            <a:r>
              <a:rPr sz="2800" b="1" spc="-25" dirty="0">
                <a:latin typeface="Aptos"/>
                <a:cs typeface="Aptos"/>
              </a:rPr>
              <a:t>WAN</a:t>
            </a:r>
            <a:endParaRPr sz="2800">
              <a:latin typeface="Aptos"/>
              <a:cs typeface="Aptos"/>
            </a:endParaRPr>
          </a:p>
          <a:p>
            <a:pPr marL="527685" indent="-515620">
              <a:lnSpc>
                <a:spcPct val="100000"/>
              </a:lnSpc>
              <a:spcBef>
                <a:spcPts val="675"/>
              </a:spcBef>
              <a:buAutoNum type="arabicPeriod"/>
              <a:tabLst>
                <a:tab pos="527685" algn="l"/>
                <a:tab pos="528320" algn="l"/>
              </a:tabLst>
            </a:pPr>
            <a:r>
              <a:rPr sz="2800" dirty="0">
                <a:latin typeface="Aptos"/>
                <a:cs typeface="Aptos"/>
              </a:rPr>
              <a:t>It</a:t>
            </a:r>
            <a:r>
              <a:rPr sz="2800" spc="-150" dirty="0">
                <a:latin typeface="Times New Roman"/>
                <a:cs typeface="Times New Roman"/>
              </a:rPr>
              <a:t> </a:t>
            </a:r>
            <a:r>
              <a:rPr sz="2800" dirty="0">
                <a:latin typeface="Aptos"/>
                <a:cs typeface="Aptos"/>
              </a:rPr>
              <a:t>is</a:t>
            </a:r>
            <a:r>
              <a:rPr sz="2800" spc="-145" dirty="0">
                <a:latin typeface="Times New Roman"/>
                <a:cs typeface="Times New Roman"/>
              </a:rPr>
              <a:t> </a:t>
            </a:r>
            <a:r>
              <a:rPr sz="2800" spc="-25" dirty="0">
                <a:latin typeface="Aptos"/>
                <a:cs typeface="Aptos"/>
              </a:rPr>
              <a:t>expensive</a:t>
            </a:r>
            <a:r>
              <a:rPr sz="2800" spc="-135" dirty="0">
                <a:latin typeface="Times New Roman"/>
                <a:cs typeface="Times New Roman"/>
              </a:rPr>
              <a:t> </a:t>
            </a:r>
            <a:r>
              <a:rPr sz="2800" dirty="0">
                <a:latin typeface="Aptos"/>
                <a:cs typeface="Aptos"/>
              </a:rPr>
              <a:t>to</a:t>
            </a:r>
            <a:r>
              <a:rPr sz="2800" spc="-130" dirty="0">
                <a:latin typeface="Times New Roman"/>
                <a:cs typeface="Times New Roman"/>
              </a:rPr>
              <a:t> </a:t>
            </a:r>
            <a:r>
              <a:rPr sz="2800" spc="-20" dirty="0">
                <a:latin typeface="Aptos"/>
                <a:cs typeface="Aptos"/>
              </a:rPr>
              <a:t>establish,</a:t>
            </a:r>
            <a:r>
              <a:rPr sz="2800" spc="-140" dirty="0">
                <a:latin typeface="Times New Roman"/>
                <a:cs typeface="Times New Roman"/>
              </a:rPr>
              <a:t> </a:t>
            </a:r>
            <a:r>
              <a:rPr sz="2800" spc="-20" dirty="0">
                <a:latin typeface="Aptos"/>
                <a:cs typeface="Aptos"/>
              </a:rPr>
              <a:t>manage</a:t>
            </a:r>
            <a:r>
              <a:rPr sz="2800" spc="-135" dirty="0">
                <a:latin typeface="Times New Roman"/>
                <a:cs typeface="Times New Roman"/>
              </a:rPr>
              <a:t> </a:t>
            </a:r>
            <a:r>
              <a:rPr sz="2800" spc="-10" dirty="0">
                <a:latin typeface="Aptos"/>
                <a:cs typeface="Aptos"/>
              </a:rPr>
              <a:t>and</a:t>
            </a:r>
            <a:r>
              <a:rPr sz="2800" spc="-140" dirty="0">
                <a:latin typeface="Times New Roman"/>
                <a:cs typeface="Times New Roman"/>
              </a:rPr>
              <a:t> </a:t>
            </a:r>
            <a:r>
              <a:rPr sz="2800" spc="-10" dirty="0">
                <a:latin typeface="Aptos"/>
                <a:cs typeface="Aptos"/>
              </a:rPr>
              <a:t>operate.</a:t>
            </a:r>
            <a:endParaRPr sz="2800">
              <a:latin typeface="Aptos"/>
              <a:cs typeface="Aptos"/>
            </a:endParaRPr>
          </a:p>
          <a:p>
            <a:pPr marL="527685" marR="403225" indent="-515620">
              <a:lnSpc>
                <a:spcPts val="3020"/>
              </a:lnSpc>
              <a:spcBef>
                <a:spcPts val="1045"/>
              </a:spcBef>
              <a:buAutoNum type="arabicPeriod"/>
              <a:tabLst>
                <a:tab pos="527685" algn="l"/>
                <a:tab pos="528320" algn="l"/>
              </a:tabLst>
            </a:pPr>
            <a:r>
              <a:rPr sz="2800" dirty="0">
                <a:latin typeface="Aptos"/>
                <a:cs typeface="Aptos"/>
              </a:rPr>
              <a:t>It</a:t>
            </a:r>
            <a:r>
              <a:rPr sz="2800" spc="-155" dirty="0">
                <a:latin typeface="Times New Roman"/>
                <a:cs typeface="Times New Roman"/>
              </a:rPr>
              <a:t> </a:t>
            </a:r>
            <a:r>
              <a:rPr sz="2800" dirty="0">
                <a:latin typeface="Aptos"/>
                <a:cs typeface="Aptos"/>
              </a:rPr>
              <a:t>is</a:t>
            </a:r>
            <a:r>
              <a:rPr sz="2800" spc="-150" dirty="0">
                <a:latin typeface="Times New Roman"/>
                <a:cs typeface="Times New Roman"/>
              </a:rPr>
              <a:t> </a:t>
            </a:r>
            <a:r>
              <a:rPr sz="2800" spc="-10" dirty="0">
                <a:latin typeface="Aptos"/>
                <a:cs typeface="Aptos"/>
              </a:rPr>
              <a:t>the</a:t>
            </a:r>
            <a:r>
              <a:rPr sz="2800" spc="-145" dirty="0">
                <a:latin typeface="Times New Roman"/>
                <a:cs typeface="Times New Roman"/>
              </a:rPr>
              <a:t> </a:t>
            </a:r>
            <a:r>
              <a:rPr sz="2800" spc="-25" dirty="0">
                <a:latin typeface="Aptos"/>
                <a:cs typeface="Aptos"/>
              </a:rPr>
              <a:t>slowest</a:t>
            </a:r>
            <a:r>
              <a:rPr sz="2800" spc="-150" dirty="0">
                <a:latin typeface="Times New Roman"/>
                <a:cs typeface="Times New Roman"/>
              </a:rPr>
              <a:t> </a:t>
            </a:r>
            <a:r>
              <a:rPr sz="2800" spc="-10" dirty="0">
                <a:latin typeface="Aptos"/>
                <a:cs typeface="Aptos"/>
              </a:rPr>
              <a:t>type</a:t>
            </a:r>
            <a:r>
              <a:rPr sz="2800" spc="-135" dirty="0">
                <a:latin typeface="Times New Roman"/>
                <a:cs typeface="Times New Roman"/>
              </a:rPr>
              <a:t> </a:t>
            </a:r>
            <a:r>
              <a:rPr sz="2800" dirty="0">
                <a:latin typeface="Aptos"/>
                <a:cs typeface="Aptos"/>
              </a:rPr>
              <a:t>of</a:t>
            </a:r>
            <a:r>
              <a:rPr sz="2800" spc="-150" dirty="0">
                <a:latin typeface="Times New Roman"/>
                <a:cs typeface="Times New Roman"/>
              </a:rPr>
              <a:t> </a:t>
            </a:r>
            <a:r>
              <a:rPr sz="2800" spc="-20" dirty="0">
                <a:latin typeface="Aptos"/>
                <a:cs typeface="Aptos"/>
              </a:rPr>
              <a:t>network</a:t>
            </a:r>
            <a:r>
              <a:rPr sz="2800" spc="-130" dirty="0">
                <a:latin typeface="Times New Roman"/>
                <a:cs typeface="Times New Roman"/>
              </a:rPr>
              <a:t> </a:t>
            </a:r>
            <a:r>
              <a:rPr sz="2800" spc="-20" dirty="0">
                <a:latin typeface="Aptos"/>
                <a:cs typeface="Aptos"/>
              </a:rPr>
              <a:t>compared</a:t>
            </a:r>
            <a:r>
              <a:rPr sz="2800" spc="-130" dirty="0">
                <a:latin typeface="Times New Roman"/>
                <a:cs typeface="Times New Roman"/>
              </a:rPr>
              <a:t> </a:t>
            </a:r>
            <a:r>
              <a:rPr sz="2800" dirty="0">
                <a:latin typeface="Aptos"/>
                <a:cs typeface="Aptos"/>
              </a:rPr>
              <a:t>to</a:t>
            </a:r>
            <a:r>
              <a:rPr sz="2800" spc="-135" dirty="0">
                <a:latin typeface="Times New Roman"/>
                <a:cs typeface="Times New Roman"/>
              </a:rPr>
              <a:t> </a:t>
            </a:r>
            <a:r>
              <a:rPr sz="2800" spc="-20" dirty="0">
                <a:latin typeface="Aptos"/>
                <a:cs typeface="Aptos"/>
              </a:rPr>
              <a:t>that</a:t>
            </a:r>
            <a:r>
              <a:rPr sz="2800" spc="-150" dirty="0">
                <a:latin typeface="Times New Roman"/>
                <a:cs typeface="Times New Roman"/>
              </a:rPr>
              <a:t> </a:t>
            </a:r>
            <a:r>
              <a:rPr sz="2800" dirty="0">
                <a:latin typeface="Aptos"/>
                <a:cs typeface="Aptos"/>
              </a:rPr>
              <a:t>of</a:t>
            </a:r>
            <a:r>
              <a:rPr sz="2800" spc="-150" dirty="0">
                <a:latin typeface="Times New Roman"/>
                <a:cs typeface="Times New Roman"/>
              </a:rPr>
              <a:t> </a:t>
            </a:r>
            <a:r>
              <a:rPr sz="2800" dirty="0">
                <a:latin typeface="Aptos"/>
                <a:cs typeface="Aptos"/>
              </a:rPr>
              <a:t>LAN</a:t>
            </a:r>
            <a:r>
              <a:rPr sz="2800" spc="-150" dirty="0">
                <a:latin typeface="Times New Roman"/>
                <a:cs typeface="Times New Roman"/>
              </a:rPr>
              <a:t> </a:t>
            </a:r>
            <a:r>
              <a:rPr sz="2800" spc="-25" dirty="0">
                <a:latin typeface="Aptos"/>
                <a:cs typeface="Aptos"/>
              </a:rPr>
              <a:t>and</a:t>
            </a:r>
            <a:r>
              <a:rPr sz="2800" spc="-25" dirty="0">
                <a:latin typeface="Times New Roman"/>
                <a:cs typeface="Times New Roman"/>
              </a:rPr>
              <a:t> </a:t>
            </a:r>
            <a:r>
              <a:rPr sz="2800" spc="-20" dirty="0">
                <a:latin typeface="Aptos"/>
                <a:cs typeface="Aptos"/>
              </a:rPr>
              <a:t>MAN.</a:t>
            </a:r>
            <a:endParaRPr sz="2800">
              <a:latin typeface="Aptos"/>
              <a:cs typeface="Aptos"/>
            </a:endParaRPr>
          </a:p>
          <a:p>
            <a:pPr marL="527685" marR="540385" indent="-515620">
              <a:lnSpc>
                <a:spcPts val="3020"/>
              </a:lnSpc>
              <a:spcBef>
                <a:spcPts val="1005"/>
              </a:spcBef>
              <a:buAutoNum type="arabicPeriod"/>
              <a:tabLst>
                <a:tab pos="527685" algn="l"/>
                <a:tab pos="528320" algn="l"/>
              </a:tabLst>
            </a:pPr>
            <a:r>
              <a:rPr sz="2800" spc="-20" dirty="0">
                <a:latin typeface="Aptos"/>
                <a:cs typeface="Aptos"/>
              </a:rPr>
              <a:t>Highly</a:t>
            </a:r>
            <a:r>
              <a:rPr sz="2800" spc="-145" dirty="0">
                <a:latin typeface="Times New Roman"/>
                <a:cs typeface="Times New Roman"/>
              </a:rPr>
              <a:t> </a:t>
            </a:r>
            <a:r>
              <a:rPr sz="2800" spc="-10" dirty="0">
                <a:latin typeface="Aptos"/>
                <a:cs typeface="Aptos"/>
              </a:rPr>
              <a:t>qualified</a:t>
            </a:r>
            <a:r>
              <a:rPr sz="2800" spc="-155" dirty="0">
                <a:latin typeface="Times New Roman"/>
                <a:cs typeface="Times New Roman"/>
              </a:rPr>
              <a:t> </a:t>
            </a:r>
            <a:r>
              <a:rPr sz="2800" spc="-25" dirty="0">
                <a:latin typeface="Aptos"/>
                <a:cs typeface="Aptos"/>
              </a:rPr>
              <a:t>manpower</a:t>
            </a:r>
            <a:r>
              <a:rPr sz="2800" spc="-130" dirty="0">
                <a:latin typeface="Times New Roman"/>
                <a:cs typeface="Times New Roman"/>
              </a:rPr>
              <a:t> </a:t>
            </a:r>
            <a:r>
              <a:rPr sz="2800" spc="-20" dirty="0">
                <a:latin typeface="Aptos"/>
                <a:cs typeface="Aptos"/>
              </a:rPr>
              <a:t>are</a:t>
            </a:r>
            <a:r>
              <a:rPr sz="2800" spc="-145" dirty="0">
                <a:latin typeface="Times New Roman"/>
                <a:cs typeface="Times New Roman"/>
              </a:rPr>
              <a:t> </a:t>
            </a:r>
            <a:r>
              <a:rPr sz="2800" spc="-20" dirty="0">
                <a:latin typeface="Aptos"/>
                <a:cs typeface="Aptos"/>
              </a:rPr>
              <a:t>required</a:t>
            </a:r>
            <a:r>
              <a:rPr sz="2800" spc="-130" dirty="0">
                <a:latin typeface="Times New Roman"/>
                <a:cs typeface="Times New Roman"/>
              </a:rPr>
              <a:t> </a:t>
            </a:r>
            <a:r>
              <a:rPr sz="2800" dirty="0">
                <a:latin typeface="Aptos"/>
                <a:cs typeface="Aptos"/>
              </a:rPr>
              <a:t>to</a:t>
            </a:r>
            <a:r>
              <a:rPr sz="2800" spc="-130" dirty="0">
                <a:latin typeface="Times New Roman"/>
                <a:cs typeface="Times New Roman"/>
              </a:rPr>
              <a:t> </a:t>
            </a:r>
            <a:r>
              <a:rPr sz="2800" spc="-20" dirty="0">
                <a:latin typeface="Aptos"/>
                <a:cs typeface="Aptos"/>
              </a:rPr>
              <a:t>establish</a:t>
            </a:r>
            <a:r>
              <a:rPr sz="2800" spc="-145" dirty="0">
                <a:latin typeface="Times New Roman"/>
                <a:cs typeface="Times New Roman"/>
              </a:rPr>
              <a:t> </a:t>
            </a:r>
            <a:r>
              <a:rPr sz="2800" dirty="0">
                <a:latin typeface="Aptos"/>
                <a:cs typeface="Aptos"/>
              </a:rPr>
              <a:t>and</a:t>
            </a:r>
            <a:r>
              <a:rPr sz="2800" spc="-114" dirty="0">
                <a:latin typeface="Times New Roman"/>
                <a:cs typeface="Times New Roman"/>
              </a:rPr>
              <a:t> </a:t>
            </a:r>
            <a:r>
              <a:rPr sz="2800" spc="-25" dirty="0">
                <a:latin typeface="Aptos"/>
                <a:cs typeface="Aptos"/>
              </a:rPr>
              <a:t>run</a:t>
            </a:r>
            <a:r>
              <a:rPr sz="2800" spc="-25" dirty="0">
                <a:latin typeface="Times New Roman"/>
                <a:cs typeface="Times New Roman"/>
              </a:rPr>
              <a:t> </a:t>
            </a:r>
            <a:r>
              <a:rPr sz="2800" spc="-20" dirty="0">
                <a:latin typeface="Aptos"/>
                <a:cs typeface="Aptos"/>
              </a:rPr>
              <a:t>these</a:t>
            </a:r>
            <a:r>
              <a:rPr sz="2800" spc="-150" dirty="0">
                <a:latin typeface="Times New Roman"/>
                <a:cs typeface="Times New Roman"/>
              </a:rPr>
              <a:t> </a:t>
            </a:r>
            <a:r>
              <a:rPr sz="2800" spc="-10" dirty="0">
                <a:latin typeface="Aptos"/>
                <a:cs typeface="Aptos"/>
              </a:rPr>
              <a:t>type</a:t>
            </a:r>
            <a:r>
              <a:rPr sz="2800" spc="-130" dirty="0">
                <a:latin typeface="Times New Roman"/>
                <a:cs typeface="Times New Roman"/>
              </a:rPr>
              <a:t> </a:t>
            </a:r>
            <a:r>
              <a:rPr sz="2800" dirty="0">
                <a:latin typeface="Aptos"/>
                <a:cs typeface="Aptos"/>
              </a:rPr>
              <a:t>of</a:t>
            </a:r>
            <a:r>
              <a:rPr sz="2800" spc="-135" dirty="0">
                <a:latin typeface="Times New Roman"/>
                <a:cs typeface="Times New Roman"/>
              </a:rPr>
              <a:t> </a:t>
            </a:r>
            <a:r>
              <a:rPr sz="2800" spc="-10" dirty="0">
                <a:latin typeface="Aptos"/>
                <a:cs typeface="Aptos"/>
              </a:rPr>
              <a:t>network.</a:t>
            </a:r>
            <a:endParaRPr sz="2800">
              <a:latin typeface="Aptos"/>
              <a:cs typeface="Apto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249295" y="529555"/>
          <a:ext cx="11768454" cy="6087745"/>
        </p:xfrm>
        <a:graphic>
          <a:graphicData uri="http://schemas.openxmlformats.org/drawingml/2006/table">
            <a:tbl>
              <a:tblPr firstRow="1" bandRow="1">
                <a:tableStyleId>{2D5ABB26-0587-4C30-8999-92F81FD0307C}</a:tableStyleId>
              </a:tblPr>
              <a:tblGrid>
                <a:gridCol w="2923540">
                  <a:extLst>
                    <a:ext uri="{9D8B030D-6E8A-4147-A177-3AD203B41FA5}">
                      <a16:colId xmlns:a16="http://schemas.microsoft.com/office/drawing/2014/main" val="20000"/>
                    </a:ext>
                  </a:extLst>
                </a:gridCol>
                <a:gridCol w="2063114">
                  <a:extLst>
                    <a:ext uri="{9D8B030D-6E8A-4147-A177-3AD203B41FA5}">
                      <a16:colId xmlns:a16="http://schemas.microsoft.com/office/drawing/2014/main" val="20001"/>
                    </a:ext>
                  </a:extLst>
                </a:gridCol>
                <a:gridCol w="3390900">
                  <a:extLst>
                    <a:ext uri="{9D8B030D-6E8A-4147-A177-3AD203B41FA5}">
                      <a16:colId xmlns:a16="http://schemas.microsoft.com/office/drawing/2014/main" val="20002"/>
                    </a:ext>
                  </a:extLst>
                </a:gridCol>
                <a:gridCol w="3390900">
                  <a:extLst>
                    <a:ext uri="{9D8B030D-6E8A-4147-A177-3AD203B41FA5}">
                      <a16:colId xmlns:a16="http://schemas.microsoft.com/office/drawing/2014/main" val="20003"/>
                    </a:ext>
                  </a:extLst>
                </a:gridCol>
              </a:tblGrid>
              <a:tr h="161925">
                <a:tc gridSpan="4">
                  <a:txBody>
                    <a:bodyPr/>
                    <a:lstStyle/>
                    <a:p>
                      <a:pPr>
                        <a:lnSpc>
                          <a:spcPct val="100000"/>
                        </a:lnSpc>
                      </a:pPr>
                      <a:endParaRPr sz="900">
                        <a:latin typeface="Times New Roman"/>
                        <a:cs typeface="Times New Roman"/>
                      </a:endParaRPr>
                    </a:p>
                  </a:txBody>
                  <a:tcPr marL="0" marR="0" marT="0" marB="0">
                    <a:lnL w="3175">
                      <a:solidFill>
                        <a:srgbClr val="DFDFDF"/>
                      </a:solidFill>
                      <a:prstDash val="solid"/>
                    </a:lnL>
                    <a:solidFill>
                      <a:srgbClr val="FFFFFF"/>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285750">
                <a:tc>
                  <a:txBody>
                    <a:bodyPr/>
                    <a:lstStyle/>
                    <a:p>
                      <a:pPr algn="ctr">
                        <a:lnSpc>
                          <a:spcPts val="1225"/>
                        </a:lnSpc>
                      </a:pPr>
                      <a:r>
                        <a:rPr sz="1400" b="1" spc="-10" dirty="0">
                          <a:latin typeface="Aptos"/>
                          <a:cs typeface="Aptos"/>
                        </a:rPr>
                        <a:t>Basis</a:t>
                      </a:r>
                      <a:endParaRPr sz="1400">
                        <a:latin typeface="Aptos"/>
                        <a:cs typeface="Aptos"/>
                      </a:endParaRPr>
                    </a:p>
                  </a:txBody>
                  <a:tcPr marL="0" marR="0" marT="0" marB="0">
                    <a:lnL w="3175">
                      <a:solidFill>
                        <a:srgbClr val="DFDFDF"/>
                      </a:solidFill>
                      <a:prstDash val="solid"/>
                    </a:lnL>
                    <a:lnR w="3175">
                      <a:solidFill>
                        <a:srgbClr val="DFDFDF"/>
                      </a:solidFill>
                      <a:prstDash val="solid"/>
                    </a:lnR>
                    <a:lnB w="3175">
                      <a:solidFill>
                        <a:srgbClr val="DFDFDF"/>
                      </a:solidFill>
                      <a:prstDash val="solid"/>
                    </a:lnB>
                    <a:solidFill>
                      <a:srgbClr val="F9F9F9"/>
                    </a:solidFill>
                  </a:tcPr>
                </a:tc>
                <a:tc>
                  <a:txBody>
                    <a:bodyPr/>
                    <a:lstStyle/>
                    <a:p>
                      <a:pPr algn="ctr">
                        <a:lnSpc>
                          <a:spcPts val="1225"/>
                        </a:lnSpc>
                      </a:pPr>
                      <a:r>
                        <a:rPr sz="1400" b="1" spc="-25" dirty="0">
                          <a:latin typeface="Aptos"/>
                          <a:cs typeface="Aptos"/>
                        </a:rPr>
                        <a:t>LAN</a:t>
                      </a:r>
                      <a:endParaRPr sz="1400">
                        <a:latin typeface="Aptos"/>
                        <a:cs typeface="Aptos"/>
                      </a:endParaRPr>
                    </a:p>
                  </a:txBody>
                  <a:tcPr marL="0" marR="0" marT="0" marB="0">
                    <a:lnL w="3175">
                      <a:solidFill>
                        <a:srgbClr val="DFDFDF"/>
                      </a:solidFill>
                      <a:prstDash val="solid"/>
                    </a:lnL>
                    <a:lnR w="3175">
                      <a:solidFill>
                        <a:srgbClr val="DFDFDF"/>
                      </a:solidFill>
                      <a:prstDash val="solid"/>
                    </a:lnR>
                    <a:lnB w="3175">
                      <a:solidFill>
                        <a:srgbClr val="DFDFDF"/>
                      </a:solidFill>
                      <a:prstDash val="solid"/>
                    </a:lnB>
                    <a:solidFill>
                      <a:srgbClr val="F9F9F9"/>
                    </a:solidFill>
                  </a:tcPr>
                </a:tc>
                <a:tc>
                  <a:txBody>
                    <a:bodyPr/>
                    <a:lstStyle/>
                    <a:p>
                      <a:pPr algn="ctr">
                        <a:lnSpc>
                          <a:spcPts val="1225"/>
                        </a:lnSpc>
                      </a:pPr>
                      <a:r>
                        <a:rPr sz="1400" b="1" spc="-25" dirty="0">
                          <a:latin typeface="Aptos"/>
                          <a:cs typeface="Aptos"/>
                        </a:rPr>
                        <a:t>MAN</a:t>
                      </a:r>
                      <a:endParaRPr sz="1400">
                        <a:latin typeface="Aptos"/>
                        <a:cs typeface="Aptos"/>
                      </a:endParaRPr>
                    </a:p>
                  </a:txBody>
                  <a:tcPr marL="0" marR="0" marT="0" marB="0">
                    <a:lnL w="3175">
                      <a:solidFill>
                        <a:srgbClr val="DFDFDF"/>
                      </a:solidFill>
                      <a:prstDash val="solid"/>
                    </a:lnL>
                    <a:lnR w="3175">
                      <a:solidFill>
                        <a:srgbClr val="DFDFDF"/>
                      </a:solidFill>
                      <a:prstDash val="solid"/>
                    </a:lnR>
                    <a:lnB w="3175">
                      <a:solidFill>
                        <a:srgbClr val="DFDFDF"/>
                      </a:solidFill>
                      <a:prstDash val="solid"/>
                    </a:lnB>
                    <a:solidFill>
                      <a:srgbClr val="F9F9F9"/>
                    </a:solidFill>
                  </a:tcPr>
                </a:tc>
                <a:tc>
                  <a:txBody>
                    <a:bodyPr/>
                    <a:lstStyle/>
                    <a:p>
                      <a:pPr marL="1905" algn="ctr">
                        <a:lnSpc>
                          <a:spcPts val="1225"/>
                        </a:lnSpc>
                      </a:pPr>
                      <a:r>
                        <a:rPr sz="1400" b="1" spc="-25" dirty="0">
                          <a:latin typeface="Aptos"/>
                          <a:cs typeface="Aptos"/>
                        </a:rPr>
                        <a:t>WAN</a:t>
                      </a:r>
                      <a:endParaRPr sz="1400">
                        <a:latin typeface="Aptos"/>
                        <a:cs typeface="Aptos"/>
                      </a:endParaRPr>
                    </a:p>
                  </a:txBody>
                  <a:tcPr marL="0" marR="0" marT="0" marB="0">
                    <a:lnL w="3175">
                      <a:solidFill>
                        <a:srgbClr val="DFDFDF"/>
                      </a:solidFill>
                      <a:prstDash val="solid"/>
                    </a:lnL>
                    <a:lnR w="3175">
                      <a:solidFill>
                        <a:srgbClr val="DFDFDF"/>
                      </a:solidFill>
                      <a:prstDash val="solid"/>
                    </a:lnR>
                    <a:lnB w="3175">
                      <a:solidFill>
                        <a:srgbClr val="DFDFDF"/>
                      </a:solidFill>
                      <a:prstDash val="solid"/>
                    </a:lnB>
                    <a:solidFill>
                      <a:srgbClr val="F9F9F9"/>
                    </a:solidFill>
                  </a:tcPr>
                </a:tc>
                <a:extLst>
                  <a:ext uri="{0D108BD9-81ED-4DB2-BD59-A6C34878D82A}">
                    <a16:rowId xmlns:a16="http://schemas.microsoft.com/office/drawing/2014/main" val="10001"/>
                  </a:ext>
                </a:extLst>
              </a:tr>
              <a:tr h="718185">
                <a:tc>
                  <a:txBody>
                    <a:bodyPr/>
                    <a:lstStyle/>
                    <a:p>
                      <a:pPr marL="38100">
                        <a:lnSpc>
                          <a:spcPct val="100000"/>
                        </a:lnSpc>
                        <a:spcBef>
                          <a:spcPts val="1605"/>
                        </a:spcBef>
                      </a:pPr>
                      <a:r>
                        <a:rPr sz="1800" b="1" dirty="0">
                          <a:latin typeface="Aptos"/>
                          <a:cs typeface="Aptos"/>
                        </a:rPr>
                        <a:t>Full-</a:t>
                      </a:r>
                      <a:r>
                        <a:rPr sz="1800" b="1" spc="-20" dirty="0">
                          <a:latin typeface="Aptos"/>
                          <a:cs typeface="Aptos"/>
                        </a:rPr>
                        <a:t>Form</a:t>
                      </a:r>
                      <a:endParaRPr sz="1800">
                        <a:latin typeface="Aptos"/>
                        <a:cs typeface="Aptos"/>
                      </a:endParaRPr>
                    </a:p>
                  </a:txBody>
                  <a:tcPr marL="0" marR="0" marT="20383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a:lnSpc>
                          <a:spcPct val="100000"/>
                        </a:lnSpc>
                        <a:spcBef>
                          <a:spcPts val="40"/>
                        </a:spcBef>
                      </a:pPr>
                      <a:endParaRPr sz="1100">
                        <a:latin typeface="Times New Roman"/>
                        <a:cs typeface="Times New Roman"/>
                      </a:endParaRPr>
                    </a:p>
                    <a:p>
                      <a:pPr marL="95250" marR="90170">
                        <a:lnSpc>
                          <a:spcPct val="100000"/>
                        </a:lnSpc>
                      </a:pPr>
                      <a:r>
                        <a:rPr sz="1200" dirty="0">
                          <a:latin typeface="Aptos"/>
                          <a:cs typeface="Aptos"/>
                        </a:rPr>
                        <a:t>LAN</a:t>
                      </a:r>
                      <a:r>
                        <a:rPr sz="1200" spc="380" dirty="0">
                          <a:latin typeface="Times New Roman"/>
                          <a:cs typeface="Times New Roman"/>
                        </a:rPr>
                        <a:t> </a:t>
                      </a:r>
                      <a:r>
                        <a:rPr sz="1200" dirty="0">
                          <a:latin typeface="Aptos"/>
                          <a:cs typeface="Aptos"/>
                        </a:rPr>
                        <a:t>stands</a:t>
                      </a:r>
                      <a:r>
                        <a:rPr sz="1200" spc="380" dirty="0">
                          <a:latin typeface="Times New Roman"/>
                          <a:cs typeface="Times New Roman"/>
                        </a:rPr>
                        <a:t> </a:t>
                      </a:r>
                      <a:r>
                        <a:rPr sz="1200" dirty="0">
                          <a:latin typeface="Aptos"/>
                          <a:cs typeface="Aptos"/>
                        </a:rPr>
                        <a:t>for</a:t>
                      </a:r>
                      <a:r>
                        <a:rPr sz="1200" spc="380" dirty="0">
                          <a:latin typeface="Times New Roman"/>
                          <a:cs typeface="Times New Roman"/>
                        </a:rPr>
                        <a:t> </a:t>
                      </a:r>
                      <a:r>
                        <a:rPr sz="1200" dirty="0">
                          <a:latin typeface="Aptos"/>
                          <a:cs typeface="Aptos"/>
                        </a:rPr>
                        <a:t>local</a:t>
                      </a:r>
                      <a:r>
                        <a:rPr sz="1200" spc="380" dirty="0">
                          <a:latin typeface="Times New Roman"/>
                          <a:cs typeface="Times New Roman"/>
                        </a:rPr>
                        <a:t> </a:t>
                      </a:r>
                      <a:r>
                        <a:rPr sz="1200" spc="-20" dirty="0">
                          <a:latin typeface="Aptos"/>
                          <a:cs typeface="Aptos"/>
                        </a:rPr>
                        <a:t>area</a:t>
                      </a:r>
                      <a:r>
                        <a:rPr sz="1200" spc="-20" dirty="0">
                          <a:latin typeface="Times New Roman"/>
                          <a:cs typeface="Times New Roman"/>
                        </a:rPr>
                        <a:t> </a:t>
                      </a:r>
                      <a:r>
                        <a:rPr sz="1200" spc="-10" dirty="0">
                          <a:latin typeface="Aptos"/>
                          <a:cs typeface="Aptos"/>
                        </a:rPr>
                        <a:t>network.</a:t>
                      </a:r>
                      <a:endParaRPr sz="1200">
                        <a:latin typeface="Aptos"/>
                        <a:cs typeface="Aptos"/>
                      </a:endParaRPr>
                    </a:p>
                  </a:txBody>
                  <a:tcPr marL="0" marR="0" marT="508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spcBef>
                          <a:spcPts val="15"/>
                        </a:spcBef>
                      </a:pPr>
                      <a:endParaRPr sz="1750">
                        <a:latin typeface="Times New Roman"/>
                        <a:cs typeface="Times New Roman"/>
                      </a:endParaRPr>
                    </a:p>
                    <a:p>
                      <a:pPr marL="95885">
                        <a:lnSpc>
                          <a:spcPct val="100000"/>
                        </a:lnSpc>
                      </a:pPr>
                      <a:r>
                        <a:rPr sz="1200" dirty="0">
                          <a:latin typeface="Aptos"/>
                          <a:cs typeface="Aptos"/>
                        </a:rPr>
                        <a:t>MAN</a:t>
                      </a:r>
                      <a:r>
                        <a:rPr sz="1200" spc="-50" dirty="0">
                          <a:latin typeface="Times New Roman"/>
                          <a:cs typeface="Times New Roman"/>
                        </a:rPr>
                        <a:t> </a:t>
                      </a:r>
                      <a:r>
                        <a:rPr sz="1200" dirty="0">
                          <a:latin typeface="Aptos"/>
                          <a:cs typeface="Aptos"/>
                        </a:rPr>
                        <a:t>stands</a:t>
                      </a:r>
                      <a:r>
                        <a:rPr sz="1200" spc="-35" dirty="0">
                          <a:latin typeface="Times New Roman"/>
                          <a:cs typeface="Times New Roman"/>
                        </a:rPr>
                        <a:t> </a:t>
                      </a:r>
                      <a:r>
                        <a:rPr sz="1200" dirty="0">
                          <a:latin typeface="Aptos"/>
                          <a:cs typeface="Aptos"/>
                        </a:rPr>
                        <a:t>for</a:t>
                      </a:r>
                      <a:r>
                        <a:rPr sz="1200" spc="-60" dirty="0">
                          <a:latin typeface="Times New Roman"/>
                          <a:cs typeface="Times New Roman"/>
                        </a:rPr>
                        <a:t> </a:t>
                      </a:r>
                      <a:r>
                        <a:rPr sz="1200" spc="-10" dirty="0">
                          <a:latin typeface="Aptos"/>
                          <a:cs typeface="Aptos"/>
                        </a:rPr>
                        <a:t>metropolitan</a:t>
                      </a:r>
                      <a:r>
                        <a:rPr sz="1200" spc="-30" dirty="0">
                          <a:latin typeface="Times New Roman"/>
                          <a:cs typeface="Times New Roman"/>
                        </a:rPr>
                        <a:t> </a:t>
                      </a:r>
                      <a:r>
                        <a:rPr sz="1200" dirty="0">
                          <a:latin typeface="Aptos"/>
                          <a:cs typeface="Aptos"/>
                        </a:rPr>
                        <a:t>area</a:t>
                      </a:r>
                      <a:r>
                        <a:rPr sz="1200" spc="-45" dirty="0">
                          <a:latin typeface="Times New Roman"/>
                          <a:cs typeface="Times New Roman"/>
                        </a:rPr>
                        <a:t> </a:t>
                      </a:r>
                      <a:r>
                        <a:rPr sz="1200" spc="-10" dirty="0">
                          <a:latin typeface="Aptos"/>
                          <a:cs typeface="Aptos"/>
                        </a:rPr>
                        <a:t>network.</a:t>
                      </a:r>
                      <a:endParaRPr sz="1200">
                        <a:latin typeface="Aptos"/>
                        <a:cs typeface="Aptos"/>
                      </a:endParaRPr>
                    </a:p>
                  </a:txBody>
                  <a:tcPr marL="0" marR="0" marT="190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spcBef>
                          <a:spcPts val="15"/>
                        </a:spcBef>
                      </a:pPr>
                      <a:endParaRPr sz="1750">
                        <a:latin typeface="Times New Roman"/>
                        <a:cs typeface="Times New Roman"/>
                      </a:endParaRPr>
                    </a:p>
                    <a:p>
                      <a:pPr marL="96520">
                        <a:lnSpc>
                          <a:spcPct val="100000"/>
                        </a:lnSpc>
                      </a:pPr>
                      <a:r>
                        <a:rPr sz="1200" dirty="0">
                          <a:latin typeface="Aptos"/>
                          <a:cs typeface="Aptos"/>
                        </a:rPr>
                        <a:t>WAN</a:t>
                      </a:r>
                      <a:r>
                        <a:rPr sz="1200" spc="-65" dirty="0">
                          <a:latin typeface="Times New Roman"/>
                          <a:cs typeface="Times New Roman"/>
                        </a:rPr>
                        <a:t> </a:t>
                      </a:r>
                      <a:r>
                        <a:rPr sz="1200" dirty="0">
                          <a:latin typeface="Aptos"/>
                          <a:cs typeface="Aptos"/>
                        </a:rPr>
                        <a:t>stands</a:t>
                      </a:r>
                      <a:r>
                        <a:rPr sz="1200" spc="-55" dirty="0">
                          <a:latin typeface="Times New Roman"/>
                          <a:cs typeface="Times New Roman"/>
                        </a:rPr>
                        <a:t> </a:t>
                      </a:r>
                      <a:r>
                        <a:rPr sz="1200" dirty="0">
                          <a:latin typeface="Aptos"/>
                          <a:cs typeface="Aptos"/>
                        </a:rPr>
                        <a:t>for</a:t>
                      </a:r>
                      <a:r>
                        <a:rPr sz="1200" spc="-75" dirty="0">
                          <a:latin typeface="Times New Roman"/>
                          <a:cs typeface="Times New Roman"/>
                        </a:rPr>
                        <a:t> </a:t>
                      </a:r>
                      <a:r>
                        <a:rPr sz="1200" dirty="0">
                          <a:latin typeface="Aptos"/>
                          <a:cs typeface="Aptos"/>
                        </a:rPr>
                        <a:t>wide</a:t>
                      </a:r>
                      <a:r>
                        <a:rPr sz="1200" spc="-70" dirty="0">
                          <a:latin typeface="Times New Roman"/>
                          <a:cs typeface="Times New Roman"/>
                        </a:rPr>
                        <a:t> </a:t>
                      </a:r>
                      <a:r>
                        <a:rPr sz="1200" dirty="0">
                          <a:latin typeface="Aptos"/>
                          <a:cs typeface="Aptos"/>
                        </a:rPr>
                        <a:t>area</a:t>
                      </a:r>
                      <a:r>
                        <a:rPr sz="1200" spc="-65" dirty="0">
                          <a:latin typeface="Times New Roman"/>
                          <a:cs typeface="Times New Roman"/>
                        </a:rPr>
                        <a:t> </a:t>
                      </a:r>
                      <a:r>
                        <a:rPr sz="1200" spc="-10" dirty="0">
                          <a:latin typeface="Aptos"/>
                          <a:cs typeface="Aptos"/>
                        </a:rPr>
                        <a:t>network.</a:t>
                      </a:r>
                      <a:endParaRPr sz="1200">
                        <a:latin typeface="Aptos"/>
                        <a:cs typeface="Aptos"/>
                      </a:endParaRPr>
                    </a:p>
                  </a:txBody>
                  <a:tcPr marL="0" marR="0" marT="190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extLst>
                  <a:ext uri="{0D108BD9-81ED-4DB2-BD59-A6C34878D82A}">
                    <a16:rowId xmlns:a16="http://schemas.microsoft.com/office/drawing/2014/main" val="10002"/>
                  </a:ext>
                </a:extLst>
              </a:tr>
              <a:tr h="904240">
                <a:tc>
                  <a:txBody>
                    <a:bodyPr/>
                    <a:lstStyle/>
                    <a:p>
                      <a:pPr>
                        <a:lnSpc>
                          <a:spcPct val="100000"/>
                        </a:lnSpc>
                        <a:spcBef>
                          <a:spcPts val="40"/>
                        </a:spcBef>
                      </a:pPr>
                      <a:endParaRPr sz="2000">
                        <a:latin typeface="Times New Roman"/>
                        <a:cs typeface="Times New Roman"/>
                      </a:endParaRPr>
                    </a:p>
                    <a:p>
                      <a:pPr marL="38100">
                        <a:lnSpc>
                          <a:spcPct val="100000"/>
                        </a:lnSpc>
                      </a:pPr>
                      <a:r>
                        <a:rPr sz="1800" b="1" spc="-20" dirty="0">
                          <a:latin typeface="Aptos"/>
                          <a:cs typeface="Aptos"/>
                        </a:rPr>
                        <a:t>Geographic</a:t>
                      </a:r>
                      <a:r>
                        <a:rPr sz="1800" spc="-65" dirty="0">
                          <a:latin typeface="Times New Roman"/>
                          <a:cs typeface="Times New Roman"/>
                        </a:rPr>
                        <a:t> </a:t>
                      </a:r>
                      <a:r>
                        <a:rPr sz="1800" b="1" spc="-20" dirty="0">
                          <a:latin typeface="Aptos"/>
                          <a:cs typeface="Aptos"/>
                        </a:rPr>
                        <a:t>Span</a:t>
                      </a:r>
                      <a:endParaRPr sz="1800">
                        <a:latin typeface="Aptos"/>
                        <a:cs typeface="Aptos"/>
                      </a:endParaRPr>
                    </a:p>
                  </a:txBody>
                  <a:tcPr marL="0" marR="0" marT="508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a:lnSpc>
                          <a:spcPct val="100000"/>
                        </a:lnSpc>
                        <a:spcBef>
                          <a:spcPts val="55"/>
                        </a:spcBef>
                      </a:pPr>
                      <a:endParaRPr sz="1100">
                        <a:latin typeface="Times New Roman"/>
                        <a:cs typeface="Times New Roman"/>
                      </a:endParaRPr>
                    </a:p>
                    <a:p>
                      <a:pPr marL="95250" marR="88265" algn="just">
                        <a:lnSpc>
                          <a:spcPct val="100000"/>
                        </a:lnSpc>
                      </a:pPr>
                      <a:r>
                        <a:rPr sz="1200" dirty="0">
                          <a:latin typeface="Aptos"/>
                          <a:cs typeface="Aptos"/>
                        </a:rPr>
                        <a:t>Operates</a:t>
                      </a:r>
                      <a:r>
                        <a:rPr sz="1200" spc="225" dirty="0">
                          <a:latin typeface="Times New Roman"/>
                          <a:cs typeface="Times New Roman"/>
                        </a:rPr>
                        <a:t>  </a:t>
                      </a:r>
                      <a:r>
                        <a:rPr sz="1200" dirty="0">
                          <a:latin typeface="Aptos"/>
                          <a:cs typeface="Aptos"/>
                        </a:rPr>
                        <a:t>in</a:t>
                      </a:r>
                      <a:r>
                        <a:rPr sz="1200" spc="225" dirty="0">
                          <a:latin typeface="Times New Roman"/>
                          <a:cs typeface="Times New Roman"/>
                        </a:rPr>
                        <a:t>  </a:t>
                      </a:r>
                      <a:r>
                        <a:rPr sz="1200" dirty="0">
                          <a:latin typeface="Aptos"/>
                          <a:cs typeface="Aptos"/>
                        </a:rPr>
                        <a:t>small</a:t>
                      </a:r>
                      <a:r>
                        <a:rPr sz="1200" spc="229" dirty="0">
                          <a:latin typeface="Times New Roman"/>
                          <a:cs typeface="Times New Roman"/>
                        </a:rPr>
                        <a:t>  </a:t>
                      </a:r>
                      <a:r>
                        <a:rPr sz="1200" spc="-20" dirty="0">
                          <a:latin typeface="Aptos"/>
                          <a:cs typeface="Aptos"/>
                        </a:rPr>
                        <a:t>areas</a:t>
                      </a:r>
                      <a:r>
                        <a:rPr sz="1200" spc="-20" dirty="0">
                          <a:latin typeface="Times New Roman"/>
                          <a:cs typeface="Times New Roman"/>
                        </a:rPr>
                        <a:t> </a:t>
                      </a:r>
                      <a:r>
                        <a:rPr sz="1200" dirty="0">
                          <a:latin typeface="Aptos"/>
                          <a:cs typeface="Aptos"/>
                        </a:rPr>
                        <a:t>such</a:t>
                      </a:r>
                      <a:r>
                        <a:rPr sz="1200" spc="245" dirty="0">
                          <a:latin typeface="Times New Roman"/>
                          <a:cs typeface="Times New Roman"/>
                        </a:rPr>
                        <a:t> </a:t>
                      </a:r>
                      <a:r>
                        <a:rPr sz="1200" dirty="0">
                          <a:latin typeface="Aptos"/>
                          <a:cs typeface="Aptos"/>
                        </a:rPr>
                        <a:t>as</a:t>
                      </a:r>
                      <a:r>
                        <a:rPr sz="1200" spc="260" dirty="0">
                          <a:latin typeface="Times New Roman"/>
                          <a:cs typeface="Times New Roman"/>
                        </a:rPr>
                        <a:t> </a:t>
                      </a:r>
                      <a:r>
                        <a:rPr sz="1200" dirty="0">
                          <a:latin typeface="Aptos"/>
                          <a:cs typeface="Aptos"/>
                        </a:rPr>
                        <a:t>the</a:t>
                      </a:r>
                      <a:r>
                        <a:rPr sz="1200" spc="250" dirty="0">
                          <a:latin typeface="Times New Roman"/>
                          <a:cs typeface="Times New Roman"/>
                        </a:rPr>
                        <a:t> </a:t>
                      </a:r>
                      <a:r>
                        <a:rPr sz="1200" dirty="0">
                          <a:latin typeface="Aptos"/>
                          <a:cs typeface="Aptos"/>
                        </a:rPr>
                        <a:t>same</a:t>
                      </a:r>
                      <a:r>
                        <a:rPr sz="1200" spc="250" dirty="0">
                          <a:latin typeface="Times New Roman"/>
                          <a:cs typeface="Times New Roman"/>
                        </a:rPr>
                        <a:t> </a:t>
                      </a:r>
                      <a:r>
                        <a:rPr sz="1200" spc="-10" dirty="0">
                          <a:latin typeface="Aptos"/>
                          <a:cs typeface="Aptos"/>
                        </a:rPr>
                        <a:t>building</a:t>
                      </a:r>
                      <a:r>
                        <a:rPr sz="1200" spc="-10" dirty="0">
                          <a:latin typeface="Times New Roman"/>
                          <a:cs typeface="Times New Roman"/>
                        </a:rPr>
                        <a:t> </a:t>
                      </a:r>
                      <a:r>
                        <a:rPr sz="1200" dirty="0">
                          <a:latin typeface="Aptos"/>
                          <a:cs typeface="Aptos"/>
                        </a:rPr>
                        <a:t>or</a:t>
                      </a:r>
                      <a:r>
                        <a:rPr sz="1200" spc="-60" dirty="0">
                          <a:latin typeface="Times New Roman"/>
                          <a:cs typeface="Times New Roman"/>
                        </a:rPr>
                        <a:t> </a:t>
                      </a:r>
                      <a:r>
                        <a:rPr sz="1200" spc="-10" dirty="0">
                          <a:latin typeface="Aptos"/>
                          <a:cs typeface="Aptos"/>
                        </a:rPr>
                        <a:t>campus.</a:t>
                      </a:r>
                      <a:endParaRPr sz="1200">
                        <a:latin typeface="Aptos"/>
                        <a:cs typeface="Aptos"/>
                      </a:endParaRPr>
                    </a:p>
                  </a:txBody>
                  <a:tcPr marL="0" marR="0" marT="698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pPr>
                      <a:endParaRPr sz="1400">
                        <a:latin typeface="Times New Roman"/>
                        <a:cs typeface="Times New Roman"/>
                      </a:endParaRPr>
                    </a:p>
                    <a:p>
                      <a:pPr marL="95885">
                        <a:lnSpc>
                          <a:spcPct val="100000"/>
                        </a:lnSpc>
                        <a:spcBef>
                          <a:spcPts val="1150"/>
                        </a:spcBef>
                      </a:pPr>
                      <a:r>
                        <a:rPr sz="1200" spc="-10" dirty="0">
                          <a:latin typeface="Aptos"/>
                          <a:cs typeface="Aptos"/>
                        </a:rPr>
                        <a:t>Operates</a:t>
                      </a:r>
                      <a:r>
                        <a:rPr sz="1200" spc="-45" dirty="0">
                          <a:latin typeface="Times New Roman"/>
                          <a:cs typeface="Times New Roman"/>
                        </a:rPr>
                        <a:t> </a:t>
                      </a:r>
                      <a:r>
                        <a:rPr sz="1200" dirty="0">
                          <a:latin typeface="Aptos"/>
                          <a:cs typeface="Aptos"/>
                        </a:rPr>
                        <a:t>in</a:t>
                      </a:r>
                      <a:r>
                        <a:rPr sz="1200" spc="-55" dirty="0">
                          <a:latin typeface="Times New Roman"/>
                          <a:cs typeface="Times New Roman"/>
                        </a:rPr>
                        <a:t> </a:t>
                      </a:r>
                      <a:r>
                        <a:rPr sz="1200" spc="-10" dirty="0">
                          <a:latin typeface="Aptos"/>
                          <a:cs typeface="Aptos"/>
                        </a:rPr>
                        <a:t>large</a:t>
                      </a:r>
                      <a:r>
                        <a:rPr sz="1200" spc="-30" dirty="0">
                          <a:latin typeface="Times New Roman"/>
                          <a:cs typeface="Times New Roman"/>
                        </a:rPr>
                        <a:t> </a:t>
                      </a:r>
                      <a:r>
                        <a:rPr sz="1200" dirty="0">
                          <a:latin typeface="Aptos"/>
                          <a:cs typeface="Aptos"/>
                        </a:rPr>
                        <a:t>areas</a:t>
                      </a:r>
                      <a:r>
                        <a:rPr sz="1200" spc="-55" dirty="0">
                          <a:latin typeface="Times New Roman"/>
                          <a:cs typeface="Times New Roman"/>
                        </a:rPr>
                        <a:t> </a:t>
                      </a:r>
                      <a:r>
                        <a:rPr sz="1200" dirty="0">
                          <a:latin typeface="Aptos"/>
                          <a:cs typeface="Aptos"/>
                        </a:rPr>
                        <a:t>such</a:t>
                      </a:r>
                      <a:r>
                        <a:rPr sz="1200" spc="-55" dirty="0">
                          <a:latin typeface="Times New Roman"/>
                          <a:cs typeface="Times New Roman"/>
                        </a:rPr>
                        <a:t> </a:t>
                      </a:r>
                      <a:r>
                        <a:rPr sz="1200" dirty="0">
                          <a:latin typeface="Aptos"/>
                          <a:cs typeface="Aptos"/>
                        </a:rPr>
                        <a:t>as</a:t>
                      </a:r>
                      <a:r>
                        <a:rPr sz="1200" spc="-50" dirty="0">
                          <a:latin typeface="Times New Roman"/>
                          <a:cs typeface="Times New Roman"/>
                        </a:rPr>
                        <a:t> </a:t>
                      </a:r>
                      <a:r>
                        <a:rPr sz="1200" dirty="0">
                          <a:latin typeface="Aptos"/>
                          <a:cs typeface="Aptos"/>
                        </a:rPr>
                        <a:t>a</a:t>
                      </a:r>
                      <a:r>
                        <a:rPr sz="1200" spc="-55" dirty="0">
                          <a:latin typeface="Times New Roman"/>
                          <a:cs typeface="Times New Roman"/>
                        </a:rPr>
                        <a:t> </a:t>
                      </a:r>
                      <a:r>
                        <a:rPr sz="1200" spc="-20" dirty="0">
                          <a:latin typeface="Aptos"/>
                          <a:cs typeface="Aptos"/>
                        </a:rPr>
                        <a:t>city.</a:t>
                      </a:r>
                      <a:endParaRPr sz="1200">
                        <a:latin typeface="Aptos"/>
                        <a:cs typeface="Aptos"/>
                      </a:endParaRPr>
                    </a:p>
                  </a:txBody>
                  <a:tcPr marL="0" marR="0" marT="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spcBef>
                          <a:spcPts val="25"/>
                        </a:spcBef>
                      </a:pPr>
                      <a:endParaRPr sz="1750">
                        <a:latin typeface="Times New Roman"/>
                        <a:cs typeface="Times New Roman"/>
                      </a:endParaRPr>
                    </a:p>
                    <a:p>
                      <a:pPr marL="95885">
                        <a:lnSpc>
                          <a:spcPct val="100000"/>
                        </a:lnSpc>
                      </a:pPr>
                      <a:r>
                        <a:rPr sz="1200" dirty="0">
                          <a:latin typeface="Aptos"/>
                          <a:cs typeface="Aptos"/>
                        </a:rPr>
                        <a:t>Operates</a:t>
                      </a:r>
                      <a:r>
                        <a:rPr sz="1200" spc="360" dirty="0">
                          <a:latin typeface="Times New Roman"/>
                          <a:cs typeface="Times New Roman"/>
                        </a:rPr>
                        <a:t> </a:t>
                      </a:r>
                      <a:r>
                        <a:rPr sz="1200" dirty="0">
                          <a:latin typeface="Aptos"/>
                          <a:cs typeface="Aptos"/>
                        </a:rPr>
                        <a:t>in</a:t>
                      </a:r>
                      <a:r>
                        <a:rPr sz="1200" spc="365" dirty="0">
                          <a:latin typeface="Times New Roman"/>
                          <a:cs typeface="Times New Roman"/>
                        </a:rPr>
                        <a:t> </a:t>
                      </a:r>
                      <a:r>
                        <a:rPr sz="1200" dirty="0">
                          <a:latin typeface="Aptos"/>
                          <a:cs typeface="Aptos"/>
                        </a:rPr>
                        <a:t>larger</a:t>
                      </a:r>
                      <a:r>
                        <a:rPr sz="1200" spc="375" dirty="0">
                          <a:latin typeface="Times New Roman"/>
                          <a:cs typeface="Times New Roman"/>
                        </a:rPr>
                        <a:t> </a:t>
                      </a:r>
                      <a:r>
                        <a:rPr sz="1200" dirty="0">
                          <a:latin typeface="Aptos"/>
                          <a:cs typeface="Aptos"/>
                        </a:rPr>
                        <a:t>areas</a:t>
                      </a:r>
                      <a:r>
                        <a:rPr sz="1200" spc="365" dirty="0">
                          <a:latin typeface="Times New Roman"/>
                          <a:cs typeface="Times New Roman"/>
                        </a:rPr>
                        <a:t> </a:t>
                      </a:r>
                      <a:r>
                        <a:rPr sz="1200" dirty="0">
                          <a:latin typeface="Aptos"/>
                          <a:cs typeface="Aptos"/>
                        </a:rPr>
                        <a:t>such</a:t>
                      </a:r>
                      <a:r>
                        <a:rPr sz="1200" spc="365" dirty="0">
                          <a:latin typeface="Times New Roman"/>
                          <a:cs typeface="Times New Roman"/>
                        </a:rPr>
                        <a:t> </a:t>
                      </a:r>
                      <a:r>
                        <a:rPr sz="1200" dirty="0">
                          <a:latin typeface="Aptos"/>
                          <a:cs typeface="Aptos"/>
                        </a:rPr>
                        <a:t>as</a:t>
                      </a:r>
                      <a:r>
                        <a:rPr sz="1200" spc="370" dirty="0">
                          <a:latin typeface="Times New Roman"/>
                          <a:cs typeface="Times New Roman"/>
                        </a:rPr>
                        <a:t> </a:t>
                      </a:r>
                      <a:r>
                        <a:rPr sz="1200" dirty="0">
                          <a:latin typeface="Aptos"/>
                          <a:cs typeface="Aptos"/>
                        </a:rPr>
                        <a:t>country</a:t>
                      </a:r>
                      <a:r>
                        <a:rPr sz="1200" spc="370" dirty="0">
                          <a:latin typeface="Times New Roman"/>
                          <a:cs typeface="Times New Roman"/>
                        </a:rPr>
                        <a:t> </a:t>
                      </a:r>
                      <a:r>
                        <a:rPr sz="1200" spc="-25" dirty="0">
                          <a:latin typeface="Aptos"/>
                          <a:cs typeface="Aptos"/>
                        </a:rPr>
                        <a:t>or</a:t>
                      </a:r>
                      <a:endParaRPr sz="1200">
                        <a:latin typeface="Aptos"/>
                        <a:cs typeface="Aptos"/>
                      </a:endParaRPr>
                    </a:p>
                    <a:p>
                      <a:pPr marL="95885">
                        <a:lnSpc>
                          <a:spcPct val="100000"/>
                        </a:lnSpc>
                        <a:spcBef>
                          <a:spcPts val="5"/>
                        </a:spcBef>
                      </a:pPr>
                      <a:r>
                        <a:rPr sz="1200" spc="-10" dirty="0">
                          <a:latin typeface="Aptos"/>
                          <a:cs typeface="Aptos"/>
                        </a:rPr>
                        <a:t>continent.</a:t>
                      </a:r>
                      <a:endParaRPr sz="1200">
                        <a:latin typeface="Aptos"/>
                        <a:cs typeface="Aptos"/>
                      </a:endParaRPr>
                    </a:p>
                  </a:txBody>
                  <a:tcPr marL="0" marR="0" marT="317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extLst>
                  <a:ext uri="{0D108BD9-81ED-4DB2-BD59-A6C34878D82A}">
                    <a16:rowId xmlns:a16="http://schemas.microsoft.com/office/drawing/2014/main" val="10003"/>
                  </a:ext>
                </a:extLst>
              </a:tr>
              <a:tr h="718185">
                <a:tc>
                  <a:txBody>
                    <a:bodyPr/>
                    <a:lstStyle/>
                    <a:p>
                      <a:pPr marL="38100">
                        <a:lnSpc>
                          <a:spcPct val="100000"/>
                        </a:lnSpc>
                        <a:spcBef>
                          <a:spcPts val="1610"/>
                        </a:spcBef>
                      </a:pPr>
                      <a:r>
                        <a:rPr sz="1800" b="1" spc="-10" dirty="0">
                          <a:latin typeface="Aptos"/>
                          <a:cs typeface="Aptos"/>
                        </a:rPr>
                        <a:t>Ownership</a:t>
                      </a:r>
                      <a:endParaRPr sz="1800">
                        <a:latin typeface="Aptos"/>
                        <a:cs typeface="Aptos"/>
                      </a:endParaRPr>
                    </a:p>
                  </a:txBody>
                  <a:tcPr marL="0" marR="0" marT="20447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a:lnSpc>
                          <a:spcPct val="100000"/>
                        </a:lnSpc>
                        <a:spcBef>
                          <a:spcPts val="15"/>
                        </a:spcBef>
                      </a:pPr>
                      <a:endParaRPr sz="1750">
                        <a:latin typeface="Times New Roman"/>
                        <a:cs typeface="Times New Roman"/>
                      </a:endParaRPr>
                    </a:p>
                    <a:p>
                      <a:pPr marL="95250">
                        <a:lnSpc>
                          <a:spcPct val="100000"/>
                        </a:lnSpc>
                      </a:pPr>
                      <a:r>
                        <a:rPr sz="1200" spc="-10" dirty="0">
                          <a:latin typeface="Aptos"/>
                          <a:cs typeface="Aptos"/>
                        </a:rPr>
                        <a:t>LAN’s</a:t>
                      </a:r>
                      <a:r>
                        <a:rPr sz="1200" spc="-15" dirty="0">
                          <a:latin typeface="Aptos"/>
                          <a:cs typeface="Aptos"/>
                        </a:rPr>
                        <a:t> </a:t>
                      </a:r>
                      <a:r>
                        <a:rPr sz="1200" dirty="0">
                          <a:latin typeface="Aptos"/>
                          <a:cs typeface="Aptos"/>
                        </a:rPr>
                        <a:t>ownership</a:t>
                      </a:r>
                      <a:r>
                        <a:rPr sz="1200" spc="-50" dirty="0">
                          <a:latin typeface="Times New Roman"/>
                          <a:cs typeface="Times New Roman"/>
                        </a:rPr>
                        <a:t> </a:t>
                      </a:r>
                      <a:r>
                        <a:rPr sz="1200" dirty="0">
                          <a:latin typeface="Aptos"/>
                          <a:cs typeface="Aptos"/>
                        </a:rPr>
                        <a:t>is</a:t>
                      </a:r>
                      <a:r>
                        <a:rPr sz="1200" spc="-75" dirty="0">
                          <a:latin typeface="Times New Roman"/>
                          <a:cs typeface="Times New Roman"/>
                        </a:rPr>
                        <a:t> </a:t>
                      </a:r>
                      <a:r>
                        <a:rPr sz="1200" spc="-10" dirty="0">
                          <a:latin typeface="Aptos"/>
                          <a:cs typeface="Aptos"/>
                        </a:rPr>
                        <a:t>private.</a:t>
                      </a:r>
                      <a:endParaRPr sz="1200">
                        <a:latin typeface="Aptos"/>
                        <a:cs typeface="Aptos"/>
                      </a:endParaRPr>
                    </a:p>
                  </a:txBody>
                  <a:tcPr marL="0" marR="0" marT="190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spcBef>
                          <a:spcPts val="15"/>
                        </a:spcBef>
                      </a:pPr>
                      <a:endParaRPr sz="1750">
                        <a:latin typeface="Times New Roman"/>
                        <a:cs typeface="Times New Roman"/>
                      </a:endParaRPr>
                    </a:p>
                    <a:p>
                      <a:pPr marL="95885">
                        <a:lnSpc>
                          <a:spcPct val="100000"/>
                        </a:lnSpc>
                      </a:pPr>
                      <a:r>
                        <a:rPr sz="1200" spc="-10" dirty="0">
                          <a:latin typeface="Aptos"/>
                          <a:cs typeface="Aptos"/>
                        </a:rPr>
                        <a:t>MAN’s</a:t>
                      </a:r>
                      <a:r>
                        <a:rPr sz="1200" spc="10" dirty="0">
                          <a:latin typeface="Aptos"/>
                          <a:cs typeface="Aptos"/>
                        </a:rPr>
                        <a:t> </a:t>
                      </a:r>
                      <a:r>
                        <a:rPr sz="1200" spc="-10" dirty="0">
                          <a:latin typeface="Aptos"/>
                          <a:cs typeface="Aptos"/>
                        </a:rPr>
                        <a:t>ownership</a:t>
                      </a:r>
                      <a:r>
                        <a:rPr sz="1200" spc="-35" dirty="0">
                          <a:latin typeface="Times New Roman"/>
                          <a:cs typeface="Times New Roman"/>
                        </a:rPr>
                        <a:t> </a:t>
                      </a:r>
                      <a:r>
                        <a:rPr sz="1200" dirty="0">
                          <a:latin typeface="Aptos"/>
                          <a:cs typeface="Aptos"/>
                        </a:rPr>
                        <a:t>can</a:t>
                      </a:r>
                      <a:r>
                        <a:rPr sz="1200" spc="-40" dirty="0">
                          <a:latin typeface="Times New Roman"/>
                          <a:cs typeface="Times New Roman"/>
                        </a:rPr>
                        <a:t> </a:t>
                      </a:r>
                      <a:r>
                        <a:rPr sz="1200" dirty="0">
                          <a:latin typeface="Aptos"/>
                          <a:cs typeface="Aptos"/>
                        </a:rPr>
                        <a:t>be</a:t>
                      </a:r>
                      <a:r>
                        <a:rPr sz="1200" spc="-40" dirty="0">
                          <a:latin typeface="Times New Roman"/>
                          <a:cs typeface="Times New Roman"/>
                        </a:rPr>
                        <a:t> </a:t>
                      </a:r>
                      <a:r>
                        <a:rPr sz="1200" spc="-10" dirty="0">
                          <a:latin typeface="Aptos"/>
                          <a:cs typeface="Aptos"/>
                        </a:rPr>
                        <a:t>private</a:t>
                      </a:r>
                      <a:r>
                        <a:rPr sz="1200" spc="-50" dirty="0">
                          <a:latin typeface="Times New Roman"/>
                          <a:cs typeface="Times New Roman"/>
                        </a:rPr>
                        <a:t> </a:t>
                      </a:r>
                      <a:r>
                        <a:rPr sz="1200" dirty="0">
                          <a:latin typeface="Aptos"/>
                          <a:cs typeface="Aptos"/>
                        </a:rPr>
                        <a:t>or</a:t>
                      </a:r>
                      <a:r>
                        <a:rPr sz="1200" spc="-40" dirty="0">
                          <a:latin typeface="Times New Roman"/>
                          <a:cs typeface="Times New Roman"/>
                        </a:rPr>
                        <a:t> </a:t>
                      </a:r>
                      <a:r>
                        <a:rPr sz="1200" spc="-10" dirty="0">
                          <a:latin typeface="Aptos"/>
                          <a:cs typeface="Aptos"/>
                        </a:rPr>
                        <a:t>public.</a:t>
                      </a:r>
                      <a:endParaRPr sz="1200">
                        <a:latin typeface="Aptos"/>
                        <a:cs typeface="Aptos"/>
                      </a:endParaRPr>
                    </a:p>
                  </a:txBody>
                  <a:tcPr marL="0" marR="0" marT="190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spcBef>
                          <a:spcPts val="45"/>
                        </a:spcBef>
                      </a:pPr>
                      <a:endParaRPr sz="1100">
                        <a:latin typeface="Times New Roman"/>
                        <a:cs typeface="Times New Roman"/>
                      </a:endParaRPr>
                    </a:p>
                    <a:p>
                      <a:pPr marL="95885" marR="88265">
                        <a:lnSpc>
                          <a:spcPct val="100000"/>
                        </a:lnSpc>
                      </a:pPr>
                      <a:r>
                        <a:rPr sz="1200" dirty="0">
                          <a:latin typeface="Aptos"/>
                          <a:cs typeface="Aptos"/>
                        </a:rPr>
                        <a:t>While</a:t>
                      </a:r>
                      <a:r>
                        <a:rPr sz="1200" spc="285" dirty="0">
                          <a:latin typeface="Times New Roman"/>
                          <a:cs typeface="Times New Roman"/>
                        </a:rPr>
                        <a:t> </a:t>
                      </a:r>
                      <a:r>
                        <a:rPr sz="1200" dirty="0">
                          <a:latin typeface="Aptos"/>
                          <a:cs typeface="Aptos"/>
                        </a:rPr>
                        <a:t>WAN</a:t>
                      </a:r>
                      <a:r>
                        <a:rPr sz="1200" spc="295" dirty="0">
                          <a:latin typeface="Times New Roman"/>
                          <a:cs typeface="Times New Roman"/>
                        </a:rPr>
                        <a:t> </a:t>
                      </a:r>
                      <a:r>
                        <a:rPr sz="1200" dirty="0">
                          <a:latin typeface="Aptos"/>
                          <a:cs typeface="Aptos"/>
                        </a:rPr>
                        <a:t>also</a:t>
                      </a:r>
                      <a:r>
                        <a:rPr sz="1200" spc="285" dirty="0">
                          <a:latin typeface="Times New Roman"/>
                          <a:cs typeface="Times New Roman"/>
                        </a:rPr>
                        <a:t> </a:t>
                      </a:r>
                      <a:r>
                        <a:rPr sz="1200" dirty="0">
                          <a:latin typeface="Aptos"/>
                          <a:cs typeface="Aptos"/>
                        </a:rPr>
                        <a:t>might</a:t>
                      </a:r>
                      <a:r>
                        <a:rPr sz="1200" spc="275" dirty="0">
                          <a:latin typeface="Times New Roman"/>
                          <a:cs typeface="Times New Roman"/>
                        </a:rPr>
                        <a:t> </a:t>
                      </a:r>
                      <a:r>
                        <a:rPr sz="1200" dirty="0">
                          <a:latin typeface="Aptos"/>
                          <a:cs typeface="Aptos"/>
                        </a:rPr>
                        <a:t>not</a:t>
                      </a:r>
                      <a:r>
                        <a:rPr sz="1200" spc="290" dirty="0">
                          <a:latin typeface="Times New Roman"/>
                          <a:cs typeface="Times New Roman"/>
                        </a:rPr>
                        <a:t> </a:t>
                      </a:r>
                      <a:r>
                        <a:rPr sz="1200" dirty="0">
                          <a:latin typeface="Aptos"/>
                          <a:cs typeface="Aptos"/>
                        </a:rPr>
                        <a:t>be</a:t>
                      </a:r>
                      <a:r>
                        <a:rPr sz="1200" spc="290" dirty="0">
                          <a:latin typeface="Times New Roman"/>
                          <a:cs typeface="Times New Roman"/>
                        </a:rPr>
                        <a:t> </a:t>
                      </a:r>
                      <a:r>
                        <a:rPr sz="1200" dirty="0">
                          <a:latin typeface="Aptos"/>
                          <a:cs typeface="Aptos"/>
                        </a:rPr>
                        <a:t>owned</a:t>
                      </a:r>
                      <a:r>
                        <a:rPr sz="1200" spc="285" dirty="0">
                          <a:latin typeface="Times New Roman"/>
                          <a:cs typeface="Times New Roman"/>
                        </a:rPr>
                        <a:t> </a:t>
                      </a:r>
                      <a:r>
                        <a:rPr sz="1200" dirty="0">
                          <a:latin typeface="Aptos"/>
                          <a:cs typeface="Aptos"/>
                        </a:rPr>
                        <a:t>by</a:t>
                      </a:r>
                      <a:r>
                        <a:rPr sz="1200" spc="290" dirty="0">
                          <a:latin typeface="Times New Roman"/>
                          <a:cs typeface="Times New Roman"/>
                        </a:rPr>
                        <a:t> </a:t>
                      </a:r>
                      <a:r>
                        <a:rPr sz="1200" spc="-25" dirty="0">
                          <a:latin typeface="Aptos"/>
                          <a:cs typeface="Aptos"/>
                        </a:rPr>
                        <a:t>one</a:t>
                      </a:r>
                      <a:r>
                        <a:rPr sz="1200" spc="-25" dirty="0">
                          <a:latin typeface="Times New Roman"/>
                          <a:cs typeface="Times New Roman"/>
                        </a:rPr>
                        <a:t> </a:t>
                      </a:r>
                      <a:r>
                        <a:rPr sz="1200" spc="-10" dirty="0">
                          <a:latin typeface="Aptos"/>
                          <a:cs typeface="Aptos"/>
                        </a:rPr>
                        <a:t>organization.</a:t>
                      </a:r>
                      <a:endParaRPr sz="1200">
                        <a:latin typeface="Aptos"/>
                        <a:cs typeface="Aptos"/>
                      </a:endParaRPr>
                    </a:p>
                  </a:txBody>
                  <a:tcPr marL="0" marR="0" marT="571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extLst>
                  <a:ext uri="{0D108BD9-81ED-4DB2-BD59-A6C34878D82A}">
                    <a16:rowId xmlns:a16="http://schemas.microsoft.com/office/drawing/2014/main" val="10004"/>
                  </a:ext>
                </a:extLst>
              </a:tr>
              <a:tr h="758825">
                <a:tc>
                  <a:txBody>
                    <a:bodyPr/>
                    <a:lstStyle/>
                    <a:p>
                      <a:pPr marL="38100">
                        <a:lnSpc>
                          <a:spcPct val="100000"/>
                        </a:lnSpc>
                        <a:spcBef>
                          <a:spcPts val="1770"/>
                        </a:spcBef>
                      </a:pPr>
                      <a:r>
                        <a:rPr sz="1800" b="1" spc="-25" dirty="0">
                          <a:latin typeface="Aptos"/>
                          <a:cs typeface="Aptos"/>
                        </a:rPr>
                        <a:t>Transmission</a:t>
                      </a:r>
                      <a:r>
                        <a:rPr sz="1800" spc="-45" dirty="0">
                          <a:latin typeface="Times New Roman"/>
                          <a:cs typeface="Times New Roman"/>
                        </a:rPr>
                        <a:t> </a:t>
                      </a:r>
                      <a:r>
                        <a:rPr sz="1800" b="1" spc="-20" dirty="0">
                          <a:latin typeface="Aptos"/>
                          <a:cs typeface="Aptos"/>
                        </a:rPr>
                        <a:t>Speed</a:t>
                      </a:r>
                      <a:endParaRPr sz="1800">
                        <a:latin typeface="Aptos"/>
                        <a:cs typeface="Aptos"/>
                      </a:endParaRPr>
                    </a:p>
                  </a:txBody>
                  <a:tcPr marL="0" marR="0" marT="22479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a:lnSpc>
                          <a:spcPct val="100000"/>
                        </a:lnSpc>
                        <a:spcBef>
                          <a:spcPts val="30"/>
                        </a:spcBef>
                      </a:pPr>
                      <a:endParaRPr sz="1250">
                        <a:latin typeface="Times New Roman"/>
                        <a:cs typeface="Times New Roman"/>
                      </a:endParaRPr>
                    </a:p>
                    <a:p>
                      <a:pPr marL="95250" marR="89535">
                        <a:lnSpc>
                          <a:spcPct val="100000"/>
                        </a:lnSpc>
                        <a:spcBef>
                          <a:spcPts val="5"/>
                        </a:spcBef>
                      </a:pPr>
                      <a:r>
                        <a:rPr sz="1200" dirty="0">
                          <a:latin typeface="Aptos"/>
                          <a:cs typeface="Aptos"/>
                        </a:rPr>
                        <a:t>The</a:t>
                      </a:r>
                      <a:r>
                        <a:rPr sz="1200" spc="-5" dirty="0">
                          <a:latin typeface="Times New Roman"/>
                          <a:cs typeface="Times New Roman"/>
                        </a:rPr>
                        <a:t> </a:t>
                      </a:r>
                      <a:r>
                        <a:rPr sz="1200" dirty="0">
                          <a:latin typeface="Aptos"/>
                          <a:cs typeface="Aptos"/>
                        </a:rPr>
                        <a:t>transmission</a:t>
                      </a:r>
                      <a:r>
                        <a:rPr sz="1200" spc="5" dirty="0">
                          <a:latin typeface="Times New Roman"/>
                          <a:cs typeface="Times New Roman"/>
                        </a:rPr>
                        <a:t> </a:t>
                      </a:r>
                      <a:r>
                        <a:rPr sz="1200" dirty="0">
                          <a:latin typeface="Aptos"/>
                          <a:cs typeface="Aptos"/>
                        </a:rPr>
                        <a:t>speed</a:t>
                      </a:r>
                      <a:r>
                        <a:rPr sz="1200" spc="-5" dirty="0">
                          <a:latin typeface="Times New Roman"/>
                          <a:cs typeface="Times New Roman"/>
                        </a:rPr>
                        <a:t> </a:t>
                      </a:r>
                      <a:r>
                        <a:rPr sz="1200" dirty="0">
                          <a:latin typeface="Aptos"/>
                          <a:cs typeface="Aptos"/>
                        </a:rPr>
                        <a:t>of</a:t>
                      </a:r>
                      <a:r>
                        <a:rPr sz="1200" spc="5" dirty="0">
                          <a:latin typeface="Times New Roman"/>
                          <a:cs typeface="Times New Roman"/>
                        </a:rPr>
                        <a:t> </a:t>
                      </a:r>
                      <a:r>
                        <a:rPr sz="1200" spc="-50" dirty="0">
                          <a:latin typeface="Aptos"/>
                          <a:cs typeface="Aptos"/>
                        </a:rPr>
                        <a:t>a</a:t>
                      </a:r>
                      <a:r>
                        <a:rPr sz="1200" spc="-50" dirty="0">
                          <a:latin typeface="Times New Roman"/>
                          <a:cs typeface="Times New Roman"/>
                        </a:rPr>
                        <a:t> </a:t>
                      </a:r>
                      <a:r>
                        <a:rPr sz="1200" dirty="0">
                          <a:latin typeface="Aptos"/>
                          <a:cs typeface="Aptos"/>
                        </a:rPr>
                        <a:t>LAN</a:t>
                      </a:r>
                      <a:r>
                        <a:rPr sz="1200" spc="-45" dirty="0">
                          <a:latin typeface="Times New Roman"/>
                          <a:cs typeface="Times New Roman"/>
                        </a:rPr>
                        <a:t> </a:t>
                      </a:r>
                      <a:r>
                        <a:rPr sz="1200" dirty="0">
                          <a:latin typeface="Aptos"/>
                          <a:cs typeface="Aptos"/>
                        </a:rPr>
                        <a:t>is</a:t>
                      </a:r>
                      <a:r>
                        <a:rPr sz="1200" spc="-40" dirty="0">
                          <a:latin typeface="Times New Roman"/>
                          <a:cs typeface="Times New Roman"/>
                        </a:rPr>
                        <a:t> </a:t>
                      </a:r>
                      <a:r>
                        <a:rPr sz="1200" spc="-10" dirty="0">
                          <a:latin typeface="Aptos"/>
                          <a:cs typeface="Aptos"/>
                        </a:rPr>
                        <a:t>high.</a:t>
                      </a:r>
                      <a:endParaRPr sz="1200">
                        <a:latin typeface="Aptos"/>
                        <a:cs typeface="Aptos"/>
                      </a:endParaRPr>
                    </a:p>
                  </a:txBody>
                  <a:tcPr marL="0" marR="0" marT="381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spcBef>
                          <a:spcPts val="30"/>
                        </a:spcBef>
                      </a:pPr>
                      <a:endParaRPr sz="1250">
                        <a:latin typeface="Times New Roman"/>
                        <a:cs typeface="Times New Roman"/>
                      </a:endParaRPr>
                    </a:p>
                    <a:p>
                      <a:pPr marL="95885" marR="86995">
                        <a:lnSpc>
                          <a:spcPct val="100000"/>
                        </a:lnSpc>
                        <a:spcBef>
                          <a:spcPts val="5"/>
                        </a:spcBef>
                      </a:pPr>
                      <a:r>
                        <a:rPr sz="1200" dirty="0">
                          <a:latin typeface="Aptos"/>
                          <a:cs typeface="Aptos"/>
                        </a:rPr>
                        <a:t>While</a:t>
                      </a:r>
                      <a:r>
                        <a:rPr sz="1200" spc="484" dirty="0">
                          <a:latin typeface="Times New Roman"/>
                          <a:cs typeface="Times New Roman"/>
                        </a:rPr>
                        <a:t> </a:t>
                      </a:r>
                      <a:r>
                        <a:rPr sz="1200" dirty="0">
                          <a:latin typeface="Aptos"/>
                          <a:cs typeface="Aptos"/>
                        </a:rPr>
                        <a:t>the</a:t>
                      </a:r>
                      <a:r>
                        <a:rPr sz="1200" spc="100" dirty="0">
                          <a:latin typeface="Times New Roman"/>
                          <a:cs typeface="Times New Roman"/>
                        </a:rPr>
                        <a:t>  </a:t>
                      </a:r>
                      <a:r>
                        <a:rPr sz="1200" dirty="0">
                          <a:latin typeface="Aptos"/>
                          <a:cs typeface="Aptos"/>
                        </a:rPr>
                        <a:t>transmission</a:t>
                      </a:r>
                      <a:r>
                        <a:rPr sz="1200" spc="470" dirty="0">
                          <a:latin typeface="Times New Roman"/>
                          <a:cs typeface="Times New Roman"/>
                        </a:rPr>
                        <a:t> </a:t>
                      </a:r>
                      <a:r>
                        <a:rPr sz="1200" dirty="0">
                          <a:latin typeface="Aptos"/>
                          <a:cs typeface="Aptos"/>
                        </a:rPr>
                        <a:t>speed</a:t>
                      </a:r>
                      <a:r>
                        <a:rPr sz="1200" spc="484" dirty="0">
                          <a:latin typeface="Times New Roman"/>
                          <a:cs typeface="Times New Roman"/>
                        </a:rPr>
                        <a:t> </a:t>
                      </a:r>
                      <a:r>
                        <a:rPr sz="1200" dirty="0">
                          <a:latin typeface="Aptos"/>
                          <a:cs typeface="Aptos"/>
                        </a:rPr>
                        <a:t>of</a:t>
                      </a:r>
                      <a:r>
                        <a:rPr sz="1200" spc="480" dirty="0">
                          <a:latin typeface="Times New Roman"/>
                          <a:cs typeface="Times New Roman"/>
                        </a:rPr>
                        <a:t> </a:t>
                      </a:r>
                      <a:r>
                        <a:rPr sz="1200" dirty="0">
                          <a:latin typeface="Aptos"/>
                          <a:cs typeface="Aptos"/>
                        </a:rPr>
                        <a:t>a</a:t>
                      </a:r>
                      <a:r>
                        <a:rPr sz="1200" spc="484" dirty="0">
                          <a:latin typeface="Times New Roman"/>
                          <a:cs typeface="Times New Roman"/>
                        </a:rPr>
                        <a:t> </a:t>
                      </a:r>
                      <a:r>
                        <a:rPr sz="1200" dirty="0">
                          <a:latin typeface="Aptos"/>
                          <a:cs typeface="Aptos"/>
                        </a:rPr>
                        <a:t>MAN</a:t>
                      </a:r>
                      <a:r>
                        <a:rPr sz="1200" spc="490" dirty="0">
                          <a:latin typeface="Times New Roman"/>
                          <a:cs typeface="Times New Roman"/>
                        </a:rPr>
                        <a:t> </a:t>
                      </a:r>
                      <a:r>
                        <a:rPr sz="1200" spc="-25" dirty="0">
                          <a:latin typeface="Aptos"/>
                          <a:cs typeface="Aptos"/>
                        </a:rPr>
                        <a:t>is</a:t>
                      </a:r>
                      <a:r>
                        <a:rPr sz="1200" spc="-25" dirty="0">
                          <a:latin typeface="Times New Roman"/>
                          <a:cs typeface="Times New Roman"/>
                        </a:rPr>
                        <a:t> </a:t>
                      </a:r>
                      <a:r>
                        <a:rPr sz="1200" spc="-10" dirty="0">
                          <a:latin typeface="Aptos"/>
                          <a:cs typeface="Aptos"/>
                        </a:rPr>
                        <a:t>average.</a:t>
                      </a:r>
                      <a:endParaRPr sz="1200">
                        <a:latin typeface="Aptos"/>
                        <a:cs typeface="Aptos"/>
                      </a:endParaRPr>
                    </a:p>
                  </a:txBody>
                  <a:tcPr marL="0" marR="0" marT="381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spcBef>
                          <a:spcPts val="30"/>
                        </a:spcBef>
                      </a:pPr>
                      <a:endParaRPr sz="1250">
                        <a:latin typeface="Times New Roman"/>
                        <a:cs typeface="Times New Roman"/>
                      </a:endParaRPr>
                    </a:p>
                    <a:p>
                      <a:pPr marL="95885" marR="88265">
                        <a:lnSpc>
                          <a:spcPct val="100000"/>
                        </a:lnSpc>
                        <a:spcBef>
                          <a:spcPts val="5"/>
                        </a:spcBef>
                      </a:pPr>
                      <a:r>
                        <a:rPr sz="1200" dirty="0">
                          <a:latin typeface="Aptos"/>
                          <a:cs typeface="Aptos"/>
                        </a:rPr>
                        <a:t>Whereas</a:t>
                      </a:r>
                      <a:r>
                        <a:rPr sz="1200" spc="229" dirty="0">
                          <a:latin typeface="Times New Roman"/>
                          <a:cs typeface="Times New Roman"/>
                        </a:rPr>
                        <a:t> </a:t>
                      </a:r>
                      <a:r>
                        <a:rPr sz="1200" dirty="0">
                          <a:latin typeface="Aptos"/>
                          <a:cs typeface="Aptos"/>
                        </a:rPr>
                        <a:t>the</a:t>
                      </a:r>
                      <a:r>
                        <a:rPr sz="1200" spc="229" dirty="0">
                          <a:latin typeface="Times New Roman"/>
                          <a:cs typeface="Times New Roman"/>
                        </a:rPr>
                        <a:t> </a:t>
                      </a:r>
                      <a:r>
                        <a:rPr sz="1200" dirty="0">
                          <a:latin typeface="Aptos"/>
                          <a:cs typeface="Aptos"/>
                        </a:rPr>
                        <a:t>transmission</a:t>
                      </a:r>
                      <a:r>
                        <a:rPr sz="1200" spc="220" dirty="0">
                          <a:latin typeface="Times New Roman"/>
                          <a:cs typeface="Times New Roman"/>
                        </a:rPr>
                        <a:t> </a:t>
                      </a:r>
                      <a:r>
                        <a:rPr sz="1200" dirty="0">
                          <a:latin typeface="Aptos"/>
                          <a:cs typeface="Aptos"/>
                        </a:rPr>
                        <a:t>speed</a:t>
                      </a:r>
                      <a:r>
                        <a:rPr sz="1200" spc="229" dirty="0">
                          <a:latin typeface="Times New Roman"/>
                          <a:cs typeface="Times New Roman"/>
                        </a:rPr>
                        <a:t> </a:t>
                      </a:r>
                      <a:r>
                        <a:rPr sz="1200" dirty="0">
                          <a:latin typeface="Aptos"/>
                          <a:cs typeface="Aptos"/>
                        </a:rPr>
                        <a:t>of</a:t>
                      </a:r>
                      <a:r>
                        <a:rPr sz="1200" spc="240" dirty="0">
                          <a:latin typeface="Times New Roman"/>
                          <a:cs typeface="Times New Roman"/>
                        </a:rPr>
                        <a:t> </a:t>
                      </a:r>
                      <a:r>
                        <a:rPr sz="1200" dirty="0">
                          <a:latin typeface="Aptos"/>
                          <a:cs typeface="Aptos"/>
                        </a:rPr>
                        <a:t>a</a:t>
                      </a:r>
                      <a:r>
                        <a:rPr sz="1200" spc="225" dirty="0">
                          <a:latin typeface="Times New Roman"/>
                          <a:cs typeface="Times New Roman"/>
                        </a:rPr>
                        <a:t> </a:t>
                      </a:r>
                      <a:r>
                        <a:rPr sz="1200" dirty="0">
                          <a:latin typeface="Aptos"/>
                          <a:cs typeface="Aptos"/>
                        </a:rPr>
                        <a:t>WAN</a:t>
                      </a:r>
                      <a:r>
                        <a:rPr sz="1200" spc="235" dirty="0">
                          <a:latin typeface="Times New Roman"/>
                          <a:cs typeface="Times New Roman"/>
                        </a:rPr>
                        <a:t> </a:t>
                      </a:r>
                      <a:r>
                        <a:rPr sz="1200" spc="-35" dirty="0">
                          <a:latin typeface="Aptos"/>
                          <a:cs typeface="Aptos"/>
                        </a:rPr>
                        <a:t>is</a:t>
                      </a:r>
                      <a:r>
                        <a:rPr sz="1200" spc="-35" dirty="0">
                          <a:latin typeface="Times New Roman"/>
                          <a:cs typeface="Times New Roman"/>
                        </a:rPr>
                        <a:t> </a:t>
                      </a:r>
                      <a:r>
                        <a:rPr sz="1200" spc="-20" dirty="0">
                          <a:latin typeface="Aptos"/>
                          <a:cs typeface="Aptos"/>
                        </a:rPr>
                        <a:t>low.</a:t>
                      </a:r>
                      <a:endParaRPr sz="1200">
                        <a:latin typeface="Aptos"/>
                        <a:cs typeface="Aptos"/>
                      </a:endParaRPr>
                    </a:p>
                  </a:txBody>
                  <a:tcPr marL="0" marR="0" marT="381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extLst>
                  <a:ext uri="{0D108BD9-81ED-4DB2-BD59-A6C34878D82A}">
                    <a16:rowId xmlns:a16="http://schemas.microsoft.com/office/drawing/2014/main" val="10005"/>
                  </a:ext>
                </a:extLst>
              </a:tr>
              <a:tr h="758825">
                <a:tc>
                  <a:txBody>
                    <a:bodyPr/>
                    <a:lstStyle/>
                    <a:p>
                      <a:pPr marL="38100">
                        <a:lnSpc>
                          <a:spcPct val="100000"/>
                        </a:lnSpc>
                        <a:spcBef>
                          <a:spcPts val="1770"/>
                        </a:spcBef>
                      </a:pPr>
                      <a:r>
                        <a:rPr sz="1800" b="1" spc="-20" dirty="0">
                          <a:latin typeface="Aptos"/>
                          <a:cs typeface="Aptos"/>
                        </a:rPr>
                        <a:t>Propagation</a:t>
                      </a:r>
                      <a:r>
                        <a:rPr sz="1800" spc="-35" dirty="0">
                          <a:latin typeface="Times New Roman"/>
                          <a:cs typeface="Times New Roman"/>
                        </a:rPr>
                        <a:t> </a:t>
                      </a:r>
                      <a:r>
                        <a:rPr sz="1800" b="1" spc="-10" dirty="0">
                          <a:latin typeface="Aptos"/>
                          <a:cs typeface="Aptos"/>
                        </a:rPr>
                        <a:t>delay</a:t>
                      </a:r>
                      <a:endParaRPr sz="1800">
                        <a:latin typeface="Aptos"/>
                        <a:cs typeface="Aptos"/>
                      </a:endParaRPr>
                    </a:p>
                  </a:txBody>
                  <a:tcPr marL="0" marR="0" marT="22479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a:lnSpc>
                          <a:spcPct val="100000"/>
                        </a:lnSpc>
                        <a:spcBef>
                          <a:spcPts val="35"/>
                        </a:spcBef>
                      </a:pPr>
                      <a:endParaRPr sz="1250">
                        <a:latin typeface="Times New Roman"/>
                        <a:cs typeface="Times New Roman"/>
                      </a:endParaRPr>
                    </a:p>
                    <a:p>
                      <a:pPr marL="95250" marR="90170">
                        <a:lnSpc>
                          <a:spcPct val="100000"/>
                        </a:lnSpc>
                      </a:pPr>
                      <a:r>
                        <a:rPr sz="1200" dirty="0">
                          <a:latin typeface="Aptos"/>
                          <a:cs typeface="Aptos"/>
                        </a:rPr>
                        <a:t>The</a:t>
                      </a:r>
                      <a:r>
                        <a:rPr sz="1200" spc="180" dirty="0">
                          <a:latin typeface="Times New Roman"/>
                          <a:cs typeface="Times New Roman"/>
                        </a:rPr>
                        <a:t>  </a:t>
                      </a:r>
                      <a:r>
                        <a:rPr sz="1200" dirty="0">
                          <a:latin typeface="Aptos"/>
                          <a:cs typeface="Aptos"/>
                        </a:rPr>
                        <a:t>propagation</a:t>
                      </a:r>
                      <a:r>
                        <a:rPr sz="1200" spc="180" dirty="0">
                          <a:latin typeface="Times New Roman"/>
                          <a:cs typeface="Times New Roman"/>
                        </a:rPr>
                        <a:t>  </a:t>
                      </a:r>
                      <a:r>
                        <a:rPr sz="1200" dirty="0">
                          <a:latin typeface="Aptos"/>
                          <a:cs typeface="Aptos"/>
                        </a:rPr>
                        <a:t>delay</a:t>
                      </a:r>
                      <a:r>
                        <a:rPr sz="1200" spc="180" dirty="0">
                          <a:latin typeface="Times New Roman"/>
                          <a:cs typeface="Times New Roman"/>
                        </a:rPr>
                        <a:t>  </a:t>
                      </a:r>
                      <a:r>
                        <a:rPr sz="1200" spc="-25" dirty="0">
                          <a:latin typeface="Aptos"/>
                          <a:cs typeface="Aptos"/>
                        </a:rPr>
                        <a:t>is</a:t>
                      </a:r>
                      <a:r>
                        <a:rPr sz="1200" spc="-25" dirty="0">
                          <a:latin typeface="Times New Roman"/>
                          <a:cs typeface="Times New Roman"/>
                        </a:rPr>
                        <a:t> </a:t>
                      </a:r>
                      <a:r>
                        <a:rPr sz="1200" dirty="0">
                          <a:latin typeface="Aptos"/>
                          <a:cs typeface="Aptos"/>
                        </a:rPr>
                        <a:t>short</a:t>
                      </a:r>
                      <a:r>
                        <a:rPr sz="1200" spc="-60" dirty="0">
                          <a:latin typeface="Times New Roman"/>
                          <a:cs typeface="Times New Roman"/>
                        </a:rPr>
                        <a:t> </a:t>
                      </a:r>
                      <a:r>
                        <a:rPr sz="1200" dirty="0">
                          <a:latin typeface="Aptos"/>
                          <a:cs typeface="Aptos"/>
                        </a:rPr>
                        <a:t>in</a:t>
                      </a:r>
                      <a:r>
                        <a:rPr sz="1200" spc="-55" dirty="0">
                          <a:latin typeface="Times New Roman"/>
                          <a:cs typeface="Times New Roman"/>
                        </a:rPr>
                        <a:t> </a:t>
                      </a:r>
                      <a:r>
                        <a:rPr sz="1200" dirty="0">
                          <a:latin typeface="Aptos"/>
                          <a:cs typeface="Aptos"/>
                        </a:rPr>
                        <a:t>a</a:t>
                      </a:r>
                      <a:r>
                        <a:rPr sz="1200" spc="-55" dirty="0">
                          <a:latin typeface="Times New Roman"/>
                          <a:cs typeface="Times New Roman"/>
                        </a:rPr>
                        <a:t> </a:t>
                      </a:r>
                      <a:r>
                        <a:rPr sz="1200" spc="-20" dirty="0">
                          <a:latin typeface="Aptos"/>
                          <a:cs typeface="Aptos"/>
                        </a:rPr>
                        <a:t>LAN.</a:t>
                      </a:r>
                      <a:endParaRPr sz="1200">
                        <a:latin typeface="Aptos"/>
                        <a:cs typeface="Aptos"/>
                      </a:endParaRPr>
                    </a:p>
                  </a:txBody>
                  <a:tcPr marL="0" marR="0" marT="444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spcBef>
                          <a:spcPts val="5"/>
                        </a:spcBef>
                      </a:pPr>
                      <a:endParaRPr sz="1900">
                        <a:latin typeface="Times New Roman"/>
                        <a:cs typeface="Times New Roman"/>
                      </a:endParaRPr>
                    </a:p>
                    <a:p>
                      <a:pPr marL="95885">
                        <a:lnSpc>
                          <a:spcPct val="100000"/>
                        </a:lnSpc>
                      </a:pPr>
                      <a:r>
                        <a:rPr sz="1200" dirty="0">
                          <a:latin typeface="Aptos"/>
                          <a:cs typeface="Aptos"/>
                        </a:rPr>
                        <a:t>There</a:t>
                      </a:r>
                      <a:r>
                        <a:rPr sz="1200" spc="-45" dirty="0">
                          <a:latin typeface="Times New Roman"/>
                          <a:cs typeface="Times New Roman"/>
                        </a:rPr>
                        <a:t> </a:t>
                      </a:r>
                      <a:r>
                        <a:rPr sz="1200" dirty="0">
                          <a:latin typeface="Aptos"/>
                          <a:cs typeface="Aptos"/>
                        </a:rPr>
                        <a:t>is</a:t>
                      </a:r>
                      <a:r>
                        <a:rPr sz="1200" spc="-40" dirty="0">
                          <a:latin typeface="Times New Roman"/>
                          <a:cs typeface="Times New Roman"/>
                        </a:rPr>
                        <a:t> </a:t>
                      </a:r>
                      <a:r>
                        <a:rPr sz="1200" dirty="0">
                          <a:latin typeface="Aptos"/>
                          <a:cs typeface="Aptos"/>
                        </a:rPr>
                        <a:t>a</a:t>
                      </a:r>
                      <a:r>
                        <a:rPr sz="1200" spc="-50" dirty="0">
                          <a:latin typeface="Times New Roman"/>
                          <a:cs typeface="Times New Roman"/>
                        </a:rPr>
                        <a:t> </a:t>
                      </a:r>
                      <a:r>
                        <a:rPr sz="1200" spc="-10" dirty="0">
                          <a:latin typeface="Aptos"/>
                          <a:cs typeface="Aptos"/>
                        </a:rPr>
                        <a:t>moderate</a:t>
                      </a:r>
                      <a:r>
                        <a:rPr sz="1200" spc="-35" dirty="0">
                          <a:latin typeface="Times New Roman"/>
                          <a:cs typeface="Times New Roman"/>
                        </a:rPr>
                        <a:t> </a:t>
                      </a:r>
                      <a:r>
                        <a:rPr sz="1200" u="sng" spc="-10" dirty="0">
                          <a:solidFill>
                            <a:srgbClr val="467885"/>
                          </a:solidFill>
                          <a:uFill>
                            <a:solidFill>
                              <a:srgbClr val="467885"/>
                            </a:solidFill>
                          </a:uFill>
                          <a:latin typeface="Aptos"/>
                          <a:cs typeface="Aptos"/>
                        </a:rPr>
                        <a:t>propagation</a:t>
                      </a:r>
                      <a:r>
                        <a:rPr sz="1200" u="sng" spc="-15" dirty="0">
                          <a:solidFill>
                            <a:srgbClr val="467885"/>
                          </a:solidFill>
                          <a:uFill>
                            <a:solidFill>
                              <a:srgbClr val="467885"/>
                            </a:solidFill>
                          </a:uFill>
                          <a:latin typeface="Times New Roman"/>
                          <a:cs typeface="Times New Roman"/>
                        </a:rPr>
                        <a:t> </a:t>
                      </a:r>
                      <a:r>
                        <a:rPr sz="1200" u="sng" dirty="0">
                          <a:solidFill>
                            <a:srgbClr val="467885"/>
                          </a:solidFill>
                          <a:uFill>
                            <a:solidFill>
                              <a:srgbClr val="467885"/>
                            </a:solidFill>
                          </a:uFill>
                          <a:latin typeface="Aptos"/>
                          <a:cs typeface="Aptos"/>
                        </a:rPr>
                        <a:t>delay</a:t>
                      </a:r>
                      <a:r>
                        <a:rPr sz="1200" spc="-50" dirty="0">
                          <a:solidFill>
                            <a:srgbClr val="467885"/>
                          </a:solidFill>
                          <a:latin typeface="Times New Roman"/>
                          <a:cs typeface="Times New Roman"/>
                        </a:rPr>
                        <a:t> </a:t>
                      </a:r>
                      <a:r>
                        <a:rPr sz="1200" dirty="0">
                          <a:latin typeface="Aptos"/>
                          <a:cs typeface="Aptos"/>
                        </a:rPr>
                        <a:t>in</a:t>
                      </a:r>
                      <a:r>
                        <a:rPr sz="1200" spc="-50" dirty="0">
                          <a:latin typeface="Times New Roman"/>
                          <a:cs typeface="Times New Roman"/>
                        </a:rPr>
                        <a:t> </a:t>
                      </a:r>
                      <a:r>
                        <a:rPr sz="1200" dirty="0">
                          <a:latin typeface="Aptos"/>
                          <a:cs typeface="Aptos"/>
                        </a:rPr>
                        <a:t>a</a:t>
                      </a:r>
                      <a:r>
                        <a:rPr sz="1200" spc="-45" dirty="0">
                          <a:latin typeface="Times New Roman"/>
                          <a:cs typeface="Times New Roman"/>
                        </a:rPr>
                        <a:t> </a:t>
                      </a:r>
                      <a:r>
                        <a:rPr sz="1200" spc="-20" dirty="0">
                          <a:latin typeface="Aptos"/>
                          <a:cs typeface="Aptos"/>
                        </a:rPr>
                        <a:t>MAN.</a:t>
                      </a:r>
                      <a:endParaRPr sz="1200">
                        <a:latin typeface="Aptos"/>
                        <a:cs typeface="Aptos"/>
                      </a:endParaRPr>
                    </a:p>
                  </a:txBody>
                  <a:tcPr marL="0" marR="0" marT="63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spcBef>
                          <a:spcPts val="35"/>
                        </a:spcBef>
                      </a:pPr>
                      <a:endParaRPr sz="1250">
                        <a:latin typeface="Times New Roman"/>
                        <a:cs typeface="Times New Roman"/>
                      </a:endParaRPr>
                    </a:p>
                    <a:p>
                      <a:pPr marL="95885" marR="85725">
                        <a:lnSpc>
                          <a:spcPct val="100000"/>
                        </a:lnSpc>
                      </a:pPr>
                      <a:r>
                        <a:rPr sz="1200" dirty="0">
                          <a:latin typeface="Aptos"/>
                          <a:cs typeface="Aptos"/>
                        </a:rPr>
                        <a:t>Whereas,</a:t>
                      </a:r>
                      <a:r>
                        <a:rPr sz="1200" spc="70" dirty="0">
                          <a:latin typeface="Times New Roman"/>
                          <a:cs typeface="Times New Roman"/>
                        </a:rPr>
                        <a:t> </a:t>
                      </a:r>
                      <a:r>
                        <a:rPr sz="1200" dirty="0">
                          <a:latin typeface="Aptos"/>
                          <a:cs typeface="Aptos"/>
                        </a:rPr>
                        <a:t>there</a:t>
                      </a:r>
                      <a:r>
                        <a:rPr sz="1200" spc="85" dirty="0">
                          <a:latin typeface="Times New Roman"/>
                          <a:cs typeface="Times New Roman"/>
                        </a:rPr>
                        <a:t> </a:t>
                      </a:r>
                      <a:r>
                        <a:rPr sz="1200" dirty="0">
                          <a:latin typeface="Aptos"/>
                          <a:cs typeface="Aptos"/>
                        </a:rPr>
                        <a:t>is</a:t>
                      </a:r>
                      <a:r>
                        <a:rPr sz="1200" spc="90" dirty="0">
                          <a:latin typeface="Times New Roman"/>
                          <a:cs typeface="Times New Roman"/>
                        </a:rPr>
                        <a:t> </a:t>
                      </a:r>
                      <a:r>
                        <a:rPr sz="1200" dirty="0">
                          <a:latin typeface="Aptos"/>
                          <a:cs typeface="Aptos"/>
                        </a:rPr>
                        <a:t>a</a:t>
                      </a:r>
                      <a:r>
                        <a:rPr sz="1200" spc="80" dirty="0">
                          <a:latin typeface="Times New Roman"/>
                          <a:cs typeface="Times New Roman"/>
                        </a:rPr>
                        <a:t> </a:t>
                      </a:r>
                      <a:r>
                        <a:rPr sz="1200" dirty="0">
                          <a:latin typeface="Aptos"/>
                          <a:cs typeface="Aptos"/>
                        </a:rPr>
                        <a:t>long</a:t>
                      </a:r>
                      <a:r>
                        <a:rPr sz="1200" spc="90" dirty="0">
                          <a:latin typeface="Times New Roman"/>
                          <a:cs typeface="Times New Roman"/>
                        </a:rPr>
                        <a:t> </a:t>
                      </a:r>
                      <a:r>
                        <a:rPr sz="1200" dirty="0">
                          <a:latin typeface="Aptos"/>
                          <a:cs typeface="Aptos"/>
                        </a:rPr>
                        <a:t>propagation</a:t>
                      </a:r>
                      <a:r>
                        <a:rPr sz="1200" spc="100" dirty="0">
                          <a:latin typeface="Times New Roman"/>
                          <a:cs typeface="Times New Roman"/>
                        </a:rPr>
                        <a:t> </a:t>
                      </a:r>
                      <a:r>
                        <a:rPr sz="1200" dirty="0">
                          <a:latin typeface="Aptos"/>
                          <a:cs typeface="Aptos"/>
                        </a:rPr>
                        <a:t>delay</a:t>
                      </a:r>
                      <a:r>
                        <a:rPr sz="1200" spc="80" dirty="0">
                          <a:latin typeface="Times New Roman"/>
                          <a:cs typeface="Times New Roman"/>
                        </a:rPr>
                        <a:t> </a:t>
                      </a:r>
                      <a:r>
                        <a:rPr sz="1200" dirty="0">
                          <a:latin typeface="Aptos"/>
                          <a:cs typeface="Aptos"/>
                        </a:rPr>
                        <a:t>in</a:t>
                      </a:r>
                      <a:r>
                        <a:rPr sz="1200" spc="80" dirty="0">
                          <a:latin typeface="Times New Roman"/>
                          <a:cs typeface="Times New Roman"/>
                        </a:rPr>
                        <a:t> </a:t>
                      </a:r>
                      <a:r>
                        <a:rPr sz="1200" spc="-50" dirty="0">
                          <a:latin typeface="Aptos"/>
                          <a:cs typeface="Aptos"/>
                        </a:rPr>
                        <a:t>a</a:t>
                      </a:r>
                      <a:r>
                        <a:rPr sz="1200" spc="-50" dirty="0">
                          <a:latin typeface="Times New Roman"/>
                          <a:cs typeface="Times New Roman"/>
                        </a:rPr>
                        <a:t> </a:t>
                      </a:r>
                      <a:r>
                        <a:rPr sz="1200" spc="-20" dirty="0">
                          <a:latin typeface="Aptos"/>
                          <a:cs typeface="Aptos"/>
                        </a:rPr>
                        <a:t>WAN.</a:t>
                      </a:r>
                      <a:endParaRPr sz="1200">
                        <a:latin typeface="Aptos"/>
                        <a:cs typeface="Aptos"/>
                      </a:endParaRPr>
                    </a:p>
                  </a:txBody>
                  <a:tcPr marL="0" marR="0" marT="444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extLst>
                  <a:ext uri="{0D108BD9-81ED-4DB2-BD59-A6C34878D82A}">
                    <a16:rowId xmlns:a16="http://schemas.microsoft.com/office/drawing/2014/main" val="10006"/>
                  </a:ext>
                </a:extLst>
              </a:tr>
              <a:tr h="718185">
                <a:tc>
                  <a:txBody>
                    <a:bodyPr/>
                    <a:lstStyle/>
                    <a:p>
                      <a:pPr marL="38100">
                        <a:lnSpc>
                          <a:spcPct val="100000"/>
                        </a:lnSpc>
                        <a:spcBef>
                          <a:spcPts val="1610"/>
                        </a:spcBef>
                      </a:pPr>
                      <a:r>
                        <a:rPr sz="1800" b="1" spc="-10" dirty="0">
                          <a:latin typeface="Aptos"/>
                          <a:cs typeface="Aptos"/>
                        </a:rPr>
                        <a:t>Congestion</a:t>
                      </a:r>
                      <a:endParaRPr sz="1800">
                        <a:latin typeface="Aptos"/>
                        <a:cs typeface="Aptos"/>
                      </a:endParaRPr>
                    </a:p>
                  </a:txBody>
                  <a:tcPr marL="0" marR="0" marT="20447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a:lnSpc>
                          <a:spcPct val="100000"/>
                        </a:lnSpc>
                        <a:spcBef>
                          <a:spcPts val="45"/>
                        </a:spcBef>
                      </a:pPr>
                      <a:endParaRPr sz="1100">
                        <a:latin typeface="Times New Roman"/>
                        <a:cs typeface="Times New Roman"/>
                      </a:endParaRPr>
                    </a:p>
                    <a:p>
                      <a:pPr marL="95250" marR="88900">
                        <a:lnSpc>
                          <a:spcPct val="100000"/>
                        </a:lnSpc>
                        <a:spcBef>
                          <a:spcPts val="5"/>
                        </a:spcBef>
                      </a:pPr>
                      <a:r>
                        <a:rPr sz="1200" dirty="0">
                          <a:latin typeface="Aptos"/>
                          <a:cs typeface="Aptos"/>
                        </a:rPr>
                        <a:t>There</a:t>
                      </a:r>
                      <a:r>
                        <a:rPr sz="1200" spc="220" dirty="0">
                          <a:latin typeface="Times New Roman"/>
                          <a:cs typeface="Times New Roman"/>
                        </a:rPr>
                        <a:t> </a:t>
                      </a:r>
                      <a:r>
                        <a:rPr sz="1200" dirty="0">
                          <a:latin typeface="Aptos"/>
                          <a:cs typeface="Aptos"/>
                        </a:rPr>
                        <a:t>is</a:t>
                      </a:r>
                      <a:r>
                        <a:rPr sz="1200" spc="229" dirty="0">
                          <a:latin typeface="Times New Roman"/>
                          <a:cs typeface="Times New Roman"/>
                        </a:rPr>
                        <a:t> </a:t>
                      </a:r>
                      <a:r>
                        <a:rPr sz="1200" dirty="0">
                          <a:latin typeface="Aptos"/>
                          <a:cs typeface="Aptos"/>
                        </a:rPr>
                        <a:t>less</a:t>
                      </a:r>
                      <a:r>
                        <a:rPr sz="1200" spc="220" dirty="0">
                          <a:latin typeface="Times New Roman"/>
                          <a:cs typeface="Times New Roman"/>
                        </a:rPr>
                        <a:t> </a:t>
                      </a:r>
                      <a:r>
                        <a:rPr sz="1200" dirty="0">
                          <a:latin typeface="Aptos"/>
                          <a:cs typeface="Aptos"/>
                        </a:rPr>
                        <a:t>congestion</a:t>
                      </a:r>
                      <a:r>
                        <a:rPr sz="1200" spc="220" dirty="0">
                          <a:latin typeface="Times New Roman"/>
                          <a:cs typeface="Times New Roman"/>
                        </a:rPr>
                        <a:t> </a:t>
                      </a:r>
                      <a:r>
                        <a:rPr sz="1200" spc="-25" dirty="0">
                          <a:latin typeface="Aptos"/>
                          <a:cs typeface="Aptos"/>
                        </a:rPr>
                        <a:t>in</a:t>
                      </a:r>
                      <a:r>
                        <a:rPr sz="1200" spc="-25" dirty="0">
                          <a:latin typeface="Times New Roman"/>
                          <a:cs typeface="Times New Roman"/>
                        </a:rPr>
                        <a:t> </a:t>
                      </a:r>
                      <a:r>
                        <a:rPr sz="1200" spc="-20" dirty="0">
                          <a:latin typeface="Aptos"/>
                          <a:cs typeface="Aptos"/>
                        </a:rPr>
                        <a:t>LAN.</a:t>
                      </a:r>
                      <a:endParaRPr sz="1200">
                        <a:latin typeface="Aptos"/>
                        <a:cs typeface="Aptos"/>
                      </a:endParaRPr>
                    </a:p>
                  </a:txBody>
                  <a:tcPr marL="0" marR="0" marT="571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spcBef>
                          <a:spcPts val="20"/>
                        </a:spcBef>
                      </a:pPr>
                      <a:endParaRPr sz="1750">
                        <a:latin typeface="Times New Roman"/>
                        <a:cs typeface="Times New Roman"/>
                      </a:endParaRPr>
                    </a:p>
                    <a:p>
                      <a:pPr marL="95885">
                        <a:lnSpc>
                          <a:spcPct val="100000"/>
                        </a:lnSpc>
                      </a:pPr>
                      <a:r>
                        <a:rPr sz="1200" dirty="0">
                          <a:latin typeface="Aptos"/>
                          <a:cs typeface="Aptos"/>
                        </a:rPr>
                        <a:t>While</a:t>
                      </a:r>
                      <a:r>
                        <a:rPr sz="1200" spc="-35" dirty="0">
                          <a:latin typeface="Times New Roman"/>
                          <a:cs typeface="Times New Roman"/>
                        </a:rPr>
                        <a:t> </a:t>
                      </a:r>
                      <a:r>
                        <a:rPr sz="1200" spc="-10" dirty="0">
                          <a:latin typeface="Aptos"/>
                          <a:cs typeface="Aptos"/>
                        </a:rPr>
                        <a:t>there</a:t>
                      </a:r>
                      <a:r>
                        <a:rPr sz="1200" spc="-45" dirty="0">
                          <a:latin typeface="Times New Roman"/>
                          <a:cs typeface="Times New Roman"/>
                        </a:rPr>
                        <a:t> </a:t>
                      </a:r>
                      <a:r>
                        <a:rPr sz="1200" dirty="0">
                          <a:latin typeface="Aptos"/>
                          <a:cs typeface="Aptos"/>
                        </a:rPr>
                        <a:t>is</a:t>
                      </a:r>
                      <a:r>
                        <a:rPr sz="1200" spc="-40" dirty="0">
                          <a:latin typeface="Times New Roman"/>
                          <a:cs typeface="Times New Roman"/>
                        </a:rPr>
                        <a:t> </a:t>
                      </a:r>
                      <a:r>
                        <a:rPr sz="1200" dirty="0">
                          <a:latin typeface="Aptos"/>
                          <a:cs typeface="Aptos"/>
                        </a:rPr>
                        <a:t>more</a:t>
                      </a:r>
                      <a:r>
                        <a:rPr sz="1200" spc="-30" dirty="0">
                          <a:latin typeface="Times New Roman"/>
                          <a:cs typeface="Times New Roman"/>
                        </a:rPr>
                        <a:t> </a:t>
                      </a:r>
                      <a:r>
                        <a:rPr sz="1200" spc="-10" dirty="0">
                          <a:latin typeface="Aptos"/>
                          <a:cs typeface="Aptos"/>
                        </a:rPr>
                        <a:t>congestion</a:t>
                      </a:r>
                      <a:r>
                        <a:rPr sz="1200" spc="-25" dirty="0">
                          <a:latin typeface="Times New Roman"/>
                          <a:cs typeface="Times New Roman"/>
                        </a:rPr>
                        <a:t> </a:t>
                      </a:r>
                      <a:r>
                        <a:rPr sz="1200" dirty="0">
                          <a:latin typeface="Aptos"/>
                          <a:cs typeface="Aptos"/>
                        </a:rPr>
                        <a:t>in</a:t>
                      </a:r>
                      <a:r>
                        <a:rPr sz="1200" spc="-45" dirty="0">
                          <a:latin typeface="Times New Roman"/>
                          <a:cs typeface="Times New Roman"/>
                        </a:rPr>
                        <a:t> </a:t>
                      </a:r>
                      <a:r>
                        <a:rPr sz="1200" spc="-20" dirty="0">
                          <a:latin typeface="Aptos"/>
                          <a:cs typeface="Aptos"/>
                        </a:rPr>
                        <a:t>MAN.</a:t>
                      </a:r>
                      <a:endParaRPr sz="1200">
                        <a:latin typeface="Aptos"/>
                        <a:cs typeface="Aptos"/>
                      </a:endParaRPr>
                    </a:p>
                  </a:txBody>
                  <a:tcPr marL="0" marR="0" marT="254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spcBef>
                          <a:spcPts val="45"/>
                        </a:spcBef>
                      </a:pPr>
                      <a:endParaRPr sz="1100">
                        <a:latin typeface="Times New Roman"/>
                        <a:cs typeface="Times New Roman"/>
                      </a:endParaRPr>
                    </a:p>
                    <a:p>
                      <a:pPr marL="95885" marR="85725">
                        <a:lnSpc>
                          <a:spcPct val="100000"/>
                        </a:lnSpc>
                        <a:spcBef>
                          <a:spcPts val="5"/>
                        </a:spcBef>
                      </a:pPr>
                      <a:r>
                        <a:rPr sz="1200" dirty="0">
                          <a:latin typeface="Aptos"/>
                          <a:cs typeface="Aptos"/>
                        </a:rPr>
                        <a:t>Whereas</a:t>
                      </a:r>
                      <a:r>
                        <a:rPr sz="1200" spc="80" dirty="0">
                          <a:latin typeface="Times New Roman"/>
                          <a:cs typeface="Times New Roman"/>
                        </a:rPr>
                        <a:t> </a:t>
                      </a:r>
                      <a:r>
                        <a:rPr sz="1200" dirty="0">
                          <a:latin typeface="Aptos"/>
                          <a:cs typeface="Aptos"/>
                        </a:rPr>
                        <a:t>there</a:t>
                      </a:r>
                      <a:r>
                        <a:rPr sz="1200" spc="80" dirty="0">
                          <a:latin typeface="Times New Roman"/>
                          <a:cs typeface="Times New Roman"/>
                        </a:rPr>
                        <a:t> </a:t>
                      </a:r>
                      <a:r>
                        <a:rPr sz="1200" dirty="0">
                          <a:latin typeface="Aptos"/>
                          <a:cs typeface="Aptos"/>
                        </a:rPr>
                        <a:t>is</a:t>
                      </a:r>
                      <a:r>
                        <a:rPr sz="1200" spc="65" dirty="0">
                          <a:latin typeface="Times New Roman"/>
                          <a:cs typeface="Times New Roman"/>
                        </a:rPr>
                        <a:t> </a:t>
                      </a:r>
                      <a:r>
                        <a:rPr sz="1200" dirty="0">
                          <a:latin typeface="Aptos"/>
                          <a:cs typeface="Aptos"/>
                        </a:rPr>
                        <a:t>more</a:t>
                      </a:r>
                      <a:r>
                        <a:rPr sz="1200" spc="85" dirty="0">
                          <a:latin typeface="Times New Roman"/>
                          <a:cs typeface="Times New Roman"/>
                        </a:rPr>
                        <a:t> </a:t>
                      </a:r>
                      <a:r>
                        <a:rPr sz="1200" dirty="0">
                          <a:latin typeface="Aptos"/>
                          <a:cs typeface="Aptos"/>
                        </a:rPr>
                        <a:t>congestion</a:t>
                      </a:r>
                      <a:r>
                        <a:rPr sz="1200" spc="75" dirty="0">
                          <a:latin typeface="Times New Roman"/>
                          <a:cs typeface="Times New Roman"/>
                        </a:rPr>
                        <a:t> </a:t>
                      </a:r>
                      <a:r>
                        <a:rPr sz="1200" dirty="0">
                          <a:latin typeface="Aptos"/>
                          <a:cs typeface="Aptos"/>
                        </a:rPr>
                        <a:t>than</a:t>
                      </a:r>
                      <a:r>
                        <a:rPr sz="1200" spc="65" dirty="0">
                          <a:latin typeface="Times New Roman"/>
                          <a:cs typeface="Times New Roman"/>
                        </a:rPr>
                        <a:t> </a:t>
                      </a:r>
                      <a:r>
                        <a:rPr sz="1200" dirty="0">
                          <a:latin typeface="Aptos"/>
                          <a:cs typeface="Aptos"/>
                        </a:rPr>
                        <a:t>MAN</a:t>
                      </a:r>
                      <a:r>
                        <a:rPr sz="1200" spc="85" dirty="0">
                          <a:latin typeface="Times New Roman"/>
                          <a:cs typeface="Times New Roman"/>
                        </a:rPr>
                        <a:t> </a:t>
                      </a:r>
                      <a:r>
                        <a:rPr sz="1200" spc="-25" dirty="0">
                          <a:latin typeface="Aptos"/>
                          <a:cs typeface="Aptos"/>
                        </a:rPr>
                        <a:t>in</a:t>
                      </a:r>
                      <a:r>
                        <a:rPr sz="1200" spc="-25" dirty="0">
                          <a:latin typeface="Times New Roman"/>
                          <a:cs typeface="Times New Roman"/>
                        </a:rPr>
                        <a:t> </a:t>
                      </a:r>
                      <a:r>
                        <a:rPr sz="1200" spc="-20" dirty="0">
                          <a:latin typeface="Aptos"/>
                          <a:cs typeface="Aptos"/>
                        </a:rPr>
                        <a:t>WAN.</a:t>
                      </a:r>
                      <a:endParaRPr sz="1200">
                        <a:latin typeface="Aptos"/>
                        <a:cs typeface="Aptos"/>
                      </a:endParaRPr>
                    </a:p>
                  </a:txBody>
                  <a:tcPr marL="0" marR="0" marT="571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extLst>
                  <a:ext uri="{0D108BD9-81ED-4DB2-BD59-A6C34878D82A}">
                    <a16:rowId xmlns:a16="http://schemas.microsoft.com/office/drawing/2014/main" val="10007"/>
                  </a:ext>
                </a:extLst>
              </a:tr>
              <a:tr h="1063625">
                <a:tc>
                  <a:txBody>
                    <a:bodyPr/>
                    <a:lstStyle/>
                    <a:p>
                      <a:pPr>
                        <a:lnSpc>
                          <a:spcPct val="100000"/>
                        </a:lnSpc>
                        <a:spcBef>
                          <a:spcPts val="40"/>
                        </a:spcBef>
                      </a:pPr>
                      <a:endParaRPr sz="2550">
                        <a:latin typeface="Times New Roman"/>
                        <a:cs typeface="Times New Roman"/>
                      </a:endParaRPr>
                    </a:p>
                    <a:p>
                      <a:pPr marL="38100">
                        <a:lnSpc>
                          <a:spcPct val="100000"/>
                        </a:lnSpc>
                        <a:spcBef>
                          <a:spcPts val="5"/>
                        </a:spcBef>
                      </a:pPr>
                      <a:r>
                        <a:rPr sz="1800" b="1" spc="-10" dirty="0">
                          <a:latin typeface="Aptos"/>
                          <a:cs typeface="Aptos"/>
                        </a:rPr>
                        <a:t>Design</a:t>
                      </a:r>
                      <a:r>
                        <a:rPr sz="1800" spc="-130" dirty="0">
                          <a:latin typeface="Times New Roman"/>
                          <a:cs typeface="Times New Roman"/>
                        </a:rPr>
                        <a:t> </a:t>
                      </a:r>
                      <a:r>
                        <a:rPr sz="1800" b="1" dirty="0">
                          <a:latin typeface="Aptos"/>
                          <a:cs typeface="Aptos"/>
                        </a:rPr>
                        <a:t>&amp;</a:t>
                      </a:r>
                      <a:r>
                        <a:rPr sz="1800" spc="-70" dirty="0">
                          <a:latin typeface="Times New Roman"/>
                          <a:cs typeface="Times New Roman"/>
                        </a:rPr>
                        <a:t> </a:t>
                      </a:r>
                      <a:r>
                        <a:rPr sz="1800" b="1" spc="-10" dirty="0">
                          <a:latin typeface="Aptos"/>
                          <a:cs typeface="Aptos"/>
                        </a:rPr>
                        <a:t>Maintenance</a:t>
                      </a:r>
                      <a:endParaRPr sz="1800">
                        <a:latin typeface="Aptos"/>
                        <a:cs typeface="Aptos"/>
                      </a:endParaRPr>
                    </a:p>
                  </a:txBody>
                  <a:tcPr marL="0" marR="0" marT="508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a:lnSpc>
                          <a:spcPct val="100000"/>
                        </a:lnSpc>
                      </a:pPr>
                      <a:endParaRPr sz="1400">
                        <a:latin typeface="Times New Roman"/>
                        <a:cs typeface="Times New Roman"/>
                      </a:endParaRPr>
                    </a:p>
                    <a:p>
                      <a:pPr marL="95250">
                        <a:lnSpc>
                          <a:spcPct val="100000"/>
                        </a:lnSpc>
                        <a:spcBef>
                          <a:spcPts val="1065"/>
                        </a:spcBef>
                        <a:tabLst>
                          <a:tab pos="877569" algn="l"/>
                          <a:tab pos="1713864" algn="l"/>
                        </a:tabLst>
                      </a:pPr>
                      <a:r>
                        <a:rPr sz="1200" spc="-10" dirty="0">
                          <a:latin typeface="Aptos"/>
                          <a:cs typeface="Aptos"/>
                        </a:rPr>
                        <a:t>LAN’s</a:t>
                      </a:r>
                      <a:r>
                        <a:rPr sz="1200" dirty="0">
                          <a:latin typeface="Aptos"/>
                          <a:cs typeface="Aptos"/>
                        </a:rPr>
                        <a:t>	</a:t>
                      </a:r>
                      <a:r>
                        <a:rPr sz="1200" spc="-10" dirty="0">
                          <a:latin typeface="Aptos"/>
                          <a:cs typeface="Aptos"/>
                        </a:rPr>
                        <a:t>design</a:t>
                      </a:r>
                      <a:r>
                        <a:rPr sz="1200" dirty="0">
                          <a:latin typeface="Times New Roman"/>
                          <a:cs typeface="Times New Roman"/>
                        </a:rPr>
                        <a:t>	</a:t>
                      </a:r>
                      <a:r>
                        <a:rPr sz="1200" spc="-25" dirty="0">
                          <a:latin typeface="Aptos"/>
                          <a:cs typeface="Aptos"/>
                        </a:rPr>
                        <a:t>and</a:t>
                      </a:r>
                      <a:endParaRPr sz="1200">
                        <a:latin typeface="Aptos"/>
                        <a:cs typeface="Aptos"/>
                      </a:endParaRPr>
                    </a:p>
                    <a:p>
                      <a:pPr marL="95250">
                        <a:lnSpc>
                          <a:spcPct val="100000"/>
                        </a:lnSpc>
                      </a:pPr>
                      <a:r>
                        <a:rPr sz="1200" dirty="0">
                          <a:latin typeface="Aptos"/>
                          <a:cs typeface="Aptos"/>
                        </a:rPr>
                        <a:t>maintenance</a:t>
                      </a:r>
                      <a:r>
                        <a:rPr sz="1200" spc="-75" dirty="0">
                          <a:latin typeface="Times New Roman"/>
                          <a:cs typeface="Times New Roman"/>
                        </a:rPr>
                        <a:t> </a:t>
                      </a:r>
                      <a:r>
                        <a:rPr sz="1200" dirty="0">
                          <a:latin typeface="Aptos"/>
                          <a:cs typeface="Aptos"/>
                        </a:rPr>
                        <a:t>are</a:t>
                      </a:r>
                      <a:r>
                        <a:rPr sz="1200" spc="-75" dirty="0">
                          <a:latin typeface="Times New Roman"/>
                          <a:cs typeface="Times New Roman"/>
                        </a:rPr>
                        <a:t> </a:t>
                      </a:r>
                      <a:r>
                        <a:rPr sz="1200" spc="-20" dirty="0">
                          <a:latin typeface="Aptos"/>
                          <a:cs typeface="Aptos"/>
                        </a:rPr>
                        <a:t>easy.</a:t>
                      </a:r>
                      <a:endParaRPr sz="1200">
                        <a:latin typeface="Aptos"/>
                        <a:cs typeface="Aptos"/>
                      </a:endParaRPr>
                    </a:p>
                  </a:txBody>
                  <a:tcPr marL="0" marR="0" marT="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pPr>
                      <a:endParaRPr sz="1400">
                        <a:latin typeface="Times New Roman"/>
                        <a:cs typeface="Times New Roman"/>
                      </a:endParaRPr>
                    </a:p>
                    <a:p>
                      <a:pPr marL="95885">
                        <a:lnSpc>
                          <a:spcPct val="100000"/>
                        </a:lnSpc>
                        <a:spcBef>
                          <a:spcPts val="1065"/>
                        </a:spcBef>
                      </a:pPr>
                      <a:r>
                        <a:rPr sz="1200" dirty="0">
                          <a:latin typeface="Aptos"/>
                          <a:cs typeface="Aptos"/>
                        </a:rPr>
                        <a:t>While</a:t>
                      </a:r>
                      <a:r>
                        <a:rPr sz="1200" spc="180" dirty="0">
                          <a:latin typeface="Times New Roman"/>
                          <a:cs typeface="Times New Roman"/>
                        </a:rPr>
                        <a:t>  </a:t>
                      </a:r>
                      <a:r>
                        <a:rPr sz="1200" dirty="0">
                          <a:latin typeface="Aptos"/>
                          <a:cs typeface="Aptos"/>
                        </a:rPr>
                        <a:t>MAN’s</a:t>
                      </a:r>
                      <a:r>
                        <a:rPr sz="1200" spc="245" dirty="0">
                          <a:latin typeface="Aptos"/>
                          <a:cs typeface="Aptos"/>
                        </a:rPr>
                        <a:t>  </a:t>
                      </a:r>
                      <a:r>
                        <a:rPr sz="1200" dirty="0">
                          <a:latin typeface="Aptos"/>
                          <a:cs typeface="Aptos"/>
                        </a:rPr>
                        <a:t>design</a:t>
                      </a:r>
                      <a:r>
                        <a:rPr sz="1200" spc="180" dirty="0">
                          <a:latin typeface="Times New Roman"/>
                          <a:cs typeface="Times New Roman"/>
                        </a:rPr>
                        <a:t>  </a:t>
                      </a:r>
                      <a:r>
                        <a:rPr sz="1200" dirty="0">
                          <a:latin typeface="Aptos"/>
                          <a:cs typeface="Aptos"/>
                        </a:rPr>
                        <a:t>and</a:t>
                      </a:r>
                      <a:r>
                        <a:rPr sz="1200" spc="185" dirty="0">
                          <a:latin typeface="Times New Roman"/>
                          <a:cs typeface="Times New Roman"/>
                        </a:rPr>
                        <a:t>  </a:t>
                      </a:r>
                      <a:r>
                        <a:rPr sz="1200" dirty="0">
                          <a:latin typeface="Aptos"/>
                          <a:cs typeface="Aptos"/>
                        </a:rPr>
                        <a:t>maintenance</a:t>
                      </a:r>
                      <a:r>
                        <a:rPr sz="1200" spc="180" dirty="0">
                          <a:latin typeface="Times New Roman"/>
                          <a:cs typeface="Times New Roman"/>
                        </a:rPr>
                        <a:t>  </a:t>
                      </a:r>
                      <a:r>
                        <a:rPr sz="1200" spc="-25" dirty="0">
                          <a:latin typeface="Aptos"/>
                          <a:cs typeface="Aptos"/>
                        </a:rPr>
                        <a:t>are</a:t>
                      </a:r>
                      <a:endParaRPr sz="1200">
                        <a:latin typeface="Aptos"/>
                        <a:cs typeface="Aptos"/>
                      </a:endParaRPr>
                    </a:p>
                    <a:p>
                      <a:pPr marL="95885">
                        <a:lnSpc>
                          <a:spcPct val="100000"/>
                        </a:lnSpc>
                      </a:pPr>
                      <a:r>
                        <a:rPr sz="1200" dirty="0">
                          <a:latin typeface="Aptos"/>
                          <a:cs typeface="Aptos"/>
                        </a:rPr>
                        <a:t>difficult</a:t>
                      </a:r>
                      <a:r>
                        <a:rPr sz="1200" spc="-65" dirty="0">
                          <a:latin typeface="Times New Roman"/>
                          <a:cs typeface="Times New Roman"/>
                        </a:rPr>
                        <a:t> </a:t>
                      </a:r>
                      <a:r>
                        <a:rPr sz="1200" dirty="0">
                          <a:latin typeface="Aptos"/>
                          <a:cs typeface="Aptos"/>
                        </a:rPr>
                        <a:t>than</a:t>
                      </a:r>
                      <a:r>
                        <a:rPr sz="1200" spc="-55" dirty="0">
                          <a:latin typeface="Times New Roman"/>
                          <a:cs typeface="Times New Roman"/>
                        </a:rPr>
                        <a:t> </a:t>
                      </a:r>
                      <a:r>
                        <a:rPr sz="1200" spc="-20" dirty="0">
                          <a:latin typeface="Aptos"/>
                          <a:cs typeface="Aptos"/>
                        </a:rPr>
                        <a:t>LAN.</a:t>
                      </a:r>
                      <a:endParaRPr sz="1200">
                        <a:latin typeface="Aptos"/>
                        <a:cs typeface="Aptos"/>
                      </a:endParaRPr>
                    </a:p>
                  </a:txBody>
                  <a:tcPr marL="0" marR="0" marT="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pPr>
                      <a:endParaRPr sz="1400">
                        <a:latin typeface="Times New Roman"/>
                        <a:cs typeface="Times New Roman"/>
                      </a:endParaRPr>
                    </a:p>
                    <a:p>
                      <a:pPr marL="95885">
                        <a:lnSpc>
                          <a:spcPct val="100000"/>
                        </a:lnSpc>
                        <a:spcBef>
                          <a:spcPts val="1065"/>
                        </a:spcBef>
                      </a:pPr>
                      <a:r>
                        <a:rPr sz="1200" dirty="0">
                          <a:latin typeface="Aptos"/>
                          <a:cs typeface="Aptos"/>
                        </a:rPr>
                        <a:t>Whereas</a:t>
                      </a:r>
                      <a:r>
                        <a:rPr sz="1200" spc="310" dirty="0">
                          <a:latin typeface="Times New Roman"/>
                          <a:cs typeface="Times New Roman"/>
                        </a:rPr>
                        <a:t> </a:t>
                      </a:r>
                      <a:r>
                        <a:rPr sz="1200" dirty="0">
                          <a:latin typeface="Aptos"/>
                          <a:cs typeface="Aptos"/>
                        </a:rPr>
                        <a:t>WAN’s</a:t>
                      </a:r>
                      <a:r>
                        <a:rPr sz="1200" spc="365" dirty="0">
                          <a:latin typeface="Aptos"/>
                          <a:cs typeface="Aptos"/>
                        </a:rPr>
                        <a:t> </a:t>
                      </a:r>
                      <a:r>
                        <a:rPr sz="1200" dirty="0">
                          <a:latin typeface="Aptos"/>
                          <a:cs typeface="Aptos"/>
                        </a:rPr>
                        <a:t>design</a:t>
                      </a:r>
                      <a:r>
                        <a:rPr sz="1200" spc="295" dirty="0">
                          <a:latin typeface="Times New Roman"/>
                          <a:cs typeface="Times New Roman"/>
                        </a:rPr>
                        <a:t> </a:t>
                      </a:r>
                      <a:r>
                        <a:rPr sz="1200" dirty="0">
                          <a:latin typeface="Aptos"/>
                          <a:cs typeface="Aptos"/>
                        </a:rPr>
                        <a:t>and</a:t>
                      </a:r>
                      <a:r>
                        <a:rPr sz="1200" spc="300" dirty="0">
                          <a:latin typeface="Times New Roman"/>
                          <a:cs typeface="Times New Roman"/>
                        </a:rPr>
                        <a:t> </a:t>
                      </a:r>
                      <a:r>
                        <a:rPr sz="1200" dirty="0">
                          <a:latin typeface="Aptos"/>
                          <a:cs typeface="Aptos"/>
                        </a:rPr>
                        <a:t>maintenance</a:t>
                      </a:r>
                      <a:r>
                        <a:rPr sz="1200" spc="305" dirty="0">
                          <a:latin typeface="Times New Roman"/>
                          <a:cs typeface="Times New Roman"/>
                        </a:rPr>
                        <a:t> </a:t>
                      </a:r>
                      <a:r>
                        <a:rPr sz="1200" spc="-25" dirty="0">
                          <a:latin typeface="Aptos"/>
                          <a:cs typeface="Aptos"/>
                        </a:rPr>
                        <a:t>are</a:t>
                      </a:r>
                      <a:endParaRPr sz="1200">
                        <a:latin typeface="Aptos"/>
                        <a:cs typeface="Aptos"/>
                      </a:endParaRPr>
                    </a:p>
                    <a:p>
                      <a:pPr marL="95885">
                        <a:lnSpc>
                          <a:spcPct val="100000"/>
                        </a:lnSpc>
                      </a:pPr>
                      <a:r>
                        <a:rPr sz="1200" dirty="0">
                          <a:latin typeface="Aptos"/>
                          <a:cs typeface="Aptos"/>
                        </a:rPr>
                        <a:t>also</a:t>
                      </a:r>
                      <a:r>
                        <a:rPr sz="1200" spc="-60" dirty="0">
                          <a:latin typeface="Times New Roman"/>
                          <a:cs typeface="Times New Roman"/>
                        </a:rPr>
                        <a:t> </a:t>
                      </a:r>
                      <a:r>
                        <a:rPr sz="1200" dirty="0">
                          <a:latin typeface="Aptos"/>
                          <a:cs typeface="Aptos"/>
                        </a:rPr>
                        <a:t>difficult</a:t>
                      </a:r>
                      <a:r>
                        <a:rPr sz="1200" spc="-50" dirty="0">
                          <a:latin typeface="Times New Roman"/>
                          <a:cs typeface="Times New Roman"/>
                        </a:rPr>
                        <a:t> </a:t>
                      </a:r>
                      <a:r>
                        <a:rPr sz="1200" dirty="0">
                          <a:latin typeface="Aptos"/>
                          <a:cs typeface="Aptos"/>
                        </a:rPr>
                        <a:t>than</a:t>
                      </a:r>
                      <a:r>
                        <a:rPr sz="1200" spc="-50" dirty="0">
                          <a:latin typeface="Times New Roman"/>
                          <a:cs typeface="Times New Roman"/>
                        </a:rPr>
                        <a:t> </a:t>
                      </a:r>
                      <a:r>
                        <a:rPr sz="1200" dirty="0">
                          <a:latin typeface="Aptos"/>
                          <a:cs typeface="Aptos"/>
                        </a:rPr>
                        <a:t>LAN</a:t>
                      </a:r>
                      <a:r>
                        <a:rPr sz="1200" spc="-55" dirty="0">
                          <a:latin typeface="Times New Roman"/>
                          <a:cs typeface="Times New Roman"/>
                        </a:rPr>
                        <a:t> </a:t>
                      </a:r>
                      <a:r>
                        <a:rPr sz="1200" dirty="0">
                          <a:latin typeface="Aptos"/>
                          <a:cs typeface="Aptos"/>
                        </a:rPr>
                        <a:t>as</a:t>
                      </a:r>
                      <a:r>
                        <a:rPr sz="1200" spc="-55" dirty="0">
                          <a:latin typeface="Times New Roman"/>
                          <a:cs typeface="Times New Roman"/>
                        </a:rPr>
                        <a:t> </a:t>
                      </a:r>
                      <a:r>
                        <a:rPr sz="1200" dirty="0">
                          <a:latin typeface="Aptos"/>
                          <a:cs typeface="Aptos"/>
                        </a:rPr>
                        <a:t>well</a:t>
                      </a:r>
                      <a:r>
                        <a:rPr sz="1200" spc="-50" dirty="0">
                          <a:latin typeface="Times New Roman"/>
                          <a:cs typeface="Times New Roman"/>
                        </a:rPr>
                        <a:t> </a:t>
                      </a:r>
                      <a:r>
                        <a:rPr sz="1200" spc="-20" dirty="0">
                          <a:latin typeface="Aptos"/>
                          <a:cs typeface="Aptos"/>
                        </a:rPr>
                        <a:t>MAN.</a:t>
                      </a:r>
                      <a:endParaRPr sz="1200">
                        <a:latin typeface="Aptos"/>
                        <a:cs typeface="Aptos"/>
                      </a:endParaRPr>
                    </a:p>
                  </a:txBody>
                  <a:tcPr marL="0" marR="0" marT="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extLst>
                  <a:ext uri="{0D108BD9-81ED-4DB2-BD59-A6C34878D82A}">
                    <a16:rowId xmlns:a16="http://schemas.microsoft.com/office/drawing/2014/main" val="10008"/>
                  </a:ext>
                </a:extLst>
              </a:tr>
            </a:tbl>
          </a:graphicData>
        </a:graphic>
      </p:graphicFrame>
      <p:sp>
        <p:nvSpPr>
          <p:cNvPr id="3" name="object 3"/>
          <p:cNvSpPr/>
          <p:nvPr/>
        </p:nvSpPr>
        <p:spPr>
          <a:xfrm>
            <a:off x="353961" y="235968"/>
            <a:ext cx="11838305" cy="457200"/>
          </a:xfrm>
          <a:custGeom>
            <a:avLst/>
            <a:gdLst/>
            <a:ahLst/>
            <a:cxnLst/>
            <a:rect l="l" t="t" r="r" b="b"/>
            <a:pathLst>
              <a:path w="11838305" h="457200">
                <a:moveTo>
                  <a:pt x="0" y="457200"/>
                </a:moveTo>
                <a:lnTo>
                  <a:pt x="11838038" y="457200"/>
                </a:lnTo>
                <a:lnTo>
                  <a:pt x="11838038" y="0"/>
                </a:lnTo>
                <a:lnTo>
                  <a:pt x="0" y="0"/>
                </a:lnTo>
                <a:lnTo>
                  <a:pt x="0" y="457200"/>
                </a:lnTo>
                <a:close/>
              </a:path>
            </a:pathLst>
          </a:custGeom>
          <a:solidFill>
            <a:srgbClr val="FFFFFF"/>
          </a:solidFill>
        </p:spPr>
        <p:txBody>
          <a:bodyPr wrap="square" lIns="0" tIns="0" rIns="0" bIns="0" rtlCol="0"/>
          <a:lstStyle/>
          <a:p>
            <a:endParaRPr/>
          </a:p>
        </p:txBody>
      </p:sp>
      <p:sp>
        <p:nvSpPr>
          <p:cNvPr id="4" name="object 4"/>
          <p:cNvSpPr txBox="1"/>
          <p:nvPr/>
        </p:nvSpPr>
        <p:spPr>
          <a:xfrm>
            <a:off x="341172" y="162546"/>
            <a:ext cx="403860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273139"/>
                </a:solidFill>
                <a:latin typeface="Calibri"/>
                <a:cs typeface="Calibri"/>
              </a:rPr>
              <a:t>Differences</a:t>
            </a:r>
            <a:r>
              <a:rPr sz="1800" spc="-65" dirty="0">
                <a:solidFill>
                  <a:srgbClr val="273139"/>
                </a:solidFill>
                <a:latin typeface="Times New Roman"/>
                <a:cs typeface="Times New Roman"/>
              </a:rPr>
              <a:t> </a:t>
            </a:r>
            <a:r>
              <a:rPr sz="1800" b="1" dirty="0">
                <a:solidFill>
                  <a:srgbClr val="273139"/>
                </a:solidFill>
                <a:latin typeface="Calibri"/>
                <a:cs typeface="Calibri"/>
              </a:rPr>
              <a:t>Between</a:t>
            </a:r>
            <a:r>
              <a:rPr sz="1800" spc="-30" dirty="0">
                <a:solidFill>
                  <a:srgbClr val="273139"/>
                </a:solidFill>
                <a:latin typeface="Times New Roman"/>
                <a:cs typeface="Times New Roman"/>
              </a:rPr>
              <a:t> </a:t>
            </a:r>
            <a:r>
              <a:rPr sz="1800" b="1" dirty="0">
                <a:solidFill>
                  <a:srgbClr val="273139"/>
                </a:solidFill>
                <a:latin typeface="Calibri"/>
                <a:cs typeface="Calibri"/>
              </a:rPr>
              <a:t>LAN,</a:t>
            </a:r>
            <a:r>
              <a:rPr sz="1800" spc="-55" dirty="0">
                <a:solidFill>
                  <a:srgbClr val="273139"/>
                </a:solidFill>
                <a:latin typeface="Times New Roman"/>
                <a:cs typeface="Times New Roman"/>
              </a:rPr>
              <a:t> </a:t>
            </a:r>
            <a:r>
              <a:rPr sz="1800" b="1" dirty="0">
                <a:solidFill>
                  <a:srgbClr val="273139"/>
                </a:solidFill>
                <a:latin typeface="Calibri"/>
                <a:cs typeface="Calibri"/>
              </a:rPr>
              <a:t>MAN,</a:t>
            </a:r>
            <a:r>
              <a:rPr sz="1800" spc="-35" dirty="0">
                <a:solidFill>
                  <a:srgbClr val="273139"/>
                </a:solidFill>
                <a:latin typeface="Times New Roman"/>
                <a:cs typeface="Times New Roman"/>
              </a:rPr>
              <a:t> </a:t>
            </a:r>
            <a:r>
              <a:rPr sz="1800" b="1" dirty="0">
                <a:solidFill>
                  <a:srgbClr val="273139"/>
                </a:solidFill>
                <a:latin typeface="Calibri"/>
                <a:cs typeface="Calibri"/>
              </a:rPr>
              <a:t>and</a:t>
            </a:r>
            <a:r>
              <a:rPr sz="1800" spc="-35" dirty="0">
                <a:solidFill>
                  <a:srgbClr val="273139"/>
                </a:solidFill>
                <a:latin typeface="Times New Roman"/>
                <a:cs typeface="Times New Roman"/>
              </a:rPr>
              <a:t> </a:t>
            </a:r>
            <a:r>
              <a:rPr sz="1800" b="1" spc="-25" dirty="0">
                <a:solidFill>
                  <a:srgbClr val="273139"/>
                </a:solidFill>
                <a:latin typeface="Calibri"/>
                <a:cs typeface="Calibri"/>
              </a:rPr>
              <a:t>WAN</a:t>
            </a:r>
            <a:endParaRPr sz="1800">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1635598" y="617947"/>
          <a:ext cx="9586595" cy="6513828"/>
        </p:xfrm>
        <a:graphic>
          <a:graphicData uri="http://schemas.openxmlformats.org/drawingml/2006/table">
            <a:tbl>
              <a:tblPr firstRow="1" bandRow="1">
                <a:tableStyleId>{2D5ABB26-0587-4C30-8999-92F81FD0307C}</a:tableStyleId>
              </a:tblPr>
              <a:tblGrid>
                <a:gridCol w="1299845">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gridCol w="2762250">
                  <a:extLst>
                    <a:ext uri="{9D8B030D-6E8A-4147-A177-3AD203B41FA5}">
                      <a16:colId xmlns:a16="http://schemas.microsoft.com/office/drawing/2014/main" val="20003"/>
                    </a:ext>
                  </a:extLst>
                </a:gridCol>
              </a:tblGrid>
              <a:tr h="575945">
                <a:tc>
                  <a:txBody>
                    <a:bodyPr/>
                    <a:lstStyle/>
                    <a:p>
                      <a:pPr marL="258445" marR="249554" indent="99060">
                        <a:lnSpc>
                          <a:spcPct val="100000"/>
                        </a:lnSpc>
                        <a:spcBef>
                          <a:spcPts val="484"/>
                        </a:spcBef>
                      </a:pPr>
                      <a:r>
                        <a:rPr sz="1400" b="1" spc="-10" dirty="0">
                          <a:latin typeface="Aptos"/>
                          <a:cs typeface="Aptos"/>
                        </a:rPr>
                        <a:t>Point</a:t>
                      </a:r>
                      <a:r>
                        <a:rPr sz="1400" spc="-75" dirty="0">
                          <a:latin typeface="Times New Roman"/>
                          <a:cs typeface="Times New Roman"/>
                        </a:rPr>
                        <a:t> </a:t>
                      </a:r>
                      <a:r>
                        <a:rPr sz="1400" b="1" spc="-25" dirty="0">
                          <a:latin typeface="Aptos"/>
                          <a:cs typeface="Aptos"/>
                        </a:rPr>
                        <a:t>of</a:t>
                      </a:r>
                      <a:r>
                        <a:rPr sz="1400" spc="-25" dirty="0">
                          <a:latin typeface="Times New Roman"/>
                          <a:cs typeface="Times New Roman"/>
                        </a:rPr>
                        <a:t> </a:t>
                      </a:r>
                      <a:r>
                        <a:rPr sz="1400" b="1" spc="-10" dirty="0">
                          <a:latin typeface="Aptos"/>
                          <a:cs typeface="Aptos"/>
                        </a:rPr>
                        <a:t>difference</a:t>
                      </a:r>
                      <a:endParaRPr sz="1400">
                        <a:latin typeface="Aptos"/>
                        <a:cs typeface="Aptos"/>
                      </a:endParaRPr>
                    </a:p>
                  </a:txBody>
                  <a:tcPr marL="0" marR="0" marT="61594"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marL="635" algn="ctr">
                        <a:lnSpc>
                          <a:spcPct val="100000"/>
                        </a:lnSpc>
                        <a:spcBef>
                          <a:spcPts val="1325"/>
                        </a:spcBef>
                      </a:pPr>
                      <a:r>
                        <a:rPr sz="1400" b="1" spc="-10" dirty="0">
                          <a:latin typeface="Aptos"/>
                          <a:cs typeface="Aptos"/>
                        </a:rPr>
                        <a:t>Internet</a:t>
                      </a:r>
                      <a:endParaRPr sz="1400">
                        <a:latin typeface="Aptos"/>
                        <a:cs typeface="Aptos"/>
                      </a:endParaRPr>
                    </a:p>
                  </a:txBody>
                  <a:tcPr marL="0" marR="0" marT="16827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marL="1905" algn="ctr">
                        <a:lnSpc>
                          <a:spcPct val="100000"/>
                        </a:lnSpc>
                        <a:spcBef>
                          <a:spcPts val="1325"/>
                        </a:spcBef>
                      </a:pPr>
                      <a:r>
                        <a:rPr sz="1400" b="1" spc="-10" dirty="0">
                          <a:latin typeface="Aptos"/>
                          <a:cs typeface="Aptos"/>
                        </a:rPr>
                        <a:t>Intranet</a:t>
                      </a:r>
                      <a:endParaRPr sz="1400">
                        <a:latin typeface="Aptos"/>
                        <a:cs typeface="Aptos"/>
                      </a:endParaRPr>
                    </a:p>
                  </a:txBody>
                  <a:tcPr marL="0" marR="0" marT="16827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marL="1905" algn="ctr">
                        <a:lnSpc>
                          <a:spcPct val="100000"/>
                        </a:lnSpc>
                        <a:spcBef>
                          <a:spcPts val="1325"/>
                        </a:spcBef>
                      </a:pPr>
                      <a:r>
                        <a:rPr sz="1400" b="1" spc="-10" dirty="0">
                          <a:latin typeface="Aptos"/>
                          <a:cs typeface="Aptos"/>
                        </a:rPr>
                        <a:t>Extranet</a:t>
                      </a:r>
                      <a:endParaRPr sz="1400">
                        <a:latin typeface="Aptos"/>
                        <a:cs typeface="Aptos"/>
                      </a:endParaRPr>
                    </a:p>
                  </a:txBody>
                  <a:tcPr marL="0" marR="0" marT="16827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extLst>
                  <a:ext uri="{0D108BD9-81ED-4DB2-BD59-A6C34878D82A}">
                    <a16:rowId xmlns:a16="http://schemas.microsoft.com/office/drawing/2014/main" val="10000"/>
                  </a:ext>
                </a:extLst>
              </a:tr>
              <a:tr h="649605">
                <a:tc>
                  <a:txBody>
                    <a:bodyPr/>
                    <a:lstStyle/>
                    <a:p>
                      <a:pPr algn="ctr">
                        <a:lnSpc>
                          <a:spcPct val="100000"/>
                        </a:lnSpc>
                        <a:spcBef>
                          <a:spcPts val="775"/>
                        </a:spcBef>
                      </a:pPr>
                      <a:r>
                        <a:rPr sz="1400" b="1" spc="-10" dirty="0">
                          <a:latin typeface="Aptos"/>
                          <a:cs typeface="Aptos"/>
                        </a:rPr>
                        <a:t>Accessibility</a:t>
                      </a:r>
                      <a:r>
                        <a:rPr sz="1400" spc="-10" dirty="0">
                          <a:latin typeface="Times New Roman"/>
                          <a:cs typeface="Times New Roman"/>
                        </a:rPr>
                        <a:t> </a:t>
                      </a:r>
                      <a:r>
                        <a:rPr sz="1400" b="1" spc="-25" dirty="0">
                          <a:latin typeface="Aptos"/>
                          <a:cs typeface="Aptos"/>
                        </a:rPr>
                        <a:t>of</a:t>
                      </a:r>
                      <a:endParaRPr sz="1400">
                        <a:latin typeface="Aptos"/>
                        <a:cs typeface="Aptos"/>
                      </a:endParaRPr>
                    </a:p>
                    <a:p>
                      <a:pPr algn="ctr">
                        <a:lnSpc>
                          <a:spcPct val="100000"/>
                        </a:lnSpc>
                        <a:spcBef>
                          <a:spcPts val="5"/>
                        </a:spcBef>
                      </a:pPr>
                      <a:r>
                        <a:rPr sz="1400" b="1" spc="-10" dirty="0">
                          <a:latin typeface="Aptos"/>
                          <a:cs typeface="Aptos"/>
                        </a:rPr>
                        <a:t>network</a:t>
                      </a:r>
                      <a:endParaRPr sz="1400">
                        <a:latin typeface="Aptos"/>
                        <a:cs typeface="Aptos"/>
                      </a:endParaRPr>
                    </a:p>
                  </a:txBody>
                  <a:tcPr marL="0" marR="0" marT="9842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a:lnSpc>
                          <a:spcPct val="100000"/>
                        </a:lnSpc>
                        <a:spcBef>
                          <a:spcPts val="5"/>
                        </a:spcBef>
                      </a:pPr>
                      <a:endParaRPr sz="1400">
                        <a:latin typeface="Times New Roman"/>
                        <a:cs typeface="Times New Roman"/>
                      </a:endParaRPr>
                    </a:p>
                    <a:p>
                      <a:pPr marL="635" algn="ctr">
                        <a:lnSpc>
                          <a:spcPct val="100000"/>
                        </a:lnSpc>
                      </a:pPr>
                      <a:r>
                        <a:rPr sz="1400" spc="-10" dirty="0">
                          <a:latin typeface="Aptos"/>
                          <a:cs typeface="Aptos"/>
                        </a:rPr>
                        <a:t>Public</a:t>
                      </a:r>
                      <a:endParaRPr sz="1400">
                        <a:latin typeface="Aptos"/>
                        <a:cs typeface="Aptos"/>
                      </a:endParaRPr>
                    </a:p>
                  </a:txBody>
                  <a:tcPr marL="0" marR="0" marT="63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spcBef>
                          <a:spcPts val="5"/>
                        </a:spcBef>
                      </a:pPr>
                      <a:endParaRPr sz="1400">
                        <a:latin typeface="Times New Roman"/>
                        <a:cs typeface="Times New Roman"/>
                      </a:endParaRPr>
                    </a:p>
                    <a:p>
                      <a:pPr marL="1270" algn="ctr">
                        <a:lnSpc>
                          <a:spcPct val="100000"/>
                        </a:lnSpc>
                      </a:pPr>
                      <a:r>
                        <a:rPr sz="1400" spc="-10" dirty="0">
                          <a:latin typeface="Aptos"/>
                          <a:cs typeface="Aptos"/>
                        </a:rPr>
                        <a:t>Private</a:t>
                      </a:r>
                      <a:endParaRPr sz="1400">
                        <a:latin typeface="Aptos"/>
                        <a:cs typeface="Aptos"/>
                      </a:endParaRPr>
                    </a:p>
                  </a:txBody>
                  <a:tcPr marL="0" marR="0" marT="63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spcBef>
                          <a:spcPts val="5"/>
                        </a:spcBef>
                      </a:pPr>
                      <a:endParaRPr sz="1400">
                        <a:latin typeface="Times New Roman"/>
                        <a:cs typeface="Times New Roman"/>
                      </a:endParaRPr>
                    </a:p>
                    <a:p>
                      <a:pPr marL="1270" algn="ctr">
                        <a:lnSpc>
                          <a:spcPct val="100000"/>
                        </a:lnSpc>
                      </a:pPr>
                      <a:r>
                        <a:rPr sz="1400" spc="-10" dirty="0">
                          <a:latin typeface="Aptos"/>
                          <a:cs typeface="Aptos"/>
                        </a:rPr>
                        <a:t>Private</a:t>
                      </a:r>
                      <a:endParaRPr sz="1400">
                        <a:latin typeface="Aptos"/>
                        <a:cs typeface="Aptos"/>
                      </a:endParaRPr>
                    </a:p>
                  </a:txBody>
                  <a:tcPr marL="0" marR="0" marT="63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extLst>
                  <a:ext uri="{0D108BD9-81ED-4DB2-BD59-A6C34878D82A}">
                    <a16:rowId xmlns:a16="http://schemas.microsoft.com/office/drawing/2014/main" val="10001"/>
                  </a:ext>
                </a:extLst>
              </a:tr>
              <a:tr h="777875">
                <a:tc>
                  <a:txBody>
                    <a:bodyPr/>
                    <a:lstStyle/>
                    <a:p>
                      <a:pPr>
                        <a:lnSpc>
                          <a:spcPct val="100000"/>
                        </a:lnSpc>
                        <a:spcBef>
                          <a:spcPts val="50"/>
                        </a:spcBef>
                      </a:pPr>
                      <a:endParaRPr sz="1800">
                        <a:latin typeface="Times New Roman"/>
                        <a:cs typeface="Times New Roman"/>
                      </a:endParaRPr>
                    </a:p>
                    <a:p>
                      <a:pPr algn="ctr">
                        <a:lnSpc>
                          <a:spcPct val="100000"/>
                        </a:lnSpc>
                      </a:pPr>
                      <a:r>
                        <a:rPr sz="1400" b="1" spc="-10" dirty="0">
                          <a:latin typeface="Aptos"/>
                          <a:cs typeface="Aptos"/>
                        </a:rPr>
                        <a:t>Coverage</a:t>
                      </a:r>
                      <a:endParaRPr sz="1400">
                        <a:latin typeface="Aptos"/>
                        <a:cs typeface="Aptos"/>
                      </a:endParaRPr>
                    </a:p>
                  </a:txBody>
                  <a:tcPr marL="0" marR="0" marT="635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a:lnSpc>
                          <a:spcPct val="100000"/>
                        </a:lnSpc>
                        <a:spcBef>
                          <a:spcPts val="50"/>
                        </a:spcBef>
                      </a:pPr>
                      <a:endParaRPr sz="1800">
                        <a:latin typeface="Times New Roman"/>
                        <a:cs typeface="Times New Roman"/>
                      </a:endParaRPr>
                    </a:p>
                    <a:p>
                      <a:pPr algn="ctr">
                        <a:lnSpc>
                          <a:spcPct val="100000"/>
                        </a:lnSpc>
                      </a:pPr>
                      <a:r>
                        <a:rPr sz="1400" dirty="0">
                          <a:latin typeface="Aptos"/>
                          <a:cs typeface="Aptos"/>
                        </a:rPr>
                        <a:t>All</a:t>
                      </a:r>
                      <a:r>
                        <a:rPr sz="1400" spc="-75" dirty="0">
                          <a:latin typeface="Times New Roman"/>
                          <a:cs typeface="Times New Roman"/>
                        </a:rPr>
                        <a:t> </a:t>
                      </a:r>
                      <a:r>
                        <a:rPr sz="1400" spc="-10" dirty="0">
                          <a:latin typeface="Aptos"/>
                          <a:cs typeface="Aptos"/>
                        </a:rPr>
                        <a:t>over</a:t>
                      </a:r>
                      <a:r>
                        <a:rPr sz="1400" spc="-75" dirty="0">
                          <a:latin typeface="Times New Roman"/>
                          <a:cs typeface="Times New Roman"/>
                        </a:rPr>
                        <a:t> </a:t>
                      </a:r>
                      <a:r>
                        <a:rPr sz="1400" dirty="0">
                          <a:latin typeface="Aptos"/>
                          <a:cs typeface="Aptos"/>
                        </a:rPr>
                        <a:t>the</a:t>
                      </a:r>
                      <a:r>
                        <a:rPr sz="1400" spc="-70" dirty="0">
                          <a:latin typeface="Times New Roman"/>
                          <a:cs typeface="Times New Roman"/>
                        </a:rPr>
                        <a:t> </a:t>
                      </a:r>
                      <a:r>
                        <a:rPr sz="1400" spc="-10" dirty="0">
                          <a:latin typeface="Aptos"/>
                          <a:cs typeface="Aptos"/>
                        </a:rPr>
                        <a:t>world.</a:t>
                      </a:r>
                      <a:endParaRPr sz="1400">
                        <a:latin typeface="Aptos"/>
                        <a:cs typeface="Aptos"/>
                      </a:endParaRPr>
                    </a:p>
                  </a:txBody>
                  <a:tcPr marL="0" marR="0" marT="635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marL="885825" marR="480695" indent="-398145">
                        <a:lnSpc>
                          <a:spcPct val="100000"/>
                        </a:lnSpc>
                        <a:spcBef>
                          <a:spcPts val="1280"/>
                        </a:spcBef>
                      </a:pPr>
                      <a:r>
                        <a:rPr sz="1400" spc="-10" dirty="0">
                          <a:latin typeface="Aptos"/>
                          <a:cs typeface="Aptos"/>
                        </a:rPr>
                        <a:t>Restricted</a:t>
                      </a:r>
                      <a:r>
                        <a:rPr sz="1400" spc="-95" dirty="0">
                          <a:latin typeface="Times New Roman"/>
                          <a:cs typeface="Times New Roman"/>
                        </a:rPr>
                        <a:t> </a:t>
                      </a:r>
                      <a:r>
                        <a:rPr sz="1400" dirty="0">
                          <a:latin typeface="Aptos"/>
                          <a:cs typeface="Aptos"/>
                        </a:rPr>
                        <a:t>area</a:t>
                      </a:r>
                      <a:r>
                        <a:rPr sz="1400" spc="-50" dirty="0">
                          <a:latin typeface="Times New Roman"/>
                          <a:cs typeface="Times New Roman"/>
                        </a:rPr>
                        <a:t> </a:t>
                      </a:r>
                      <a:r>
                        <a:rPr sz="1400" dirty="0">
                          <a:latin typeface="Aptos"/>
                          <a:cs typeface="Aptos"/>
                        </a:rPr>
                        <a:t>upto</a:t>
                      </a:r>
                      <a:r>
                        <a:rPr sz="1400" spc="-65" dirty="0">
                          <a:latin typeface="Times New Roman"/>
                          <a:cs typeface="Times New Roman"/>
                        </a:rPr>
                        <a:t> </a:t>
                      </a:r>
                      <a:r>
                        <a:rPr sz="1400" spc="-25" dirty="0">
                          <a:latin typeface="Aptos"/>
                          <a:cs typeface="Aptos"/>
                        </a:rPr>
                        <a:t>an</a:t>
                      </a:r>
                      <a:r>
                        <a:rPr sz="1400" spc="-25" dirty="0">
                          <a:latin typeface="Times New Roman"/>
                          <a:cs typeface="Times New Roman"/>
                        </a:rPr>
                        <a:t> </a:t>
                      </a:r>
                      <a:r>
                        <a:rPr sz="1400" spc="-10" dirty="0">
                          <a:latin typeface="Aptos"/>
                          <a:cs typeface="Aptos"/>
                        </a:rPr>
                        <a:t>organization.</a:t>
                      </a:r>
                      <a:endParaRPr sz="1400">
                        <a:latin typeface="Aptos"/>
                        <a:cs typeface="Aptos"/>
                      </a:endParaRPr>
                    </a:p>
                  </a:txBody>
                  <a:tcPr marL="0" marR="0" marT="16256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marL="305435" marR="298450" indent="1905" algn="ctr">
                        <a:lnSpc>
                          <a:spcPct val="100000"/>
                        </a:lnSpc>
                        <a:spcBef>
                          <a:spcPts val="440"/>
                        </a:spcBef>
                      </a:pPr>
                      <a:r>
                        <a:rPr sz="1400" spc="-10" dirty="0">
                          <a:latin typeface="Aptos"/>
                          <a:cs typeface="Aptos"/>
                        </a:rPr>
                        <a:t>Restricted</a:t>
                      </a:r>
                      <a:r>
                        <a:rPr sz="1400" spc="-105" dirty="0">
                          <a:latin typeface="Times New Roman"/>
                          <a:cs typeface="Times New Roman"/>
                        </a:rPr>
                        <a:t> </a:t>
                      </a:r>
                      <a:r>
                        <a:rPr sz="1400" dirty="0">
                          <a:latin typeface="Aptos"/>
                          <a:cs typeface="Aptos"/>
                        </a:rPr>
                        <a:t>area</a:t>
                      </a:r>
                      <a:r>
                        <a:rPr sz="1400" spc="-45" dirty="0">
                          <a:latin typeface="Times New Roman"/>
                          <a:cs typeface="Times New Roman"/>
                        </a:rPr>
                        <a:t> </a:t>
                      </a:r>
                      <a:r>
                        <a:rPr sz="1400" dirty="0">
                          <a:latin typeface="Aptos"/>
                          <a:cs typeface="Aptos"/>
                        </a:rPr>
                        <a:t>upto</a:t>
                      </a:r>
                      <a:r>
                        <a:rPr sz="1400" spc="-60" dirty="0">
                          <a:latin typeface="Times New Roman"/>
                          <a:cs typeface="Times New Roman"/>
                        </a:rPr>
                        <a:t> </a:t>
                      </a:r>
                      <a:r>
                        <a:rPr sz="1400" spc="-25" dirty="0">
                          <a:latin typeface="Aptos"/>
                          <a:cs typeface="Aptos"/>
                        </a:rPr>
                        <a:t>an</a:t>
                      </a:r>
                      <a:r>
                        <a:rPr sz="1400" spc="-25" dirty="0">
                          <a:latin typeface="Times New Roman"/>
                          <a:cs typeface="Times New Roman"/>
                        </a:rPr>
                        <a:t> </a:t>
                      </a:r>
                      <a:r>
                        <a:rPr sz="1400" spc="-10" dirty="0">
                          <a:latin typeface="Aptos"/>
                          <a:cs typeface="Aptos"/>
                        </a:rPr>
                        <a:t>organization</a:t>
                      </a:r>
                      <a:r>
                        <a:rPr sz="1400" spc="-70" dirty="0">
                          <a:latin typeface="Times New Roman"/>
                          <a:cs typeface="Times New Roman"/>
                        </a:rPr>
                        <a:t> </a:t>
                      </a:r>
                      <a:r>
                        <a:rPr sz="1400" dirty="0">
                          <a:latin typeface="Aptos"/>
                          <a:cs typeface="Aptos"/>
                        </a:rPr>
                        <a:t>and</a:t>
                      </a:r>
                      <a:r>
                        <a:rPr sz="1400" spc="-50" dirty="0">
                          <a:latin typeface="Times New Roman"/>
                          <a:cs typeface="Times New Roman"/>
                        </a:rPr>
                        <a:t> </a:t>
                      </a:r>
                      <a:r>
                        <a:rPr sz="1400" dirty="0">
                          <a:latin typeface="Aptos"/>
                          <a:cs typeface="Aptos"/>
                        </a:rPr>
                        <a:t>some</a:t>
                      </a:r>
                      <a:r>
                        <a:rPr sz="1400" spc="-80" dirty="0">
                          <a:latin typeface="Times New Roman"/>
                          <a:cs typeface="Times New Roman"/>
                        </a:rPr>
                        <a:t> </a:t>
                      </a:r>
                      <a:r>
                        <a:rPr sz="1400" dirty="0">
                          <a:latin typeface="Aptos"/>
                          <a:cs typeface="Aptos"/>
                        </a:rPr>
                        <a:t>of</a:t>
                      </a:r>
                      <a:r>
                        <a:rPr sz="1400" spc="-60" dirty="0">
                          <a:latin typeface="Times New Roman"/>
                          <a:cs typeface="Times New Roman"/>
                        </a:rPr>
                        <a:t> </a:t>
                      </a:r>
                      <a:r>
                        <a:rPr sz="1400" spc="-25" dirty="0">
                          <a:latin typeface="Aptos"/>
                          <a:cs typeface="Aptos"/>
                        </a:rPr>
                        <a:t>its</a:t>
                      </a:r>
                      <a:r>
                        <a:rPr sz="1400" spc="-25" dirty="0">
                          <a:latin typeface="Times New Roman"/>
                          <a:cs typeface="Times New Roman"/>
                        </a:rPr>
                        <a:t> </a:t>
                      </a:r>
                      <a:r>
                        <a:rPr sz="1400" spc="-10" dirty="0">
                          <a:latin typeface="Aptos"/>
                          <a:cs typeface="Aptos"/>
                        </a:rPr>
                        <a:t>stakeholders</a:t>
                      </a:r>
                      <a:r>
                        <a:rPr sz="1400" spc="-90" dirty="0">
                          <a:latin typeface="Times New Roman"/>
                          <a:cs typeface="Times New Roman"/>
                        </a:rPr>
                        <a:t> </a:t>
                      </a:r>
                      <a:r>
                        <a:rPr sz="1400" dirty="0">
                          <a:latin typeface="Aptos"/>
                          <a:cs typeface="Aptos"/>
                        </a:rPr>
                        <a:t>or</a:t>
                      </a:r>
                      <a:r>
                        <a:rPr sz="1400" spc="-50" dirty="0">
                          <a:latin typeface="Times New Roman"/>
                          <a:cs typeface="Times New Roman"/>
                        </a:rPr>
                        <a:t> </a:t>
                      </a:r>
                      <a:r>
                        <a:rPr sz="1400" spc="-25" dirty="0">
                          <a:latin typeface="Aptos"/>
                          <a:cs typeface="Aptos"/>
                        </a:rPr>
                        <a:t>so.</a:t>
                      </a:r>
                      <a:endParaRPr sz="1400">
                        <a:latin typeface="Aptos"/>
                        <a:cs typeface="Aptos"/>
                      </a:endParaRPr>
                    </a:p>
                  </a:txBody>
                  <a:tcPr marL="0" marR="0" marT="5588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extLst>
                  <a:ext uri="{0D108BD9-81ED-4DB2-BD59-A6C34878D82A}">
                    <a16:rowId xmlns:a16="http://schemas.microsoft.com/office/drawing/2014/main" val="10002"/>
                  </a:ext>
                </a:extLst>
              </a:tr>
              <a:tr h="781685">
                <a:tc>
                  <a:txBody>
                    <a:bodyPr/>
                    <a:lstStyle/>
                    <a:p>
                      <a:pPr marL="349885" marR="62865" indent="-280670">
                        <a:lnSpc>
                          <a:spcPct val="100000"/>
                        </a:lnSpc>
                        <a:spcBef>
                          <a:spcPts val="1300"/>
                        </a:spcBef>
                      </a:pPr>
                      <a:r>
                        <a:rPr sz="1400" b="1" spc="-10" dirty="0">
                          <a:latin typeface="Aptos"/>
                          <a:cs typeface="Aptos"/>
                        </a:rPr>
                        <a:t>Accessibility</a:t>
                      </a:r>
                      <a:r>
                        <a:rPr sz="1400" spc="25" dirty="0">
                          <a:latin typeface="Times New Roman"/>
                          <a:cs typeface="Times New Roman"/>
                        </a:rPr>
                        <a:t> </a:t>
                      </a:r>
                      <a:r>
                        <a:rPr sz="1400" b="1" spc="-25" dirty="0">
                          <a:latin typeface="Aptos"/>
                          <a:cs typeface="Aptos"/>
                        </a:rPr>
                        <a:t>of</a:t>
                      </a:r>
                      <a:r>
                        <a:rPr sz="1400" spc="-25" dirty="0">
                          <a:latin typeface="Times New Roman"/>
                          <a:cs typeface="Times New Roman"/>
                        </a:rPr>
                        <a:t> </a:t>
                      </a:r>
                      <a:r>
                        <a:rPr sz="1400" b="1" spc="-10" dirty="0">
                          <a:latin typeface="Aptos"/>
                          <a:cs typeface="Aptos"/>
                        </a:rPr>
                        <a:t>content</a:t>
                      </a:r>
                      <a:endParaRPr sz="1400">
                        <a:latin typeface="Aptos"/>
                        <a:cs typeface="Aptos"/>
                      </a:endParaRPr>
                    </a:p>
                  </a:txBody>
                  <a:tcPr marL="0" marR="0" marT="16510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marL="942975" marR="343535" indent="-594360">
                        <a:lnSpc>
                          <a:spcPct val="100000"/>
                        </a:lnSpc>
                        <a:spcBef>
                          <a:spcPts val="1300"/>
                        </a:spcBef>
                      </a:pPr>
                      <a:r>
                        <a:rPr sz="1400" dirty="0">
                          <a:latin typeface="Aptos"/>
                          <a:cs typeface="Aptos"/>
                        </a:rPr>
                        <a:t>It</a:t>
                      </a:r>
                      <a:r>
                        <a:rPr sz="1400" spc="-55" dirty="0">
                          <a:latin typeface="Times New Roman"/>
                          <a:cs typeface="Times New Roman"/>
                        </a:rPr>
                        <a:t> </a:t>
                      </a:r>
                      <a:r>
                        <a:rPr sz="1400" dirty="0">
                          <a:latin typeface="Aptos"/>
                          <a:cs typeface="Aptos"/>
                        </a:rPr>
                        <a:t>is</a:t>
                      </a:r>
                      <a:r>
                        <a:rPr sz="1400" spc="-65" dirty="0">
                          <a:latin typeface="Times New Roman"/>
                          <a:cs typeface="Times New Roman"/>
                        </a:rPr>
                        <a:t> </a:t>
                      </a:r>
                      <a:r>
                        <a:rPr sz="1400" spc="-10" dirty="0">
                          <a:latin typeface="Aptos"/>
                          <a:cs typeface="Aptos"/>
                        </a:rPr>
                        <a:t>accessible</a:t>
                      </a:r>
                      <a:r>
                        <a:rPr sz="1400" spc="-65" dirty="0">
                          <a:latin typeface="Times New Roman"/>
                          <a:cs typeface="Times New Roman"/>
                        </a:rPr>
                        <a:t> </a:t>
                      </a:r>
                      <a:r>
                        <a:rPr sz="1400" dirty="0">
                          <a:latin typeface="Aptos"/>
                          <a:cs typeface="Aptos"/>
                        </a:rPr>
                        <a:t>to</a:t>
                      </a:r>
                      <a:r>
                        <a:rPr sz="1400" spc="-55" dirty="0">
                          <a:latin typeface="Times New Roman"/>
                          <a:cs typeface="Times New Roman"/>
                        </a:rPr>
                        <a:t> </a:t>
                      </a:r>
                      <a:r>
                        <a:rPr sz="1400" spc="-10" dirty="0">
                          <a:latin typeface="Aptos"/>
                          <a:cs typeface="Aptos"/>
                        </a:rPr>
                        <a:t>everyone</a:t>
                      </a:r>
                      <a:r>
                        <a:rPr sz="1400" spc="-10" dirty="0">
                          <a:latin typeface="Times New Roman"/>
                          <a:cs typeface="Times New Roman"/>
                        </a:rPr>
                        <a:t> </a:t>
                      </a:r>
                      <a:r>
                        <a:rPr sz="1400" spc="-10" dirty="0">
                          <a:latin typeface="Aptos"/>
                          <a:cs typeface="Aptos"/>
                        </a:rPr>
                        <a:t>connected.</a:t>
                      </a:r>
                      <a:endParaRPr sz="1400">
                        <a:latin typeface="Aptos"/>
                        <a:cs typeface="Aptos"/>
                      </a:endParaRPr>
                    </a:p>
                  </a:txBody>
                  <a:tcPr marL="0" marR="0" marT="16510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marL="405765" marR="387985" indent="-10795">
                        <a:lnSpc>
                          <a:spcPct val="100000"/>
                        </a:lnSpc>
                        <a:spcBef>
                          <a:spcPts val="1300"/>
                        </a:spcBef>
                      </a:pPr>
                      <a:r>
                        <a:rPr sz="1400" dirty="0">
                          <a:latin typeface="Aptos"/>
                          <a:cs typeface="Aptos"/>
                        </a:rPr>
                        <a:t>It</a:t>
                      </a:r>
                      <a:r>
                        <a:rPr sz="1400" spc="-70" dirty="0">
                          <a:latin typeface="Times New Roman"/>
                          <a:cs typeface="Times New Roman"/>
                        </a:rPr>
                        <a:t> </a:t>
                      </a:r>
                      <a:r>
                        <a:rPr sz="1400" dirty="0">
                          <a:latin typeface="Aptos"/>
                          <a:cs typeface="Aptos"/>
                        </a:rPr>
                        <a:t>is</a:t>
                      </a:r>
                      <a:r>
                        <a:rPr sz="1400" spc="-70" dirty="0">
                          <a:latin typeface="Times New Roman"/>
                          <a:cs typeface="Times New Roman"/>
                        </a:rPr>
                        <a:t> </a:t>
                      </a:r>
                      <a:r>
                        <a:rPr sz="1400" spc="-10" dirty="0">
                          <a:latin typeface="Aptos"/>
                          <a:cs typeface="Aptos"/>
                        </a:rPr>
                        <a:t>accessible</a:t>
                      </a:r>
                      <a:r>
                        <a:rPr sz="1400" spc="-75" dirty="0">
                          <a:latin typeface="Times New Roman"/>
                          <a:cs typeface="Times New Roman"/>
                        </a:rPr>
                        <a:t> </a:t>
                      </a:r>
                      <a:r>
                        <a:rPr sz="1400" dirty="0">
                          <a:latin typeface="Aptos"/>
                          <a:cs typeface="Aptos"/>
                        </a:rPr>
                        <a:t>only</a:t>
                      </a:r>
                      <a:r>
                        <a:rPr sz="1400" spc="-60" dirty="0">
                          <a:latin typeface="Times New Roman"/>
                          <a:cs typeface="Times New Roman"/>
                        </a:rPr>
                        <a:t> </a:t>
                      </a:r>
                      <a:r>
                        <a:rPr sz="1400" dirty="0">
                          <a:latin typeface="Aptos"/>
                          <a:cs typeface="Aptos"/>
                        </a:rPr>
                        <a:t>to</a:t>
                      </a:r>
                      <a:r>
                        <a:rPr sz="1400" spc="-55" dirty="0">
                          <a:latin typeface="Times New Roman"/>
                          <a:cs typeface="Times New Roman"/>
                        </a:rPr>
                        <a:t> </a:t>
                      </a:r>
                      <a:r>
                        <a:rPr sz="1400" spc="-25" dirty="0">
                          <a:latin typeface="Aptos"/>
                          <a:cs typeface="Aptos"/>
                        </a:rPr>
                        <a:t>the</a:t>
                      </a:r>
                      <a:r>
                        <a:rPr sz="1400" spc="-25" dirty="0">
                          <a:latin typeface="Times New Roman"/>
                          <a:cs typeface="Times New Roman"/>
                        </a:rPr>
                        <a:t> </a:t>
                      </a:r>
                      <a:r>
                        <a:rPr sz="1400" dirty="0">
                          <a:latin typeface="Aptos"/>
                          <a:cs typeface="Aptos"/>
                        </a:rPr>
                        <a:t>members</a:t>
                      </a:r>
                      <a:r>
                        <a:rPr sz="1400" spc="-100" dirty="0">
                          <a:latin typeface="Times New Roman"/>
                          <a:cs typeface="Times New Roman"/>
                        </a:rPr>
                        <a:t> </a:t>
                      </a:r>
                      <a:r>
                        <a:rPr sz="1400" dirty="0">
                          <a:latin typeface="Aptos"/>
                          <a:cs typeface="Aptos"/>
                        </a:rPr>
                        <a:t>of</a:t>
                      </a:r>
                      <a:r>
                        <a:rPr sz="1400" spc="-70" dirty="0">
                          <a:latin typeface="Times New Roman"/>
                          <a:cs typeface="Times New Roman"/>
                        </a:rPr>
                        <a:t> </a:t>
                      </a:r>
                      <a:r>
                        <a:rPr sz="1400" spc="-10" dirty="0">
                          <a:latin typeface="Aptos"/>
                          <a:cs typeface="Aptos"/>
                        </a:rPr>
                        <a:t>organization.</a:t>
                      </a:r>
                      <a:endParaRPr sz="1400">
                        <a:latin typeface="Aptos"/>
                        <a:cs typeface="Aptos"/>
                      </a:endParaRPr>
                    </a:p>
                  </a:txBody>
                  <a:tcPr marL="0" marR="0" marT="16510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marL="62865" marR="53975" algn="ctr">
                        <a:lnSpc>
                          <a:spcPct val="100000"/>
                        </a:lnSpc>
                        <a:spcBef>
                          <a:spcPts val="459"/>
                        </a:spcBef>
                      </a:pPr>
                      <a:r>
                        <a:rPr sz="1400" spc="-10" dirty="0">
                          <a:latin typeface="Aptos"/>
                          <a:cs typeface="Aptos"/>
                        </a:rPr>
                        <a:t>Accessible</a:t>
                      </a:r>
                      <a:r>
                        <a:rPr sz="1400" spc="-85" dirty="0">
                          <a:latin typeface="Times New Roman"/>
                          <a:cs typeface="Times New Roman"/>
                        </a:rPr>
                        <a:t> </a:t>
                      </a:r>
                      <a:r>
                        <a:rPr sz="1400" dirty="0">
                          <a:latin typeface="Aptos"/>
                          <a:cs typeface="Aptos"/>
                        </a:rPr>
                        <a:t>only</a:t>
                      </a:r>
                      <a:r>
                        <a:rPr sz="1400" spc="-55" dirty="0">
                          <a:latin typeface="Times New Roman"/>
                          <a:cs typeface="Times New Roman"/>
                        </a:rPr>
                        <a:t> </a:t>
                      </a:r>
                      <a:r>
                        <a:rPr sz="1400" dirty="0">
                          <a:latin typeface="Aptos"/>
                          <a:cs typeface="Aptos"/>
                        </a:rPr>
                        <a:t>to</a:t>
                      </a:r>
                      <a:r>
                        <a:rPr sz="1400" spc="-60" dirty="0">
                          <a:latin typeface="Times New Roman"/>
                          <a:cs typeface="Times New Roman"/>
                        </a:rPr>
                        <a:t> </a:t>
                      </a:r>
                      <a:r>
                        <a:rPr sz="1400" dirty="0">
                          <a:latin typeface="Aptos"/>
                          <a:cs typeface="Aptos"/>
                        </a:rPr>
                        <a:t>the</a:t>
                      </a:r>
                      <a:r>
                        <a:rPr sz="1400" spc="-70" dirty="0">
                          <a:latin typeface="Times New Roman"/>
                          <a:cs typeface="Times New Roman"/>
                        </a:rPr>
                        <a:t> </a:t>
                      </a:r>
                      <a:r>
                        <a:rPr sz="1400" dirty="0">
                          <a:latin typeface="Aptos"/>
                          <a:cs typeface="Aptos"/>
                        </a:rPr>
                        <a:t>members</a:t>
                      </a:r>
                      <a:r>
                        <a:rPr sz="1400" spc="-80" dirty="0">
                          <a:latin typeface="Times New Roman"/>
                          <a:cs typeface="Times New Roman"/>
                        </a:rPr>
                        <a:t> </a:t>
                      </a:r>
                      <a:r>
                        <a:rPr sz="1400" spc="-25" dirty="0">
                          <a:latin typeface="Aptos"/>
                          <a:cs typeface="Aptos"/>
                        </a:rPr>
                        <a:t>of</a:t>
                      </a:r>
                      <a:r>
                        <a:rPr sz="1400" spc="-25" dirty="0">
                          <a:latin typeface="Times New Roman"/>
                          <a:cs typeface="Times New Roman"/>
                        </a:rPr>
                        <a:t> </a:t>
                      </a:r>
                      <a:r>
                        <a:rPr sz="1400" spc="-10" dirty="0">
                          <a:latin typeface="Aptos"/>
                          <a:cs typeface="Aptos"/>
                        </a:rPr>
                        <a:t>organization</a:t>
                      </a:r>
                      <a:r>
                        <a:rPr sz="1400" spc="-70" dirty="0">
                          <a:latin typeface="Times New Roman"/>
                          <a:cs typeface="Times New Roman"/>
                        </a:rPr>
                        <a:t> </a:t>
                      </a:r>
                      <a:r>
                        <a:rPr sz="1400" dirty="0">
                          <a:latin typeface="Aptos"/>
                          <a:cs typeface="Aptos"/>
                        </a:rPr>
                        <a:t>and</a:t>
                      </a:r>
                      <a:r>
                        <a:rPr sz="1400" spc="-40" dirty="0">
                          <a:latin typeface="Times New Roman"/>
                          <a:cs typeface="Times New Roman"/>
                        </a:rPr>
                        <a:t> </a:t>
                      </a:r>
                      <a:r>
                        <a:rPr sz="1400" spc="-10" dirty="0">
                          <a:latin typeface="Aptos"/>
                          <a:cs typeface="Aptos"/>
                        </a:rPr>
                        <a:t>external</a:t>
                      </a:r>
                      <a:r>
                        <a:rPr sz="1400" spc="-10" dirty="0">
                          <a:latin typeface="Times New Roman"/>
                          <a:cs typeface="Times New Roman"/>
                        </a:rPr>
                        <a:t> </a:t>
                      </a:r>
                      <a:r>
                        <a:rPr sz="1400" dirty="0">
                          <a:latin typeface="Aptos"/>
                          <a:cs typeface="Aptos"/>
                        </a:rPr>
                        <a:t>members</a:t>
                      </a:r>
                      <a:r>
                        <a:rPr sz="1400" spc="-100" dirty="0">
                          <a:latin typeface="Times New Roman"/>
                          <a:cs typeface="Times New Roman"/>
                        </a:rPr>
                        <a:t> </a:t>
                      </a:r>
                      <a:r>
                        <a:rPr sz="1400" dirty="0">
                          <a:latin typeface="Aptos"/>
                          <a:cs typeface="Aptos"/>
                        </a:rPr>
                        <a:t>with</a:t>
                      </a:r>
                      <a:r>
                        <a:rPr sz="1400" spc="-60" dirty="0">
                          <a:latin typeface="Times New Roman"/>
                          <a:cs typeface="Times New Roman"/>
                        </a:rPr>
                        <a:t> </a:t>
                      </a:r>
                      <a:r>
                        <a:rPr sz="1400" spc="-10" dirty="0">
                          <a:latin typeface="Aptos"/>
                          <a:cs typeface="Aptos"/>
                        </a:rPr>
                        <a:t>logins.</a:t>
                      </a:r>
                      <a:endParaRPr sz="1400">
                        <a:latin typeface="Aptos"/>
                        <a:cs typeface="Aptos"/>
                      </a:endParaRPr>
                    </a:p>
                  </a:txBody>
                  <a:tcPr marL="0" marR="0" marT="58419"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extLst>
                  <a:ext uri="{0D108BD9-81ED-4DB2-BD59-A6C34878D82A}">
                    <a16:rowId xmlns:a16="http://schemas.microsoft.com/office/drawing/2014/main" val="10003"/>
                  </a:ext>
                </a:extLst>
              </a:tr>
              <a:tr h="906144">
                <a:tc>
                  <a:txBody>
                    <a:bodyPr/>
                    <a:lstStyle/>
                    <a:p>
                      <a:pPr marL="227965" marR="220345" indent="190500">
                        <a:lnSpc>
                          <a:spcPct val="100000"/>
                        </a:lnSpc>
                        <a:spcBef>
                          <a:spcPts val="950"/>
                        </a:spcBef>
                      </a:pPr>
                      <a:r>
                        <a:rPr sz="1400" b="1" spc="-10" dirty="0">
                          <a:latin typeface="Aptos"/>
                          <a:cs typeface="Aptos"/>
                        </a:rPr>
                        <a:t>No.</a:t>
                      </a:r>
                      <a:r>
                        <a:rPr sz="1400" spc="-85" dirty="0">
                          <a:latin typeface="Times New Roman"/>
                          <a:cs typeface="Times New Roman"/>
                        </a:rPr>
                        <a:t> </a:t>
                      </a:r>
                      <a:r>
                        <a:rPr sz="1400" b="1" spc="-25" dirty="0">
                          <a:latin typeface="Aptos"/>
                          <a:cs typeface="Aptos"/>
                        </a:rPr>
                        <a:t>of</a:t>
                      </a:r>
                      <a:r>
                        <a:rPr sz="1400" spc="-25" dirty="0">
                          <a:latin typeface="Times New Roman"/>
                          <a:cs typeface="Times New Roman"/>
                        </a:rPr>
                        <a:t> </a:t>
                      </a:r>
                      <a:r>
                        <a:rPr sz="1400" b="1" spc="-10" dirty="0">
                          <a:latin typeface="Aptos"/>
                          <a:cs typeface="Aptos"/>
                        </a:rPr>
                        <a:t>computers</a:t>
                      </a:r>
                      <a:r>
                        <a:rPr sz="1400" spc="-10" dirty="0">
                          <a:latin typeface="Times New Roman"/>
                          <a:cs typeface="Times New Roman"/>
                        </a:rPr>
                        <a:t> </a:t>
                      </a:r>
                      <a:r>
                        <a:rPr sz="1400" b="1" spc="-10" dirty="0">
                          <a:latin typeface="Aptos"/>
                          <a:cs typeface="Aptos"/>
                        </a:rPr>
                        <a:t>connected</a:t>
                      </a:r>
                      <a:endParaRPr sz="1400">
                        <a:latin typeface="Aptos"/>
                        <a:cs typeface="Aptos"/>
                      </a:endParaRPr>
                    </a:p>
                  </a:txBody>
                  <a:tcPr marL="0" marR="0" marT="12065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a:lnSpc>
                          <a:spcPct val="100000"/>
                        </a:lnSpc>
                        <a:spcBef>
                          <a:spcPts val="5"/>
                        </a:spcBef>
                      </a:pPr>
                      <a:endParaRPr sz="1550">
                        <a:latin typeface="Times New Roman"/>
                        <a:cs typeface="Times New Roman"/>
                      </a:endParaRPr>
                    </a:p>
                    <a:p>
                      <a:pPr marL="629285" marR="459105" indent="-163195">
                        <a:lnSpc>
                          <a:spcPct val="100000"/>
                        </a:lnSpc>
                      </a:pPr>
                      <a:r>
                        <a:rPr sz="1400" dirty="0">
                          <a:latin typeface="Aptos"/>
                          <a:cs typeface="Aptos"/>
                        </a:rPr>
                        <a:t>It</a:t>
                      </a:r>
                      <a:r>
                        <a:rPr sz="1400" spc="-75" dirty="0">
                          <a:latin typeface="Times New Roman"/>
                          <a:cs typeface="Times New Roman"/>
                        </a:rPr>
                        <a:t> </a:t>
                      </a:r>
                      <a:r>
                        <a:rPr sz="1400" dirty="0">
                          <a:latin typeface="Aptos"/>
                          <a:cs typeface="Aptos"/>
                        </a:rPr>
                        <a:t>is</a:t>
                      </a:r>
                      <a:r>
                        <a:rPr sz="1400" spc="-75" dirty="0">
                          <a:latin typeface="Times New Roman"/>
                          <a:cs typeface="Times New Roman"/>
                        </a:rPr>
                        <a:t> </a:t>
                      </a:r>
                      <a:r>
                        <a:rPr sz="1400" spc="-10" dirty="0">
                          <a:latin typeface="Aptos"/>
                          <a:cs typeface="Aptos"/>
                        </a:rPr>
                        <a:t>largest</a:t>
                      </a:r>
                      <a:r>
                        <a:rPr sz="1400" spc="-85" dirty="0">
                          <a:latin typeface="Times New Roman"/>
                          <a:cs typeface="Times New Roman"/>
                        </a:rPr>
                        <a:t> </a:t>
                      </a:r>
                      <a:r>
                        <a:rPr sz="1400" dirty="0">
                          <a:latin typeface="Aptos"/>
                          <a:cs typeface="Aptos"/>
                        </a:rPr>
                        <a:t>in</a:t>
                      </a:r>
                      <a:r>
                        <a:rPr sz="1400" spc="-65" dirty="0">
                          <a:latin typeface="Times New Roman"/>
                          <a:cs typeface="Times New Roman"/>
                        </a:rPr>
                        <a:t> </a:t>
                      </a:r>
                      <a:r>
                        <a:rPr sz="1400" dirty="0">
                          <a:latin typeface="Aptos"/>
                          <a:cs typeface="Aptos"/>
                        </a:rPr>
                        <a:t>number</a:t>
                      </a:r>
                      <a:r>
                        <a:rPr sz="1400" spc="-65" dirty="0">
                          <a:latin typeface="Times New Roman"/>
                          <a:cs typeface="Times New Roman"/>
                        </a:rPr>
                        <a:t> </a:t>
                      </a:r>
                      <a:r>
                        <a:rPr sz="1400" spc="-25" dirty="0">
                          <a:latin typeface="Aptos"/>
                          <a:cs typeface="Aptos"/>
                        </a:rPr>
                        <a:t>of</a:t>
                      </a:r>
                      <a:r>
                        <a:rPr sz="1400" spc="-25" dirty="0">
                          <a:latin typeface="Times New Roman"/>
                          <a:cs typeface="Times New Roman"/>
                        </a:rPr>
                        <a:t> </a:t>
                      </a:r>
                      <a:r>
                        <a:rPr sz="1400" spc="-10" dirty="0">
                          <a:latin typeface="Aptos"/>
                          <a:cs typeface="Aptos"/>
                        </a:rPr>
                        <a:t>connected</a:t>
                      </a:r>
                      <a:r>
                        <a:rPr sz="1400" spc="-10" dirty="0">
                          <a:latin typeface="Times New Roman"/>
                          <a:cs typeface="Times New Roman"/>
                        </a:rPr>
                        <a:t> </a:t>
                      </a:r>
                      <a:r>
                        <a:rPr sz="1400" spc="-10" dirty="0">
                          <a:latin typeface="Aptos"/>
                          <a:cs typeface="Aptos"/>
                        </a:rPr>
                        <a:t>devices.</a:t>
                      </a:r>
                      <a:endParaRPr sz="1400">
                        <a:latin typeface="Aptos"/>
                        <a:cs typeface="Aptos"/>
                      </a:endParaRPr>
                    </a:p>
                  </a:txBody>
                  <a:tcPr marL="0" marR="0" marT="63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spcBef>
                          <a:spcPts val="5"/>
                        </a:spcBef>
                      </a:pPr>
                      <a:endParaRPr sz="1550">
                        <a:latin typeface="Times New Roman"/>
                        <a:cs typeface="Times New Roman"/>
                      </a:endParaRPr>
                    </a:p>
                    <a:p>
                      <a:pPr marL="802005" marR="172085" indent="-622300">
                        <a:lnSpc>
                          <a:spcPct val="100000"/>
                        </a:lnSpc>
                      </a:pPr>
                      <a:r>
                        <a:rPr sz="1400" dirty="0">
                          <a:latin typeface="Aptos"/>
                          <a:cs typeface="Aptos"/>
                        </a:rPr>
                        <a:t>The</a:t>
                      </a:r>
                      <a:r>
                        <a:rPr sz="1400" spc="-65" dirty="0">
                          <a:latin typeface="Times New Roman"/>
                          <a:cs typeface="Times New Roman"/>
                        </a:rPr>
                        <a:t> </a:t>
                      </a:r>
                      <a:r>
                        <a:rPr sz="1400" dirty="0">
                          <a:latin typeface="Aptos"/>
                          <a:cs typeface="Aptos"/>
                        </a:rPr>
                        <a:t>minimal</a:t>
                      </a:r>
                      <a:r>
                        <a:rPr sz="1400" spc="-55" dirty="0">
                          <a:latin typeface="Times New Roman"/>
                          <a:cs typeface="Times New Roman"/>
                        </a:rPr>
                        <a:t> </a:t>
                      </a:r>
                      <a:r>
                        <a:rPr sz="1400" dirty="0">
                          <a:latin typeface="Aptos"/>
                          <a:cs typeface="Aptos"/>
                        </a:rPr>
                        <a:t>number</a:t>
                      </a:r>
                      <a:r>
                        <a:rPr sz="1400" spc="-70" dirty="0">
                          <a:latin typeface="Times New Roman"/>
                          <a:cs typeface="Times New Roman"/>
                        </a:rPr>
                        <a:t> </a:t>
                      </a:r>
                      <a:r>
                        <a:rPr sz="1400" dirty="0">
                          <a:latin typeface="Aptos"/>
                          <a:cs typeface="Aptos"/>
                        </a:rPr>
                        <a:t>of</a:t>
                      </a:r>
                      <a:r>
                        <a:rPr sz="1400" spc="-70" dirty="0">
                          <a:latin typeface="Times New Roman"/>
                          <a:cs typeface="Times New Roman"/>
                        </a:rPr>
                        <a:t> </a:t>
                      </a:r>
                      <a:r>
                        <a:rPr sz="1400" spc="-10" dirty="0">
                          <a:latin typeface="Aptos"/>
                          <a:cs typeface="Aptos"/>
                        </a:rPr>
                        <a:t>devices</a:t>
                      </a:r>
                      <a:r>
                        <a:rPr sz="1400" spc="-10" dirty="0">
                          <a:latin typeface="Times New Roman"/>
                          <a:cs typeface="Times New Roman"/>
                        </a:rPr>
                        <a:t> </a:t>
                      </a:r>
                      <a:r>
                        <a:rPr sz="1400" spc="-10" dirty="0">
                          <a:latin typeface="Aptos"/>
                          <a:cs typeface="Aptos"/>
                        </a:rPr>
                        <a:t>are</a:t>
                      </a:r>
                      <a:r>
                        <a:rPr sz="1400" spc="-65" dirty="0">
                          <a:latin typeface="Times New Roman"/>
                          <a:cs typeface="Times New Roman"/>
                        </a:rPr>
                        <a:t> </a:t>
                      </a:r>
                      <a:r>
                        <a:rPr sz="1400" spc="-10" dirty="0">
                          <a:latin typeface="Aptos"/>
                          <a:cs typeface="Aptos"/>
                        </a:rPr>
                        <a:t>connected.</a:t>
                      </a:r>
                      <a:endParaRPr sz="1400">
                        <a:latin typeface="Aptos"/>
                        <a:cs typeface="Aptos"/>
                      </a:endParaRPr>
                    </a:p>
                  </a:txBody>
                  <a:tcPr marL="0" marR="0" marT="63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a:lnSpc>
                          <a:spcPct val="100000"/>
                        </a:lnSpc>
                        <a:spcBef>
                          <a:spcPts val="5"/>
                        </a:spcBef>
                      </a:pPr>
                      <a:endParaRPr sz="1550">
                        <a:latin typeface="Times New Roman"/>
                        <a:cs typeface="Times New Roman"/>
                      </a:endParaRPr>
                    </a:p>
                    <a:p>
                      <a:pPr marL="391795" marR="128905" indent="-254635">
                        <a:lnSpc>
                          <a:spcPct val="100000"/>
                        </a:lnSpc>
                      </a:pPr>
                      <a:r>
                        <a:rPr sz="1400" dirty="0">
                          <a:latin typeface="Aptos"/>
                          <a:cs typeface="Aptos"/>
                        </a:rPr>
                        <a:t>The</a:t>
                      </a:r>
                      <a:r>
                        <a:rPr sz="1400" spc="-50" dirty="0">
                          <a:latin typeface="Times New Roman"/>
                          <a:cs typeface="Times New Roman"/>
                        </a:rPr>
                        <a:t> </a:t>
                      </a:r>
                      <a:r>
                        <a:rPr sz="1400" spc="-10" dirty="0">
                          <a:latin typeface="Aptos"/>
                          <a:cs typeface="Aptos"/>
                        </a:rPr>
                        <a:t>connected</a:t>
                      </a:r>
                      <a:r>
                        <a:rPr sz="1400" spc="-50" dirty="0">
                          <a:latin typeface="Times New Roman"/>
                          <a:cs typeface="Times New Roman"/>
                        </a:rPr>
                        <a:t> </a:t>
                      </a:r>
                      <a:r>
                        <a:rPr sz="1400" dirty="0">
                          <a:latin typeface="Aptos"/>
                          <a:cs typeface="Aptos"/>
                        </a:rPr>
                        <a:t>devices</a:t>
                      </a:r>
                      <a:r>
                        <a:rPr sz="1400" spc="-65" dirty="0">
                          <a:latin typeface="Times New Roman"/>
                          <a:cs typeface="Times New Roman"/>
                        </a:rPr>
                        <a:t> </a:t>
                      </a:r>
                      <a:r>
                        <a:rPr sz="1400" spc="-10" dirty="0">
                          <a:latin typeface="Aptos"/>
                          <a:cs typeface="Aptos"/>
                        </a:rPr>
                        <a:t>are</a:t>
                      </a:r>
                      <a:r>
                        <a:rPr sz="1400" spc="-45" dirty="0">
                          <a:latin typeface="Times New Roman"/>
                          <a:cs typeface="Times New Roman"/>
                        </a:rPr>
                        <a:t> </a:t>
                      </a:r>
                      <a:r>
                        <a:rPr sz="1400" spc="-20" dirty="0">
                          <a:latin typeface="Aptos"/>
                          <a:cs typeface="Aptos"/>
                        </a:rPr>
                        <a:t>more</a:t>
                      </a:r>
                      <a:r>
                        <a:rPr sz="1400" spc="-20" dirty="0">
                          <a:latin typeface="Times New Roman"/>
                          <a:cs typeface="Times New Roman"/>
                        </a:rPr>
                        <a:t> </a:t>
                      </a:r>
                      <a:r>
                        <a:rPr sz="1400" spc="-10" dirty="0">
                          <a:latin typeface="Aptos"/>
                          <a:cs typeface="Aptos"/>
                        </a:rPr>
                        <a:t>comparable</a:t>
                      </a:r>
                      <a:r>
                        <a:rPr sz="1400" spc="-65" dirty="0">
                          <a:latin typeface="Times New Roman"/>
                          <a:cs typeface="Times New Roman"/>
                        </a:rPr>
                        <a:t> </a:t>
                      </a:r>
                      <a:r>
                        <a:rPr sz="1400" dirty="0">
                          <a:latin typeface="Aptos"/>
                          <a:cs typeface="Aptos"/>
                        </a:rPr>
                        <a:t>with</a:t>
                      </a:r>
                      <a:r>
                        <a:rPr sz="1400" spc="-35" dirty="0">
                          <a:latin typeface="Times New Roman"/>
                          <a:cs typeface="Times New Roman"/>
                        </a:rPr>
                        <a:t> </a:t>
                      </a:r>
                      <a:r>
                        <a:rPr sz="1400" spc="-10" dirty="0">
                          <a:latin typeface="Aptos"/>
                          <a:cs typeface="Aptos"/>
                        </a:rPr>
                        <a:t>Intranet.</a:t>
                      </a:r>
                      <a:endParaRPr sz="1400">
                        <a:latin typeface="Aptos"/>
                        <a:cs typeface="Aptos"/>
                      </a:endParaRPr>
                    </a:p>
                  </a:txBody>
                  <a:tcPr marL="0" marR="0" marT="63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extLst>
                  <a:ext uri="{0D108BD9-81ED-4DB2-BD59-A6C34878D82A}">
                    <a16:rowId xmlns:a16="http://schemas.microsoft.com/office/drawing/2014/main" val="10004"/>
                  </a:ext>
                </a:extLst>
              </a:tr>
              <a:tr h="603885">
                <a:tc>
                  <a:txBody>
                    <a:bodyPr/>
                    <a:lstStyle/>
                    <a:p>
                      <a:pPr algn="ctr">
                        <a:lnSpc>
                          <a:spcPct val="100000"/>
                        </a:lnSpc>
                        <a:spcBef>
                          <a:spcPts val="1440"/>
                        </a:spcBef>
                      </a:pPr>
                      <a:r>
                        <a:rPr sz="1400" b="1" spc="-10" dirty="0">
                          <a:latin typeface="Aptos"/>
                          <a:cs typeface="Aptos"/>
                        </a:rPr>
                        <a:t>Security</a:t>
                      </a:r>
                      <a:endParaRPr sz="1400">
                        <a:latin typeface="Aptos"/>
                        <a:cs typeface="Aptos"/>
                      </a:endParaRPr>
                    </a:p>
                  </a:txBody>
                  <a:tcPr marL="0" marR="0" marT="18288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marL="247015" marR="121285" indent="-120650">
                        <a:lnSpc>
                          <a:spcPct val="100000"/>
                        </a:lnSpc>
                        <a:spcBef>
                          <a:spcPts val="600"/>
                        </a:spcBef>
                      </a:pPr>
                      <a:r>
                        <a:rPr sz="1400" dirty="0">
                          <a:latin typeface="Aptos"/>
                          <a:cs typeface="Aptos"/>
                        </a:rPr>
                        <a:t>It</a:t>
                      </a:r>
                      <a:r>
                        <a:rPr sz="1400" spc="-65" dirty="0">
                          <a:latin typeface="Times New Roman"/>
                          <a:cs typeface="Times New Roman"/>
                        </a:rPr>
                        <a:t> </a:t>
                      </a:r>
                      <a:r>
                        <a:rPr sz="1400" dirty="0">
                          <a:latin typeface="Aptos"/>
                          <a:cs typeface="Aptos"/>
                        </a:rPr>
                        <a:t>is</a:t>
                      </a:r>
                      <a:r>
                        <a:rPr sz="1400" spc="-75" dirty="0">
                          <a:latin typeface="Times New Roman"/>
                          <a:cs typeface="Times New Roman"/>
                        </a:rPr>
                        <a:t> </a:t>
                      </a:r>
                      <a:r>
                        <a:rPr sz="1400" dirty="0">
                          <a:latin typeface="Aptos"/>
                          <a:cs typeface="Aptos"/>
                        </a:rPr>
                        <a:t>dependent</a:t>
                      </a:r>
                      <a:r>
                        <a:rPr sz="1400" spc="-80" dirty="0">
                          <a:latin typeface="Times New Roman"/>
                          <a:cs typeface="Times New Roman"/>
                        </a:rPr>
                        <a:t> </a:t>
                      </a:r>
                      <a:r>
                        <a:rPr sz="1400" dirty="0">
                          <a:latin typeface="Aptos"/>
                          <a:cs typeface="Aptos"/>
                        </a:rPr>
                        <a:t>on</a:t>
                      </a:r>
                      <a:r>
                        <a:rPr sz="1400" spc="-75" dirty="0">
                          <a:latin typeface="Times New Roman"/>
                          <a:cs typeface="Times New Roman"/>
                        </a:rPr>
                        <a:t> </a:t>
                      </a:r>
                      <a:r>
                        <a:rPr sz="1400" dirty="0">
                          <a:latin typeface="Aptos"/>
                          <a:cs typeface="Aptos"/>
                        </a:rPr>
                        <a:t>the</a:t>
                      </a:r>
                      <a:r>
                        <a:rPr sz="1400" spc="-55" dirty="0">
                          <a:latin typeface="Times New Roman"/>
                          <a:cs typeface="Times New Roman"/>
                        </a:rPr>
                        <a:t> </a:t>
                      </a:r>
                      <a:r>
                        <a:rPr sz="1400" spc="-10" dirty="0">
                          <a:latin typeface="Aptos"/>
                          <a:cs typeface="Aptos"/>
                        </a:rPr>
                        <a:t>user</a:t>
                      </a:r>
                      <a:r>
                        <a:rPr sz="1400" spc="-90" dirty="0">
                          <a:latin typeface="Times New Roman"/>
                          <a:cs typeface="Times New Roman"/>
                        </a:rPr>
                        <a:t> </a:t>
                      </a:r>
                      <a:r>
                        <a:rPr sz="1400" dirty="0">
                          <a:latin typeface="Aptos"/>
                          <a:cs typeface="Aptos"/>
                        </a:rPr>
                        <a:t>of</a:t>
                      </a:r>
                      <a:r>
                        <a:rPr sz="1400" spc="-65" dirty="0">
                          <a:latin typeface="Times New Roman"/>
                          <a:cs typeface="Times New Roman"/>
                        </a:rPr>
                        <a:t> </a:t>
                      </a:r>
                      <a:r>
                        <a:rPr sz="1400" spc="-25" dirty="0">
                          <a:latin typeface="Aptos"/>
                          <a:cs typeface="Aptos"/>
                        </a:rPr>
                        <a:t>the</a:t>
                      </a:r>
                      <a:r>
                        <a:rPr sz="1400" spc="-25" dirty="0">
                          <a:latin typeface="Times New Roman"/>
                          <a:cs typeface="Times New Roman"/>
                        </a:rPr>
                        <a:t> </a:t>
                      </a:r>
                      <a:r>
                        <a:rPr sz="1400" dirty="0">
                          <a:latin typeface="Aptos"/>
                          <a:cs typeface="Aptos"/>
                        </a:rPr>
                        <a:t>device</a:t>
                      </a:r>
                      <a:r>
                        <a:rPr sz="1400" spc="-75" dirty="0">
                          <a:latin typeface="Times New Roman"/>
                          <a:cs typeface="Times New Roman"/>
                        </a:rPr>
                        <a:t> </a:t>
                      </a:r>
                      <a:r>
                        <a:rPr sz="1400" spc="-10" dirty="0">
                          <a:latin typeface="Aptos"/>
                          <a:cs typeface="Aptos"/>
                        </a:rPr>
                        <a:t>connected</a:t>
                      </a:r>
                      <a:r>
                        <a:rPr sz="1400" spc="-50" dirty="0">
                          <a:latin typeface="Times New Roman"/>
                          <a:cs typeface="Times New Roman"/>
                        </a:rPr>
                        <a:t> </a:t>
                      </a:r>
                      <a:r>
                        <a:rPr sz="1400" dirty="0">
                          <a:latin typeface="Aptos"/>
                          <a:cs typeface="Aptos"/>
                        </a:rPr>
                        <a:t>to</a:t>
                      </a:r>
                      <a:r>
                        <a:rPr sz="1400" spc="-50" dirty="0">
                          <a:latin typeface="Times New Roman"/>
                          <a:cs typeface="Times New Roman"/>
                        </a:rPr>
                        <a:t> </a:t>
                      </a:r>
                      <a:r>
                        <a:rPr sz="1400" spc="-10" dirty="0">
                          <a:latin typeface="Aptos"/>
                          <a:cs typeface="Aptos"/>
                        </a:rPr>
                        <a:t>network.</a:t>
                      </a:r>
                      <a:endParaRPr sz="1400">
                        <a:latin typeface="Aptos"/>
                        <a:cs typeface="Aptos"/>
                      </a:endParaRPr>
                    </a:p>
                  </a:txBody>
                  <a:tcPr marL="0" marR="0" marT="7620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marL="3810" algn="ctr">
                        <a:lnSpc>
                          <a:spcPct val="100000"/>
                        </a:lnSpc>
                        <a:spcBef>
                          <a:spcPts val="1440"/>
                        </a:spcBef>
                      </a:pPr>
                      <a:r>
                        <a:rPr sz="1400" dirty="0">
                          <a:latin typeface="Aptos"/>
                          <a:cs typeface="Aptos"/>
                        </a:rPr>
                        <a:t>It</a:t>
                      </a:r>
                      <a:r>
                        <a:rPr sz="1400" spc="-60" dirty="0">
                          <a:latin typeface="Times New Roman"/>
                          <a:cs typeface="Times New Roman"/>
                        </a:rPr>
                        <a:t> </a:t>
                      </a:r>
                      <a:r>
                        <a:rPr sz="1400" dirty="0">
                          <a:latin typeface="Aptos"/>
                          <a:cs typeface="Aptos"/>
                        </a:rPr>
                        <a:t>is</a:t>
                      </a:r>
                      <a:r>
                        <a:rPr sz="1400" spc="-75" dirty="0">
                          <a:latin typeface="Times New Roman"/>
                          <a:cs typeface="Times New Roman"/>
                        </a:rPr>
                        <a:t> </a:t>
                      </a:r>
                      <a:r>
                        <a:rPr sz="1400" spc="-10" dirty="0">
                          <a:latin typeface="Aptos"/>
                          <a:cs typeface="Aptos"/>
                        </a:rPr>
                        <a:t>enforced</a:t>
                      </a:r>
                      <a:r>
                        <a:rPr sz="1400" spc="-60" dirty="0">
                          <a:latin typeface="Times New Roman"/>
                          <a:cs typeface="Times New Roman"/>
                        </a:rPr>
                        <a:t> </a:t>
                      </a:r>
                      <a:r>
                        <a:rPr sz="1400" dirty="0">
                          <a:latin typeface="Aptos"/>
                          <a:cs typeface="Aptos"/>
                        </a:rPr>
                        <a:t>via</a:t>
                      </a:r>
                      <a:r>
                        <a:rPr sz="1400" spc="-45" dirty="0">
                          <a:latin typeface="Times New Roman"/>
                          <a:cs typeface="Times New Roman"/>
                        </a:rPr>
                        <a:t> </a:t>
                      </a:r>
                      <a:r>
                        <a:rPr sz="1400" spc="-10" dirty="0">
                          <a:latin typeface="Aptos"/>
                          <a:cs typeface="Aptos"/>
                        </a:rPr>
                        <a:t>firewall.</a:t>
                      </a:r>
                      <a:endParaRPr sz="1400">
                        <a:latin typeface="Aptos"/>
                        <a:cs typeface="Aptos"/>
                      </a:endParaRPr>
                    </a:p>
                  </a:txBody>
                  <a:tcPr marL="0" marR="0" marT="18288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marL="161925" marR="153670" indent="126364">
                        <a:lnSpc>
                          <a:spcPct val="100000"/>
                        </a:lnSpc>
                        <a:spcBef>
                          <a:spcPts val="600"/>
                        </a:spcBef>
                      </a:pPr>
                      <a:r>
                        <a:rPr sz="1400" dirty="0">
                          <a:latin typeface="Aptos"/>
                          <a:cs typeface="Aptos"/>
                        </a:rPr>
                        <a:t>It</a:t>
                      </a:r>
                      <a:r>
                        <a:rPr sz="1400" spc="-60" dirty="0">
                          <a:latin typeface="Times New Roman"/>
                          <a:cs typeface="Times New Roman"/>
                        </a:rPr>
                        <a:t> </a:t>
                      </a:r>
                      <a:r>
                        <a:rPr sz="1400" dirty="0">
                          <a:latin typeface="Aptos"/>
                          <a:cs typeface="Aptos"/>
                        </a:rPr>
                        <a:t>is</a:t>
                      </a:r>
                      <a:r>
                        <a:rPr sz="1400" spc="-70" dirty="0">
                          <a:latin typeface="Times New Roman"/>
                          <a:cs typeface="Times New Roman"/>
                        </a:rPr>
                        <a:t> </a:t>
                      </a:r>
                      <a:r>
                        <a:rPr sz="1400" spc="-10" dirty="0">
                          <a:latin typeface="Aptos"/>
                          <a:cs typeface="Aptos"/>
                        </a:rPr>
                        <a:t>enforced</a:t>
                      </a:r>
                      <a:r>
                        <a:rPr sz="1400" spc="-65" dirty="0">
                          <a:latin typeface="Times New Roman"/>
                          <a:cs typeface="Times New Roman"/>
                        </a:rPr>
                        <a:t> </a:t>
                      </a:r>
                      <a:r>
                        <a:rPr sz="1400" dirty="0">
                          <a:latin typeface="Aptos"/>
                          <a:cs typeface="Aptos"/>
                        </a:rPr>
                        <a:t>via</a:t>
                      </a:r>
                      <a:r>
                        <a:rPr sz="1400" spc="-50" dirty="0">
                          <a:latin typeface="Times New Roman"/>
                          <a:cs typeface="Times New Roman"/>
                        </a:rPr>
                        <a:t> </a:t>
                      </a:r>
                      <a:r>
                        <a:rPr sz="1400" spc="-10" dirty="0">
                          <a:latin typeface="Aptos"/>
                          <a:cs typeface="Aptos"/>
                        </a:rPr>
                        <a:t>firewall</a:t>
                      </a:r>
                      <a:r>
                        <a:rPr sz="1400" spc="-65" dirty="0">
                          <a:latin typeface="Times New Roman"/>
                          <a:cs typeface="Times New Roman"/>
                        </a:rPr>
                        <a:t> </a:t>
                      </a:r>
                      <a:r>
                        <a:rPr sz="1400" spc="-20" dirty="0">
                          <a:latin typeface="Aptos"/>
                          <a:cs typeface="Aptos"/>
                        </a:rPr>
                        <a:t>that</a:t>
                      </a:r>
                      <a:r>
                        <a:rPr sz="1400" spc="-20" dirty="0">
                          <a:latin typeface="Times New Roman"/>
                          <a:cs typeface="Times New Roman"/>
                        </a:rPr>
                        <a:t> </a:t>
                      </a:r>
                      <a:r>
                        <a:rPr sz="1400" spc="-10" dirty="0">
                          <a:latin typeface="Aptos"/>
                          <a:cs typeface="Aptos"/>
                        </a:rPr>
                        <a:t>separates</a:t>
                      </a:r>
                      <a:r>
                        <a:rPr sz="1400" spc="-80" dirty="0">
                          <a:latin typeface="Times New Roman"/>
                          <a:cs typeface="Times New Roman"/>
                        </a:rPr>
                        <a:t> </a:t>
                      </a:r>
                      <a:r>
                        <a:rPr sz="1400" spc="-10" dirty="0">
                          <a:latin typeface="Aptos"/>
                          <a:cs typeface="Aptos"/>
                        </a:rPr>
                        <a:t>internet</a:t>
                      </a:r>
                      <a:r>
                        <a:rPr sz="1400" spc="-50" dirty="0">
                          <a:latin typeface="Times New Roman"/>
                          <a:cs typeface="Times New Roman"/>
                        </a:rPr>
                        <a:t> </a:t>
                      </a:r>
                      <a:r>
                        <a:rPr sz="1400" dirty="0">
                          <a:latin typeface="Aptos"/>
                          <a:cs typeface="Aptos"/>
                        </a:rPr>
                        <a:t>and</a:t>
                      </a:r>
                      <a:r>
                        <a:rPr sz="1400" spc="-30" dirty="0">
                          <a:latin typeface="Times New Roman"/>
                          <a:cs typeface="Times New Roman"/>
                        </a:rPr>
                        <a:t> </a:t>
                      </a:r>
                      <a:r>
                        <a:rPr sz="1400" spc="-10" dirty="0">
                          <a:latin typeface="Aptos"/>
                          <a:cs typeface="Aptos"/>
                        </a:rPr>
                        <a:t>extranet.</a:t>
                      </a:r>
                      <a:endParaRPr sz="1400">
                        <a:latin typeface="Aptos"/>
                        <a:cs typeface="Aptos"/>
                      </a:endParaRPr>
                    </a:p>
                  </a:txBody>
                  <a:tcPr marL="0" marR="0" marT="76200"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extLst>
                  <a:ext uri="{0D108BD9-81ED-4DB2-BD59-A6C34878D82A}">
                    <a16:rowId xmlns:a16="http://schemas.microsoft.com/office/drawing/2014/main" val="10005"/>
                  </a:ext>
                </a:extLst>
              </a:tr>
              <a:tr h="781685">
                <a:tc>
                  <a:txBody>
                    <a:bodyPr/>
                    <a:lstStyle/>
                    <a:p>
                      <a:pPr>
                        <a:lnSpc>
                          <a:spcPct val="100000"/>
                        </a:lnSpc>
                        <a:spcBef>
                          <a:spcPts val="15"/>
                        </a:spcBef>
                      </a:pPr>
                      <a:endParaRPr sz="1850">
                        <a:latin typeface="Times New Roman"/>
                        <a:cs typeface="Times New Roman"/>
                      </a:endParaRPr>
                    </a:p>
                    <a:p>
                      <a:pPr algn="ctr">
                        <a:lnSpc>
                          <a:spcPct val="100000"/>
                        </a:lnSpc>
                      </a:pPr>
                      <a:r>
                        <a:rPr sz="1400" b="1" spc="-10" dirty="0">
                          <a:latin typeface="Aptos"/>
                          <a:cs typeface="Aptos"/>
                        </a:rPr>
                        <a:t>Maintenance</a:t>
                      </a:r>
                      <a:endParaRPr sz="1400">
                        <a:latin typeface="Aptos"/>
                        <a:cs typeface="Aptos"/>
                      </a:endParaRPr>
                    </a:p>
                  </a:txBody>
                  <a:tcPr marL="0" marR="0" marT="190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a:lnSpc>
                          <a:spcPct val="100000"/>
                        </a:lnSpc>
                        <a:spcBef>
                          <a:spcPts val="15"/>
                        </a:spcBef>
                      </a:pPr>
                      <a:endParaRPr sz="1850">
                        <a:latin typeface="Times New Roman"/>
                        <a:cs typeface="Times New Roman"/>
                      </a:endParaRPr>
                    </a:p>
                    <a:p>
                      <a:pPr marL="635" algn="ctr">
                        <a:lnSpc>
                          <a:spcPct val="100000"/>
                        </a:lnSpc>
                      </a:pPr>
                      <a:r>
                        <a:rPr sz="1400" dirty="0">
                          <a:latin typeface="Aptos"/>
                          <a:cs typeface="Aptos"/>
                        </a:rPr>
                        <a:t>It</a:t>
                      </a:r>
                      <a:r>
                        <a:rPr sz="1400" spc="-55" dirty="0">
                          <a:latin typeface="Times New Roman"/>
                          <a:cs typeface="Times New Roman"/>
                        </a:rPr>
                        <a:t> </a:t>
                      </a:r>
                      <a:r>
                        <a:rPr sz="1400" dirty="0">
                          <a:latin typeface="Aptos"/>
                          <a:cs typeface="Aptos"/>
                        </a:rPr>
                        <a:t>is</a:t>
                      </a:r>
                      <a:r>
                        <a:rPr sz="1400" spc="-60" dirty="0">
                          <a:latin typeface="Times New Roman"/>
                          <a:cs typeface="Times New Roman"/>
                        </a:rPr>
                        <a:t> </a:t>
                      </a:r>
                      <a:r>
                        <a:rPr sz="1400" spc="-10" dirty="0">
                          <a:latin typeface="Aptos"/>
                          <a:cs typeface="Aptos"/>
                        </a:rPr>
                        <a:t>maintained</a:t>
                      </a:r>
                      <a:r>
                        <a:rPr sz="1400" spc="-50" dirty="0">
                          <a:latin typeface="Times New Roman"/>
                          <a:cs typeface="Times New Roman"/>
                        </a:rPr>
                        <a:t> </a:t>
                      </a:r>
                      <a:r>
                        <a:rPr sz="1400" dirty="0">
                          <a:latin typeface="Aptos"/>
                          <a:cs typeface="Aptos"/>
                        </a:rPr>
                        <a:t>by</a:t>
                      </a:r>
                      <a:r>
                        <a:rPr sz="1400" spc="-50" dirty="0">
                          <a:latin typeface="Times New Roman"/>
                          <a:cs typeface="Times New Roman"/>
                        </a:rPr>
                        <a:t> </a:t>
                      </a:r>
                      <a:r>
                        <a:rPr sz="1400" spc="-20" dirty="0">
                          <a:latin typeface="Aptos"/>
                          <a:cs typeface="Aptos"/>
                        </a:rPr>
                        <a:t>ISP.</a:t>
                      </a:r>
                      <a:endParaRPr sz="1400">
                        <a:latin typeface="Aptos"/>
                        <a:cs typeface="Aptos"/>
                      </a:endParaRPr>
                    </a:p>
                  </a:txBody>
                  <a:tcPr marL="0" marR="0" marT="190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marL="90170" marR="83185" indent="1270" algn="ctr">
                        <a:lnSpc>
                          <a:spcPct val="100000"/>
                        </a:lnSpc>
                        <a:spcBef>
                          <a:spcPts val="459"/>
                        </a:spcBef>
                      </a:pPr>
                      <a:r>
                        <a:rPr sz="1400" dirty="0">
                          <a:latin typeface="Aptos"/>
                          <a:cs typeface="Aptos"/>
                        </a:rPr>
                        <a:t>It</a:t>
                      </a:r>
                      <a:r>
                        <a:rPr sz="1400" spc="-55" dirty="0">
                          <a:latin typeface="Times New Roman"/>
                          <a:cs typeface="Times New Roman"/>
                        </a:rPr>
                        <a:t> </a:t>
                      </a:r>
                      <a:r>
                        <a:rPr sz="1400" dirty="0">
                          <a:latin typeface="Aptos"/>
                          <a:cs typeface="Aptos"/>
                        </a:rPr>
                        <a:t>is</a:t>
                      </a:r>
                      <a:r>
                        <a:rPr sz="1400" spc="-60" dirty="0">
                          <a:latin typeface="Times New Roman"/>
                          <a:cs typeface="Times New Roman"/>
                        </a:rPr>
                        <a:t> </a:t>
                      </a:r>
                      <a:r>
                        <a:rPr sz="1400" spc="-10" dirty="0">
                          <a:latin typeface="Aptos"/>
                          <a:cs typeface="Aptos"/>
                        </a:rPr>
                        <a:t>maintained</a:t>
                      </a:r>
                      <a:r>
                        <a:rPr sz="1400" spc="-50" dirty="0">
                          <a:latin typeface="Times New Roman"/>
                          <a:cs typeface="Times New Roman"/>
                        </a:rPr>
                        <a:t> </a:t>
                      </a:r>
                      <a:r>
                        <a:rPr sz="1400" dirty="0">
                          <a:latin typeface="Aptos"/>
                          <a:cs typeface="Aptos"/>
                        </a:rPr>
                        <a:t>by</a:t>
                      </a:r>
                      <a:r>
                        <a:rPr sz="1400" spc="-50" dirty="0">
                          <a:latin typeface="Times New Roman"/>
                          <a:cs typeface="Times New Roman"/>
                        </a:rPr>
                        <a:t> </a:t>
                      </a:r>
                      <a:r>
                        <a:rPr sz="1400" spc="-20" dirty="0">
                          <a:latin typeface="Aptos"/>
                          <a:cs typeface="Aptos"/>
                        </a:rPr>
                        <a:t>CIO.</a:t>
                      </a:r>
                      <a:r>
                        <a:rPr sz="1400" spc="-60" dirty="0">
                          <a:latin typeface="Times New Roman"/>
                          <a:cs typeface="Times New Roman"/>
                        </a:rPr>
                        <a:t> </a:t>
                      </a:r>
                      <a:r>
                        <a:rPr sz="1400" dirty="0">
                          <a:latin typeface="Aptos"/>
                          <a:cs typeface="Aptos"/>
                        </a:rPr>
                        <a:t>HR</a:t>
                      </a:r>
                      <a:r>
                        <a:rPr sz="1400" spc="-60" dirty="0">
                          <a:latin typeface="Times New Roman"/>
                          <a:cs typeface="Times New Roman"/>
                        </a:rPr>
                        <a:t> </a:t>
                      </a:r>
                      <a:r>
                        <a:rPr sz="1400" spc="-25" dirty="0">
                          <a:latin typeface="Aptos"/>
                          <a:cs typeface="Aptos"/>
                        </a:rPr>
                        <a:t>or</a:t>
                      </a:r>
                      <a:r>
                        <a:rPr sz="1400" spc="-25" dirty="0">
                          <a:latin typeface="Times New Roman"/>
                          <a:cs typeface="Times New Roman"/>
                        </a:rPr>
                        <a:t> </a:t>
                      </a:r>
                      <a:r>
                        <a:rPr sz="1400" spc="-10" dirty="0">
                          <a:latin typeface="Aptos"/>
                          <a:cs typeface="Aptos"/>
                        </a:rPr>
                        <a:t>communication</a:t>
                      </a:r>
                      <a:r>
                        <a:rPr sz="1400" spc="-10" dirty="0">
                          <a:latin typeface="Times New Roman"/>
                          <a:cs typeface="Times New Roman"/>
                        </a:rPr>
                        <a:t> </a:t>
                      </a:r>
                      <a:r>
                        <a:rPr sz="1400" spc="-10" dirty="0">
                          <a:latin typeface="Aptos"/>
                          <a:cs typeface="Aptos"/>
                        </a:rPr>
                        <a:t>department</a:t>
                      </a:r>
                      <a:r>
                        <a:rPr sz="1400" spc="-40" dirty="0">
                          <a:latin typeface="Times New Roman"/>
                          <a:cs typeface="Times New Roman"/>
                        </a:rPr>
                        <a:t> </a:t>
                      </a:r>
                      <a:r>
                        <a:rPr sz="1400" dirty="0">
                          <a:latin typeface="Aptos"/>
                          <a:cs typeface="Aptos"/>
                        </a:rPr>
                        <a:t>of</a:t>
                      </a:r>
                      <a:r>
                        <a:rPr sz="1400" spc="-20" dirty="0">
                          <a:latin typeface="Times New Roman"/>
                          <a:cs typeface="Times New Roman"/>
                        </a:rPr>
                        <a:t> </a:t>
                      </a:r>
                      <a:r>
                        <a:rPr sz="1400" spc="-25" dirty="0">
                          <a:latin typeface="Aptos"/>
                          <a:cs typeface="Aptos"/>
                        </a:rPr>
                        <a:t>an</a:t>
                      </a:r>
                      <a:r>
                        <a:rPr sz="1400" spc="-25" dirty="0">
                          <a:latin typeface="Times New Roman"/>
                          <a:cs typeface="Times New Roman"/>
                        </a:rPr>
                        <a:t> </a:t>
                      </a:r>
                      <a:r>
                        <a:rPr sz="1400" spc="-10" dirty="0">
                          <a:latin typeface="Aptos"/>
                          <a:cs typeface="Aptos"/>
                        </a:rPr>
                        <a:t>organization.</a:t>
                      </a:r>
                      <a:endParaRPr sz="1400">
                        <a:latin typeface="Aptos"/>
                        <a:cs typeface="Aptos"/>
                      </a:endParaRPr>
                    </a:p>
                  </a:txBody>
                  <a:tcPr marL="0" marR="0" marT="58419"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marL="90170" marR="82550" indent="1270" algn="ctr">
                        <a:lnSpc>
                          <a:spcPct val="100000"/>
                        </a:lnSpc>
                        <a:spcBef>
                          <a:spcPts val="459"/>
                        </a:spcBef>
                      </a:pPr>
                      <a:r>
                        <a:rPr sz="1400" dirty="0">
                          <a:latin typeface="Aptos"/>
                          <a:cs typeface="Aptos"/>
                        </a:rPr>
                        <a:t>It</a:t>
                      </a:r>
                      <a:r>
                        <a:rPr sz="1400" spc="-55" dirty="0">
                          <a:latin typeface="Times New Roman"/>
                          <a:cs typeface="Times New Roman"/>
                        </a:rPr>
                        <a:t> </a:t>
                      </a:r>
                      <a:r>
                        <a:rPr sz="1400" dirty="0">
                          <a:latin typeface="Aptos"/>
                          <a:cs typeface="Aptos"/>
                        </a:rPr>
                        <a:t>is</a:t>
                      </a:r>
                      <a:r>
                        <a:rPr sz="1400" spc="-60" dirty="0">
                          <a:latin typeface="Times New Roman"/>
                          <a:cs typeface="Times New Roman"/>
                        </a:rPr>
                        <a:t> </a:t>
                      </a:r>
                      <a:r>
                        <a:rPr sz="1400" spc="-10" dirty="0">
                          <a:latin typeface="Aptos"/>
                          <a:cs typeface="Aptos"/>
                        </a:rPr>
                        <a:t>maintained</a:t>
                      </a:r>
                      <a:r>
                        <a:rPr sz="1400" spc="-50" dirty="0">
                          <a:latin typeface="Times New Roman"/>
                          <a:cs typeface="Times New Roman"/>
                        </a:rPr>
                        <a:t> </a:t>
                      </a:r>
                      <a:r>
                        <a:rPr sz="1400" dirty="0">
                          <a:latin typeface="Aptos"/>
                          <a:cs typeface="Aptos"/>
                        </a:rPr>
                        <a:t>by</a:t>
                      </a:r>
                      <a:r>
                        <a:rPr sz="1400" spc="-50" dirty="0">
                          <a:latin typeface="Times New Roman"/>
                          <a:cs typeface="Times New Roman"/>
                        </a:rPr>
                        <a:t> </a:t>
                      </a:r>
                      <a:r>
                        <a:rPr sz="1400" spc="-20" dirty="0">
                          <a:latin typeface="Aptos"/>
                          <a:cs typeface="Aptos"/>
                        </a:rPr>
                        <a:t>CIO.</a:t>
                      </a:r>
                      <a:r>
                        <a:rPr sz="1400" spc="-60" dirty="0">
                          <a:latin typeface="Times New Roman"/>
                          <a:cs typeface="Times New Roman"/>
                        </a:rPr>
                        <a:t> </a:t>
                      </a:r>
                      <a:r>
                        <a:rPr sz="1400" dirty="0">
                          <a:latin typeface="Aptos"/>
                          <a:cs typeface="Aptos"/>
                        </a:rPr>
                        <a:t>HR</a:t>
                      </a:r>
                      <a:r>
                        <a:rPr sz="1400" spc="-60" dirty="0">
                          <a:latin typeface="Times New Roman"/>
                          <a:cs typeface="Times New Roman"/>
                        </a:rPr>
                        <a:t> </a:t>
                      </a:r>
                      <a:r>
                        <a:rPr sz="1400" spc="-25" dirty="0">
                          <a:latin typeface="Aptos"/>
                          <a:cs typeface="Aptos"/>
                        </a:rPr>
                        <a:t>or</a:t>
                      </a:r>
                      <a:r>
                        <a:rPr sz="1400" spc="-25" dirty="0">
                          <a:latin typeface="Times New Roman"/>
                          <a:cs typeface="Times New Roman"/>
                        </a:rPr>
                        <a:t> </a:t>
                      </a:r>
                      <a:r>
                        <a:rPr sz="1400" spc="-10" dirty="0">
                          <a:latin typeface="Aptos"/>
                          <a:cs typeface="Aptos"/>
                        </a:rPr>
                        <a:t>communication</a:t>
                      </a:r>
                      <a:r>
                        <a:rPr sz="1400" spc="-10" dirty="0">
                          <a:latin typeface="Times New Roman"/>
                          <a:cs typeface="Times New Roman"/>
                        </a:rPr>
                        <a:t> </a:t>
                      </a:r>
                      <a:r>
                        <a:rPr sz="1400" spc="-10" dirty="0">
                          <a:latin typeface="Aptos"/>
                          <a:cs typeface="Aptos"/>
                        </a:rPr>
                        <a:t>department</a:t>
                      </a:r>
                      <a:r>
                        <a:rPr sz="1400" spc="-40" dirty="0">
                          <a:latin typeface="Times New Roman"/>
                          <a:cs typeface="Times New Roman"/>
                        </a:rPr>
                        <a:t> </a:t>
                      </a:r>
                      <a:r>
                        <a:rPr sz="1400" dirty="0">
                          <a:latin typeface="Aptos"/>
                          <a:cs typeface="Aptos"/>
                        </a:rPr>
                        <a:t>of</a:t>
                      </a:r>
                      <a:r>
                        <a:rPr sz="1400" spc="-20" dirty="0">
                          <a:latin typeface="Times New Roman"/>
                          <a:cs typeface="Times New Roman"/>
                        </a:rPr>
                        <a:t> </a:t>
                      </a:r>
                      <a:r>
                        <a:rPr sz="1400" spc="-25" dirty="0">
                          <a:latin typeface="Aptos"/>
                          <a:cs typeface="Aptos"/>
                        </a:rPr>
                        <a:t>an</a:t>
                      </a:r>
                      <a:r>
                        <a:rPr sz="1400" spc="-25" dirty="0">
                          <a:latin typeface="Times New Roman"/>
                          <a:cs typeface="Times New Roman"/>
                        </a:rPr>
                        <a:t> </a:t>
                      </a:r>
                      <a:r>
                        <a:rPr sz="1400" spc="-10" dirty="0">
                          <a:latin typeface="Aptos"/>
                          <a:cs typeface="Aptos"/>
                        </a:rPr>
                        <a:t>organization.</a:t>
                      </a:r>
                      <a:endParaRPr sz="1400">
                        <a:latin typeface="Aptos"/>
                        <a:cs typeface="Aptos"/>
                      </a:endParaRPr>
                    </a:p>
                  </a:txBody>
                  <a:tcPr marL="0" marR="0" marT="58419"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extLst>
                  <a:ext uri="{0D108BD9-81ED-4DB2-BD59-A6C34878D82A}">
                    <a16:rowId xmlns:a16="http://schemas.microsoft.com/office/drawing/2014/main" val="10006"/>
                  </a:ext>
                </a:extLst>
              </a:tr>
              <a:tr h="426084">
                <a:tc>
                  <a:txBody>
                    <a:bodyPr/>
                    <a:lstStyle/>
                    <a:p>
                      <a:pPr marL="635" algn="ctr">
                        <a:lnSpc>
                          <a:spcPct val="100000"/>
                        </a:lnSpc>
                        <a:spcBef>
                          <a:spcPts val="745"/>
                        </a:spcBef>
                      </a:pPr>
                      <a:r>
                        <a:rPr sz="1400" b="1" spc="-10" dirty="0">
                          <a:latin typeface="Aptos"/>
                          <a:cs typeface="Aptos"/>
                        </a:rPr>
                        <a:t>Economical</a:t>
                      </a:r>
                      <a:endParaRPr sz="1400">
                        <a:latin typeface="Aptos"/>
                        <a:cs typeface="Aptos"/>
                      </a:endParaRPr>
                    </a:p>
                  </a:txBody>
                  <a:tcPr marL="0" marR="0" marT="9461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algn="ctr">
                        <a:lnSpc>
                          <a:spcPct val="100000"/>
                        </a:lnSpc>
                        <a:spcBef>
                          <a:spcPts val="745"/>
                        </a:spcBef>
                      </a:pPr>
                      <a:r>
                        <a:rPr sz="1400" dirty="0">
                          <a:latin typeface="Aptos"/>
                          <a:cs typeface="Aptos"/>
                        </a:rPr>
                        <a:t>It</a:t>
                      </a:r>
                      <a:r>
                        <a:rPr sz="1400" spc="-80" dirty="0">
                          <a:latin typeface="Times New Roman"/>
                          <a:cs typeface="Times New Roman"/>
                        </a:rPr>
                        <a:t> </a:t>
                      </a:r>
                      <a:r>
                        <a:rPr sz="1400" dirty="0">
                          <a:latin typeface="Aptos"/>
                          <a:cs typeface="Aptos"/>
                        </a:rPr>
                        <a:t>is</a:t>
                      </a:r>
                      <a:r>
                        <a:rPr sz="1400" spc="-80" dirty="0">
                          <a:latin typeface="Times New Roman"/>
                          <a:cs typeface="Times New Roman"/>
                        </a:rPr>
                        <a:t> </a:t>
                      </a:r>
                      <a:r>
                        <a:rPr sz="1400" spc="-10" dirty="0">
                          <a:latin typeface="Aptos"/>
                          <a:cs typeface="Aptos"/>
                        </a:rPr>
                        <a:t>more</a:t>
                      </a:r>
                      <a:r>
                        <a:rPr sz="1400" spc="-80" dirty="0">
                          <a:latin typeface="Times New Roman"/>
                          <a:cs typeface="Times New Roman"/>
                        </a:rPr>
                        <a:t> </a:t>
                      </a:r>
                      <a:r>
                        <a:rPr sz="1400" dirty="0">
                          <a:latin typeface="Aptos"/>
                          <a:cs typeface="Aptos"/>
                        </a:rPr>
                        <a:t>economical</a:t>
                      </a:r>
                      <a:r>
                        <a:rPr sz="1400" spc="-65" dirty="0">
                          <a:latin typeface="Times New Roman"/>
                          <a:cs typeface="Times New Roman"/>
                        </a:rPr>
                        <a:t> </a:t>
                      </a:r>
                      <a:r>
                        <a:rPr sz="1400" dirty="0">
                          <a:latin typeface="Aptos"/>
                          <a:cs typeface="Aptos"/>
                        </a:rPr>
                        <a:t>to</a:t>
                      </a:r>
                      <a:r>
                        <a:rPr sz="1400" spc="-70" dirty="0">
                          <a:latin typeface="Times New Roman"/>
                          <a:cs typeface="Times New Roman"/>
                        </a:rPr>
                        <a:t> </a:t>
                      </a:r>
                      <a:r>
                        <a:rPr sz="1400" spc="-20" dirty="0">
                          <a:latin typeface="Aptos"/>
                          <a:cs typeface="Aptos"/>
                        </a:rPr>
                        <a:t>use.</a:t>
                      </a:r>
                      <a:endParaRPr sz="1400">
                        <a:latin typeface="Aptos"/>
                        <a:cs typeface="Aptos"/>
                      </a:endParaRPr>
                    </a:p>
                  </a:txBody>
                  <a:tcPr marL="0" marR="0" marT="9461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marL="635" algn="ctr">
                        <a:lnSpc>
                          <a:spcPct val="100000"/>
                        </a:lnSpc>
                        <a:spcBef>
                          <a:spcPts val="745"/>
                        </a:spcBef>
                      </a:pPr>
                      <a:r>
                        <a:rPr sz="1400" dirty="0">
                          <a:latin typeface="Aptos"/>
                          <a:cs typeface="Aptos"/>
                        </a:rPr>
                        <a:t>It</a:t>
                      </a:r>
                      <a:r>
                        <a:rPr sz="1400" spc="-60" dirty="0">
                          <a:latin typeface="Times New Roman"/>
                          <a:cs typeface="Times New Roman"/>
                        </a:rPr>
                        <a:t> </a:t>
                      </a:r>
                      <a:r>
                        <a:rPr sz="1400" dirty="0">
                          <a:latin typeface="Aptos"/>
                          <a:cs typeface="Aptos"/>
                        </a:rPr>
                        <a:t>is</a:t>
                      </a:r>
                      <a:r>
                        <a:rPr sz="1400" spc="-70" dirty="0">
                          <a:latin typeface="Times New Roman"/>
                          <a:cs typeface="Times New Roman"/>
                        </a:rPr>
                        <a:t> </a:t>
                      </a:r>
                      <a:r>
                        <a:rPr sz="1400" spc="-10" dirty="0">
                          <a:latin typeface="Aptos"/>
                          <a:cs typeface="Aptos"/>
                        </a:rPr>
                        <a:t>less</a:t>
                      </a:r>
                      <a:r>
                        <a:rPr sz="1400" spc="-75" dirty="0">
                          <a:latin typeface="Times New Roman"/>
                          <a:cs typeface="Times New Roman"/>
                        </a:rPr>
                        <a:t> </a:t>
                      </a:r>
                      <a:r>
                        <a:rPr sz="1400" spc="-10" dirty="0">
                          <a:latin typeface="Aptos"/>
                          <a:cs typeface="Aptos"/>
                        </a:rPr>
                        <a:t>economical.</a:t>
                      </a:r>
                      <a:endParaRPr sz="1400">
                        <a:latin typeface="Aptos"/>
                        <a:cs typeface="Aptos"/>
                      </a:endParaRPr>
                    </a:p>
                  </a:txBody>
                  <a:tcPr marL="0" marR="0" marT="9461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marL="1270" algn="ctr">
                        <a:lnSpc>
                          <a:spcPct val="100000"/>
                        </a:lnSpc>
                        <a:spcBef>
                          <a:spcPts val="745"/>
                        </a:spcBef>
                      </a:pPr>
                      <a:r>
                        <a:rPr sz="1400" dirty="0">
                          <a:latin typeface="Aptos"/>
                          <a:cs typeface="Aptos"/>
                        </a:rPr>
                        <a:t>It</a:t>
                      </a:r>
                      <a:r>
                        <a:rPr sz="1400" spc="-75" dirty="0">
                          <a:latin typeface="Times New Roman"/>
                          <a:cs typeface="Times New Roman"/>
                        </a:rPr>
                        <a:t> </a:t>
                      </a:r>
                      <a:r>
                        <a:rPr sz="1400" dirty="0">
                          <a:latin typeface="Aptos"/>
                          <a:cs typeface="Aptos"/>
                        </a:rPr>
                        <a:t>is</a:t>
                      </a:r>
                      <a:r>
                        <a:rPr sz="1400" spc="-85" dirty="0">
                          <a:latin typeface="Times New Roman"/>
                          <a:cs typeface="Times New Roman"/>
                        </a:rPr>
                        <a:t> </a:t>
                      </a:r>
                      <a:r>
                        <a:rPr sz="1400" dirty="0">
                          <a:latin typeface="Aptos"/>
                          <a:cs typeface="Aptos"/>
                        </a:rPr>
                        <a:t>also</a:t>
                      </a:r>
                      <a:r>
                        <a:rPr sz="1400" spc="-80" dirty="0">
                          <a:latin typeface="Times New Roman"/>
                          <a:cs typeface="Times New Roman"/>
                        </a:rPr>
                        <a:t> </a:t>
                      </a:r>
                      <a:r>
                        <a:rPr sz="1400" dirty="0">
                          <a:latin typeface="Aptos"/>
                          <a:cs typeface="Aptos"/>
                        </a:rPr>
                        <a:t>less</a:t>
                      </a:r>
                      <a:r>
                        <a:rPr sz="1400" spc="-80" dirty="0">
                          <a:latin typeface="Times New Roman"/>
                          <a:cs typeface="Times New Roman"/>
                        </a:rPr>
                        <a:t> </a:t>
                      </a:r>
                      <a:r>
                        <a:rPr sz="1400" spc="-10" dirty="0">
                          <a:latin typeface="Aptos"/>
                          <a:cs typeface="Aptos"/>
                        </a:rPr>
                        <a:t>economical.</a:t>
                      </a:r>
                      <a:endParaRPr sz="1400">
                        <a:latin typeface="Aptos"/>
                        <a:cs typeface="Aptos"/>
                      </a:endParaRPr>
                    </a:p>
                  </a:txBody>
                  <a:tcPr marL="0" marR="0" marT="9461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extLst>
                  <a:ext uri="{0D108BD9-81ED-4DB2-BD59-A6C34878D82A}">
                    <a16:rowId xmlns:a16="http://schemas.microsoft.com/office/drawing/2014/main" val="10007"/>
                  </a:ext>
                </a:extLst>
              </a:tr>
              <a:tr h="603885">
                <a:tc>
                  <a:txBody>
                    <a:bodyPr/>
                    <a:lstStyle/>
                    <a:p>
                      <a:pPr algn="ctr">
                        <a:lnSpc>
                          <a:spcPct val="100000"/>
                        </a:lnSpc>
                        <a:spcBef>
                          <a:spcPts val="1445"/>
                        </a:spcBef>
                      </a:pPr>
                      <a:r>
                        <a:rPr sz="1400" b="1" spc="-10" dirty="0">
                          <a:latin typeface="Aptos"/>
                          <a:cs typeface="Aptos"/>
                        </a:rPr>
                        <a:t>Example</a:t>
                      </a:r>
                      <a:endParaRPr sz="1400">
                        <a:latin typeface="Aptos"/>
                        <a:cs typeface="Aptos"/>
                      </a:endParaRPr>
                    </a:p>
                  </a:txBody>
                  <a:tcPr marL="0" marR="0" marT="18351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solidFill>
                      <a:srgbClr val="F9F9F9"/>
                    </a:solidFill>
                  </a:tcPr>
                </a:tc>
                <a:tc>
                  <a:txBody>
                    <a:bodyPr/>
                    <a:lstStyle/>
                    <a:p>
                      <a:pPr marL="1056005" marR="236220" indent="-812800">
                        <a:lnSpc>
                          <a:spcPct val="100000"/>
                        </a:lnSpc>
                        <a:spcBef>
                          <a:spcPts val="605"/>
                        </a:spcBef>
                      </a:pPr>
                      <a:r>
                        <a:rPr sz="1400" dirty="0">
                          <a:latin typeface="Aptos"/>
                          <a:cs typeface="Aptos"/>
                        </a:rPr>
                        <a:t>What</a:t>
                      </a:r>
                      <a:r>
                        <a:rPr sz="1400" spc="-60" dirty="0">
                          <a:latin typeface="Times New Roman"/>
                          <a:cs typeface="Times New Roman"/>
                        </a:rPr>
                        <a:t> </a:t>
                      </a:r>
                      <a:r>
                        <a:rPr sz="1400" spc="-10" dirty="0">
                          <a:latin typeface="Aptos"/>
                          <a:cs typeface="Aptos"/>
                        </a:rPr>
                        <a:t>we</a:t>
                      </a:r>
                      <a:r>
                        <a:rPr sz="1400" spc="-75" dirty="0">
                          <a:latin typeface="Times New Roman"/>
                          <a:cs typeface="Times New Roman"/>
                        </a:rPr>
                        <a:t> </a:t>
                      </a:r>
                      <a:r>
                        <a:rPr sz="1400" spc="-10" dirty="0">
                          <a:latin typeface="Aptos"/>
                          <a:cs typeface="Aptos"/>
                        </a:rPr>
                        <a:t>are</a:t>
                      </a:r>
                      <a:r>
                        <a:rPr sz="1400" spc="-60" dirty="0">
                          <a:latin typeface="Times New Roman"/>
                          <a:cs typeface="Times New Roman"/>
                        </a:rPr>
                        <a:t> </a:t>
                      </a:r>
                      <a:r>
                        <a:rPr sz="1400" spc="-10" dirty="0">
                          <a:latin typeface="Aptos"/>
                          <a:cs typeface="Aptos"/>
                        </a:rPr>
                        <a:t>normally</a:t>
                      </a:r>
                      <a:r>
                        <a:rPr sz="1400" spc="-50" dirty="0">
                          <a:latin typeface="Times New Roman"/>
                          <a:cs typeface="Times New Roman"/>
                        </a:rPr>
                        <a:t> </a:t>
                      </a:r>
                      <a:r>
                        <a:rPr sz="1400" dirty="0">
                          <a:latin typeface="Aptos"/>
                          <a:cs typeface="Aptos"/>
                        </a:rPr>
                        <a:t>using</a:t>
                      </a:r>
                      <a:r>
                        <a:rPr sz="1400" spc="-65" dirty="0">
                          <a:latin typeface="Times New Roman"/>
                          <a:cs typeface="Times New Roman"/>
                        </a:rPr>
                        <a:t> </a:t>
                      </a:r>
                      <a:r>
                        <a:rPr sz="1400" spc="-25" dirty="0">
                          <a:latin typeface="Aptos"/>
                          <a:cs typeface="Aptos"/>
                        </a:rPr>
                        <a:t>is</a:t>
                      </a:r>
                      <a:r>
                        <a:rPr sz="1400" spc="-25" dirty="0">
                          <a:latin typeface="Times New Roman"/>
                          <a:cs typeface="Times New Roman"/>
                        </a:rPr>
                        <a:t> </a:t>
                      </a:r>
                      <a:r>
                        <a:rPr sz="1400" spc="-10" dirty="0">
                          <a:latin typeface="Aptos"/>
                          <a:cs typeface="Aptos"/>
                        </a:rPr>
                        <a:t>internet.</a:t>
                      </a:r>
                      <a:endParaRPr sz="1400">
                        <a:latin typeface="Aptos"/>
                        <a:cs typeface="Aptos"/>
                      </a:endParaRPr>
                    </a:p>
                  </a:txBody>
                  <a:tcPr marL="0" marR="0" marT="7683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marL="469900" marR="111760" indent="-351155">
                        <a:lnSpc>
                          <a:spcPct val="100000"/>
                        </a:lnSpc>
                        <a:spcBef>
                          <a:spcPts val="605"/>
                        </a:spcBef>
                      </a:pPr>
                      <a:r>
                        <a:rPr sz="1400" spc="-10" dirty="0">
                          <a:latin typeface="Aptos"/>
                          <a:cs typeface="Aptos"/>
                        </a:rPr>
                        <a:t>WIPRO</a:t>
                      </a:r>
                      <a:r>
                        <a:rPr sz="1400" spc="-70" dirty="0">
                          <a:latin typeface="Times New Roman"/>
                          <a:cs typeface="Times New Roman"/>
                        </a:rPr>
                        <a:t> </a:t>
                      </a:r>
                      <a:r>
                        <a:rPr sz="1400" dirty="0">
                          <a:latin typeface="Aptos"/>
                          <a:cs typeface="Aptos"/>
                        </a:rPr>
                        <a:t>using</a:t>
                      </a:r>
                      <a:r>
                        <a:rPr sz="1400" spc="-55" dirty="0">
                          <a:latin typeface="Times New Roman"/>
                          <a:cs typeface="Times New Roman"/>
                        </a:rPr>
                        <a:t> </a:t>
                      </a:r>
                      <a:r>
                        <a:rPr sz="1400" dirty="0">
                          <a:latin typeface="Aptos"/>
                          <a:cs typeface="Aptos"/>
                        </a:rPr>
                        <a:t>internal</a:t>
                      </a:r>
                      <a:r>
                        <a:rPr sz="1400" spc="-55" dirty="0">
                          <a:latin typeface="Times New Roman"/>
                          <a:cs typeface="Times New Roman"/>
                        </a:rPr>
                        <a:t> </a:t>
                      </a:r>
                      <a:r>
                        <a:rPr sz="1400" spc="-10" dirty="0">
                          <a:latin typeface="Aptos"/>
                          <a:cs typeface="Aptos"/>
                        </a:rPr>
                        <a:t>network</a:t>
                      </a:r>
                      <a:r>
                        <a:rPr sz="1400" spc="-70" dirty="0">
                          <a:latin typeface="Times New Roman"/>
                          <a:cs typeface="Times New Roman"/>
                        </a:rPr>
                        <a:t> </a:t>
                      </a:r>
                      <a:r>
                        <a:rPr sz="1400" spc="-25" dirty="0">
                          <a:latin typeface="Aptos"/>
                          <a:cs typeface="Aptos"/>
                        </a:rPr>
                        <a:t>for</a:t>
                      </a:r>
                      <a:r>
                        <a:rPr sz="1400" spc="-25" dirty="0">
                          <a:latin typeface="Times New Roman"/>
                          <a:cs typeface="Times New Roman"/>
                        </a:rPr>
                        <a:t> </a:t>
                      </a:r>
                      <a:r>
                        <a:rPr sz="1400" dirty="0">
                          <a:latin typeface="Aptos"/>
                          <a:cs typeface="Aptos"/>
                        </a:rPr>
                        <a:t>its</a:t>
                      </a:r>
                      <a:r>
                        <a:rPr sz="1400" spc="-50" dirty="0">
                          <a:latin typeface="Times New Roman"/>
                          <a:cs typeface="Times New Roman"/>
                        </a:rPr>
                        <a:t> </a:t>
                      </a:r>
                      <a:r>
                        <a:rPr sz="1400" spc="-10" dirty="0">
                          <a:latin typeface="Aptos"/>
                          <a:cs typeface="Aptos"/>
                        </a:rPr>
                        <a:t>business</a:t>
                      </a:r>
                      <a:r>
                        <a:rPr sz="1400" spc="-45" dirty="0">
                          <a:latin typeface="Times New Roman"/>
                          <a:cs typeface="Times New Roman"/>
                        </a:rPr>
                        <a:t> </a:t>
                      </a:r>
                      <a:r>
                        <a:rPr sz="1400" spc="-10" dirty="0">
                          <a:latin typeface="Aptos"/>
                          <a:cs typeface="Aptos"/>
                        </a:rPr>
                        <a:t>operations.</a:t>
                      </a:r>
                      <a:endParaRPr sz="1400">
                        <a:latin typeface="Aptos"/>
                        <a:cs typeface="Aptos"/>
                      </a:endParaRPr>
                    </a:p>
                  </a:txBody>
                  <a:tcPr marL="0" marR="0" marT="7683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tc>
                  <a:txBody>
                    <a:bodyPr/>
                    <a:lstStyle/>
                    <a:p>
                      <a:pPr marL="469900" marR="143510" indent="-317500">
                        <a:lnSpc>
                          <a:spcPct val="100000"/>
                        </a:lnSpc>
                        <a:spcBef>
                          <a:spcPts val="605"/>
                        </a:spcBef>
                      </a:pPr>
                      <a:r>
                        <a:rPr sz="1400" dirty="0">
                          <a:latin typeface="Aptos"/>
                          <a:cs typeface="Aptos"/>
                        </a:rPr>
                        <a:t>DELL</a:t>
                      </a:r>
                      <a:r>
                        <a:rPr sz="1400" spc="-80" dirty="0">
                          <a:latin typeface="Times New Roman"/>
                          <a:cs typeface="Times New Roman"/>
                        </a:rPr>
                        <a:t> </a:t>
                      </a:r>
                      <a:r>
                        <a:rPr sz="1400" dirty="0">
                          <a:latin typeface="Aptos"/>
                          <a:cs typeface="Aptos"/>
                        </a:rPr>
                        <a:t>and</a:t>
                      </a:r>
                      <a:r>
                        <a:rPr sz="1400" spc="-45" dirty="0">
                          <a:latin typeface="Times New Roman"/>
                          <a:cs typeface="Times New Roman"/>
                        </a:rPr>
                        <a:t> </a:t>
                      </a:r>
                      <a:r>
                        <a:rPr sz="1400" spc="-10" dirty="0">
                          <a:latin typeface="Aptos"/>
                          <a:cs typeface="Aptos"/>
                        </a:rPr>
                        <a:t>Intel</a:t>
                      </a:r>
                      <a:r>
                        <a:rPr sz="1400" spc="-60" dirty="0">
                          <a:latin typeface="Times New Roman"/>
                          <a:cs typeface="Times New Roman"/>
                        </a:rPr>
                        <a:t> </a:t>
                      </a:r>
                      <a:r>
                        <a:rPr sz="1400" dirty="0">
                          <a:latin typeface="Aptos"/>
                          <a:cs typeface="Aptos"/>
                        </a:rPr>
                        <a:t>using</a:t>
                      </a:r>
                      <a:r>
                        <a:rPr sz="1400" spc="-60" dirty="0">
                          <a:latin typeface="Times New Roman"/>
                          <a:cs typeface="Times New Roman"/>
                        </a:rPr>
                        <a:t> </a:t>
                      </a:r>
                      <a:r>
                        <a:rPr sz="1400" spc="-10" dirty="0">
                          <a:latin typeface="Aptos"/>
                          <a:cs typeface="Aptos"/>
                        </a:rPr>
                        <a:t>network</a:t>
                      </a:r>
                      <a:r>
                        <a:rPr sz="1400" spc="-75" dirty="0">
                          <a:latin typeface="Times New Roman"/>
                          <a:cs typeface="Times New Roman"/>
                        </a:rPr>
                        <a:t> </a:t>
                      </a:r>
                      <a:r>
                        <a:rPr sz="1400" spc="-25" dirty="0">
                          <a:latin typeface="Aptos"/>
                          <a:cs typeface="Aptos"/>
                        </a:rPr>
                        <a:t>for</a:t>
                      </a:r>
                      <a:r>
                        <a:rPr sz="1400" spc="-25" dirty="0">
                          <a:latin typeface="Times New Roman"/>
                          <a:cs typeface="Times New Roman"/>
                        </a:rPr>
                        <a:t> </a:t>
                      </a:r>
                      <a:r>
                        <a:rPr sz="1400" dirty="0">
                          <a:latin typeface="Aptos"/>
                          <a:cs typeface="Aptos"/>
                        </a:rPr>
                        <a:t>its</a:t>
                      </a:r>
                      <a:r>
                        <a:rPr sz="1400" spc="-50" dirty="0">
                          <a:latin typeface="Times New Roman"/>
                          <a:cs typeface="Times New Roman"/>
                        </a:rPr>
                        <a:t> </a:t>
                      </a:r>
                      <a:r>
                        <a:rPr sz="1400" spc="-10" dirty="0">
                          <a:latin typeface="Aptos"/>
                          <a:cs typeface="Aptos"/>
                        </a:rPr>
                        <a:t>business</a:t>
                      </a:r>
                      <a:r>
                        <a:rPr sz="1400" spc="-45" dirty="0">
                          <a:latin typeface="Times New Roman"/>
                          <a:cs typeface="Times New Roman"/>
                        </a:rPr>
                        <a:t> </a:t>
                      </a:r>
                      <a:r>
                        <a:rPr sz="1400" spc="-10" dirty="0">
                          <a:latin typeface="Aptos"/>
                          <a:cs typeface="Aptos"/>
                        </a:rPr>
                        <a:t>operations.</a:t>
                      </a:r>
                      <a:endParaRPr sz="1400">
                        <a:latin typeface="Aptos"/>
                        <a:cs typeface="Aptos"/>
                      </a:endParaRPr>
                    </a:p>
                  </a:txBody>
                  <a:tcPr marL="0" marR="0" marT="76835" marB="0">
                    <a:lnL w="3175">
                      <a:solidFill>
                        <a:srgbClr val="DFDFDF"/>
                      </a:solidFill>
                      <a:prstDash val="solid"/>
                    </a:lnL>
                    <a:lnR w="3175">
                      <a:solidFill>
                        <a:srgbClr val="DFDFDF"/>
                      </a:solidFill>
                      <a:prstDash val="solid"/>
                    </a:lnR>
                    <a:lnT w="3175">
                      <a:solidFill>
                        <a:srgbClr val="DFDFDF"/>
                      </a:solidFill>
                      <a:prstDash val="solid"/>
                    </a:lnT>
                    <a:lnB w="3175">
                      <a:solidFill>
                        <a:srgbClr val="DFDFDF"/>
                      </a:solidFill>
                      <a:prstDash val="solid"/>
                    </a:lnB>
                  </a:tcPr>
                </a:tc>
                <a:extLst>
                  <a:ext uri="{0D108BD9-81ED-4DB2-BD59-A6C34878D82A}">
                    <a16:rowId xmlns:a16="http://schemas.microsoft.com/office/drawing/2014/main" val="10008"/>
                  </a:ext>
                </a:extLst>
              </a:tr>
            </a:tbl>
          </a:graphicData>
        </a:graphic>
      </p:graphicFrame>
      <p:sp>
        <p:nvSpPr>
          <p:cNvPr id="3" name="object 3"/>
          <p:cNvSpPr txBox="1">
            <a:spLocks noGrp="1"/>
          </p:cNvSpPr>
          <p:nvPr>
            <p:ph type="title"/>
          </p:nvPr>
        </p:nvSpPr>
        <p:spPr>
          <a:xfrm>
            <a:off x="3987553" y="143622"/>
            <a:ext cx="507238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Aptos"/>
                <a:cs typeface="Aptos"/>
              </a:rPr>
              <a:t>Differentiate</a:t>
            </a:r>
            <a:r>
              <a:rPr sz="1800" spc="-90" dirty="0">
                <a:latin typeface="Times New Roman"/>
                <a:cs typeface="Times New Roman"/>
              </a:rPr>
              <a:t> </a:t>
            </a:r>
            <a:r>
              <a:rPr sz="1800" spc="-10" dirty="0">
                <a:latin typeface="Aptos"/>
                <a:cs typeface="Aptos"/>
              </a:rPr>
              <a:t>between</a:t>
            </a:r>
            <a:r>
              <a:rPr sz="1800" spc="-70" dirty="0">
                <a:latin typeface="Times New Roman"/>
                <a:cs typeface="Times New Roman"/>
              </a:rPr>
              <a:t> </a:t>
            </a:r>
            <a:r>
              <a:rPr sz="1800" dirty="0">
                <a:latin typeface="Aptos"/>
                <a:cs typeface="Aptos"/>
              </a:rPr>
              <a:t>Internet</a:t>
            </a:r>
            <a:r>
              <a:rPr sz="1800" spc="-75" dirty="0">
                <a:latin typeface="Times New Roman"/>
                <a:cs typeface="Times New Roman"/>
              </a:rPr>
              <a:t> </a:t>
            </a:r>
            <a:r>
              <a:rPr sz="1800" spc="-10" dirty="0">
                <a:latin typeface="Aptos"/>
                <a:cs typeface="Aptos"/>
              </a:rPr>
              <a:t>Intranet</a:t>
            </a:r>
            <a:r>
              <a:rPr sz="1800" spc="-80" dirty="0">
                <a:latin typeface="Times New Roman"/>
                <a:cs typeface="Times New Roman"/>
              </a:rPr>
              <a:t> </a:t>
            </a:r>
            <a:r>
              <a:rPr sz="1800" dirty="0">
                <a:latin typeface="Aptos"/>
                <a:cs typeface="Aptos"/>
              </a:rPr>
              <a:t>and</a:t>
            </a:r>
            <a:r>
              <a:rPr sz="1800" spc="-80" dirty="0">
                <a:latin typeface="Times New Roman"/>
                <a:cs typeface="Times New Roman"/>
              </a:rPr>
              <a:t> </a:t>
            </a:r>
            <a:r>
              <a:rPr sz="1800" spc="-10" dirty="0">
                <a:latin typeface="Aptos"/>
                <a:cs typeface="Aptos"/>
              </a:rPr>
              <a:t>Extranet</a:t>
            </a:r>
            <a:endParaRPr sz="1800">
              <a:latin typeface="Aptos"/>
              <a:cs typeface="Apto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473845"/>
            <a:ext cx="10358755" cy="5142230"/>
          </a:xfrm>
          <a:prstGeom prst="rect">
            <a:avLst/>
          </a:prstGeom>
        </p:spPr>
        <p:txBody>
          <a:bodyPr vert="horz" wrap="square" lIns="0" tIns="95885" rIns="0" bIns="0" rtlCol="0">
            <a:spAutoFit/>
          </a:bodyPr>
          <a:lstStyle/>
          <a:p>
            <a:pPr marL="12700" algn="just">
              <a:lnSpc>
                <a:spcPct val="100000"/>
              </a:lnSpc>
              <a:spcBef>
                <a:spcPts val="755"/>
              </a:spcBef>
            </a:pPr>
            <a:r>
              <a:rPr sz="2800" b="1" dirty="0">
                <a:latin typeface="Aptos"/>
                <a:cs typeface="Aptos"/>
              </a:rPr>
              <a:t>2</a:t>
            </a:r>
            <a:r>
              <a:rPr sz="2800" spc="-125" dirty="0">
                <a:latin typeface="Times New Roman"/>
                <a:cs typeface="Times New Roman"/>
              </a:rPr>
              <a:t> </a:t>
            </a:r>
            <a:r>
              <a:rPr sz="2800" b="1" dirty="0">
                <a:latin typeface="Aptos"/>
                <a:cs typeface="Aptos"/>
              </a:rPr>
              <a:t>)</a:t>
            </a:r>
            <a:r>
              <a:rPr sz="2800" spc="-125" dirty="0">
                <a:latin typeface="Times New Roman"/>
                <a:cs typeface="Times New Roman"/>
              </a:rPr>
              <a:t> </a:t>
            </a:r>
            <a:r>
              <a:rPr sz="2800" b="1" dirty="0">
                <a:latin typeface="Aptos"/>
                <a:cs typeface="Aptos"/>
              </a:rPr>
              <a:t>On</a:t>
            </a:r>
            <a:r>
              <a:rPr sz="2800" spc="-150" dirty="0">
                <a:latin typeface="Times New Roman"/>
                <a:cs typeface="Times New Roman"/>
              </a:rPr>
              <a:t> </a:t>
            </a:r>
            <a:r>
              <a:rPr sz="2800" b="1" dirty="0">
                <a:latin typeface="Aptos"/>
                <a:cs typeface="Aptos"/>
              </a:rPr>
              <a:t>the</a:t>
            </a:r>
            <a:r>
              <a:rPr sz="2800" spc="-105" dirty="0">
                <a:latin typeface="Times New Roman"/>
                <a:cs typeface="Times New Roman"/>
              </a:rPr>
              <a:t> </a:t>
            </a:r>
            <a:r>
              <a:rPr sz="2800" b="1" spc="-10" dirty="0">
                <a:latin typeface="Aptos"/>
                <a:cs typeface="Aptos"/>
              </a:rPr>
              <a:t>basis</a:t>
            </a:r>
            <a:r>
              <a:rPr sz="2800" spc="-160" dirty="0">
                <a:latin typeface="Times New Roman"/>
                <a:cs typeface="Times New Roman"/>
              </a:rPr>
              <a:t> </a:t>
            </a:r>
            <a:r>
              <a:rPr sz="2800" b="1" dirty="0">
                <a:latin typeface="Aptos"/>
                <a:cs typeface="Aptos"/>
              </a:rPr>
              <a:t>of</a:t>
            </a:r>
            <a:r>
              <a:rPr sz="2800" spc="-130" dirty="0">
                <a:latin typeface="Times New Roman"/>
                <a:cs typeface="Times New Roman"/>
              </a:rPr>
              <a:t> </a:t>
            </a:r>
            <a:r>
              <a:rPr sz="2800" b="1" spc="-20" dirty="0">
                <a:latin typeface="Aptos"/>
                <a:cs typeface="Aptos"/>
              </a:rPr>
              <a:t>Network</a:t>
            </a:r>
            <a:r>
              <a:rPr sz="2800" spc="-145" dirty="0">
                <a:latin typeface="Times New Roman"/>
                <a:cs typeface="Times New Roman"/>
              </a:rPr>
              <a:t> </a:t>
            </a:r>
            <a:r>
              <a:rPr sz="2800" b="1" spc="-10" dirty="0">
                <a:latin typeface="Aptos"/>
                <a:cs typeface="Aptos"/>
              </a:rPr>
              <a:t>Architecture</a:t>
            </a:r>
            <a:endParaRPr sz="2800">
              <a:latin typeface="Aptos"/>
              <a:cs typeface="Aptos"/>
            </a:endParaRPr>
          </a:p>
          <a:p>
            <a:pPr marL="240665" marR="5715" indent="-228600" algn="just">
              <a:lnSpc>
                <a:spcPct val="90000"/>
              </a:lnSpc>
              <a:spcBef>
                <a:spcPts val="994"/>
              </a:spcBef>
              <a:buSzPct val="96428"/>
              <a:buFont typeface="Wingdings"/>
              <a:buChar char=""/>
              <a:tabLst>
                <a:tab pos="295910" algn="l"/>
              </a:tabLst>
            </a:pPr>
            <a:r>
              <a:rPr sz="2800" dirty="0">
                <a:latin typeface="Aptos"/>
                <a:cs typeface="Aptos"/>
              </a:rPr>
              <a:t>Network</a:t>
            </a:r>
            <a:r>
              <a:rPr sz="2800" spc="245" dirty="0">
                <a:latin typeface="Times New Roman"/>
                <a:cs typeface="Times New Roman"/>
              </a:rPr>
              <a:t> </a:t>
            </a:r>
            <a:r>
              <a:rPr sz="2800" dirty="0">
                <a:latin typeface="Aptos"/>
                <a:cs typeface="Aptos"/>
              </a:rPr>
              <a:t>architecture</a:t>
            </a:r>
            <a:r>
              <a:rPr sz="2800" spc="254" dirty="0">
                <a:latin typeface="Times New Roman"/>
                <a:cs typeface="Times New Roman"/>
              </a:rPr>
              <a:t> </a:t>
            </a:r>
            <a:r>
              <a:rPr sz="2800" dirty="0">
                <a:latin typeface="Aptos"/>
                <a:cs typeface="Aptos"/>
              </a:rPr>
              <a:t>refers</a:t>
            </a:r>
            <a:r>
              <a:rPr sz="2800" spc="250" dirty="0">
                <a:latin typeface="Times New Roman"/>
                <a:cs typeface="Times New Roman"/>
              </a:rPr>
              <a:t> </a:t>
            </a:r>
            <a:r>
              <a:rPr sz="2800" dirty="0">
                <a:latin typeface="Aptos"/>
                <a:cs typeface="Aptos"/>
              </a:rPr>
              <a:t>to</a:t>
            </a:r>
            <a:r>
              <a:rPr sz="2800" spc="250" dirty="0">
                <a:latin typeface="Times New Roman"/>
                <a:cs typeface="Times New Roman"/>
              </a:rPr>
              <a:t> </a:t>
            </a:r>
            <a:r>
              <a:rPr sz="2800" dirty="0">
                <a:latin typeface="Aptos"/>
                <a:cs typeface="Aptos"/>
              </a:rPr>
              <a:t>the</a:t>
            </a:r>
            <a:r>
              <a:rPr sz="2800" spc="265" dirty="0">
                <a:latin typeface="Times New Roman"/>
                <a:cs typeface="Times New Roman"/>
              </a:rPr>
              <a:t> </a:t>
            </a:r>
            <a:r>
              <a:rPr sz="2800" dirty="0">
                <a:latin typeface="Aptos"/>
                <a:cs typeface="Aptos"/>
              </a:rPr>
              <a:t>various</a:t>
            </a:r>
            <a:r>
              <a:rPr sz="2800" spc="250" dirty="0">
                <a:latin typeface="Times New Roman"/>
                <a:cs typeface="Times New Roman"/>
              </a:rPr>
              <a:t> </a:t>
            </a:r>
            <a:r>
              <a:rPr sz="2800" dirty="0">
                <a:latin typeface="Aptos"/>
                <a:cs typeface="Aptos"/>
              </a:rPr>
              <a:t>services</a:t>
            </a:r>
            <a:r>
              <a:rPr sz="2800" spc="250" dirty="0">
                <a:latin typeface="Times New Roman"/>
                <a:cs typeface="Times New Roman"/>
              </a:rPr>
              <a:t> </a:t>
            </a:r>
            <a:r>
              <a:rPr sz="2800" dirty="0">
                <a:latin typeface="Aptos"/>
                <a:cs typeface="Aptos"/>
              </a:rPr>
              <a:t>provided</a:t>
            </a:r>
            <a:r>
              <a:rPr sz="2800" spc="260" dirty="0">
                <a:latin typeface="Times New Roman"/>
                <a:cs typeface="Times New Roman"/>
              </a:rPr>
              <a:t> </a:t>
            </a:r>
            <a:r>
              <a:rPr sz="2800" spc="-25" dirty="0">
                <a:latin typeface="Aptos"/>
                <a:cs typeface="Aptos"/>
              </a:rPr>
              <a:t>by</a:t>
            </a:r>
            <a:r>
              <a:rPr sz="2800" spc="-25" dirty="0">
                <a:latin typeface="Times New Roman"/>
                <a:cs typeface="Times New Roman"/>
              </a:rPr>
              <a:t> </a:t>
            </a:r>
            <a:r>
              <a:rPr sz="2800" dirty="0">
                <a:latin typeface="Aptos"/>
                <a:cs typeface="Aptos"/>
              </a:rPr>
              <a:t>the</a:t>
            </a:r>
            <a:r>
              <a:rPr sz="2800" spc="175" dirty="0">
                <a:latin typeface="Times New Roman"/>
                <a:cs typeface="Times New Roman"/>
              </a:rPr>
              <a:t> </a:t>
            </a:r>
            <a:r>
              <a:rPr sz="2800" dirty="0">
                <a:latin typeface="Aptos"/>
                <a:cs typeface="Aptos"/>
              </a:rPr>
              <a:t>network</a:t>
            </a:r>
            <a:r>
              <a:rPr sz="2800" spc="185" dirty="0">
                <a:latin typeface="Times New Roman"/>
                <a:cs typeface="Times New Roman"/>
              </a:rPr>
              <a:t> </a:t>
            </a:r>
            <a:r>
              <a:rPr sz="2800" dirty="0">
                <a:latin typeface="Aptos"/>
                <a:cs typeface="Aptos"/>
              </a:rPr>
              <a:t>and</a:t>
            </a:r>
            <a:r>
              <a:rPr sz="2800" spc="185" dirty="0">
                <a:latin typeface="Times New Roman"/>
                <a:cs typeface="Times New Roman"/>
              </a:rPr>
              <a:t> </a:t>
            </a:r>
            <a:r>
              <a:rPr sz="2800" dirty="0">
                <a:latin typeface="Aptos"/>
                <a:cs typeface="Aptos"/>
              </a:rPr>
              <a:t>it</a:t>
            </a:r>
            <a:r>
              <a:rPr sz="2800" spc="185" dirty="0">
                <a:latin typeface="Times New Roman"/>
                <a:cs typeface="Times New Roman"/>
              </a:rPr>
              <a:t> </a:t>
            </a:r>
            <a:r>
              <a:rPr sz="2800" dirty="0">
                <a:latin typeface="Aptos"/>
                <a:cs typeface="Aptos"/>
              </a:rPr>
              <a:t>also</a:t>
            </a:r>
            <a:r>
              <a:rPr sz="2800" spc="200" dirty="0">
                <a:latin typeface="Times New Roman"/>
                <a:cs typeface="Times New Roman"/>
              </a:rPr>
              <a:t> </a:t>
            </a:r>
            <a:r>
              <a:rPr sz="2800" dirty="0">
                <a:latin typeface="Aptos"/>
                <a:cs typeface="Aptos"/>
              </a:rPr>
              <a:t>deals</a:t>
            </a:r>
            <a:r>
              <a:rPr sz="2800" spc="185" dirty="0">
                <a:latin typeface="Times New Roman"/>
                <a:cs typeface="Times New Roman"/>
              </a:rPr>
              <a:t> </a:t>
            </a:r>
            <a:r>
              <a:rPr sz="2800" dirty="0">
                <a:latin typeface="Aptos"/>
                <a:cs typeface="Aptos"/>
              </a:rPr>
              <a:t>with</a:t>
            </a:r>
            <a:r>
              <a:rPr sz="2800" spc="175" dirty="0">
                <a:latin typeface="Times New Roman"/>
                <a:cs typeface="Times New Roman"/>
              </a:rPr>
              <a:t> </a:t>
            </a:r>
            <a:r>
              <a:rPr sz="2800" dirty="0">
                <a:latin typeface="Aptos"/>
                <a:cs typeface="Aptos"/>
              </a:rPr>
              <a:t>how</a:t>
            </a:r>
            <a:r>
              <a:rPr sz="2800" spc="185" dirty="0">
                <a:latin typeface="Times New Roman"/>
                <a:cs typeface="Times New Roman"/>
              </a:rPr>
              <a:t> </a:t>
            </a:r>
            <a:r>
              <a:rPr sz="2800" dirty="0">
                <a:latin typeface="Aptos"/>
                <a:cs typeface="Aptos"/>
              </a:rPr>
              <a:t>data</a:t>
            </a:r>
            <a:r>
              <a:rPr sz="2800" spc="180" dirty="0">
                <a:latin typeface="Times New Roman"/>
                <a:cs typeface="Times New Roman"/>
              </a:rPr>
              <a:t> </a:t>
            </a:r>
            <a:r>
              <a:rPr sz="2800" dirty="0">
                <a:latin typeface="Aptos"/>
                <a:cs typeface="Aptos"/>
              </a:rPr>
              <a:t>is</a:t>
            </a:r>
            <a:r>
              <a:rPr sz="2800" spc="185" dirty="0">
                <a:latin typeface="Times New Roman"/>
                <a:cs typeface="Times New Roman"/>
              </a:rPr>
              <a:t> </a:t>
            </a:r>
            <a:r>
              <a:rPr sz="2800" dirty="0">
                <a:latin typeface="Aptos"/>
                <a:cs typeface="Aptos"/>
              </a:rPr>
              <a:t>transmitted</a:t>
            </a:r>
            <a:r>
              <a:rPr sz="2800" spc="175" dirty="0">
                <a:latin typeface="Times New Roman"/>
                <a:cs typeface="Times New Roman"/>
              </a:rPr>
              <a:t> </a:t>
            </a:r>
            <a:r>
              <a:rPr sz="2800" spc="-20" dirty="0">
                <a:latin typeface="Aptos"/>
                <a:cs typeface="Aptos"/>
              </a:rPr>
              <a:t>from</a:t>
            </a:r>
            <a:r>
              <a:rPr sz="2800" spc="-20" dirty="0">
                <a:latin typeface="Times New Roman"/>
                <a:cs typeface="Times New Roman"/>
              </a:rPr>
              <a:t> </a:t>
            </a:r>
            <a:r>
              <a:rPr sz="2800" dirty="0">
                <a:latin typeface="Aptos"/>
                <a:cs typeface="Aptos"/>
              </a:rPr>
              <a:t>one</a:t>
            </a:r>
            <a:r>
              <a:rPr sz="2800" spc="415" dirty="0">
                <a:latin typeface="Times New Roman"/>
                <a:cs typeface="Times New Roman"/>
              </a:rPr>
              <a:t> </a:t>
            </a:r>
            <a:r>
              <a:rPr sz="2800" dirty="0">
                <a:latin typeface="Aptos"/>
                <a:cs typeface="Aptos"/>
              </a:rPr>
              <a:t>computer</a:t>
            </a:r>
            <a:r>
              <a:rPr sz="2800" spc="400" dirty="0">
                <a:latin typeface="Times New Roman"/>
                <a:cs typeface="Times New Roman"/>
              </a:rPr>
              <a:t> </a:t>
            </a:r>
            <a:r>
              <a:rPr sz="2800" dirty="0">
                <a:latin typeface="Aptos"/>
                <a:cs typeface="Aptos"/>
              </a:rPr>
              <a:t>to</a:t>
            </a:r>
            <a:r>
              <a:rPr sz="2800" spc="430" dirty="0">
                <a:latin typeface="Times New Roman"/>
                <a:cs typeface="Times New Roman"/>
              </a:rPr>
              <a:t> </a:t>
            </a:r>
            <a:r>
              <a:rPr sz="2800" dirty="0">
                <a:latin typeface="Aptos"/>
                <a:cs typeface="Aptos"/>
              </a:rPr>
              <a:t>others.</a:t>
            </a:r>
            <a:r>
              <a:rPr sz="2800" spc="405" dirty="0">
                <a:latin typeface="Times New Roman"/>
                <a:cs typeface="Times New Roman"/>
              </a:rPr>
              <a:t> </a:t>
            </a:r>
            <a:r>
              <a:rPr sz="2800" dirty="0">
                <a:latin typeface="Aptos"/>
                <a:cs typeface="Aptos"/>
              </a:rPr>
              <a:t>On</a:t>
            </a:r>
            <a:r>
              <a:rPr sz="2800" spc="395" dirty="0">
                <a:latin typeface="Times New Roman"/>
                <a:cs typeface="Times New Roman"/>
              </a:rPr>
              <a:t> </a:t>
            </a:r>
            <a:r>
              <a:rPr sz="2800" dirty="0">
                <a:latin typeface="Aptos"/>
                <a:cs typeface="Aptos"/>
              </a:rPr>
              <a:t>the</a:t>
            </a:r>
            <a:r>
              <a:rPr sz="2800" spc="409" dirty="0">
                <a:latin typeface="Times New Roman"/>
                <a:cs typeface="Times New Roman"/>
              </a:rPr>
              <a:t> </a:t>
            </a:r>
            <a:r>
              <a:rPr sz="2800" dirty="0">
                <a:latin typeface="Aptos"/>
                <a:cs typeface="Aptos"/>
              </a:rPr>
              <a:t>basis</a:t>
            </a:r>
            <a:r>
              <a:rPr sz="2800" spc="405" dirty="0">
                <a:latin typeface="Times New Roman"/>
                <a:cs typeface="Times New Roman"/>
              </a:rPr>
              <a:t> </a:t>
            </a:r>
            <a:r>
              <a:rPr sz="2800" dirty="0">
                <a:latin typeface="Aptos"/>
                <a:cs typeface="Aptos"/>
              </a:rPr>
              <a:t>of</a:t>
            </a:r>
            <a:r>
              <a:rPr sz="2800" spc="400" dirty="0">
                <a:latin typeface="Times New Roman"/>
                <a:cs typeface="Times New Roman"/>
              </a:rPr>
              <a:t> </a:t>
            </a:r>
            <a:r>
              <a:rPr sz="2800" dirty="0">
                <a:latin typeface="Aptos"/>
                <a:cs typeface="Aptos"/>
              </a:rPr>
              <a:t>network</a:t>
            </a:r>
            <a:r>
              <a:rPr sz="2800" spc="405" dirty="0">
                <a:latin typeface="Times New Roman"/>
                <a:cs typeface="Times New Roman"/>
              </a:rPr>
              <a:t> </a:t>
            </a:r>
            <a:r>
              <a:rPr sz="2800" spc="-10" dirty="0">
                <a:latin typeface="Aptos"/>
                <a:cs typeface="Aptos"/>
              </a:rPr>
              <a:t>architecture,</a:t>
            </a:r>
            <a:r>
              <a:rPr sz="2800" spc="-10" dirty="0">
                <a:latin typeface="Times New Roman"/>
                <a:cs typeface="Times New Roman"/>
              </a:rPr>
              <a:t> </a:t>
            </a:r>
            <a:r>
              <a:rPr sz="2800" spc="-20" dirty="0">
                <a:latin typeface="Aptos"/>
                <a:cs typeface="Aptos"/>
              </a:rPr>
              <a:t>computer</a:t>
            </a:r>
            <a:r>
              <a:rPr sz="2800" spc="-135" dirty="0">
                <a:latin typeface="Times New Roman"/>
                <a:cs typeface="Times New Roman"/>
              </a:rPr>
              <a:t> </a:t>
            </a:r>
            <a:r>
              <a:rPr sz="2800" spc="-25" dirty="0">
                <a:latin typeface="Aptos"/>
                <a:cs typeface="Aptos"/>
              </a:rPr>
              <a:t>networks</a:t>
            </a:r>
            <a:r>
              <a:rPr sz="2800" spc="-125" dirty="0">
                <a:latin typeface="Times New Roman"/>
                <a:cs typeface="Times New Roman"/>
              </a:rPr>
              <a:t> </a:t>
            </a:r>
            <a:r>
              <a:rPr sz="2800" spc="-20" dirty="0">
                <a:latin typeface="Aptos"/>
                <a:cs typeface="Aptos"/>
              </a:rPr>
              <a:t>are</a:t>
            </a:r>
            <a:r>
              <a:rPr sz="2800" spc="-130" dirty="0">
                <a:latin typeface="Times New Roman"/>
                <a:cs typeface="Times New Roman"/>
              </a:rPr>
              <a:t> </a:t>
            </a:r>
            <a:r>
              <a:rPr sz="2800" spc="-10" dirty="0">
                <a:latin typeface="Aptos"/>
                <a:cs typeface="Aptos"/>
              </a:rPr>
              <a:t>classified</a:t>
            </a:r>
            <a:r>
              <a:rPr sz="2800" spc="-135" dirty="0">
                <a:latin typeface="Times New Roman"/>
                <a:cs typeface="Times New Roman"/>
              </a:rPr>
              <a:t> </a:t>
            </a:r>
            <a:r>
              <a:rPr sz="2800" spc="-10" dirty="0">
                <a:latin typeface="Aptos"/>
                <a:cs typeface="Aptos"/>
              </a:rPr>
              <a:t>into</a:t>
            </a:r>
            <a:r>
              <a:rPr sz="2800" spc="-125" dirty="0">
                <a:latin typeface="Times New Roman"/>
                <a:cs typeface="Times New Roman"/>
              </a:rPr>
              <a:t> </a:t>
            </a:r>
            <a:r>
              <a:rPr sz="2800" spc="-20" dirty="0">
                <a:latin typeface="Aptos"/>
                <a:cs typeface="Aptos"/>
              </a:rPr>
              <a:t>two</a:t>
            </a:r>
            <a:r>
              <a:rPr sz="2800" spc="-140" dirty="0">
                <a:latin typeface="Times New Roman"/>
                <a:cs typeface="Times New Roman"/>
              </a:rPr>
              <a:t> </a:t>
            </a:r>
            <a:r>
              <a:rPr sz="2800" spc="-10" dirty="0">
                <a:latin typeface="Aptos"/>
                <a:cs typeface="Aptos"/>
              </a:rPr>
              <a:t>types:</a:t>
            </a:r>
            <a:endParaRPr sz="2800">
              <a:latin typeface="Aptos"/>
              <a:cs typeface="Aptos"/>
            </a:endParaRPr>
          </a:p>
          <a:p>
            <a:pPr marL="12700" algn="just">
              <a:lnSpc>
                <a:spcPct val="100000"/>
              </a:lnSpc>
              <a:spcBef>
                <a:spcPts val="675"/>
              </a:spcBef>
            </a:pPr>
            <a:r>
              <a:rPr sz="2800" b="1" dirty="0">
                <a:latin typeface="Aptos"/>
                <a:cs typeface="Aptos"/>
              </a:rPr>
              <a:t>I</a:t>
            </a:r>
            <a:r>
              <a:rPr sz="2800" spc="-125" dirty="0">
                <a:latin typeface="Times New Roman"/>
                <a:cs typeface="Times New Roman"/>
              </a:rPr>
              <a:t> </a:t>
            </a:r>
            <a:r>
              <a:rPr sz="2800" b="1" dirty="0">
                <a:latin typeface="Aptos"/>
                <a:cs typeface="Aptos"/>
              </a:rPr>
              <a:t>)</a:t>
            </a:r>
            <a:r>
              <a:rPr sz="2800" spc="-100" dirty="0">
                <a:latin typeface="Times New Roman"/>
                <a:cs typeface="Times New Roman"/>
              </a:rPr>
              <a:t> </a:t>
            </a:r>
            <a:r>
              <a:rPr sz="2800" b="1" spc="-10" dirty="0">
                <a:latin typeface="Aptos"/>
                <a:cs typeface="Aptos"/>
              </a:rPr>
              <a:t>Client</a:t>
            </a:r>
            <a:r>
              <a:rPr sz="2800" spc="-130" dirty="0">
                <a:latin typeface="Times New Roman"/>
                <a:cs typeface="Times New Roman"/>
              </a:rPr>
              <a:t> </a:t>
            </a:r>
            <a:r>
              <a:rPr sz="2800" b="1" spc="-10" dirty="0">
                <a:latin typeface="Aptos"/>
                <a:cs typeface="Aptos"/>
              </a:rPr>
              <a:t>Server</a:t>
            </a:r>
            <a:r>
              <a:rPr sz="2800" spc="-140" dirty="0">
                <a:latin typeface="Times New Roman"/>
                <a:cs typeface="Times New Roman"/>
              </a:rPr>
              <a:t> </a:t>
            </a:r>
            <a:r>
              <a:rPr sz="2800" b="1" spc="-20" dirty="0">
                <a:latin typeface="Aptos"/>
                <a:cs typeface="Aptos"/>
              </a:rPr>
              <a:t>Network</a:t>
            </a:r>
            <a:r>
              <a:rPr sz="2800" spc="-125" dirty="0">
                <a:latin typeface="Times New Roman"/>
                <a:cs typeface="Times New Roman"/>
              </a:rPr>
              <a:t> </a:t>
            </a:r>
            <a:r>
              <a:rPr sz="2800" b="1" spc="-10" dirty="0">
                <a:latin typeface="Aptos"/>
                <a:cs typeface="Aptos"/>
              </a:rPr>
              <a:t>Architecture</a:t>
            </a:r>
            <a:endParaRPr sz="2800">
              <a:latin typeface="Aptos"/>
              <a:cs typeface="Aptos"/>
            </a:endParaRPr>
          </a:p>
          <a:p>
            <a:pPr marL="241300" marR="5080" indent="-228600" algn="just">
              <a:lnSpc>
                <a:spcPct val="90000"/>
              </a:lnSpc>
              <a:spcBef>
                <a:spcPts val="1000"/>
              </a:spcBef>
              <a:buSzPct val="96428"/>
              <a:buFont typeface="Wingdings"/>
              <a:buChar char=""/>
              <a:tabLst>
                <a:tab pos="295910" algn="l"/>
              </a:tabLst>
            </a:pPr>
            <a:r>
              <a:rPr sz="2800" dirty="0">
                <a:latin typeface="Aptos"/>
                <a:cs typeface="Aptos"/>
              </a:rPr>
              <a:t>A</a:t>
            </a:r>
            <a:r>
              <a:rPr sz="2800" spc="170" dirty="0">
                <a:latin typeface="Times New Roman"/>
                <a:cs typeface="Times New Roman"/>
              </a:rPr>
              <a:t> </a:t>
            </a:r>
            <a:r>
              <a:rPr sz="2800" spc="-25" dirty="0">
                <a:latin typeface="Aptos"/>
                <a:cs typeface="Aptos"/>
              </a:rPr>
              <a:t>client-</a:t>
            </a:r>
            <a:r>
              <a:rPr sz="2800" dirty="0">
                <a:latin typeface="Aptos"/>
                <a:cs typeface="Aptos"/>
              </a:rPr>
              <a:t>server</a:t>
            </a:r>
            <a:r>
              <a:rPr sz="2800" spc="175" dirty="0">
                <a:latin typeface="Times New Roman"/>
                <a:cs typeface="Times New Roman"/>
              </a:rPr>
              <a:t> </a:t>
            </a:r>
            <a:r>
              <a:rPr sz="2800" dirty="0">
                <a:latin typeface="Aptos"/>
                <a:cs typeface="Aptos"/>
              </a:rPr>
              <a:t>network</a:t>
            </a:r>
            <a:r>
              <a:rPr sz="2800" spc="150" dirty="0">
                <a:latin typeface="Times New Roman"/>
                <a:cs typeface="Times New Roman"/>
              </a:rPr>
              <a:t> </a:t>
            </a:r>
            <a:r>
              <a:rPr sz="2800" dirty="0">
                <a:latin typeface="Aptos"/>
                <a:cs typeface="Aptos"/>
              </a:rPr>
              <a:t>is</a:t>
            </a:r>
            <a:r>
              <a:rPr sz="2800" spc="165" dirty="0">
                <a:latin typeface="Times New Roman"/>
                <a:cs typeface="Times New Roman"/>
              </a:rPr>
              <a:t> </a:t>
            </a:r>
            <a:r>
              <a:rPr sz="2800" dirty="0">
                <a:latin typeface="Aptos"/>
                <a:cs typeface="Aptos"/>
              </a:rPr>
              <a:t>a</a:t>
            </a:r>
            <a:r>
              <a:rPr sz="2800" spc="190" dirty="0">
                <a:latin typeface="Times New Roman"/>
                <a:cs typeface="Times New Roman"/>
              </a:rPr>
              <a:t> </a:t>
            </a:r>
            <a:r>
              <a:rPr sz="2800" dirty="0">
                <a:latin typeface="Aptos"/>
                <a:cs typeface="Aptos"/>
              </a:rPr>
              <a:t>type</a:t>
            </a:r>
            <a:r>
              <a:rPr sz="2800" spc="170" dirty="0">
                <a:latin typeface="Times New Roman"/>
                <a:cs typeface="Times New Roman"/>
              </a:rPr>
              <a:t> </a:t>
            </a:r>
            <a:r>
              <a:rPr sz="2800" dirty="0">
                <a:latin typeface="Aptos"/>
                <a:cs typeface="Aptos"/>
              </a:rPr>
              <a:t>of</a:t>
            </a:r>
            <a:r>
              <a:rPr sz="2800" spc="160" dirty="0">
                <a:latin typeface="Times New Roman"/>
                <a:cs typeface="Times New Roman"/>
              </a:rPr>
              <a:t> </a:t>
            </a:r>
            <a:r>
              <a:rPr sz="2800" dirty="0">
                <a:latin typeface="Aptos"/>
                <a:cs typeface="Aptos"/>
              </a:rPr>
              <a:t>internet</a:t>
            </a:r>
            <a:r>
              <a:rPr sz="2800" spc="170" dirty="0">
                <a:latin typeface="Times New Roman"/>
                <a:cs typeface="Times New Roman"/>
              </a:rPr>
              <a:t> </a:t>
            </a:r>
            <a:r>
              <a:rPr sz="2800" dirty="0">
                <a:latin typeface="Aptos"/>
                <a:cs typeface="Aptos"/>
              </a:rPr>
              <a:t>network</a:t>
            </a:r>
            <a:r>
              <a:rPr sz="2800" spc="165" dirty="0">
                <a:latin typeface="Times New Roman"/>
                <a:cs typeface="Times New Roman"/>
              </a:rPr>
              <a:t> </a:t>
            </a:r>
            <a:r>
              <a:rPr sz="2800" dirty="0">
                <a:latin typeface="Aptos"/>
                <a:cs typeface="Aptos"/>
              </a:rPr>
              <a:t>that</a:t>
            </a:r>
            <a:r>
              <a:rPr sz="2800" spc="175" dirty="0">
                <a:latin typeface="Times New Roman"/>
                <a:cs typeface="Times New Roman"/>
              </a:rPr>
              <a:t> </a:t>
            </a:r>
            <a:r>
              <a:rPr sz="2800" dirty="0">
                <a:latin typeface="Aptos"/>
                <a:cs typeface="Aptos"/>
              </a:rPr>
              <a:t>uses</a:t>
            </a:r>
            <a:r>
              <a:rPr sz="2800" spc="160" dirty="0">
                <a:latin typeface="Times New Roman"/>
                <a:cs typeface="Times New Roman"/>
              </a:rPr>
              <a:t> </a:t>
            </a:r>
            <a:r>
              <a:rPr sz="2800" spc="-50" dirty="0">
                <a:latin typeface="Aptos"/>
                <a:cs typeface="Aptos"/>
              </a:rPr>
              <a:t>a</a:t>
            </a:r>
            <a:r>
              <a:rPr sz="2800" spc="-50" dirty="0">
                <a:latin typeface="Times New Roman"/>
                <a:cs typeface="Times New Roman"/>
              </a:rPr>
              <a:t> </a:t>
            </a:r>
            <a:r>
              <a:rPr sz="2800" dirty="0">
                <a:latin typeface="Aptos"/>
                <a:cs typeface="Aptos"/>
              </a:rPr>
              <a:t>central</a:t>
            </a:r>
            <a:r>
              <a:rPr sz="2800" spc="440" dirty="0">
                <a:latin typeface="Times New Roman"/>
                <a:cs typeface="Times New Roman"/>
              </a:rPr>
              <a:t> </a:t>
            </a:r>
            <a:r>
              <a:rPr sz="2800" dirty="0">
                <a:latin typeface="Aptos"/>
                <a:cs typeface="Aptos"/>
              </a:rPr>
              <a:t>computer,</a:t>
            </a:r>
            <a:r>
              <a:rPr sz="2800" spc="445" dirty="0">
                <a:latin typeface="Times New Roman"/>
                <a:cs typeface="Times New Roman"/>
              </a:rPr>
              <a:t> </a:t>
            </a:r>
            <a:r>
              <a:rPr sz="2800" dirty="0">
                <a:latin typeface="Aptos"/>
                <a:cs typeface="Aptos"/>
              </a:rPr>
              <a:t>called</a:t>
            </a:r>
            <a:r>
              <a:rPr sz="2800" spc="445" dirty="0">
                <a:latin typeface="Times New Roman"/>
                <a:cs typeface="Times New Roman"/>
              </a:rPr>
              <a:t> </a:t>
            </a:r>
            <a:r>
              <a:rPr sz="2800" dirty="0">
                <a:latin typeface="Aptos"/>
                <a:cs typeface="Aptos"/>
              </a:rPr>
              <a:t>the</a:t>
            </a:r>
            <a:r>
              <a:rPr sz="2800" spc="434" dirty="0">
                <a:latin typeface="Times New Roman"/>
                <a:cs typeface="Times New Roman"/>
              </a:rPr>
              <a:t> </a:t>
            </a:r>
            <a:r>
              <a:rPr sz="2800" dirty="0">
                <a:latin typeface="Aptos"/>
                <a:cs typeface="Aptos"/>
              </a:rPr>
              <a:t>server,</a:t>
            </a:r>
            <a:r>
              <a:rPr sz="2800" spc="450" dirty="0">
                <a:latin typeface="Times New Roman"/>
                <a:cs typeface="Times New Roman"/>
              </a:rPr>
              <a:t> </a:t>
            </a:r>
            <a:r>
              <a:rPr sz="2800" dirty="0">
                <a:latin typeface="Aptos"/>
                <a:cs typeface="Aptos"/>
              </a:rPr>
              <a:t>to</a:t>
            </a:r>
            <a:r>
              <a:rPr sz="2800" spc="440" dirty="0">
                <a:latin typeface="Times New Roman"/>
                <a:cs typeface="Times New Roman"/>
              </a:rPr>
              <a:t> </a:t>
            </a:r>
            <a:r>
              <a:rPr sz="2800" dirty="0">
                <a:latin typeface="Aptos"/>
                <a:cs typeface="Aptos"/>
              </a:rPr>
              <a:t>manage</a:t>
            </a:r>
            <a:r>
              <a:rPr sz="2800" spc="434" dirty="0">
                <a:latin typeface="Times New Roman"/>
                <a:cs typeface="Times New Roman"/>
              </a:rPr>
              <a:t> </a:t>
            </a:r>
            <a:r>
              <a:rPr sz="2800" dirty="0">
                <a:latin typeface="Aptos"/>
                <a:cs typeface="Aptos"/>
              </a:rPr>
              <a:t>resources</a:t>
            </a:r>
            <a:r>
              <a:rPr sz="2800" spc="430" dirty="0">
                <a:latin typeface="Times New Roman"/>
                <a:cs typeface="Times New Roman"/>
              </a:rPr>
              <a:t> </a:t>
            </a:r>
            <a:r>
              <a:rPr sz="2800" spc="-25" dirty="0">
                <a:latin typeface="Aptos"/>
                <a:cs typeface="Aptos"/>
              </a:rPr>
              <a:t>and</a:t>
            </a:r>
            <a:r>
              <a:rPr sz="2800" spc="-25" dirty="0">
                <a:latin typeface="Times New Roman"/>
                <a:cs typeface="Times New Roman"/>
              </a:rPr>
              <a:t> </a:t>
            </a:r>
            <a:r>
              <a:rPr sz="2800" dirty="0">
                <a:latin typeface="Aptos"/>
                <a:cs typeface="Aptos"/>
              </a:rPr>
              <a:t>control</a:t>
            </a:r>
            <a:r>
              <a:rPr sz="2800" spc="40" dirty="0">
                <a:latin typeface="Times New Roman"/>
                <a:cs typeface="Times New Roman"/>
              </a:rPr>
              <a:t> </a:t>
            </a:r>
            <a:r>
              <a:rPr sz="2800" dirty="0">
                <a:latin typeface="Aptos"/>
                <a:cs typeface="Aptos"/>
              </a:rPr>
              <a:t>user</a:t>
            </a:r>
            <a:r>
              <a:rPr sz="2800" spc="55" dirty="0">
                <a:latin typeface="Times New Roman"/>
                <a:cs typeface="Times New Roman"/>
              </a:rPr>
              <a:t> </a:t>
            </a:r>
            <a:r>
              <a:rPr sz="2800" dirty="0">
                <a:latin typeface="Aptos"/>
                <a:cs typeface="Aptos"/>
              </a:rPr>
              <a:t>access.</a:t>
            </a:r>
            <a:r>
              <a:rPr sz="2800" spc="50" dirty="0">
                <a:latin typeface="Times New Roman"/>
                <a:cs typeface="Times New Roman"/>
              </a:rPr>
              <a:t> </a:t>
            </a:r>
            <a:r>
              <a:rPr sz="2800" dirty="0">
                <a:latin typeface="Aptos"/>
                <a:cs typeface="Aptos"/>
              </a:rPr>
              <a:t>The</a:t>
            </a:r>
            <a:r>
              <a:rPr sz="2800" spc="50" dirty="0">
                <a:latin typeface="Times New Roman"/>
                <a:cs typeface="Times New Roman"/>
              </a:rPr>
              <a:t> </a:t>
            </a:r>
            <a:r>
              <a:rPr sz="2800" dirty="0">
                <a:latin typeface="Aptos"/>
                <a:cs typeface="Aptos"/>
              </a:rPr>
              <a:t>server</a:t>
            </a:r>
            <a:r>
              <a:rPr sz="2800" spc="55" dirty="0">
                <a:latin typeface="Times New Roman"/>
                <a:cs typeface="Times New Roman"/>
              </a:rPr>
              <a:t> </a:t>
            </a:r>
            <a:r>
              <a:rPr sz="2800" dirty="0">
                <a:latin typeface="Aptos"/>
                <a:cs typeface="Aptos"/>
              </a:rPr>
              <a:t>provides</a:t>
            </a:r>
            <a:r>
              <a:rPr sz="2800" spc="50" dirty="0">
                <a:latin typeface="Times New Roman"/>
                <a:cs typeface="Times New Roman"/>
              </a:rPr>
              <a:t> </a:t>
            </a:r>
            <a:r>
              <a:rPr sz="2800" dirty="0">
                <a:latin typeface="Aptos"/>
                <a:cs typeface="Aptos"/>
              </a:rPr>
              <a:t>services</a:t>
            </a:r>
            <a:r>
              <a:rPr sz="2800" spc="35" dirty="0">
                <a:latin typeface="Times New Roman"/>
                <a:cs typeface="Times New Roman"/>
              </a:rPr>
              <a:t> </a:t>
            </a:r>
            <a:r>
              <a:rPr sz="2800" dirty="0">
                <a:latin typeface="Aptos"/>
                <a:cs typeface="Aptos"/>
              </a:rPr>
              <a:t>or</a:t>
            </a:r>
            <a:r>
              <a:rPr sz="2800" spc="60" dirty="0">
                <a:latin typeface="Times New Roman"/>
                <a:cs typeface="Times New Roman"/>
              </a:rPr>
              <a:t> </a:t>
            </a:r>
            <a:r>
              <a:rPr sz="2800" dirty="0">
                <a:latin typeface="Aptos"/>
                <a:cs typeface="Aptos"/>
              </a:rPr>
              <a:t>functions</a:t>
            </a:r>
            <a:r>
              <a:rPr sz="2800" spc="50" dirty="0">
                <a:latin typeface="Times New Roman"/>
                <a:cs typeface="Times New Roman"/>
              </a:rPr>
              <a:t> </a:t>
            </a:r>
            <a:r>
              <a:rPr sz="2800" spc="-25" dirty="0">
                <a:latin typeface="Aptos"/>
                <a:cs typeface="Aptos"/>
              </a:rPr>
              <a:t>to</a:t>
            </a:r>
            <a:r>
              <a:rPr sz="2800" spc="-25" dirty="0">
                <a:latin typeface="Times New Roman"/>
                <a:cs typeface="Times New Roman"/>
              </a:rPr>
              <a:t> </a:t>
            </a:r>
            <a:r>
              <a:rPr sz="2800" dirty="0">
                <a:latin typeface="Aptos"/>
                <a:cs typeface="Aptos"/>
              </a:rPr>
              <a:t>one</a:t>
            </a:r>
            <a:r>
              <a:rPr sz="2800" spc="20" dirty="0">
                <a:latin typeface="Times New Roman"/>
                <a:cs typeface="Times New Roman"/>
              </a:rPr>
              <a:t> </a:t>
            </a:r>
            <a:r>
              <a:rPr sz="2800" dirty="0">
                <a:latin typeface="Aptos"/>
                <a:cs typeface="Aptos"/>
              </a:rPr>
              <a:t>or</a:t>
            </a:r>
            <a:r>
              <a:rPr sz="2800" spc="15" dirty="0">
                <a:latin typeface="Times New Roman"/>
                <a:cs typeface="Times New Roman"/>
              </a:rPr>
              <a:t> </a:t>
            </a:r>
            <a:r>
              <a:rPr sz="2800" dirty="0">
                <a:latin typeface="Aptos"/>
                <a:cs typeface="Aptos"/>
              </a:rPr>
              <a:t>more</a:t>
            </a:r>
            <a:r>
              <a:rPr sz="2800" spc="20" dirty="0">
                <a:latin typeface="Times New Roman"/>
                <a:cs typeface="Times New Roman"/>
              </a:rPr>
              <a:t> </a:t>
            </a:r>
            <a:r>
              <a:rPr sz="2800" dirty="0">
                <a:latin typeface="Aptos"/>
                <a:cs typeface="Aptos"/>
              </a:rPr>
              <a:t>clients,</a:t>
            </a:r>
            <a:r>
              <a:rPr sz="2800" spc="25" dirty="0">
                <a:latin typeface="Times New Roman"/>
                <a:cs typeface="Times New Roman"/>
              </a:rPr>
              <a:t> </a:t>
            </a:r>
            <a:r>
              <a:rPr sz="2800" dirty="0">
                <a:latin typeface="Aptos"/>
                <a:cs typeface="Aptos"/>
              </a:rPr>
              <a:t>which</a:t>
            </a:r>
            <a:r>
              <a:rPr sz="2800" spc="15" dirty="0">
                <a:latin typeface="Times New Roman"/>
                <a:cs typeface="Times New Roman"/>
              </a:rPr>
              <a:t> </a:t>
            </a:r>
            <a:r>
              <a:rPr sz="2800" dirty="0">
                <a:latin typeface="Aptos"/>
                <a:cs typeface="Aptos"/>
              </a:rPr>
              <a:t>request</a:t>
            </a:r>
            <a:r>
              <a:rPr sz="2800" spc="15" dirty="0">
                <a:latin typeface="Times New Roman"/>
                <a:cs typeface="Times New Roman"/>
              </a:rPr>
              <a:t> </a:t>
            </a:r>
            <a:r>
              <a:rPr sz="2800" dirty="0">
                <a:latin typeface="Aptos"/>
                <a:cs typeface="Aptos"/>
              </a:rPr>
              <a:t>them.</a:t>
            </a:r>
            <a:r>
              <a:rPr sz="2800" spc="20" dirty="0">
                <a:latin typeface="Times New Roman"/>
                <a:cs typeface="Times New Roman"/>
              </a:rPr>
              <a:t> </a:t>
            </a:r>
            <a:r>
              <a:rPr sz="2800" dirty="0">
                <a:latin typeface="Aptos"/>
                <a:cs typeface="Aptos"/>
              </a:rPr>
              <a:t>Clients</a:t>
            </a:r>
            <a:r>
              <a:rPr sz="2800" spc="20" dirty="0">
                <a:latin typeface="Times New Roman"/>
                <a:cs typeface="Times New Roman"/>
              </a:rPr>
              <a:t> </a:t>
            </a:r>
            <a:r>
              <a:rPr sz="2800" dirty="0">
                <a:latin typeface="Aptos"/>
                <a:cs typeface="Aptos"/>
              </a:rPr>
              <a:t>are</a:t>
            </a:r>
            <a:r>
              <a:rPr sz="2800" spc="25" dirty="0">
                <a:latin typeface="Times New Roman"/>
                <a:cs typeface="Times New Roman"/>
              </a:rPr>
              <a:t> </a:t>
            </a:r>
            <a:r>
              <a:rPr sz="2800" dirty="0">
                <a:latin typeface="Aptos"/>
                <a:cs typeface="Aptos"/>
              </a:rPr>
              <a:t>the</a:t>
            </a:r>
            <a:r>
              <a:rPr sz="2800" spc="25" dirty="0">
                <a:latin typeface="Times New Roman"/>
                <a:cs typeface="Times New Roman"/>
              </a:rPr>
              <a:t> </a:t>
            </a:r>
            <a:r>
              <a:rPr sz="2800" spc="-10" dirty="0">
                <a:latin typeface="Aptos"/>
                <a:cs typeface="Aptos"/>
              </a:rPr>
              <a:t>devices</a:t>
            </a:r>
            <a:r>
              <a:rPr sz="2800" spc="-10" dirty="0">
                <a:latin typeface="Times New Roman"/>
                <a:cs typeface="Times New Roman"/>
              </a:rPr>
              <a:t> </a:t>
            </a:r>
            <a:r>
              <a:rPr sz="2800" dirty="0">
                <a:latin typeface="Aptos"/>
                <a:cs typeface="Aptos"/>
              </a:rPr>
              <a:t>that</a:t>
            </a:r>
            <a:r>
              <a:rPr sz="2800" spc="95" dirty="0">
                <a:latin typeface="Times New Roman"/>
                <a:cs typeface="Times New Roman"/>
              </a:rPr>
              <a:t>  </a:t>
            </a:r>
            <a:r>
              <a:rPr sz="2800" dirty="0">
                <a:latin typeface="Aptos"/>
                <a:cs typeface="Aptos"/>
              </a:rPr>
              <a:t>request</a:t>
            </a:r>
            <a:r>
              <a:rPr sz="2800" spc="105" dirty="0">
                <a:latin typeface="Times New Roman"/>
                <a:cs typeface="Times New Roman"/>
              </a:rPr>
              <a:t>  </a:t>
            </a:r>
            <a:r>
              <a:rPr sz="2800" dirty="0">
                <a:latin typeface="Aptos"/>
                <a:cs typeface="Aptos"/>
              </a:rPr>
              <a:t>services</a:t>
            </a:r>
            <a:r>
              <a:rPr sz="2800" spc="105" dirty="0">
                <a:latin typeface="Times New Roman"/>
                <a:cs typeface="Times New Roman"/>
              </a:rPr>
              <a:t>  </a:t>
            </a:r>
            <a:r>
              <a:rPr sz="2800" dirty="0">
                <a:latin typeface="Aptos"/>
                <a:cs typeface="Aptos"/>
              </a:rPr>
              <a:t>and</a:t>
            </a:r>
            <a:r>
              <a:rPr sz="2800" spc="105" dirty="0">
                <a:latin typeface="Times New Roman"/>
                <a:cs typeface="Times New Roman"/>
              </a:rPr>
              <a:t>  </a:t>
            </a:r>
            <a:r>
              <a:rPr sz="2800" dirty="0">
                <a:latin typeface="Aptos"/>
                <a:cs typeface="Aptos"/>
              </a:rPr>
              <a:t>use</a:t>
            </a:r>
            <a:r>
              <a:rPr sz="2800" spc="110" dirty="0">
                <a:latin typeface="Times New Roman"/>
                <a:cs typeface="Times New Roman"/>
              </a:rPr>
              <a:t>  </a:t>
            </a:r>
            <a:r>
              <a:rPr sz="2800" dirty="0">
                <a:latin typeface="Aptos"/>
                <a:cs typeface="Aptos"/>
              </a:rPr>
              <a:t>the</a:t>
            </a:r>
            <a:r>
              <a:rPr sz="2800" spc="105" dirty="0">
                <a:latin typeface="Times New Roman"/>
                <a:cs typeface="Times New Roman"/>
              </a:rPr>
              <a:t>  </a:t>
            </a:r>
            <a:r>
              <a:rPr sz="2800" dirty="0">
                <a:latin typeface="Aptos"/>
                <a:cs typeface="Aptos"/>
              </a:rPr>
              <a:t>services</a:t>
            </a:r>
            <a:r>
              <a:rPr sz="2800" spc="105" dirty="0">
                <a:latin typeface="Times New Roman"/>
                <a:cs typeface="Times New Roman"/>
              </a:rPr>
              <a:t>  </a:t>
            </a:r>
            <a:r>
              <a:rPr sz="2800" dirty="0">
                <a:latin typeface="Aptos"/>
                <a:cs typeface="Aptos"/>
              </a:rPr>
              <a:t>provided</a:t>
            </a:r>
            <a:r>
              <a:rPr sz="2800" spc="105" dirty="0">
                <a:latin typeface="Times New Roman"/>
                <a:cs typeface="Times New Roman"/>
              </a:rPr>
              <a:t>  </a:t>
            </a:r>
            <a:r>
              <a:rPr sz="2800" dirty="0">
                <a:latin typeface="Aptos"/>
                <a:cs typeface="Aptos"/>
              </a:rPr>
              <a:t>by</a:t>
            </a:r>
            <a:r>
              <a:rPr sz="2800" spc="105" dirty="0">
                <a:latin typeface="Times New Roman"/>
                <a:cs typeface="Times New Roman"/>
              </a:rPr>
              <a:t>  </a:t>
            </a:r>
            <a:r>
              <a:rPr sz="2800" spc="-25" dirty="0">
                <a:latin typeface="Aptos"/>
                <a:cs typeface="Aptos"/>
              </a:rPr>
              <a:t>the</a:t>
            </a:r>
            <a:r>
              <a:rPr sz="2800" spc="-25" dirty="0">
                <a:latin typeface="Times New Roman"/>
                <a:cs typeface="Times New Roman"/>
              </a:rPr>
              <a:t> </a:t>
            </a:r>
            <a:r>
              <a:rPr sz="2800" spc="-10" dirty="0">
                <a:latin typeface="Aptos"/>
                <a:cs typeface="Aptos"/>
              </a:rPr>
              <a:t>servers.</a:t>
            </a:r>
            <a:endParaRPr sz="2800">
              <a:latin typeface="Aptos"/>
              <a:cs typeface="Apto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720332" y="969360"/>
            <a:ext cx="6235479" cy="2889789"/>
          </a:xfrm>
          <a:prstGeom prst="rect">
            <a:avLst/>
          </a:prstGeom>
        </p:spPr>
      </p:pic>
      <p:sp>
        <p:nvSpPr>
          <p:cNvPr id="3" name="object 3"/>
          <p:cNvSpPr txBox="1"/>
          <p:nvPr/>
        </p:nvSpPr>
        <p:spPr>
          <a:xfrm>
            <a:off x="3845440" y="5122922"/>
            <a:ext cx="3824604"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Aptos"/>
                <a:cs typeface="Aptos"/>
              </a:rPr>
              <a:t>Fig:</a:t>
            </a:r>
            <a:r>
              <a:rPr sz="1800" spc="-90" dirty="0">
                <a:latin typeface="Times New Roman"/>
                <a:cs typeface="Times New Roman"/>
              </a:rPr>
              <a:t> </a:t>
            </a:r>
            <a:r>
              <a:rPr sz="1800" spc="-10" dirty="0">
                <a:latin typeface="Aptos"/>
                <a:cs typeface="Aptos"/>
              </a:rPr>
              <a:t>Client</a:t>
            </a:r>
            <a:r>
              <a:rPr sz="1800" spc="-70" dirty="0">
                <a:latin typeface="Times New Roman"/>
                <a:cs typeface="Times New Roman"/>
              </a:rPr>
              <a:t> </a:t>
            </a:r>
            <a:r>
              <a:rPr sz="1800" dirty="0">
                <a:latin typeface="Aptos"/>
                <a:cs typeface="Aptos"/>
              </a:rPr>
              <a:t>Server</a:t>
            </a:r>
            <a:r>
              <a:rPr sz="1800" spc="-80" dirty="0">
                <a:latin typeface="Times New Roman"/>
                <a:cs typeface="Times New Roman"/>
              </a:rPr>
              <a:t> </a:t>
            </a:r>
            <a:r>
              <a:rPr sz="1800" spc="-10" dirty="0">
                <a:latin typeface="Aptos"/>
                <a:cs typeface="Aptos"/>
              </a:rPr>
              <a:t>Network</a:t>
            </a:r>
            <a:r>
              <a:rPr sz="1800" spc="-50" dirty="0">
                <a:latin typeface="Times New Roman"/>
                <a:cs typeface="Times New Roman"/>
              </a:rPr>
              <a:t> </a:t>
            </a:r>
            <a:r>
              <a:rPr sz="1800" spc="-10" dirty="0">
                <a:latin typeface="Aptos"/>
                <a:cs typeface="Aptos"/>
              </a:rPr>
              <a:t>Architecture</a:t>
            </a:r>
            <a:endParaRPr sz="1800">
              <a:latin typeface="Aptos"/>
              <a:cs typeface="Apto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437269"/>
            <a:ext cx="9613900" cy="5136515"/>
          </a:xfrm>
          <a:prstGeom prst="rect">
            <a:avLst/>
          </a:prstGeom>
        </p:spPr>
        <p:txBody>
          <a:bodyPr vert="horz" wrap="square" lIns="0" tIns="95885" rIns="0" bIns="0" rtlCol="0">
            <a:spAutoFit/>
          </a:bodyPr>
          <a:lstStyle/>
          <a:p>
            <a:pPr marL="329565" indent="-317500">
              <a:lnSpc>
                <a:spcPct val="100000"/>
              </a:lnSpc>
              <a:spcBef>
                <a:spcPts val="755"/>
              </a:spcBef>
              <a:buSzPct val="96428"/>
              <a:buFont typeface="Wingdings"/>
              <a:buChar char=""/>
              <a:tabLst>
                <a:tab pos="330200" algn="l"/>
              </a:tabLst>
            </a:pPr>
            <a:r>
              <a:rPr sz="2800" b="1" spc="-20" dirty="0">
                <a:latin typeface="Aptos"/>
                <a:cs typeface="Aptos"/>
              </a:rPr>
              <a:t>Advantages</a:t>
            </a:r>
            <a:r>
              <a:rPr sz="2800" spc="-125" dirty="0">
                <a:latin typeface="Times New Roman"/>
                <a:cs typeface="Times New Roman"/>
              </a:rPr>
              <a:t> </a:t>
            </a:r>
            <a:r>
              <a:rPr sz="2800" b="1" dirty="0">
                <a:latin typeface="Aptos"/>
                <a:cs typeface="Aptos"/>
              </a:rPr>
              <a:t>of</a:t>
            </a:r>
            <a:r>
              <a:rPr sz="2800" spc="-100" dirty="0">
                <a:latin typeface="Times New Roman"/>
                <a:cs typeface="Times New Roman"/>
              </a:rPr>
              <a:t> </a:t>
            </a:r>
            <a:r>
              <a:rPr sz="2800" b="1" spc="-10" dirty="0">
                <a:latin typeface="Aptos"/>
                <a:cs typeface="Aptos"/>
              </a:rPr>
              <a:t>Client</a:t>
            </a:r>
            <a:r>
              <a:rPr sz="2800" spc="-140" dirty="0">
                <a:latin typeface="Times New Roman"/>
                <a:cs typeface="Times New Roman"/>
              </a:rPr>
              <a:t> </a:t>
            </a:r>
            <a:r>
              <a:rPr sz="2800" b="1" spc="-10" dirty="0">
                <a:latin typeface="Aptos"/>
                <a:cs typeface="Aptos"/>
              </a:rPr>
              <a:t>Server</a:t>
            </a:r>
            <a:r>
              <a:rPr sz="2800" spc="-135" dirty="0">
                <a:latin typeface="Times New Roman"/>
                <a:cs typeface="Times New Roman"/>
              </a:rPr>
              <a:t> </a:t>
            </a:r>
            <a:r>
              <a:rPr sz="2800" b="1" spc="-20" dirty="0">
                <a:latin typeface="Aptos"/>
                <a:cs typeface="Aptos"/>
              </a:rPr>
              <a:t>Network</a:t>
            </a:r>
            <a:r>
              <a:rPr sz="2800" spc="-145" dirty="0">
                <a:latin typeface="Times New Roman"/>
                <a:cs typeface="Times New Roman"/>
              </a:rPr>
              <a:t> </a:t>
            </a:r>
            <a:r>
              <a:rPr sz="2800" b="1" spc="-10" dirty="0">
                <a:latin typeface="Aptos"/>
                <a:cs typeface="Aptos"/>
              </a:rPr>
              <a:t>Architecture</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spc="-30" dirty="0">
                <a:latin typeface="Aptos"/>
                <a:cs typeface="Aptos"/>
              </a:rPr>
              <a:t>Centralized</a:t>
            </a:r>
            <a:r>
              <a:rPr sz="2800" spc="-125" dirty="0">
                <a:latin typeface="Times New Roman"/>
                <a:cs typeface="Times New Roman"/>
              </a:rPr>
              <a:t> </a:t>
            </a:r>
            <a:r>
              <a:rPr sz="2800" spc="-30" dirty="0">
                <a:latin typeface="Aptos"/>
                <a:cs typeface="Aptos"/>
              </a:rPr>
              <a:t>administration</a:t>
            </a:r>
            <a:r>
              <a:rPr sz="2800" spc="-155" dirty="0">
                <a:latin typeface="Times New Roman"/>
                <a:cs typeface="Times New Roman"/>
              </a:rPr>
              <a:t> </a:t>
            </a:r>
            <a:r>
              <a:rPr sz="2800" dirty="0">
                <a:latin typeface="Aptos"/>
                <a:cs typeface="Aptos"/>
              </a:rPr>
              <a:t>is</a:t>
            </a:r>
            <a:r>
              <a:rPr sz="2800" spc="-135" dirty="0">
                <a:latin typeface="Times New Roman"/>
                <a:cs typeface="Times New Roman"/>
              </a:rPr>
              <a:t> </a:t>
            </a:r>
            <a:r>
              <a:rPr sz="2800" spc="-10" dirty="0">
                <a:latin typeface="Aptos"/>
                <a:cs typeface="Aptos"/>
              </a:rPr>
              <a:t>possible</a:t>
            </a:r>
            <a:r>
              <a:rPr sz="2800" spc="-120" dirty="0">
                <a:latin typeface="Times New Roman"/>
                <a:cs typeface="Times New Roman"/>
              </a:rPr>
              <a:t> </a:t>
            </a:r>
            <a:r>
              <a:rPr sz="2800" spc="-20" dirty="0">
                <a:latin typeface="Aptos"/>
                <a:cs typeface="Aptos"/>
              </a:rPr>
              <a:t>through</a:t>
            </a:r>
            <a:r>
              <a:rPr sz="2800" spc="-120" dirty="0">
                <a:latin typeface="Times New Roman"/>
                <a:cs typeface="Times New Roman"/>
              </a:rPr>
              <a:t> </a:t>
            </a:r>
            <a:r>
              <a:rPr sz="2800" spc="-10" dirty="0">
                <a:latin typeface="Aptos"/>
                <a:cs typeface="Aptos"/>
              </a:rPr>
              <a:t>this</a:t>
            </a:r>
            <a:r>
              <a:rPr sz="2800" spc="-135" dirty="0">
                <a:latin typeface="Times New Roman"/>
                <a:cs typeface="Times New Roman"/>
              </a:rPr>
              <a:t> </a:t>
            </a:r>
            <a:r>
              <a:rPr sz="2800" spc="-10" dirty="0">
                <a:latin typeface="Aptos"/>
                <a:cs typeface="Aptos"/>
              </a:rPr>
              <a:t>network.</a:t>
            </a:r>
            <a:endParaRPr sz="2800">
              <a:latin typeface="Aptos"/>
              <a:cs typeface="Aptos"/>
            </a:endParaRPr>
          </a:p>
          <a:p>
            <a:pPr marL="527685" indent="-515620">
              <a:lnSpc>
                <a:spcPct val="100000"/>
              </a:lnSpc>
              <a:spcBef>
                <a:spcPts val="675"/>
              </a:spcBef>
              <a:buAutoNum type="arabicPeriod"/>
              <a:tabLst>
                <a:tab pos="527685" algn="l"/>
                <a:tab pos="528320" algn="l"/>
              </a:tabLst>
            </a:pPr>
            <a:r>
              <a:rPr sz="2800" spc="-10" dirty="0">
                <a:latin typeface="Aptos"/>
                <a:cs typeface="Aptos"/>
              </a:rPr>
              <a:t>High</a:t>
            </a:r>
            <a:r>
              <a:rPr sz="2800" spc="-155" dirty="0">
                <a:latin typeface="Times New Roman"/>
                <a:cs typeface="Times New Roman"/>
              </a:rPr>
              <a:t> </a:t>
            </a:r>
            <a:r>
              <a:rPr sz="2800" spc="-10" dirty="0">
                <a:latin typeface="Aptos"/>
                <a:cs typeface="Aptos"/>
              </a:rPr>
              <a:t>security</a:t>
            </a:r>
            <a:r>
              <a:rPr sz="2800" spc="-145" dirty="0">
                <a:latin typeface="Times New Roman"/>
                <a:cs typeface="Times New Roman"/>
              </a:rPr>
              <a:t> </a:t>
            </a:r>
            <a:r>
              <a:rPr sz="2800" spc="-10" dirty="0">
                <a:latin typeface="Aptos"/>
                <a:cs typeface="Aptos"/>
              </a:rPr>
              <a:t>can</a:t>
            </a:r>
            <a:r>
              <a:rPr sz="2800" spc="-140" dirty="0">
                <a:latin typeface="Times New Roman"/>
                <a:cs typeface="Times New Roman"/>
              </a:rPr>
              <a:t> </a:t>
            </a:r>
            <a:r>
              <a:rPr sz="2800" dirty="0">
                <a:latin typeface="Aptos"/>
                <a:cs typeface="Aptos"/>
              </a:rPr>
              <a:t>be</a:t>
            </a:r>
            <a:r>
              <a:rPr sz="2800" spc="-140" dirty="0">
                <a:latin typeface="Times New Roman"/>
                <a:cs typeface="Times New Roman"/>
              </a:rPr>
              <a:t> </a:t>
            </a:r>
            <a:r>
              <a:rPr sz="2800" spc="-25" dirty="0">
                <a:latin typeface="Aptos"/>
                <a:cs typeface="Aptos"/>
              </a:rPr>
              <a:t>provided</a:t>
            </a:r>
            <a:r>
              <a:rPr sz="2800" spc="-145" dirty="0">
                <a:latin typeface="Times New Roman"/>
                <a:cs typeface="Times New Roman"/>
              </a:rPr>
              <a:t> </a:t>
            </a:r>
            <a:r>
              <a:rPr sz="2800" spc="-10" dirty="0">
                <a:latin typeface="Aptos"/>
                <a:cs typeface="Aptos"/>
              </a:rPr>
              <a:t>by</a:t>
            </a:r>
            <a:r>
              <a:rPr sz="2800" spc="-155" dirty="0">
                <a:latin typeface="Times New Roman"/>
                <a:cs typeface="Times New Roman"/>
              </a:rPr>
              <a:t> </a:t>
            </a:r>
            <a:r>
              <a:rPr sz="2800" spc="-10" dirty="0">
                <a:latin typeface="Aptos"/>
                <a:cs typeface="Aptos"/>
              </a:rPr>
              <a:t>suing</a:t>
            </a:r>
            <a:r>
              <a:rPr sz="2800" spc="-145" dirty="0">
                <a:latin typeface="Times New Roman"/>
                <a:cs typeface="Times New Roman"/>
              </a:rPr>
              <a:t> </a:t>
            </a:r>
            <a:r>
              <a:rPr sz="2800" spc="-20" dirty="0">
                <a:latin typeface="Aptos"/>
                <a:cs typeface="Aptos"/>
              </a:rPr>
              <a:t>appropriate</a:t>
            </a:r>
            <a:r>
              <a:rPr sz="2800" spc="-145" dirty="0">
                <a:latin typeface="Times New Roman"/>
                <a:cs typeface="Times New Roman"/>
              </a:rPr>
              <a:t> </a:t>
            </a:r>
            <a:r>
              <a:rPr sz="2800" spc="-10" dirty="0">
                <a:latin typeface="Aptos"/>
                <a:cs typeface="Aptos"/>
              </a:rPr>
              <a:t>server.</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It</a:t>
            </a:r>
            <a:r>
              <a:rPr sz="2800" spc="-140" dirty="0">
                <a:latin typeface="Times New Roman"/>
                <a:cs typeface="Times New Roman"/>
              </a:rPr>
              <a:t> </a:t>
            </a:r>
            <a:r>
              <a:rPr sz="2800" dirty="0">
                <a:latin typeface="Aptos"/>
                <a:cs typeface="Aptos"/>
              </a:rPr>
              <a:t>is</a:t>
            </a:r>
            <a:r>
              <a:rPr sz="2800" spc="-140" dirty="0">
                <a:latin typeface="Times New Roman"/>
                <a:cs typeface="Times New Roman"/>
              </a:rPr>
              <a:t> </a:t>
            </a:r>
            <a:r>
              <a:rPr sz="2800" spc="-25" dirty="0">
                <a:latin typeface="Aptos"/>
                <a:cs typeface="Aptos"/>
              </a:rPr>
              <a:t>appropriate</a:t>
            </a:r>
            <a:r>
              <a:rPr sz="2800" spc="-130" dirty="0">
                <a:latin typeface="Times New Roman"/>
                <a:cs typeface="Times New Roman"/>
              </a:rPr>
              <a:t> </a:t>
            </a:r>
            <a:r>
              <a:rPr sz="2800" spc="-20" dirty="0">
                <a:latin typeface="Aptos"/>
                <a:cs typeface="Aptos"/>
              </a:rPr>
              <a:t>for</a:t>
            </a:r>
            <a:r>
              <a:rPr sz="2800" spc="-130" dirty="0">
                <a:latin typeface="Times New Roman"/>
                <a:cs typeface="Times New Roman"/>
              </a:rPr>
              <a:t> </a:t>
            </a:r>
            <a:r>
              <a:rPr sz="2800" spc="-25" dirty="0">
                <a:latin typeface="Aptos"/>
                <a:cs typeface="Aptos"/>
              </a:rPr>
              <a:t>large</a:t>
            </a:r>
            <a:r>
              <a:rPr sz="2800" spc="-135" dirty="0">
                <a:latin typeface="Times New Roman"/>
                <a:cs typeface="Times New Roman"/>
              </a:rPr>
              <a:t> </a:t>
            </a:r>
            <a:r>
              <a:rPr sz="2800" spc="-10" dirty="0">
                <a:latin typeface="Aptos"/>
                <a:cs typeface="Aptos"/>
              </a:rPr>
              <a:t>organization.</a:t>
            </a:r>
            <a:endParaRPr sz="2800">
              <a:latin typeface="Aptos"/>
              <a:cs typeface="Aptos"/>
            </a:endParaRPr>
          </a:p>
          <a:p>
            <a:pPr marL="527685" indent="-515620">
              <a:lnSpc>
                <a:spcPct val="100000"/>
              </a:lnSpc>
              <a:spcBef>
                <a:spcPts val="665"/>
              </a:spcBef>
              <a:buAutoNum type="arabicPeriod"/>
              <a:tabLst>
                <a:tab pos="527685" algn="l"/>
                <a:tab pos="528320" algn="l"/>
              </a:tabLst>
            </a:pPr>
            <a:r>
              <a:rPr sz="2800" spc="-20" dirty="0">
                <a:latin typeface="Aptos"/>
                <a:cs typeface="Aptos"/>
              </a:rPr>
              <a:t>Data</a:t>
            </a:r>
            <a:r>
              <a:rPr sz="2800" spc="-155" dirty="0">
                <a:latin typeface="Times New Roman"/>
                <a:cs typeface="Times New Roman"/>
              </a:rPr>
              <a:t> </a:t>
            </a:r>
            <a:r>
              <a:rPr sz="2800" spc="-20" dirty="0">
                <a:latin typeface="Aptos"/>
                <a:cs typeface="Aptos"/>
              </a:rPr>
              <a:t>recovery</a:t>
            </a:r>
            <a:r>
              <a:rPr sz="2800" spc="-155" dirty="0">
                <a:latin typeface="Times New Roman"/>
                <a:cs typeface="Times New Roman"/>
              </a:rPr>
              <a:t> </a:t>
            </a:r>
            <a:r>
              <a:rPr sz="2800" dirty="0">
                <a:latin typeface="Aptos"/>
                <a:cs typeface="Aptos"/>
              </a:rPr>
              <a:t>and</a:t>
            </a:r>
            <a:r>
              <a:rPr sz="2800" spc="-150" dirty="0">
                <a:latin typeface="Times New Roman"/>
                <a:cs typeface="Times New Roman"/>
              </a:rPr>
              <a:t> </a:t>
            </a:r>
            <a:r>
              <a:rPr sz="2800" spc="-20" dirty="0">
                <a:latin typeface="Aptos"/>
                <a:cs typeface="Aptos"/>
              </a:rPr>
              <a:t>backup</a:t>
            </a:r>
            <a:r>
              <a:rPr sz="2800" spc="-140" dirty="0">
                <a:latin typeface="Times New Roman"/>
                <a:cs typeface="Times New Roman"/>
              </a:rPr>
              <a:t> </a:t>
            </a:r>
            <a:r>
              <a:rPr sz="2800" spc="-10" dirty="0">
                <a:latin typeface="Aptos"/>
                <a:cs typeface="Aptos"/>
              </a:rPr>
              <a:t>process</a:t>
            </a:r>
            <a:r>
              <a:rPr sz="2800" spc="-125" dirty="0">
                <a:latin typeface="Times New Roman"/>
                <a:cs typeface="Times New Roman"/>
              </a:rPr>
              <a:t> </a:t>
            </a:r>
            <a:r>
              <a:rPr sz="2800" dirty="0">
                <a:latin typeface="Aptos"/>
                <a:cs typeface="Aptos"/>
              </a:rPr>
              <a:t>is</a:t>
            </a:r>
            <a:r>
              <a:rPr sz="2800" spc="-165" dirty="0">
                <a:latin typeface="Times New Roman"/>
                <a:cs typeface="Times New Roman"/>
              </a:rPr>
              <a:t> </a:t>
            </a:r>
            <a:r>
              <a:rPr sz="2800" spc="-10" dirty="0">
                <a:latin typeface="Aptos"/>
                <a:cs typeface="Aptos"/>
              </a:rPr>
              <a:t>easier.</a:t>
            </a:r>
            <a:endParaRPr sz="2800">
              <a:latin typeface="Aptos"/>
              <a:cs typeface="Aptos"/>
            </a:endParaRPr>
          </a:p>
          <a:p>
            <a:pPr marL="329565" indent="-317500">
              <a:lnSpc>
                <a:spcPct val="100000"/>
              </a:lnSpc>
              <a:spcBef>
                <a:spcPts val="670"/>
              </a:spcBef>
              <a:buSzPct val="96428"/>
              <a:buFont typeface="Wingdings"/>
              <a:buChar char=""/>
              <a:tabLst>
                <a:tab pos="330200" algn="l"/>
                <a:tab pos="2747010" algn="l"/>
              </a:tabLst>
            </a:pPr>
            <a:r>
              <a:rPr sz="2800" b="1" spc="-10" dirty="0">
                <a:latin typeface="Aptos"/>
                <a:cs typeface="Aptos"/>
              </a:rPr>
              <a:t>Disadvantages</a:t>
            </a:r>
            <a:r>
              <a:rPr sz="2800" dirty="0">
                <a:latin typeface="Times New Roman"/>
                <a:cs typeface="Times New Roman"/>
              </a:rPr>
              <a:t>	</a:t>
            </a:r>
            <a:r>
              <a:rPr sz="2800" b="1" spc="-10" dirty="0">
                <a:latin typeface="Aptos"/>
                <a:cs typeface="Aptos"/>
              </a:rPr>
              <a:t>Client</a:t>
            </a:r>
            <a:r>
              <a:rPr sz="2800" spc="-135" dirty="0">
                <a:latin typeface="Times New Roman"/>
                <a:cs typeface="Times New Roman"/>
              </a:rPr>
              <a:t> </a:t>
            </a:r>
            <a:r>
              <a:rPr sz="2800" b="1" spc="-10" dirty="0">
                <a:latin typeface="Aptos"/>
                <a:cs typeface="Aptos"/>
              </a:rPr>
              <a:t>Server</a:t>
            </a:r>
            <a:r>
              <a:rPr sz="2800" spc="-130" dirty="0">
                <a:latin typeface="Times New Roman"/>
                <a:cs typeface="Times New Roman"/>
              </a:rPr>
              <a:t> </a:t>
            </a:r>
            <a:r>
              <a:rPr sz="2800" b="1" spc="-20" dirty="0">
                <a:latin typeface="Aptos"/>
                <a:cs typeface="Aptos"/>
              </a:rPr>
              <a:t>Network</a:t>
            </a:r>
            <a:r>
              <a:rPr sz="2800" spc="-130" dirty="0">
                <a:latin typeface="Times New Roman"/>
                <a:cs typeface="Times New Roman"/>
              </a:rPr>
              <a:t> </a:t>
            </a:r>
            <a:r>
              <a:rPr sz="2800" b="1" spc="-10" dirty="0">
                <a:latin typeface="Aptos"/>
                <a:cs typeface="Aptos"/>
              </a:rPr>
              <a:t>Architecture</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If</a:t>
            </a:r>
            <a:r>
              <a:rPr sz="2800" spc="-145" dirty="0">
                <a:latin typeface="Times New Roman"/>
                <a:cs typeface="Times New Roman"/>
              </a:rPr>
              <a:t> </a:t>
            </a:r>
            <a:r>
              <a:rPr sz="2800" spc="-10" dirty="0">
                <a:latin typeface="Aptos"/>
                <a:cs typeface="Aptos"/>
              </a:rPr>
              <a:t>server</a:t>
            </a:r>
            <a:r>
              <a:rPr sz="2800" spc="-130" dirty="0">
                <a:latin typeface="Times New Roman"/>
                <a:cs typeface="Times New Roman"/>
              </a:rPr>
              <a:t> </a:t>
            </a:r>
            <a:r>
              <a:rPr sz="2800" spc="-25" dirty="0">
                <a:latin typeface="Aptos"/>
                <a:cs typeface="Aptos"/>
              </a:rPr>
              <a:t>fails</a:t>
            </a:r>
            <a:r>
              <a:rPr sz="2800" spc="-140" dirty="0">
                <a:latin typeface="Times New Roman"/>
                <a:cs typeface="Times New Roman"/>
              </a:rPr>
              <a:t> </a:t>
            </a:r>
            <a:r>
              <a:rPr sz="2800" spc="-20" dirty="0">
                <a:latin typeface="Aptos"/>
                <a:cs typeface="Aptos"/>
              </a:rPr>
              <a:t>whole</a:t>
            </a:r>
            <a:r>
              <a:rPr sz="2800" spc="-140" dirty="0">
                <a:latin typeface="Times New Roman"/>
                <a:cs typeface="Times New Roman"/>
              </a:rPr>
              <a:t> </a:t>
            </a:r>
            <a:r>
              <a:rPr sz="2800" spc="-20" dirty="0">
                <a:latin typeface="Aptos"/>
                <a:cs typeface="Aptos"/>
              </a:rPr>
              <a:t>network</a:t>
            </a:r>
            <a:r>
              <a:rPr sz="2800" spc="-140" dirty="0">
                <a:latin typeface="Times New Roman"/>
                <a:cs typeface="Times New Roman"/>
              </a:rPr>
              <a:t> </a:t>
            </a:r>
            <a:r>
              <a:rPr sz="2800" dirty="0">
                <a:latin typeface="Aptos"/>
                <a:cs typeface="Aptos"/>
              </a:rPr>
              <a:t>is</a:t>
            </a:r>
            <a:r>
              <a:rPr sz="2800" spc="-140" dirty="0">
                <a:latin typeface="Times New Roman"/>
                <a:cs typeface="Times New Roman"/>
              </a:rPr>
              <a:t> </a:t>
            </a:r>
            <a:r>
              <a:rPr sz="2800" spc="-10" dirty="0">
                <a:latin typeface="Aptos"/>
                <a:cs typeface="Aptos"/>
              </a:rPr>
              <a:t>affected.</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It</a:t>
            </a:r>
            <a:r>
              <a:rPr sz="2800" spc="-155" dirty="0">
                <a:latin typeface="Times New Roman"/>
                <a:cs typeface="Times New Roman"/>
              </a:rPr>
              <a:t> </a:t>
            </a:r>
            <a:r>
              <a:rPr sz="2800" dirty="0">
                <a:latin typeface="Aptos"/>
                <a:cs typeface="Aptos"/>
              </a:rPr>
              <a:t>is</a:t>
            </a:r>
            <a:r>
              <a:rPr sz="2800" spc="-155" dirty="0">
                <a:latin typeface="Times New Roman"/>
                <a:cs typeface="Times New Roman"/>
              </a:rPr>
              <a:t> </a:t>
            </a:r>
            <a:r>
              <a:rPr sz="2800" spc="-25" dirty="0">
                <a:latin typeface="Aptos"/>
                <a:cs typeface="Aptos"/>
              </a:rPr>
              <a:t>expensive</a:t>
            </a:r>
            <a:r>
              <a:rPr sz="2800" spc="-145" dirty="0">
                <a:latin typeface="Times New Roman"/>
                <a:cs typeface="Times New Roman"/>
              </a:rPr>
              <a:t> </a:t>
            </a:r>
            <a:r>
              <a:rPr sz="2800" dirty="0">
                <a:latin typeface="Aptos"/>
                <a:cs typeface="Aptos"/>
              </a:rPr>
              <a:t>due</a:t>
            </a:r>
            <a:r>
              <a:rPr sz="2800" spc="-130" dirty="0">
                <a:latin typeface="Times New Roman"/>
                <a:cs typeface="Times New Roman"/>
              </a:rPr>
              <a:t> </a:t>
            </a:r>
            <a:r>
              <a:rPr sz="2800" dirty="0">
                <a:latin typeface="Aptos"/>
                <a:cs typeface="Aptos"/>
              </a:rPr>
              <a:t>to</a:t>
            </a:r>
            <a:r>
              <a:rPr sz="2800" spc="-140" dirty="0">
                <a:latin typeface="Times New Roman"/>
                <a:cs typeface="Times New Roman"/>
              </a:rPr>
              <a:t> </a:t>
            </a:r>
            <a:r>
              <a:rPr sz="2800" spc="-10" dirty="0">
                <a:latin typeface="Aptos"/>
                <a:cs typeface="Aptos"/>
              </a:rPr>
              <a:t>use</a:t>
            </a:r>
            <a:r>
              <a:rPr sz="2800" spc="-155" dirty="0">
                <a:latin typeface="Times New Roman"/>
                <a:cs typeface="Times New Roman"/>
              </a:rPr>
              <a:t> </a:t>
            </a:r>
            <a:r>
              <a:rPr sz="2800" dirty="0">
                <a:latin typeface="Aptos"/>
                <a:cs typeface="Aptos"/>
              </a:rPr>
              <a:t>of</a:t>
            </a:r>
            <a:r>
              <a:rPr sz="2800" spc="-150" dirty="0">
                <a:latin typeface="Times New Roman"/>
                <a:cs typeface="Times New Roman"/>
              </a:rPr>
              <a:t> </a:t>
            </a:r>
            <a:r>
              <a:rPr sz="2800" spc="-20" dirty="0">
                <a:latin typeface="Aptos"/>
                <a:cs typeface="Aptos"/>
              </a:rPr>
              <a:t>dedicated</a:t>
            </a:r>
            <a:r>
              <a:rPr sz="2800" spc="-145" dirty="0">
                <a:latin typeface="Times New Roman"/>
                <a:cs typeface="Times New Roman"/>
              </a:rPr>
              <a:t> </a:t>
            </a:r>
            <a:r>
              <a:rPr sz="2800" spc="-10" dirty="0">
                <a:latin typeface="Aptos"/>
                <a:cs typeface="Aptos"/>
              </a:rPr>
              <a:t>server.</a:t>
            </a:r>
            <a:endParaRPr sz="2800">
              <a:latin typeface="Aptos"/>
              <a:cs typeface="Aptos"/>
            </a:endParaRPr>
          </a:p>
          <a:p>
            <a:pPr marL="527685" indent="-515620">
              <a:lnSpc>
                <a:spcPct val="100000"/>
              </a:lnSpc>
              <a:spcBef>
                <a:spcPts val="675"/>
              </a:spcBef>
              <a:buAutoNum type="arabicPeriod"/>
              <a:tabLst>
                <a:tab pos="527685" algn="l"/>
                <a:tab pos="528320" algn="l"/>
              </a:tabLst>
            </a:pPr>
            <a:r>
              <a:rPr sz="2800" dirty="0">
                <a:latin typeface="Aptos"/>
                <a:cs typeface="Aptos"/>
              </a:rPr>
              <a:t>It</a:t>
            </a:r>
            <a:r>
              <a:rPr sz="2800" spc="-150" dirty="0">
                <a:latin typeface="Times New Roman"/>
                <a:cs typeface="Times New Roman"/>
              </a:rPr>
              <a:t> </a:t>
            </a:r>
            <a:r>
              <a:rPr sz="2800" dirty="0">
                <a:latin typeface="Aptos"/>
                <a:cs typeface="Aptos"/>
              </a:rPr>
              <a:t>is</a:t>
            </a:r>
            <a:r>
              <a:rPr sz="2800" spc="-150" dirty="0">
                <a:latin typeface="Times New Roman"/>
                <a:cs typeface="Times New Roman"/>
              </a:rPr>
              <a:t> </a:t>
            </a:r>
            <a:r>
              <a:rPr sz="2800" spc="-20" dirty="0">
                <a:latin typeface="Aptos"/>
                <a:cs typeface="Aptos"/>
              </a:rPr>
              <a:t>complex</a:t>
            </a:r>
            <a:r>
              <a:rPr sz="2800" spc="-130" dirty="0">
                <a:latin typeface="Times New Roman"/>
                <a:cs typeface="Times New Roman"/>
              </a:rPr>
              <a:t> </a:t>
            </a:r>
            <a:r>
              <a:rPr sz="2800" dirty="0">
                <a:latin typeface="Aptos"/>
                <a:cs typeface="Aptos"/>
              </a:rPr>
              <a:t>to</a:t>
            </a:r>
            <a:r>
              <a:rPr sz="2800" spc="-135" dirty="0">
                <a:latin typeface="Times New Roman"/>
                <a:cs typeface="Times New Roman"/>
              </a:rPr>
              <a:t> </a:t>
            </a:r>
            <a:r>
              <a:rPr sz="2800" spc="-20" dirty="0">
                <a:latin typeface="Aptos"/>
                <a:cs typeface="Aptos"/>
              </a:rPr>
              <a:t>establish</a:t>
            </a:r>
            <a:r>
              <a:rPr sz="2800" spc="-145" dirty="0">
                <a:latin typeface="Times New Roman"/>
                <a:cs typeface="Times New Roman"/>
              </a:rPr>
              <a:t> </a:t>
            </a:r>
            <a:r>
              <a:rPr sz="2800" spc="-10" dirty="0">
                <a:latin typeface="Aptos"/>
                <a:cs typeface="Aptos"/>
              </a:rPr>
              <a:t>and</a:t>
            </a:r>
            <a:r>
              <a:rPr sz="2800" spc="-140" dirty="0">
                <a:latin typeface="Times New Roman"/>
                <a:cs typeface="Times New Roman"/>
              </a:rPr>
              <a:t> </a:t>
            </a:r>
            <a:r>
              <a:rPr sz="2800" spc="-10" dirty="0">
                <a:latin typeface="Aptos"/>
                <a:cs typeface="Aptos"/>
              </a:rPr>
              <a:t>manage.</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spc="-10" dirty="0">
                <a:latin typeface="Aptos"/>
                <a:cs typeface="Aptos"/>
              </a:rPr>
              <a:t>Experienced</a:t>
            </a:r>
            <a:r>
              <a:rPr sz="2800" spc="-114" dirty="0">
                <a:latin typeface="Times New Roman"/>
                <a:cs typeface="Times New Roman"/>
              </a:rPr>
              <a:t> </a:t>
            </a:r>
            <a:r>
              <a:rPr sz="2800" spc="-30" dirty="0">
                <a:latin typeface="Aptos"/>
                <a:cs typeface="Aptos"/>
              </a:rPr>
              <a:t>administrator</a:t>
            </a:r>
            <a:r>
              <a:rPr sz="2800" spc="-135" dirty="0">
                <a:latin typeface="Times New Roman"/>
                <a:cs typeface="Times New Roman"/>
              </a:rPr>
              <a:t> </a:t>
            </a:r>
            <a:r>
              <a:rPr sz="2800" dirty="0">
                <a:latin typeface="Aptos"/>
                <a:cs typeface="Aptos"/>
              </a:rPr>
              <a:t>is</a:t>
            </a:r>
            <a:r>
              <a:rPr sz="2800" spc="-125" dirty="0">
                <a:latin typeface="Times New Roman"/>
                <a:cs typeface="Times New Roman"/>
              </a:rPr>
              <a:t> </a:t>
            </a:r>
            <a:r>
              <a:rPr sz="2800" spc="-25" dirty="0">
                <a:latin typeface="Aptos"/>
                <a:cs typeface="Aptos"/>
              </a:rPr>
              <a:t>required</a:t>
            </a:r>
            <a:r>
              <a:rPr sz="2800" spc="-135" dirty="0">
                <a:latin typeface="Times New Roman"/>
                <a:cs typeface="Times New Roman"/>
              </a:rPr>
              <a:t> </a:t>
            </a:r>
            <a:r>
              <a:rPr sz="2800" dirty="0">
                <a:latin typeface="Aptos"/>
                <a:cs typeface="Aptos"/>
              </a:rPr>
              <a:t>to</a:t>
            </a:r>
            <a:r>
              <a:rPr sz="2800" spc="-120" dirty="0">
                <a:latin typeface="Times New Roman"/>
                <a:cs typeface="Times New Roman"/>
              </a:rPr>
              <a:t> </a:t>
            </a:r>
            <a:r>
              <a:rPr sz="2800" spc="-10" dirty="0">
                <a:latin typeface="Aptos"/>
                <a:cs typeface="Aptos"/>
              </a:rPr>
              <a:t>operate.</a:t>
            </a:r>
            <a:endParaRPr sz="2800">
              <a:latin typeface="Aptos"/>
              <a:cs typeface="Apto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1" y="292722"/>
            <a:ext cx="6703059" cy="452120"/>
          </a:xfrm>
          <a:prstGeom prst="rect">
            <a:avLst/>
          </a:prstGeom>
        </p:spPr>
        <p:txBody>
          <a:bodyPr vert="horz" wrap="square" lIns="0" tIns="12065" rIns="0" bIns="0" rtlCol="0">
            <a:spAutoFit/>
          </a:bodyPr>
          <a:lstStyle/>
          <a:p>
            <a:pPr marL="12700">
              <a:lnSpc>
                <a:spcPct val="100000"/>
              </a:lnSpc>
              <a:spcBef>
                <a:spcPts val="95"/>
              </a:spcBef>
              <a:tabLst>
                <a:tab pos="447040" algn="l"/>
              </a:tabLst>
            </a:pPr>
            <a:r>
              <a:rPr sz="2800" spc="-25" dirty="0">
                <a:latin typeface="Aptos"/>
                <a:cs typeface="Aptos"/>
              </a:rPr>
              <a:t>II)</a:t>
            </a:r>
            <a:r>
              <a:rPr sz="2800" dirty="0">
                <a:latin typeface="Times New Roman"/>
                <a:cs typeface="Times New Roman"/>
              </a:rPr>
              <a:t>	</a:t>
            </a:r>
            <a:r>
              <a:rPr sz="2800" b="1" spc="-40" dirty="0">
                <a:latin typeface="Aptos"/>
                <a:cs typeface="Aptos"/>
              </a:rPr>
              <a:t>Peer</a:t>
            </a:r>
            <a:r>
              <a:rPr sz="2800" spc="-145" dirty="0">
                <a:latin typeface="Times New Roman"/>
                <a:cs typeface="Times New Roman"/>
              </a:rPr>
              <a:t> </a:t>
            </a:r>
            <a:r>
              <a:rPr sz="2800" b="1" dirty="0">
                <a:latin typeface="Aptos"/>
                <a:cs typeface="Aptos"/>
              </a:rPr>
              <a:t>to</a:t>
            </a:r>
            <a:r>
              <a:rPr sz="2800" spc="-110" dirty="0">
                <a:latin typeface="Times New Roman"/>
                <a:cs typeface="Times New Roman"/>
              </a:rPr>
              <a:t> </a:t>
            </a:r>
            <a:r>
              <a:rPr sz="2800" b="1" spc="-40" dirty="0">
                <a:latin typeface="Aptos"/>
                <a:cs typeface="Aptos"/>
              </a:rPr>
              <a:t>Peer</a:t>
            </a:r>
            <a:r>
              <a:rPr sz="2800" spc="-145" dirty="0">
                <a:latin typeface="Times New Roman"/>
                <a:cs typeface="Times New Roman"/>
              </a:rPr>
              <a:t> </a:t>
            </a:r>
            <a:r>
              <a:rPr sz="2800" b="1" spc="-20" dirty="0">
                <a:latin typeface="Aptos"/>
                <a:cs typeface="Aptos"/>
              </a:rPr>
              <a:t>Network</a:t>
            </a:r>
            <a:r>
              <a:rPr sz="2800" spc="-155" dirty="0">
                <a:latin typeface="Times New Roman"/>
                <a:cs typeface="Times New Roman"/>
              </a:rPr>
              <a:t> </a:t>
            </a:r>
            <a:r>
              <a:rPr sz="2800" b="1" spc="-10" dirty="0">
                <a:latin typeface="Aptos"/>
                <a:cs typeface="Aptos"/>
              </a:rPr>
              <a:t>Architecture</a:t>
            </a:r>
            <a:endParaRPr sz="2800" dirty="0">
              <a:latin typeface="Aptos"/>
              <a:cs typeface="Aptos"/>
            </a:endParaRPr>
          </a:p>
        </p:txBody>
      </p:sp>
      <p:sp>
        <p:nvSpPr>
          <p:cNvPr id="3" name="object 3"/>
          <p:cNvSpPr txBox="1"/>
          <p:nvPr/>
        </p:nvSpPr>
        <p:spPr>
          <a:xfrm>
            <a:off x="916941" y="802958"/>
            <a:ext cx="10276840" cy="1220470"/>
          </a:xfrm>
          <a:prstGeom prst="rect">
            <a:avLst/>
          </a:prstGeom>
        </p:spPr>
        <p:txBody>
          <a:bodyPr vert="horz" wrap="square" lIns="0" tIns="55244" rIns="0" bIns="0" rtlCol="0">
            <a:spAutoFit/>
          </a:bodyPr>
          <a:lstStyle/>
          <a:p>
            <a:pPr marL="241300" marR="5080" indent="-228600" algn="just">
              <a:lnSpc>
                <a:spcPct val="90000"/>
              </a:lnSpc>
              <a:spcBef>
                <a:spcPts val="434"/>
              </a:spcBef>
              <a:buSzPct val="96428"/>
              <a:buFont typeface="Wingdings"/>
              <a:buChar char=""/>
              <a:tabLst>
                <a:tab pos="295910" algn="l"/>
              </a:tabLst>
            </a:pPr>
            <a:r>
              <a:rPr sz="2800" dirty="0">
                <a:latin typeface="Aptos"/>
                <a:cs typeface="Aptos"/>
              </a:rPr>
              <a:t>In</a:t>
            </a:r>
            <a:r>
              <a:rPr sz="2800" spc="-145" dirty="0">
                <a:latin typeface="Times New Roman"/>
                <a:cs typeface="Times New Roman"/>
              </a:rPr>
              <a:t> </a:t>
            </a:r>
            <a:r>
              <a:rPr sz="2800" spc="-10" dirty="0">
                <a:latin typeface="Aptos"/>
                <a:cs typeface="Aptos"/>
              </a:rPr>
              <a:t>this</a:t>
            </a:r>
            <a:r>
              <a:rPr sz="2800" spc="-145" dirty="0">
                <a:latin typeface="Times New Roman"/>
                <a:cs typeface="Times New Roman"/>
              </a:rPr>
              <a:t> </a:t>
            </a:r>
            <a:r>
              <a:rPr sz="2800" spc="-30" dirty="0">
                <a:latin typeface="Aptos"/>
                <a:cs typeface="Aptos"/>
              </a:rPr>
              <a:t>architecture,</a:t>
            </a:r>
            <a:r>
              <a:rPr sz="2800" spc="-120" dirty="0">
                <a:latin typeface="Times New Roman"/>
                <a:cs typeface="Times New Roman"/>
              </a:rPr>
              <a:t> </a:t>
            </a:r>
            <a:r>
              <a:rPr sz="2800" spc="-10" dirty="0">
                <a:latin typeface="Aptos"/>
                <a:cs typeface="Aptos"/>
              </a:rPr>
              <a:t>each</a:t>
            </a:r>
            <a:r>
              <a:rPr sz="2800" spc="-145" dirty="0">
                <a:latin typeface="Times New Roman"/>
                <a:cs typeface="Times New Roman"/>
              </a:rPr>
              <a:t> </a:t>
            </a:r>
            <a:r>
              <a:rPr sz="2800" spc="-30" dirty="0">
                <a:latin typeface="Aptos"/>
                <a:cs typeface="Aptos"/>
              </a:rPr>
              <a:t>node/workstation</a:t>
            </a:r>
            <a:r>
              <a:rPr sz="2800" spc="-140" dirty="0">
                <a:latin typeface="Times New Roman"/>
                <a:cs typeface="Times New Roman"/>
              </a:rPr>
              <a:t> </a:t>
            </a:r>
            <a:r>
              <a:rPr sz="2800" dirty="0">
                <a:latin typeface="Aptos"/>
                <a:cs typeface="Aptos"/>
              </a:rPr>
              <a:t>has</a:t>
            </a:r>
            <a:r>
              <a:rPr sz="2800" spc="-130" dirty="0">
                <a:latin typeface="Times New Roman"/>
                <a:cs typeface="Times New Roman"/>
              </a:rPr>
              <a:t> </a:t>
            </a:r>
            <a:r>
              <a:rPr sz="2800" spc="-10" dirty="0">
                <a:latin typeface="Aptos"/>
                <a:cs typeface="Aptos"/>
              </a:rPr>
              <a:t>same</a:t>
            </a:r>
            <a:r>
              <a:rPr sz="2800" spc="-140" dirty="0">
                <a:latin typeface="Times New Roman"/>
                <a:cs typeface="Times New Roman"/>
              </a:rPr>
              <a:t> </a:t>
            </a:r>
            <a:r>
              <a:rPr sz="2800" spc="-10" dirty="0">
                <a:latin typeface="Aptos"/>
                <a:cs typeface="Aptos"/>
              </a:rPr>
              <a:t>capabilities</a:t>
            </a:r>
            <a:r>
              <a:rPr sz="2800" spc="-10" dirty="0">
                <a:latin typeface="Times New Roman"/>
                <a:cs typeface="Times New Roman"/>
              </a:rPr>
              <a:t> </a:t>
            </a:r>
            <a:r>
              <a:rPr sz="2800" spc="-10" dirty="0">
                <a:latin typeface="Aptos"/>
                <a:cs typeface="Aptos"/>
              </a:rPr>
              <a:t>and</a:t>
            </a:r>
            <a:r>
              <a:rPr sz="2800" spc="-135" dirty="0">
                <a:latin typeface="Times New Roman"/>
                <a:cs typeface="Times New Roman"/>
              </a:rPr>
              <a:t> </a:t>
            </a:r>
            <a:r>
              <a:rPr sz="2800" spc="-20" dirty="0">
                <a:latin typeface="Aptos"/>
                <a:cs typeface="Aptos"/>
              </a:rPr>
              <a:t>responsibilities</a:t>
            </a:r>
            <a:r>
              <a:rPr sz="2800" spc="-145" dirty="0">
                <a:latin typeface="Times New Roman"/>
                <a:cs typeface="Times New Roman"/>
              </a:rPr>
              <a:t> </a:t>
            </a:r>
            <a:r>
              <a:rPr sz="2800" dirty="0">
                <a:latin typeface="Aptos"/>
                <a:cs typeface="Aptos"/>
              </a:rPr>
              <a:t>in</a:t>
            </a:r>
            <a:r>
              <a:rPr sz="2800" spc="-145" dirty="0">
                <a:latin typeface="Times New Roman"/>
                <a:cs typeface="Times New Roman"/>
              </a:rPr>
              <a:t> </a:t>
            </a:r>
            <a:r>
              <a:rPr sz="2800" dirty="0">
                <a:latin typeface="Aptos"/>
                <a:cs typeface="Aptos"/>
              </a:rPr>
              <a:t>a</a:t>
            </a:r>
            <a:r>
              <a:rPr sz="2800" spc="-140" dirty="0">
                <a:latin typeface="Times New Roman"/>
                <a:cs typeface="Times New Roman"/>
              </a:rPr>
              <a:t> </a:t>
            </a:r>
            <a:r>
              <a:rPr sz="2800" spc="-20" dirty="0">
                <a:latin typeface="Aptos"/>
                <a:cs typeface="Aptos"/>
              </a:rPr>
              <a:t>network.</a:t>
            </a:r>
            <a:r>
              <a:rPr sz="2800" spc="-135" dirty="0">
                <a:latin typeface="Times New Roman"/>
                <a:cs typeface="Times New Roman"/>
              </a:rPr>
              <a:t> </a:t>
            </a:r>
            <a:r>
              <a:rPr sz="2800" spc="-20" dirty="0">
                <a:latin typeface="Aptos"/>
                <a:cs typeface="Aptos"/>
              </a:rPr>
              <a:t>Here</a:t>
            </a:r>
            <a:r>
              <a:rPr sz="2800" spc="-145" dirty="0">
                <a:latin typeface="Times New Roman"/>
                <a:cs typeface="Times New Roman"/>
              </a:rPr>
              <a:t> </a:t>
            </a:r>
            <a:r>
              <a:rPr sz="2800" dirty="0">
                <a:latin typeface="Aptos"/>
                <a:cs typeface="Aptos"/>
              </a:rPr>
              <a:t>each</a:t>
            </a:r>
            <a:r>
              <a:rPr sz="2800" spc="-130" dirty="0">
                <a:latin typeface="Times New Roman"/>
                <a:cs typeface="Times New Roman"/>
              </a:rPr>
              <a:t> </a:t>
            </a:r>
            <a:r>
              <a:rPr sz="2800" spc="-10" dirty="0">
                <a:latin typeface="Aptos"/>
                <a:cs typeface="Aptos"/>
              </a:rPr>
              <a:t>node</a:t>
            </a:r>
            <a:r>
              <a:rPr sz="2800" spc="-135" dirty="0">
                <a:latin typeface="Times New Roman"/>
                <a:cs typeface="Times New Roman"/>
              </a:rPr>
              <a:t> </a:t>
            </a:r>
            <a:r>
              <a:rPr sz="2800" dirty="0">
                <a:latin typeface="Aptos"/>
                <a:cs typeface="Aptos"/>
              </a:rPr>
              <a:t>act</a:t>
            </a:r>
            <a:r>
              <a:rPr sz="2800" spc="-125" dirty="0">
                <a:latin typeface="Times New Roman"/>
                <a:cs typeface="Times New Roman"/>
              </a:rPr>
              <a:t> </a:t>
            </a:r>
            <a:r>
              <a:rPr sz="2800" spc="-25" dirty="0">
                <a:latin typeface="Aptos"/>
                <a:cs typeface="Aptos"/>
              </a:rPr>
              <a:t>like</a:t>
            </a:r>
            <a:r>
              <a:rPr sz="2800" spc="-140" dirty="0">
                <a:latin typeface="Times New Roman"/>
                <a:cs typeface="Times New Roman"/>
              </a:rPr>
              <a:t> </a:t>
            </a:r>
            <a:r>
              <a:rPr sz="2800" dirty="0">
                <a:latin typeface="Aptos"/>
                <a:cs typeface="Aptos"/>
              </a:rPr>
              <a:t>a</a:t>
            </a:r>
            <a:r>
              <a:rPr sz="2800" spc="-130" dirty="0">
                <a:latin typeface="Times New Roman"/>
                <a:cs typeface="Times New Roman"/>
              </a:rPr>
              <a:t> </a:t>
            </a:r>
            <a:r>
              <a:rPr sz="2800" spc="-10" dirty="0">
                <a:latin typeface="Aptos"/>
                <a:cs typeface="Aptos"/>
              </a:rPr>
              <a:t>server</a:t>
            </a:r>
            <a:r>
              <a:rPr sz="2800" spc="-10" dirty="0">
                <a:latin typeface="Times New Roman"/>
                <a:cs typeface="Times New Roman"/>
              </a:rPr>
              <a:t> </a:t>
            </a:r>
            <a:r>
              <a:rPr sz="2800" spc="-10" dirty="0">
                <a:latin typeface="Aptos"/>
                <a:cs typeface="Aptos"/>
              </a:rPr>
              <a:t>and</a:t>
            </a:r>
            <a:r>
              <a:rPr sz="2800" spc="-155" dirty="0">
                <a:latin typeface="Times New Roman"/>
                <a:cs typeface="Times New Roman"/>
              </a:rPr>
              <a:t> </a:t>
            </a:r>
            <a:r>
              <a:rPr sz="2800" spc="-10" dirty="0">
                <a:latin typeface="Aptos"/>
                <a:cs typeface="Aptos"/>
              </a:rPr>
              <a:t>client.</a:t>
            </a:r>
            <a:endParaRPr sz="2800">
              <a:latin typeface="Aptos"/>
              <a:cs typeface="Aptos"/>
            </a:endParaRPr>
          </a:p>
        </p:txBody>
      </p:sp>
      <p:sp>
        <p:nvSpPr>
          <p:cNvPr id="4" name="object 4"/>
          <p:cNvSpPr txBox="1"/>
          <p:nvPr/>
        </p:nvSpPr>
        <p:spPr>
          <a:xfrm>
            <a:off x="4575183" y="5813857"/>
            <a:ext cx="3314700" cy="269240"/>
          </a:xfrm>
          <a:prstGeom prst="rect">
            <a:avLst/>
          </a:prstGeom>
        </p:spPr>
        <p:txBody>
          <a:bodyPr vert="horz" wrap="square" lIns="0" tIns="12065" rIns="0" bIns="0" rtlCol="0">
            <a:spAutoFit/>
          </a:bodyPr>
          <a:lstStyle/>
          <a:p>
            <a:pPr marL="12700">
              <a:lnSpc>
                <a:spcPct val="100000"/>
              </a:lnSpc>
              <a:spcBef>
                <a:spcPts val="95"/>
              </a:spcBef>
            </a:pPr>
            <a:r>
              <a:rPr sz="1600" spc="-10" dirty="0">
                <a:latin typeface="Aptos"/>
                <a:cs typeface="Aptos"/>
              </a:rPr>
              <a:t>Fig:</a:t>
            </a:r>
            <a:r>
              <a:rPr sz="1600" spc="-70" dirty="0">
                <a:latin typeface="Times New Roman"/>
                <a:cs typeface="Times New Roman"/>
              </a:rPr>
              <a:t> </a:t>
            </a:r>
            <a:r>
              <a:rPr sz="1600" spc="-25" dirty="0">
                <a:latin typeface="Aptos"/>
                <a:cs typeface="Aptos"/>
              </a:rPr>
              <a:t>Peer</a:t>
            </a:r>
            <a:r>
              <a:rPr sz="1600" spc="-70" dirty="0">
                <a:latin typeface="Times New Roman"/>
                <a:cs typeface="Times New Roman"/>
              </a:rPr>
              <a:t> </a:t>
            </a:r>
            <a:r>
              <a:rPr sz="1600" dirty="0">
                <a:latin typeface="Aptos"/>
                <a:cs typeface="Aptos"/>
              </a:rPr>
              <a:t>to</a:t>
            </a:r>
            <a:r>
              <a:rPr sz="1600" spc="-65" dirty="0">
                <a:latin typeface="Times New Roman"/>
                <a:cs typeface="Times New Roman"/>
              </a:rPr>
              <a:t> </a:t>
            </a:r>
            <a:r>
              <a:rPr sz="1600" spc="-25" dirty="0">
                <a:latin typeface="Aptos"/>
                <a:cs typeface="Aptos"/>
              </a:rPr>
              <a:t>Peer</a:t>
            </a:r>
            <a:r>
              <a:rPr sz="1600" spc="-80" dirty="0">
                <a:latin typeface="Times New Roman"/>
                <a:cs typeface="Times New Roman"/>
              </a:rPr>
              <a:t> </a:t>
            </a:r>
            <a:r>
              <a:rPr sz="1600" spc="-20" dirty="0">
                <a:latin typeface="Aptos"/>
                <a:cs typeface="Aptos"/>
              </a:rPr>
              <a:t>Network</a:t>
            </a:r>
            <a:r>
              <a:rPr sz="1600" spc="-60" dirty="0">
                <a:latin typeface="Times New Roman"/>
                <a:cs typeface="Times New Roman"/>
              </a:rPr>
              <a:t> </a:t>
            </a:r>
            <a:r>
              <a:rPr sz="1600" spc="-10" dirty="0">
                <a:latin typeface="Aptos"/>
                <a:cs typeface="Aptos"/>
              </a:rPr>
              <a:t>Architecture</a:t>
            </a:r>
            <a:endParaRPr sz="1600">
              <a:latin typeface="Aptos"/>
              <a:cs typeface="Aptos"/>
            </a:endParaRPr>
          </a:p>
        </p:txBody>
      </p:sp>
      <p:pic>
        <p:nvPicPr>
          <p:cNvPr id="5" name="object 5"/>
          <p:cNvPicPr/>
          <p:nvPr/>
        </p:nvPicPr>
        <p:blipFill>
          <a:blip r:embed="rId2" cstate="print"/>
          <a:stretch>
            <a:fillRect/>
          </a:stretch>
        </p:blipFill>
        <p:spPr>
          <a:xfrm>
            <a:off x="4553227" y="2437663"/>
            <a:ext cx="3801800" cy="248153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14173" y="525589"/>
            <a:ext cx="10320020" cy="5616575"/>
          </a:xfrm>
          <a:prstGeom prst="rect">
            <a:avLst/>
          </a:prstGeom>
        </p:spPr>
        <p:txBody>
          <a:bodyPr vert="horz" wrap="square" lIns="0" tIns="13335" rIns="0" bIns="0" rtlCol="0">
            <a:spAutoFit/>
          </a:bodyPr>
          <a:lstStyle/>
          <a:p>
            <a:pPr marL="307975" indent="-295910">
              <a:lnSpc>
                <a:spcPct val="100000"/>
              </a:lnSpc>
              <a:spcBef>
                <a:spcPts val="105"/>
              </a:spcBef>
              <a:buSzPct val="96153"/>
              <a:buFont typeface="Wingdings"/>
              <a:buChar char=""/>
              <a:tabLst>
                <a:tab pos="308610" algn="l"/>
              </a:tabLst>
            </a:pPr>
            <a:r>
              <a:rPr sz="2600" b="1" spc="-10" dirty="0">
                <a:latin typeface="Aptos"/>
                <a:cs typeface="Aptos"/>
              </a:rPr>
              <a:t>Advantages</a:t>
            </a:r>
            <a:r>
              <a:rPr sz="2600" spc="-160" dirty="0">
                <a:latin typeface="Times New Roman"/>
                <a:cs typeface="Times New Roman"/>
              </a:rPr>
              <a:t> </a:t>
            </a:r>
            <a:r>
              <a:rPr sz="2600" b="1" dirty="0">
                <a:latin typeface="Aptos"/>
                <a:cs typeface="Aptos"/>
              </a:rPr>
              <a:t>of</a:t>
            </a:r>
            <a:r>
              <a:rPr sz="2600" spc="-95" dirty="0">
                <a:latin typeface="Times New Roman"/>
                <a:cs typeface="Times New Roman"/>
              </a:rPr>
              <a:t> </a:t>
            </a:r>
            <a:r>
              <a:rPr sz="2600" b="1" spc="-25" dirty="0">
                <a:latin typeface="Aptos"/>
                <a:cs typeface="Aptos"/>
              </a:rPr>
              <a:t>Peer</a:t>
            </a:r>
            <a:r>
              <a:rPr sz="2600" spc="-125" dirty="0">
                <a:latin typeface="Times New Roman"/>
                <a:cs typeface="Times New Roman"/>
              </a:rPr>
              <a:t> </a:t>
            </a:r>
            <a:r>
              <a:rPr sz="2600" b="1" dirty="0">
                <a:latin typeface="Aptos"/>
                <a:cs typeface="Aptos"/>
              </a:rPr>
              <a:t>to</a:t>
            </a:r>
            <a:r>
              <a:rPr sz="2600" spc="-120" dirty="0">
                <a:latin typeface="Times New Roman"/>
                <a:cs typeface="Times New Roman"/>
              </a:rPr>
              <a:t> </a:t>
            </a:r>
            <a:r>
              <a:rPr sz="2600" b="1" spc="-25" dirty="0">
                <a:latin typeface="Aptos"/>
                <a:cs typeface="Aptos"/>
              </a:rPr>
              <a:t>Peer</a:t>
            </a:r>
            <a:r>
              <a:rPr sz="2600" spc="-114" dirty="0">
                <a:latin typeface="Times New Roman"/>
                <a:cs typeface="Times New Roman"/>
              </a:rPr>
              <a:t> </a:t>
            </a:r>
            <a:r>
              <a:rPr sz="2600" b="1" spc="-10" dirty="0">
                <a:latin typeface="Aptos"/>
                <a:cs typeface="Aptos"/>
              </a:rPr>
              <a:t>Network</a:t>
            </a:r>
            <a:r>
              <a:rPr sz="2600" spc="-150" dirty="0">
                <a:latin typeface="Times New Roman"/>
                <a:cs typeface="Times New Roman"/>
              </a:rPr>
              <a:t> </a:t>
            </a:r>
            <a:r>
              <a:rPr sz="2600" b="1" spc="-10" dirty="0">
                <a:latin typeface="Aptos"/>
                <a:cs typeface="Aptos"/>
              </a:rPr>
              <a:t>Architecture</a:t>
            </a:r>
            <a:endParaRPr sz="2600">
              <a:latin typeface="Aptos"/>
              <a:cs typeface="Aptos"/>
            </a:endParaRPr>
          </a:p>
          <a:p>
            <a:pPr>
              <a:lnSpc>
                <a:spcPct val="100000"/>
              </a:lnSpc>
              <a:spcBef>
                <a:spcPts val="55"/>
              </a:spcBef>
            </a:pPr>
            <a:endParaRPr sz="3450">
              <a:latin typeface="Aptos"/>
              <a:cs typeface="Aptos"/>
            </a:endParaRPr>
          </a:p>
          <a:p>
            <a:pPr marL="527685" indent="-515620">
              <a:lnSpc>
                <a:spcPct val="100000"/>
              </a:lnSpc>
              <a:spcBef>
                <a:spcPts val="5"/>
              </a:spcBef>
              <a:buAutoNum type="arabicPeriod"/>
              <a:tabLst>
                <a:tab pos="527685" algn="l"/>
                <a:tab pos="528320" algn="l"/>
              </a:tabLst>
            </a:pPr>
            <a:r>
              <a:rPr sz="2600" dirty="0">
                <a:latin typeface="Aptos"/>
                <a:cs typeface="Aptos"/>
              </a:rPr>
              <a:t>It</a:t>
            </a:r>
            <a:r>
              <a:rPr sz="2600" spc="-145" dirty="0">
                <a:latin typeface="Times New Roman"/>
                <a:cs typeface="Times New Roman"/>
              </a:rPr>
              <a:t> </a:t>
            </a:r>
            <a:r>
              <a:rPr sz="2600" dirty="0">
                <a:latin typeface="Aptos"/>
                <a:cs typeface="Aptos"/>
              </a:rPr>
              <a:t>is</a:t>
            </a:r>
            <a:r>
              <a:rPr sz="2600" spc="-140" dirty="0">
                <a:latin typeface="Times New Roman"/>
                <a:cs typeface="Times New Roman"/>
              </a:rPr>
              <a:t> </a:t>
            </a:r>
            <a:r>
              <a:rPr sz="2600" dirty="0">
                <a:latin typeface="Aptos"/>
                <a:cs typeface="Aptos"/>
              </a:rPr>
              <a:t>simple</a:t>
            </a:r>
            <a:r>
              <a:rPr sz="2600" spc="-140" dirty="0">
                <a:latin typeface="Times New Roman"/>
                <a:cs typeface="Times New Roman"/>
              </a:rPr>
              <a:t> </a:t>
            </a:r>
            <a:r>
              <a:rPr sz="2600" dirty="0">
                <a:latin typeface="Aptos"/>
                <a:cs typeface="Aptos"/>
              </a:rPr>
              <a:t>cheap</a:t>
            </a:r>
            <a:r>
              <a:rPr sz="2600" spc="-130" dirty="0">
                <a:latin typeface="Times New Roman"/>
                <a:cs typeface="Times New Roman"/>
              </a:rPr>
              <a:t> </a:t>
            </a:r>
            <a:r>
              <a:rPr sz="2600" dirty="0">
                <a:latin typeface="Aptos"/>
                <a:cs typeface="Aptos"/>
              </a:rPr>
              <a:t>and</a:t>
            </a:r>
            <a:r>
              <a:rPr sz="2600" spc="-135" dirty="0">
                <a:latin typeface="Times New Roman"/>
                <a:cs typeface="Times New Roman"/>
              </a:rPr>
              <a:t> </a:t>
            </a:r>
            <a:r>
              <a:rPr sz="2600" dirty="0">
                <a:latin typeface="Aptos"/>
                <a:cs typeface="Aptos"/>
              </a:rPr>
              <a:t>easier</a:t>
            </a:r>
            <a:r>
              <a:rPr sz="2600" spc="-105" dirty="0">
                <a:latin typeface="Times New Roman"/>
                <a:cs typeface="Times New Roman"/>
              </a:rPr>
              <a:t> </a:t>
            </a:r>
            <a:r>
              <a:rPr sz="2600" dirty="0">
                <a:latin typeface="Aptos"/>
                <a:cs typeface="Aptos"/>
              </a:rPr>
              <a:t>to</a:t>
            </a:r>
            <a:r>
              <a:rPr sz="2600" spc="-140" dirty="0">
                <a:latin typeface="Times New Roman"/>
                <a:cs typeface="Times New Roman"/>
              </a:rPr>
              <a:t> </a:t>
            </a:r>
            <a:r>
              <a:rPr sz="2600" dirty="0">
                <a:latin typeface="Aptos"/>
                <a:cs typeface="Aptos"/>
              </a:rPr>
              <a:t>set</a:t>
            </a:r>
            <a:r>
              <a:rPr sz="2600" spc="-120" dirty="0">
                <a:latin typeface="Times New Roman"/>
                <a:cs typeface="Times New Roman"/>
              </a:rPr>
              <a:t> </a:t>
            </a:r>
            <a:r>
              <a:rPr sz="2600" spc="-25" dirty="0">
                <a:latin typeface="Aptos"/>
                <a:cs typeface="Aptos"/>
              </a:rPr>
              <a:t>up.</a:t>
            </a:r>
            <a:endParaRPr sz="2600">
              <a:latin typeface="Aptos"/>
              <a:cs typeface="Aptos"/>
            </a:endParaRPr>
          </a:p>
          <a:p>
            <a:pPr marL="527685" indent="-515620">
              <a:lnSpc>
                <a:spcPct val="100000"/>
              </a:lnSpc>
              <a:spcBef>
                <a:spcPts val="695"/>
              </a:spcBef>
              <a:buAutoNum type="arabicPeriod"/>
              <a:tabLst>
                <a:tab pos="527685" algn="l"/>
                <a:tab pos="528320" algn="l"/>
              </a:tabLst>
            </a:pPr>
            <a:r>
              <a:rPr sz="2600" dirty="0">
                <a:latin typeface="Aptos"/>
                <a:cs typeface="Aptos"/>
              </a:rPr>
              <a:t>Since</a:t>
            </a:r>
            <a:r>
              <a:rPr sz="2600" spc="-140" dirty="0">
                <a:latin typeface="Times New Roman"/>
                <a:cs typeface="Times New Roman"/>
              </a:rPr>
              <a:t> </a:t>
            </a:r>
            <a:r>
              <a:rPr sz="2600" spc="-10" dirty="0">
                <a:latin typeface="Aptos"/>
                <a:cs typeface="Aptos"/>
              </a:rPr>
              <a:t>there</a:t>
            </a:r>
            <a:r>
              <a:rPr sz="2600" spc="-130" dirty="0">
                <a:latin typeface="Times New Roman"/>
                <a:cs typeface="Times New Roman"/>
              </a:rPr>
              <a:t> </a:t>
            </a:r>
            <a:r>
              <a:rPr sz="2600" dirty="0">
                <a:latin typeface="Aptos"/>
                <a:cs typeface="Aptos"/>
              </a:rPr>
              <a:t>is</a:t>
            </a:r>
            <a:r>
              <a:rPr sz="2600" spc="-140" dirty="0">
                <a:latin typeface="Times New Roman"/>
                <a:cs typeface="Times New Roman"/>
              </a:rPr>
              <a:t> </a:t>
            </a:r>
            <a:r>
              <a:rPr sz="2600" dirty="0">
                <a:latin typeface="Aptos"/>
                <a:cs typeface="Aptos"/>
              </a:rPr>
              <a:t>no</a:t>
            </a:r>
            <a:r>
              <a:rPr sz="2600" spc="-130" dirty="0">
                <a:latin typeface="Times New Roman"/>
                <a:cs typeface="Times New Roman"/>
              </a:rPr>
              <a:t> </a:t>
            </a:r>
            <a:r>
              <a:rPr sz="2600" spc="-10" dirty="0">
                <a:latin typeface="Aptos"/>
                <a:cs typeface="Aptos"/>
              </a:rPr>
              <a:t>dedicated</a:t>
            </a:r>
            <a:r>
              <a:rPr sz="2600" spc="-130" dirty="0">
                <a:latin typeface="Times New Roman"/>
                <a:cs typeface="Times New Roman"/>
              </a:rPr>
              <a:t> </a:t>
            </a:r>
            <a:r>
              <a:rPr sz="2600" spc="-30" dirty="0">
                <a:latin typeface="Aptos"/>
                <a:cs typeface="Aptos"/>
              </a:rPr>
              <a:t>server,</a:t>
            </a:r>
            <a:r>
              <a:rPr sz="2600" spc="-125" dirty="0">
                <a:latin typeface="Times New Roman"/>
                <a:cs typeface="Times New Roman"/>
              </a:rPr>
              <a:t> </a:t>
            </a:r>
            <a:r>
              <a:rPr sz="2600" dirty="0">
                <a:latin typeface="Aptos"/>
                <a:cs typeface="Aptos"/>
              </a:rPr>
              <a:t>user</a:t>
            </a:r>
            <a:r>
              <a:rPr sz="2600" spc="-130" dirty="0">
                <a:latin typeface="Times New Roman"/>
                <a:cs typeface="Times New Roman"/>
              </a:rPr>
              <a:t> </a:t>
            </a:r>
            <a:r>
              <a:rPr sz="2600" dirty="0">
                <a:latin typeface="Aptos"/>
                <a:cs typeface="Aptos"/>
              </a:rPr>
              <a:t>can</a:t>
            </a:r>
            <a:r>
              <a:rPr sz="2600" spc="-130" dirty="0">
                <a:latin typeface="Times New Roman"/>
                <a:cs typeface="Times New Roman"/>
              </a:rPr>
              <a:t> </a:t>
            </a:r>
            <a:r>
              <a:rPr sz="2600" spc="-10" dirty="0">
                <a:latin typeface="Aptos"/>
                <a:cs typeface="Aptos"/>
              </a:rPr>
              <a:t>manage</a:t>
            </a:r>
            <a:r>
              <a:rPr sz="2600" spc="-130" dirty="0">
                <a:latin typeface="Times New Roman"/>
                <a:cs typeface="Times New Roman"/>
              </a:rPr>
              <a:t> </a:t>
            </a:r>
            <a:r>
              <a:rPr sz="2600" dirty="0">
                <a:latin typeface="Aptos"/>
                <a:cs typeface="Aptos"/>
              </a:rPr>
              <a:t>their</a:t>
            </a:r>
            <a:r>
              <a:rPr sz="2600" spc="-125" dirty="0">
                <a:latin typeface="Times New Roman"/>
                <a:cs typeface="Times New Roman"/>
              </a:rPr>
              <a:t> </a:t>
            </a:r>
            <a:r>
              <a:rPr sz="2600" dirty="0">
                <a:latin typeface="Aptos"/>
                <a:cs typeface="Aptos"/>
              </a:rPr>
              <a:t>own</a:t>
            </a:r>
            <a:r>
              <a:rPr sz="2600" spc="-125" dirty="0">
                <a:latin typeface="Times New Roman"/>
                <a:cs typeface="Times New Roman"/>
              </a:rPr>
              <a:t> </a:t>
            </a:r>
            <a:r>
              <a:rPr sz="2600" spc="-10" dirty="0">
                <a:latin typeface="Aptos"/>
                <a:cs typeface="Aptos"/>
              </a:rPr>
              <a:t>server.</a:t>
            </a:r>
            <a:endParaRPr sz="2600">
              <a:latin typeface="Aptos"/>
              <a:cs typeface="Aptos"/>
            </a:endParaRPr>
          </a:p>
          <a:p>
            <a:pPr marL="527685" marR="118745" indent="-515620">
              <a:lnSpc>
                <a:spcPts val="2810"/>
              </a:lnSpc>
              <a:spcBef>
                <a:spcPts val="1040"/>
              </a:spcBef>
              <a:buAutoNum type="arabicPeriod"/>
              <a:tabLst>
                <a:tab pos="527685" algn="l"/>
                <a:tab pos="528320" algn="l"/>
              </a:tabLst>
            </a:pPr>
            <a:r>
              <a:rPr sz="2600" spc="-10" dirty="0">
                <a:latin typeface="Aptos"/>
                <a:cs typeface="Aptos"/>
              </a:rPr>
              <a:t>Failure</a:t>
            </a:r>
            <a:r>
              <a:rPr sz="2600" spc="-140" dirty="0">
                <a:latin typeface="Times New Roman"/>
                <a:cs typeface="Times New Roman"/>
              </a:rPr>
              <a:t> </a:t>
            </a:r>
            <a:r>
              <a:rPr sz="2600" dirty="0">
                <a:latin typeface="Aptos"/>
                <a:cs typeface="Aptos"/>
              </a:rPr>
              <a:t>of</a:t>
            </a:r>
            <a:r>
              <a:rPr sz="2600" spc="-130" dirty="0">
                <a:latin typeface="Times New Roman"/>
                <a:cs typeface="Times New Roman"/>
              </a:rPr>
              <a:t> </a:t>
            </a:r>
            <a:r>
              <a:rPr sz="2600" dirty="0">
                <a:latin typeface="Aptos"/>
                <a:cs typeface="Aptos"/>
              </a:rPr>
              <a:t>a</a:t>
            </a:r>
            <a:r>
              <a:rPr sz="2600" spc="-130" dirty="0">
                <a:latin typeface="Times New Roman"/>
                <a:cs typeface="Times New Roman"/>
              </a:rPr>
              <a:t> </a:t>
            </a:r>
            <a:r>
              <a:rPr sz="2600" dirty="0">
                <a:latin typeface="Aptos"/>
                <a:cs typeface="Aptos"/>
              </a:rPr>
              <a:t>computer</a:t>
            </a:r>
            <a:r>
              <a:rPr sz="2600" spc="-150" dirty="0">
                <a:latin typeface="Times New Roman"/>
                <a:cs typeface="Times New Roman"/>
              </a:rPr>
              <a:t> </a:t>
            </a:r>
            <a:r>
              <a:rPr sz="2600" dirty="0">
                <a:latin typeface="Aptos"/>
                <a:cs typeface="Aptos"/>
              </a:rPr>
              <a:t>in</a:t>
            </a:r>
            <a:r>
              <a:rPr sz="2600" spc="-130" dirty="0">
                <a:latin typeface="Times New Roman"/>
                <a:cs typeface="Times New Roman"/>
              </a:rPr>
              <a:t> </a:t>
            </a:r>
            <a:r>
              <a:rPr sz="2600" dirty="0">
                <a:latin typeface="Aptos"/>
                <a:cs typeface="Aptos"/>
              </a:rPr>
              <a:t>a</a:t>
            </a:r>
            <a:r>
              <a:rPr sz="2600" spc="-125" dirty="0">
                <a:latin typeface="Times New Roman"/>
                <a:cs typeface="Times New Roman"/>
              </a:rPr>
              <a:t> </a:t>
            </a:r>
            <a:r>
              <a:rPr sz="2600" dirty="0">
                <a:latin typeface="Aptos"/>
                <a:cs typeface="Aptos"/>
              </a:rPr>
              <a:t>network</a:t>
            </a:r>
            <a:r>
              <a:rPr sz="2600" spc="-135" dirty="0">
                <a:latin typeface="Times New Roman"/>
                <a:cs typeface="Times New Roman"/>
              </a:rPr>
              <a:t> </a:t>
            </a:r>
            <a:r>
              <a:rPr sz="2600" dirty="0">
                <a:latin typeface="Aptos"/>
                <a:cs typeface="Aptos"/>
              </a:rPr>
              <a:t>doesn't</a:t>
            </a:r>
            <a:r>
              <a:rPr sz="2600" spc="-125" dirty="0">
                <a:latin typeface="Times New Roman"/>
                <a:cs typeface="Times New Roman"/>
              </a:rPr>
              <a:t> </a:t>
            </a:r>
            <a:r>
              <a:rPr sz="2600" spc="-10" dirty="0">
                <a:latin typeface="Aptos"/>
                <a:cs typeface="Aptos"/>
              </a:rPr>
              <a:t>effect</a:t>
            </a:r>
            <a:r>
              <a:rPr sz="2600" spc="-130" dirty="0">
                <a:latin typeface="Times New Roman"/>
                <a:cs typeface="Times New Roman"/>
              </a:rPr>
              <a:t> </a:t>
            </a:r>
            <a:r>
              <a:rPr sz="2600" dirty="0">
                <a:latin typeface="Aptos"/>
                <a:cs typeface="Aptos"/>
              </a:rPr>
              <a:t>the</a:t>
            </a:r>
            <a:r>
              <a:rPr sz="2600" spc="-130" dirty="0">
                <a:latin typeface="Times New Roman"/>
                <a:cs typeface="Times New Roman"/>
              </a:rPr>
              <a:t> </a:t>
            </a:r>
            <a:r>
              <a:rPr sz="2600" dirty="0">
                <a:latin typeface="Aptos"/>
                <a:cs typeface="Aptos"/>
              </a:rPr>
              <a:t>other</a:t>
            </a:r>
            <a:r>
              <a:rPr sz="2600" spc="-125" dirty="0">
                <a:latin typeface="Times New Roman"/>
                <a:cs typeface="Times New Roman"/>
              </a:rPr>
              <a:t> </a:t>
            </a:r>
            <a:r>
              <a:rPr sz="2600" spc="-10" dirty="0">
                <a:latin typeface="Aptos"/>
                <a:cs typeface="Aptos"/>
              </a:rPr>
              <a:t>computer</a:t>
            </a:r>
            <a:r>
              <a:rPr sz="2600" spc="-10" dirty="0">
                <a:latin typeface="Times New Roman"/>
                <a:cs typeface="Times New Roman"/>
              </a:rPr>
              <a:t> </a:t>
            </a:r>
            <a:r>
              <a:rPr sz="2600" dirty="0">
                <a:latin typeface="Aptos"/>
                <a:cs typeface="Aptos"/>
              </a:rPr>
              <a:t>in</a:t>
            </a:r>
            <a:r>
              <a:rPr sz="2600" spc="-125" dirty="0">
                <a:latin typeface="Times New Roman"/>
                <a:cs typeface="Times New Roman"/>
              </a:rPr>
              <a:t> </a:t>
            </a:r>
            <a:r>
              <a:rPr sz="2600" dirty="0">
                <a:latin typeface="Aptos"/>
                <a:cs typeface="Aptos"/>
              </a:rPr>
              <a:t>a</a:t>
            </a:r>
            <a:r>
              <a:rPr sz="2600" spc="-125" dirty="0">
                <a:latin typeface="Times New Roman"/>
                <a:cs typeface="Times New Roman"/>
              </a:rPr>
              <a:t> </a:t>
            </a:r>
            <a:r>
              <a:rPr sz="2600" spc="-10" dirty="0">
                <a:latin typeface="Aptos"/>
                <a:cs typeface="Aptos"/>
              </a:rPr>
              <a:t>network.</a:t>
            </a:r>
            <a:endParaRPr sz="2600">
              <a:latin typeface="Aptos"/>
              <a:cs typeface="Aptos"/>
            </a:endParaRPr>
          </a:p>
          <a:p>
            <a:pPr marL="527685" indent="-515620">
              <a:lnSpc>
                <a:spcPct val="100000"/>
              </a:lnSpc>
              <a:spcBef>
                <a:spcPts val="640"/>
              </a:spcBef>
              <a:buAutoNum type="arabicPeriod"/>
              <a:tabLst>
                <a:tab pos="527685" algn="l"/>
                <a:tab pos="528320" algn="l"/>
              </a:tabLst>
            </a:pPr>
            <a:r>
              <a:rPr sz="2600" dirty="0">
                <a:latin typeface="Aptos"/>
                <a:cs typeface="Aptos"/>
              </a:rPr>
              <a:t>No</a:t>
            </a:r>
            <a:r>
              <a:rPr sz="2600" spc="-135" dirty="0">
                <a:latin typeface="Times New Roman"/>
                <a:cs typeface="Times New Roman"/>
              </a:rPr>
              <a:t> </a:t>
            </a:r>
            <a:r>
              <a:rPr sz="2600" spc="-10" dirty="0">
                <a:latin typeface="Aptos"/>
                <a:cs typeface="Aptos"/>
              </a:rPr>
              <a:t>data</a:t>
            </a:r>
            <a:r>
              <a:rPr sz="2600" spc="-130" dirty="0">
                <a:latin typeface="Times New Roman"/>
                <a:cs typeface="Times New Roman"/>
              </a:rPr>
              <a:t> </a:t>
            </a:r>
            <a:r>
              <a:rPr sz="2600" spc="-10" dirty="0">
                <a:latin typeface="Aptos"/>
                <a:cs typeface="Aptos"/>
              </a:rPr>
              <a:t>collision.</a:t>
            </a:r>
            <a:endParaRPr sz="2600">
              <a:latin typeface="Aptos"/>
              <a:cs typeface="Aptos"/>
            </a:endParaRPr>
          </a:p>
          <a:p>
            <a:pPr marL="307975" indent="-295910">
              <a:lnSpc>
                <a:spcPct val="100000"/>
              </a:lnSpc>
              <a:spcBef>
                <a:spcPts val="695"/>
              </a:spcBef>
              <a:buSzPct val="96153"/>
              <a:buFont typeface="Wingdings"/>
              <a:buChar char=""/>
              <a:tabLst>
                <a:tab pos="308610" algn="l"/>
              </a:tabLst>
            </a:pPr>
            <a:r>
              <a:rPr sz="2600" b="1" spc="-10" dirty="0">
                <a:latin typeface="Aptos"/>
                <a:cs typeface="Aptos"/>
              </a:rPr>
              <a:t>Disadvantages</a:t>
            </a:r>
            <a:r>
              <a:rPr sz="2600" spc="-140" dirty="0">
                <a:latin typeface="Times New Roman"/>
                <a:cs typeface="Times New Roman"/>
              </a:rPr>
              <a:t> </a:t>
            </a:r>
            <a:r>
              <a:rPr sz="2600" b="1" dirty="0">
                <a:latin typeface="Aptos"/>
                <a:cs typeface="Aptos"/>
              </a:rPr>
              <a:t>of</a:t>
            </a:r>
            <a:r>
              <a:rPr sz="2600" spc="-120" dirty="0">
                <a:latin typeface="Times New Roman"/>
                <a:cs typeface="Times New Roman"/>
              </a:rPr>
              <a:t> </a:t>
            </a:r>
            <a:r>
              <a:rPr sz="2600" b="1" spc="-25" dirty="0">
                <a:latin typeface="Aptos"/>
                <a:cs typeface="Aptos"/>
              </a:rPr>
              <a:t>Peer</a:t>
            </a:r>
            <a:r>
              <a:rPr sz="2600" spc="-110" dirty="0">
                <a:latin typeface="Times New Roman"/>
                <a:cs typeface="Times New Roman"/>
              </a:rPr>
              <a:t> </a:t>
            </a:r>
            <a:r>
              <a:rPr sz="2600" b="1" dirty="0">
                <a:latin typeface="Aptos"/>
                <a:cs typeface="Aptos"/>
              </a:rPr>
              <a:t>to</a:t>
            </a:r>
            <a:r>
              <a:rPr sz="2600" spc="-114" dirty="0">
                <a:latin typeface="Times New Roman"/>
                <a:cs typeface="Times New Roman"/>
              </a:rPr>
              <a:t> </a:t>
            </a:r>
            <a:r>
              <a:rPr sz="2600" b="1" spc="-25" dirty="0">
                <a:latin typeface="Aptos"/>
                <a:cs typeface="Aptos"/>
              </a:rPr>
              <a:t>Peer</a:t>
            </a:r>
            <a:r>
              <a:rPr sz="2600" spc="-110" dirty="0">
                <a:latin typeface="Times New Roman"/>
                <a:cs typeface="Times New Roman"/>
              </a:rPr>
              <a:t> </a:t>
            </a:r>
            <a:r>
              <a:rPr sz="2600" b="1" spc="-10" dirty="0">
                <a:latin typeface="Aptos"/>
                <a:cs typeface="Aptos"/>
              </a:rPr>
              <a:t>Network</a:t>
            </a:r>
            <a:r>
              <a:rPr sz="2600" spc="-140" dirty="0">
                <a:latin typeface="Times New Roman"/>
                <a:cs typeface="Times New Roman"/>
              </a:rPr>
              <a:t> </a:t>
            </a:r>
            <a:r>
              <a:rPr sz="2600" b="1" spc="-10" dirty="0">
                <a:latin typeface="Aptos"/>
                <a:cs typeface="Aptos"/>
              </a:rPr>
              <a:t>Architecture</a:t>
            </a:r>
            <a:endParaRPr sz="2600">
              <a:latin typeface="Aptos"/>
              <a:cs typeface="Aptos"/>
            </a:endParaRPr>
          </a:p>
          <a:p>
            <a:pPr marL="527685" indent="-515620">
              <a:lnSpc>
                <a:spcPct val="100000"/>
              </a:lnSpc>
              <a:spcBef>
                <a:spcPts val="685"/>
              </a:spcBef>
              <a:buAutoNum type="arabicPeriod"/>
              <a:tabLst>
                <a:tab pos="527685" algn="l"/>
                <a:tab pos="528320" algn="l"/>
              </a:tabLst>
            </a:pPr>
            <a:r>
              <a:rPr sz="2600" spc="-10" dirty="0">
                <a:latin typeface="Aptos"/>
                <a:cs typeface="Aptos"/>
              </a:rPr>
              <a:t>Data</a:t>
            </a:r>
            <a:r>
              <a:rPr sz="2600" spc="-140" dirty="0">
                <a:latin typeface="Times New Roman"/>
                <a:cs typeface="Times New Roman"/>
              </a:rPr>
              <a:t> </a:t>
            </a:r>
            <a:r>
              <a:rPr sz="2600" dirty="0">
                <a:latin typeface="Aptos"/>
                <a:cs typeface="Aptos"/>
              </a:rPr>
              <a:t>security</a:t>
            </a:r>
            <a:r>
              <a:rPr sz="2600" spc="-140" dirty="0">
                <a:latin typeface="Times New Roman"/>
                <a:cs typeface="Times New Roman"/>
              </a:rPr>
              <a:t> </a:t>
            </a:r>
            <a:r>
              <a:rPr sz="2600" dirty="0">
                <a:latin typeface="Aptos"/>
                <a:cs typeface="Aptos"/>
              </a:rPr>
              <a:t>is</a:t>
            </a:r>
            <a:r>
              <a:rPr sz="2600" spc="-130" dirty="0">
                <a:latin typeface="Times New Roman"/>
                <a:cs typeface="Times New Roman"/>
              </a:rPr>
              <a:t> </a:t>
            </a:r>
            <a:r>
              <a:rPr sz="2600" dirty="0">
                <a:latin typeface="Aptos"/>
                <a:cs typeface="Aptos"/>
              </a:rPr>
              <a:t>very</a:t>
            </a:r>
            <a:r>
              <a:rPr sz="2600" spc="-120" dirty="0">
                <a:latin typeface="Times New Roman"/>
                <a:cs typeface="Times New Roman"/>
              </a:rPr>
              <a:t> </a:t>
            </a:r>
            <a:r>
              <a:rPr sz="2600" dirty="0">
                <a:latin typeface="Aptos"/>
                <a:cs typeface="Aptos"/>
              </a:rPr>
              <a:t>poor</a:t>
            </a:r>
            <a:r>
              <a:rPr sz="2600" spc="-130" dirty="0">
                <a:latin typeface="Times New Roman"/>
                <a:cs typeface="Times New Roman"/>
              </a:rPr>
              <a:t> </a:t>
            </a:r>
            <a:r>
              <a:rPr sz="2600" dirty="0">
                <a:latin typeface="Aptos"/>
                <a:cs typeface="Aptos"/>
              </a:rPr>
              <a:t>in</a:t>
            </a:r>
            <a:r>
              <a:rPr sz="2600" spc="-140" dirty="0">
                <a:latin typeface="Times New Roman"/>
                <a:cs typeface="Times New Roman"/>
              </a:rPr>
              <a:t> </a:t>
            </a:r>
            <a:r>
              <a:rPr sz="2600" dirty="0">
                <a:latin typeface="Aptos"/>
                <a:cs typeface="Aptos"/>
              </a:rPr>
              <a:t>this</a:t>
            </a:r>
            <a:r>
              <a:rPr sz="2600" spc="-130" dirty="0">
                <a:latin typeface="Times New Roman"/>
                <a:cs typeface="Times New Roman"/>
              </a:rPr>
              <a:t> </a:t>
            </a:r>
            <a:r>
              <a:rPr sz="2600" dirty="0">
                <a:latin typeface="Aptos"/>
                <a:cs typeface="Aptos"/>
              </a:rPr>
              <a:t>type</a:t>
            </a:r>
            <a:r>
              <a:rPr sz="2600" spc="-130" dirty="0">
                <a:latin typeface="Times New Roman"/>
                <a:cs typeface="Times New Roman"/>
              </a:rPr>
              <a:t> </a:t>
            </a:r>
            <a:r>
              <a:rPr sz="2600" dirty="0">
                <a:latin typeface="Aptos"/>
                <a:cs typeface="Aptos"/>
              </a:rPr>
              <a:t>of</a:t>
            </a:r>
            <a:r>
              <a:rPr sz="2600" spc="-130" dirty="0">
                <a:latin typeface="Times New Roman"/>
                <a:cs typeface="Times New Roman"/>
              </a:rPr>
              <a:t> </a:t>
            </a:r>
            <a:r>
              <a:rPr sz="2600" spc="-10" dirty="0">
                <a:latin typeface="Aptos"/>
                <a:cs typeface="Aptos"/>
              </a:rPr>
              <a:t>architecture.</a:t>
            </a:r>
            <a:endParaRPr sz="2600">
              <a:latin typeface="Aptos"/>
              <a:cs typeface="Aptos"/>
            </a:endParaRPr>
          </a:p>
          <a:p>
            <a:pPr marL="527685" indent="-515620">
              <a:lnSpc>
                <a:spcPct val="100000"/>
              </a:lnSpc>
              <a:spcBef>
                <a:spcPts val="685"/>
              </a:spcBef>
              <a:buAutoNum type="arabicPeriod"/>
              <a:tabLst>
                <a:tab pos="527685" algn="l"/>
                <a:tab pos="528320" algn="l"/>
              </a:tabLst>
            </a:pPr>
            <a:r>
              <a:rPr sz="2600" spc="-10" dirty="0">
                <a:latin typeface="Aptos"/>
                <a:cs typeface="Aptos"/>
              </a:rPr>
              <a:t>Data</a:t>
            </a:r>
            <a:r>
              <a:rPr sz="2600" spc="-130" dirty="0">
                <a:latin typeface="Times New Roman"/>
                <a:cs typeface="Times New Roman"/>
              </a:rPr>
              <a:t> </a:t>
            </a:r>
            <a:r>
              <a:rPr sz="2600" spc="-10" dirty="0">
                <a:latin typeface="Aptos"/>
                <a:cs typeface="Aptos"/>
              </a:rPr>
              <a:t>recovery</a:t>
            </a:r>
            <a:r>
              <a:rPr sz="2600" spc="-120" dirty="0">
                <a:latin typeface="Times New Roman"/>
                <a:cs typeface="Times New Roman"/>
              </a:rPr>
              <a:t> </a:t>
            </a:r>
            <a:r>
              <a:rPr sz="2600" dirty="0">
                <a:latin typeface="Aptos"/>
                <a:cs typeface="Aptos"/>
              </a:rPr>
              <a:t>and</a:t>
            </a:r>
            <a:r>
              <a:rPr sz="2600" spc="-120" dirty="0">
                <a:latin typeface="Times New Roman"/>
                <a:cs typeface="Times New Roman"/>
              </a:rPr>
              <a:t> </a:t>
            </a:r>
            <a:r>
              <a:rPr sz="2600" spc="-10" dirty="0">
                <a:latin typeface="Aptos"/>
                <a:cs typeface="Aptos"/>
              </a:rPr>
              <a:t>backup</a:t>
            </a:r>
            <a:r>
              <a:rPr sz="2600" spc="-130" dirty="0">
                <a:latin typeface="Times New Roman"/>
                <a:cs typeface="Times New Roman"/>
              </a:rPr>
              <a:t> </a:t>
            </a:r>
            <a:r>
              <a:rPr sz="2600" dirty="0">
                <a:latin typeface="Aptos"/>
                <a:cs typeface="Aptos"/>
              </a:rPr>
              <a:t>is</a:t>
            </a:r>
            <a:r>
              <a:rPr sz="2600" spc="-120" dirty="0">
                <a:latin typeface="Times New Roman"/>
                <a:cs typeface="Times New Roman"/>
              </a:rPr>
              <a:t> </a:t>
            </a:r>
            <a:r>
              <a:rPr sz="2600" spc="-10" dirty="0">
                <a:latin typeface="Aptos"/>
                <a:cs typeface="Aptos"/>
              </a:rPr>
              <a:t>difficult.</a:t>
            </a:r>
            <a:endParaRPr sz="2600">
              <a:latin typeface="Aptos"/>
              <a:cs typeface="Aptos"/>
            </a:endParaRPr>
          </a:p>
          <a:p>
            <a:pPr marL="527685" indent="-515620">
              <a:lnSpc>
                <a:spcPct val="100000"/>
              </a:lnSpc>
              <a:spcBef>
                <a:spcPts val="695"/>
              </a:spcBef>
              <a:buAutoNum type="arabicPeriod"/>
              <a:tabLst>
                <a:tab pos="527685" algn="l"/>
                <a:tab pos="528320" algn="l"/>
              </a:tabLst>
            </a:pPr>
            <a:r>
              <a:rPr sz="2600" dirty="0">
                <a:latin typeface="Aptos"/>
                <a:cs typeface="Aptos"/>
              </a:rPr>
              <a:t>It</a:t>
            </a:r>
            <a:r>
              <a:rPr sz="2600" spc="-150" dirty="0">
                <a:latin typeface="Times New Roman"/>
                <a:cs typeface="Times New Roman"/>
              </a:rPr>
              <a:t> </a:t>
            </a:r>
            <a:r>
              <a:rPr sz="2600" dirty="0">
                <a:latin typeface="Aptos"/>
                <a:cs typeface="Aptos"/>
              </a:rPr>
              <a:t>is</a:t>
            </a:r>
            <a:r>
              <a:rPr sz="2600" spc="-150" dirty="0">
                <a:latin typeface="Times New Roman"/>
                <a:cs typeface="Times New Roman"/>
              </a:rPr>
              <a:t> </a:t>
            </a:r>
            <a:r>
              <a:rPr sz="2600" dirty="0">
                <a:latin typeface="Aptos"/>
                <a:cs typeface="Aptos"/>
              </a:rPr>
              <a:t>not</a:t>
            </a:r>
            <a:r>
              <a:rPr sz="2600" spc="-135" dirty="0">
                <a:latin typeface="Times New Roman"/>
                <a:cs typeface="Times New Roman"/>
              </a:rPr>
              <a:t> </a:t>
            </a:r>
            <a:r>
              <a:rPr sz="2600" spc="-10" dirty="0">
                <a:latin typeface="Aptos"/>
                <a:cs typeface="Aptos"/>
              </a:rPr>
              <a:t>appropriate</a:t>
            </a:r>
            <a:r>
              <a:rPr sz="2600" spc="-140" dirty="0">
                <a:latin typeface="Times New Roman"/>
                <a:cs typeface="Times New Roman"/>
              </a:rPr>
              <a:t> </a:t>
            </a:r>
            <a:r>
              <a:rPr sz="2600" dirty="0">
                <a:latin typeface="Aptos"/>
                <a:cs typeface="Aptos"/>
              </a:rPr>
              <a:t>for</a:t>
            </a:r>
            <a:r>
              <a:rPr sz="2600" spc="-130" dirty="0">
                <a:latin typeface="Times New Roman"/>
                <a:cs typeface="Times New Roman"/>
              </a:rPr>
              <a:t> </a:t>
            </a:r>
            <a:r>
              <a:rPr sz="2600" spc="-10" dirty="0">
                <a:latin typeface="Aptos"/>
                <a:cs typeface="Aptos"/>
              </a:rPr>
              <a:t>large</a:t>
            </a:r>
            <a:r>
              <a:rPr sz="2600" spc="-120" dirty="0">
                <a:latin typeface="Times New Roman"/>
                <a:cs typeface="Times New Roman"/>
              </a:rPr>
              <a:t> </a:t>
            </a:r>
            <a:r>
              <a:rPr sz="2600" dirty="0">
                <a:latin typeface="Aptos"/>
                <a:cs typeface="Aptos"/>
              </a:rPr>
              <a:t>scale</a:t>
            </a:r>
            <a:r>
              <a:rPr sz="2600" spc="-140" dirty="0">
                <a:latin typeface="Times New Roman"/>
                <a:cs typeface="Times New Roman"/>
              </a:rPr>
              <a:t> </a:t>
            </a:r>
            <a:r>
              <a:rPr sz="2600" spc="-10" dirty="0">
                <a:latin typeface="Aptos"/>
                <a:cs typeface="Aptos"/>
              </a:rPr>
              <a:t>organization.</a:t>
            </a:r>
            <a:endParaRPr sz="2600">
              <a:latin typeface="Aptos"/>
              <a:cs typeface="Aptos"/>
            </a:endParaRPr>
          </a:p>
          <a:p>
            <a:pPr marL="527685" indent="-515620">
              <a:lnSpc>
                <a:spcPct val="100000"/>
              </a:lnSpc>
              <a:spcBef>
                <a:spcPts val="685"/>
              </a:spcBef>
              <a:buAutoNum type="arabicPeriod"/>
              <a:tabLst>
                <a:tab pos="527685" algn="l"/>
                <a:tab pos="528320" algn="l"/>
              </a:tabLst>
            </a:pPr>
            <a:r>
              <a:rPr sz="2600" spc="-10" dirty="0">
                <a:latin typeface="Aptos"/>
                <a:cs typeface="Aptos"/>
              </a:rPr>
              <a:t>Network</a:t>
            </a:r>
            <a:r>
              <a:rPr sz="2600" spc="-105" dirty="0">
                <a:latin typeface="Times New Roman"/>
                <a:cs typeface="Times New Roman"/>
              </a:rPr>
              <a:t> </a:t>
            </a:r>
            <a:r>
              <a:rPr sz="2600" spc="-20" dirty="0">
                <a:latin typeface="Aptos"/>
                <a:cs typeface="Aptos"/>
              </a:rPr>
              <a:t>administration</a:t>
            </a:r>
            <a:r>
              <a:rPr sz="2600" spc="-100" dirty="0">
                <a:latin typeface="Times New Roman"/>
                <a:cs typeface="Times New Roman"/>
              </a:rPr>
              <a:t> </a:t>
            </a:r>
            <a:r>
              <a:rPr sz="2600" dirty="0">
                <a:latin typeface="Aptos"/>
                <a:cs typeface="Aptos"/>
              </a:rPr>
              <a:t>is</a:t>
            </a:r>
            <a:r>
              <a:rPr sz="2600" spc="-80" dirty="0">
                <a:latin typeface="Times New Roman"/>
                <a:cs typeface="Times New Roman"/>
              </a:rPr>
              <a:t> </a:t>
            </a:r>
            <a:r>
              <a:rPr sz="2600" spc="-10" dirty="0">
                <a:latin typeface="Aptos"/>
                <a:cs typeface="Aptos"/>
              </a:rPr>
              <a:t>difficult</a:t>
            </a:r>
            <a:r>
              <a:rPr sz="2600" spc="-90" dirty="0">
                <a:latin typeface="Times New Roman"/>
                <a:cs typeface="Times New Roman"/>
              </a:rPr>
              <a:t> </a:t>
            </a:r>
            <a:r>
              <a:rPr sz="2600" dirty="0">
                <a:latin typeface="Aptos"/>
                <a:cs typeface="Aptos"/>
              </a:rPr>
              <a:t>it</a:t>
            </a:r>
            <a:r>
              <a:rPr sz="2600" spc="-100" dirty="0">
                <a:latin typeface="Times New Roman"/>
                <a:cs typeface="Times New Roman"/>
              </a:rPr>
              <a:t> </a:t>
            </a:r>
            <a:r>
              <a:rPr sz="2600" spc="-10" dirty="0">
                <a:latin typeface="Aptos"/>
                <a:cs typeface="Aptos"/>
              </a:rPr>
              <a:t>without</a:t>
            </a:r>
            <a:r>
              <a:rPr sz="2600" spc="-110" dirty="0">
                <a:latin typeface="Times New Roman"/>
                <a:cs typeface="Times New Roman"/>
              </a:rPr>
              <a:t> </a:t>
            </a:r>
            <a:r>
              <a:rPr sz="2600" spc="-10" dirty="0">
                <a:latin typeface="Aptos"/>
                <a:cs typeface="Aptos"/>
              </a:rPr>
              <a:t>dedicated</a:t>
            </a:r>
            <a:r>
              <a:rPr sz="2600" spc="-85" dirty="0">
                <a:latin typeface="Times New Roman"/>
                <a:cs typeface="Times New Roman"/>
              </a:rPr>
              <a:t> </a:t>
            </a:r>
            <a:r>
              <a:rPr sz="2600" spc="-10" dirty="0">
                <a:latin typeface="Aptos"/>
                <a:cs typeface="Aptos"/>
              </a:rPr>
              <a:t>Server.</a:t>
            </a:r>
            <a:endParaRPr sz="2600">
              <a:latin typeface="Aptos"/>
              <a:cs typeface="Apto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0" y="118934"/>
            <a:ext cx="5331459" cy="635000"/>
          </a:xfrm>
          <a:prstGeom prst="rect">
            <a:avLst/>
          </a:prstGeom>
        </p:spPr>
        <p:txBody>
          <a:bodyPr vert="horz" wrap="square" lIns="0" tIns="12065" rIns="0" bIns="0" rtlCol="0">
            <a:spAutoFit/>
          </a:bodyPr>
          <a:lstStyle/>
          <a:p>
            <a:pPr marL="12700">
              <a:lnSpc>
                <a:spcPct val="100000"/>
              </a:lnSpc>
              <a:spcBef>
                <a:spcPts val="95"/>
              </a:spcBef>
            </a:pPr>
            <a:r>
              <a:rPr sz="4000" b="1" spc="-45" dirty="0">
                <a:latin typeface="Aptos Display"/>
                <a:cs typeface="Aptos Display"/>
              </a:rPr>
              <a:t>Transmission</a:t>
            </a:r>
            <a:r>
              <a:rPr sz="4000" spc="-160" dirty="0">
                <a:latin typeface="Times New Roman"/>
                <a:cs typeface="Times New Roman"/>
              </a:rPr>
              <a:t> </a:t>
            </a:r>
            <a:r>
              <a:rPr sz="4000" b="1" spc="-10" dirty="0">
                <a:latin typeface="Aptos Display"/>
                <a:cs typeface="Aptos Display"/>
              </a:rPr>
              <a:t>Media</a:t>
            </a:r>
            <a:endParaRPr sz="4000" dirty="0">
              <a:latin typeface="Aptos Display"/>
              <a:cs typeface="Aptos Display"/>
            </a:endParaRPr>
          </a:p>
        </p:txBody>
      </p:sp>
      <p:sp>
        <p:nvSpPr>
          <p:cNvPr id="3" name="object 3"/>
          <p:cNvSpPr txBox="1"/>
          <p:nvPr/>
        </p:nvSpPr>
        <p:spPr>
          <a:xfrm>
            <a:off x="916941" y="1074228"/>
            <a:ext cx="10360025" cy="4032885"/>
          </a:xfrm>
          <a:prstGeom prst="rect">
            <a:avLst/>
          </a:prstGeom>
        </p:spPr>
        <p:txBody>
          <a:bodyPr vert="horz" wrap="square" lIns="0" tIns="55244" rIns="0" bIns="0" rtlCol="0">
            <a:spAutoFit/>
          </a:bodyPr>
          <a:lstStyle/>
          <a:p>
            <a:pPr marL="12700" marR="5080" algn="just">
              <a:lnSpc>
                <a:spcPct val="90000"/>
              </a:lnSpc>
              <a:spcBef>
                <a:spcPts val="434"/>
              </a:spcBef>
            </a:pPr>
            <a:r>
              <a:rPr sz="2800" dirty="0">
                <a:latin typeface="Aptos"/>
                <a:cs typeface="Aptos"/>
              </a:rPr>
              <a:t>Transmission</a:t>
            </a:r>
            <a:r>
              <a:rPr sz="2800" spc="30" dirty="0">
                <a:latin typeface="Times New Roman"/>
                <a:cs typeface="Times New Roman"/>
              </a:rPr>
              <a:t>  </a:t>
            </a:r>
            <a:r>
              <a:rPr sz="2800" dirty="0">
                <a:latin typeface="Aptos"/>
                <a:cs typeface="Aptos"/>
              </a:rPr>
              <a:t>media</a:t>
            </a:r>
            <a:r>
              <a:rPr sz="2800" spc="35" dirty="0">
                <a:latin typeface="Times New Roman"/>
                <a:cs typeface="Times New Roman"/>
              </a:rPr>
              <a:t>  </a:t>
            </a:r>
            <a:r>
              <a:rPr sz="2800" dirty="0">
                <a:latin typeface="Aptos"/>
                <a:cs typeface="Aptos"/>
              </a:rPr>
              <a:t>refers</a:t>
            </a:r>
            <a:r>
              <a:rPr sz="2800" spc="45" dirty="0">
                <a:latin typeface="Times New Roman"/>
                <a:cs typeface="Times New Roman"/>
              </a:rPr>
              <a:t>  </a:t>
            </a:r>
            <a:r>
              <a:rPr sz="2800" dirty="0">
                <a:latin typeface="Aptos"/>
                <a:cs typeface="Aptos"/>
              </a:rPr>
              <a:t>to</a:t>
            </a:r>
            <a:r>
              <a:rPr sz="2800" spc="30" dirty="0">
                <a:latin typeface="Times New Roman"/>
                <a:cs typeface="Times New Roman"/>
              </a:rPr>
              <a:t>  </a:t>
            </a:r>
            <a:r>
              <a:rPr sz="2800" dirty="0">
                <a:latin typeface="Aptos"/>
                <a:cs typeface="Aptos"/>
              </a:rPr>
              <a:t>the</a:t>
            </a:r>
            <a:r>
              <a:rPr sz="2800" spc="40" dirty="0">
                <a:latin typeface="Times New Roman"/>
                <a:cs typeface="Times New Roman"/>
              </a:rPr>
              <a:t>  </a:t>
            </a:r>
            <a:r>
              <a:rPr sz="2800" dirty="0">
                <a:latin typeface="Aptos"/>
                <a:cs typeface="Aptos"/>
              </a:rPr>
              <a:t>physical</a:t>
            </a:r>
            <a:r>
              <a:rPr sz="2800" spc="35" dirty="0">
                <a:latin typeface="Times New Roman"/>
                <a:cs typeface="Times New Roman"/>
              </a:rPr>
              <a:t>  </a:t>
            </a:r>
            <a:r>
              <a:rPr sz="2800" dirty="0">
                <a:latin typeface="Aptos"/>
                <a:cs typeface="Aptos"/>
              </a:rPr>
              <a:t>connection</a:t>
            </a:r>
            <a:r>
              <a:rPr sz="2800" spc="35" dirty="0">
                <a:latin typeface="Times New Roman"/>
                <a:cs typeface="Times New Roman"/>
              </a:rPr>
              <a:t>  </a:t>
            </a:r>
            <a:r>
              <a:rPr sz="2800" spc="-10" dirty="0">
                <a:latin typeface="Aptos"/>
                <a:cs typeface="Aptos"/>
              </a:rPr>
              <a:t>through</a:t>
            </a:r>
            <a:r>
              <a:rPr sz="2800" spc="-10" dirty="0">
                <a:latin typeface="Times New Roman"/>
                <a:cs typeface="Times New Roman"/>
              </a:rPr>
              <a:t> </a:t>
            </a:r>
            <a:r>
              <a:rPr sz="2800" dirty="0">
                <a:latin typeface="Aptos"/>
                <a:cs typeface="Aptos"/>
              </a:rPr>
              <a:t>which</a:t>
            </a:r>
            <a:r>
              <a:rPr sz="2800" spc="140" dirty="0">
                <a:latin typeface="Times New Roman"/>
                <a:cs typeface="Times New Roman"/>
              </a:rPr>
              <a:t> </a:t>
            </a:r>
            <a:r>
              <a:rPr sz="2800" dirty="0">
                <a:latin typeface="Aptos"/>
                <a:cs typeface="Aptos"/>
              </a:rPr>
              <a:t>data</a:t>
            </a:r>
            <a:r>
              <a:rPr sz="2800" spc="150" dirty="0">
                <a:latin typeface="Times New Roman"/>
                <a:cs typeface="Times New Roman"/>
              </a:rPr>
              <a:t> </a:t>
            </a:r>
            <a:r>
              <a:rPr sz="2800" dirty="0">
                <a:latin typeface="Aptos"/>
                <a:cs typeface="Aptos"/>
              </a:rPr>
              <a:t>are</a:t>
            </a:r>
            <a:r>
              <a:rPr sz="2800" spc="150" dirty="0">
                <a:latin typeface="Times New Roman"/>
                <a:cs typeface="Times New Roman"/>
              </a:rPr>
              <a:t> </a:t>
            </a:r>
            <a:r>
              <a:rPr sz="2800" dirty="0">
                <a:latin typeface="Aptos"/>
                <a:cs typeface="Aptos"/>
              </a:rPr>
              <a:t>transmitted</a:t>
            </a:r>
            <a:r>
              <a:rPr sz="2800" spc="160" dirty="0">
                <a:latin typeface="Times New Roman"/>
                <a:cs typeface="Times New Roman"/>
              </a:rPr>
              <a:t> </a:t>
            </a:r>
            <a:r>
              <a:rPr sz="2800" dirty="0">
                <a:latin typeface="Aptos"/>
                <a:cs typeface="Aptos"/>
              </a:rPr>
              <a:t>between</a:t>
            </a:r>
            <a:r>
              <a:rPr sz="2800" spc="160" dirty="0">
                <a:latin typeface="Times New Roman"/>
                <a:cs typeface="Times New Roman"/>
              </a:rPr>
              <a:t> </a:t>
            </a:r>
            <a:r>
              <a:rPr sz="2800" dirty="0">
                <a:latin typeface="Aptos"/>
                <a:cs typeface="Aptos"/>
              </a:rPr>
              <a:t>sender</a:t>
            </a:r>
            <a:r>
              <a:rPr sz="2800" spc="160" dirty="0">
                <a:latin typeface="Times New Roman"/>
                <a:cs typeface="Times New Roman"/>
              </a:rPr>
              <a:t> </a:t>
            </a:r>
            <a:r>
              <a:rPr sz="2800" dirty="0">
                <a:latin typeface="Aptos"/>
                <a:cs typeface="Aptos"/>
              </a:rPr>
              <a:t>and</a:t>
            </a:r>
            <a:r>
              <a:rPr sz="2800" spc="155" dirty="0">
                <a:latin typeface="Times New Roman"/>
                <a:cs typeface="Times New Roman"/>
              </a:rPr>
              <a:t> </a:t>
            </a:r>
            <a:r>
              <a:rPr sz="2800" dirty="0">
                <a:latin typeface="Aptos"/>
                <a:cs typeface="Aptos"/>
              </a:rPr>
              <a:t>receiver</a:t>
            </a:r>
            <a:r>
              <a:rPr sz="2800" spc="150" dirty="0">
                <a:latin typeface="Times New Roman"/>
                <a:cs typeface="Times New Roman"/>
              </a:rPr>
              <a:t> </a:t>
            </a:r>
            <a:r>
              <a:rPr sz="2800" spc="-10" dirty="0">
                <a:latin typeface="Aptos"/>
                <a:cs typeface="Aptos"/>
              </a:rPr>
              <a:t>devices.</a:t>
            </a:r>
            <a:r>
              <a:rPr sz="2800" spc="-10" dirty="0">
                <a:latin typeface="Times New Roman"/>
                <a:cs typeface="Times New Roman"/>
              </a:rPr>
              <a:t> </a:t>
            </a:r>
            <a:r>
              <a:rPr sz="2800" spc="-10" dirty="0">
                <a:latin typeface="Aptos"/>
                <a:cs typeface="Aptos"/>
              </a:rPr>
              <a:t>They</a:t>
            </a:r>
            <a:r>
              <a:rPr sz="2800" spc="-160" dirty="0">
                <a:latin typeface="Times New Roman"/>
                <a:cs typeface="Times New Roman"/>
              </a:rPr>
              <a:t> </a:t>
            </a:r>
            <a:r>
              <a:rPr sz="2800" spc="-20" dirty="0">
                <a:latin typeface="Aptos"/>
                <a:cs typeface="Aptos"/>
              </a:rPr>
              <a:t>are</a:t>
            </a:r>
            <a:r>
              <a:rPr sz="2800" spc="-145" dirty="0">
                <a:latin typeface="Times New Roman"/>
                <a:cs typeface="Times New Roman"/>
              </a:rPr>
              <a:t> </a:t>
            </a:r>
            <a:r>
              <a:rPr sz="2800" spc="-10" dirty="0">
                <a:latin typeface="Aptos"/>
                <a:cs typeface="Aptos"/>
              </a:rPr>
              <a:t>classified</a:t>
            </a:r>
            <a:r>
              <a:rPr sz="2800" spc="-145" dirty="0">
                <a:latin typeface="Times New Roman"/>
                <a:cs typeface="Times New Roman"/>
              </a:rPr>
              <a:t> </a:t>
            </a:r>
            <a:r>
              <a:rPr sz="2800" dirty="0">
                <a:latin typeface="Aptos"/>
                <a:cs typeface="Aptos"/>
              </a:rPr>
              <a:t>as</a:t>
            </a:r>
            <a:r>
              <a:rPr sz="2800" spc="-150" dirty="0">
                <a:latin typeface="Times New Roman"/>
                <a:cs typeface="Times New Roman"/>
              </a:rPr>
              <a:t> </a:t>
            </a:r>
            <a:r>
              <a:rPr sz="2800" spc="-10" dirty="0">
                <a:latin typeface="Aptos"/>
                <a:cs typeface="Aptos"/>
              </a:rPr>
              <a:t>follows:</a:t>
            </a:r>
            <a:endParaRPr sz="2800">
              <a:latin typeface="Aptos"/>
              <a:cs typeface="Aptos"/>
            </a:endParaRPr>
          </a:p>
          <a:p>
            <a:pPr marL="527685" indent="-515620" algn="just">
              <a:lnSpc>
                <a:spcPct val="100000"/>
              </a:lnSpc>
              <a:spcBef>
                <a:spcPts val="660"/>
              </a:spcBef>
              <a:buAutoNum type="arabicPeriod"/>
              <a:tabLst>
                <a:tab pos="528320" algn="l"/>
              </a:tabLst>
            </a:pPr>
            <a:r>
              <a:rPr sz="2800" spc="-20" dirty="0">
                <a:latin typeface="Aptos"/>
                <a:cs typeface="Aptos"/>
              </a:rPr>
              <a:t>Guided</a:t>
            </a:r>
            <a:r>
              <a:rPr sz="2800" spc="-140" dirty="0">
                <a:latin typeface="Times New Roman"/>
                <a:cs typeface="Times New Roman"/>
              </a:rPr>
              <a:t> </a:t>
            </a:r>
            <a:r>
              <a:rPr sz="2800" dirty="0">
                <a:latin typeface="Aptos"/>
                <a:cs typeface="Aptos"/>
              </a:rPr>
              <a:t>/</a:t>
            </a:r>
            <a:r>
              <a:rPr sz="2800" spc="-145" dirty="0">
                <a:latin typeface="Times New Roman"/>
                <a:cs typeface="Times New Roman"/>
              </a:rPr>
              <a:t> </a:t>
            </a:r>
            <a:r>
              <a:rPr sz="2800" spc="-10" dirty="0">
                <a:latin typeface="Aptos"/>
                <a:cs typeface="Aptos"/>
              </a:rPr>
              <a:t>bounded</a:t>
            </a:r>
            <a:r>
              <a:rPr sz="2800" spc="-114" dirty="0">
                <a:latin typeface="Times New Roman"/>
                <a:cs typeface="Times New Roman"/>
              </a:rPr>
              <a:t> </a:t>
            </a:r>
            <a:r>
              <a:rPr sz="2800" dirty="0">
                <a:latin typeface="Aptos"/>
                <a:cs typeface="Aptos"/>
              </a:rPr>
              <a:t>/</a:t>
            </a:r>
            <a:r>
              <a:rPr sz="2800" spc="-140" dirty="0">
                <a:latin typeface="Times New Roman"/>
                <a:cs typeface="Times New Roman"/>
              </a:rPr>
              <a:t> </a:t>
            </a:r>
            <a:r>
              <a:rPr sz="2800" spc="-20" dirty="0">
                <a:latin typeface="Aptos"/>
                <a:cs typeface="Aptos"/>
              </a:rPr>
              <a:t>wired</a:t>
            </a:r>
            <a:r>
              <a:rPr sz="2800" spc="-145" dirty="0">
                <a:latin typeface="Times New Roman"/>
                <a:cs typeface="Times New Roman"/>
              </a:rPr>
              <a:t> </a:t>
            </a:r>
            <a:r>
              <a:rPr sz="2800" spc="-10" dirty="0">
                <a:latin typeface="Aptos"/>
                <a:cs typeface="Aptos"/>
              </a:rPr>
              <a:t>media</a:t>
            </a:r>
            <a:endParaRPr sz="2800">
              <a:latin typeface="Aptos"/>
              <a:cs typeface="Aptos"/>
            </a:endParaRPr>
          </a:p>
          <a:p>
            <a:pPr marL="528320" marR="2656840" indent="-528320" algn="just">
              <a:lnSpc>
                <a:spcPct val="119600"/>
              </a:lnSpc>
              <a:spcBef>
                <a:spcPts val="15"/>
              </a:spcBef>
              <a:buAutoNum type="arabicPeriod"/>
              <a:tabLst>
                <a:tab pos="528320" algn="l"/>
              </a:tabLst>
            </a:pPr>
            <a:r>
              <a:rPr sz="2800" spc="-20" dirty="0">
                <a:latin typeface="Aptos"/>
                <a:cs typeface="Aptos"/>
              </a:rPr>
              <a:t>Unguided</a:t>
            </a:r>
            <a:r>
              <a:rPr sz="2800" spc="-105" dirty="0">
                <a:latin typeface="Times New Roman"/>
                <a:cs typeface="Times New Roman"/>
              </a:rPr>
              <a:t> </a:t>
            </a:r>
            <a:r>
              <a:rPr sz="2800" spc="-20" dirty="0">
                <a:latin typeface="Aptos"/>
                <a:cs typeface="Aptos"/>
              </a:rPr>
              <a:t>media</a:t>
            </a:r>
            <a:r>
              <a:rPr sz="2800" spc="-125" dirty="0">
                <a:latin typeface="Times New Roman"/>
                <a:cs typeface="Times New Roman"/>
              </a:rPr>
              <a:t> </a:t>
            </a:r>
            <a:r>
              <a:rPr sz="2800" dirty="0">
                <a:latin typeface="Aptos"/>
                <a:cs typeface="Aptos"/>
              </a:rPr>
              <a:t>/</a:t>
            </a:r>
            <a:r>
              <a:rPr sz="2800" spc="-120" dirty="0">
                <a:latin typeface="Times New Roman"/>
                <a:cs typeface="Times New Roman"/>
              </a:rPr>
              <a:t> </a:t>
            </a:r>
            <a:r>
              <a:rPr sz="2800" spc="-20" dirty="0">
                <a:latin typeface="Aptos"/>
                <a:cs typeface="Aptos"/>
              </a:rPr>
              <a:t>Unbounded</a:t>
            </a:r>
            <a:r>
              <a:rPr sz="2800" spc="-95" dirty="0">
                <a:latin typeface="Times New Roman"/>
                <a:cs typeface="Times New Roman"/>
              </a:rPr>
              <a:t> </a:t>
            </a:r>
            <a:r>
              <a:rPr sz="2800" dirty="0">
                <a:latin typeface="Aptos"/>
                <a:cs typeface="Aptos"/>
              </a:rPr>
              <a:t>/</a:t>
            </a:r>
            <a:r>
              <a:rPr sz="2800" spc="-120" dirty="0">
                <a:latin typeface="Times New Roman"/>
                <a:cs typeface="Times New Roman"/>
              </a:rPr>
              <a:t> </a:t>
            </a:r>
            <a:r>
              <a:rPr sz="2800" spc="-20" dirty="0">
                <a:latin typeface="Aptos"/>
                <a:cs typeface="Aptos"/>
              </a:rPr>
              <a:t>wireless</a:t>
            </a:r>
            <a:r>
              <a:rPr sz="2800" spc="-130" dirty="0">
                <a:latin typeface="Times New Roman"/>
                <a:cs typeface="Times New Roman"/>
              </a:rPr>
              <a:t> </a:t>
            </a:r>
            <a:r>
              <a:rPr sz="2800" spc="-10" dirty="0">
                <a:latin typeface="Aptos"/>
                <a:cs typeface="Aptos"/>
              </a:rPr>
              <a:t>media</a:t>
            </a:r>
            <a:r>
              <a:rPr sz="2800" spc="-10" dirty="0">
                <a:latin typeface="Times New Roman"/>
                <a:cs typeface="Times New Roman"/>
              </a:rPr>
              <a:t> </a:t>
            </a:r>
            <a:r>
              <a:rPr sz="2800" b="1" dirty="0">
                <a:latin typeface="Aptos"/>
                <a:cs typeface="Aptos"/>
              </a:rPr>
              <a:t>1</a:t>
            </a:r>
            <a:r>
              <a:rPr sz="2800" spc="-135" dirty="0">
                <a:latin typeface="Times New Roman"/>
                <a:cs typeface="Times New Roman"/>
              </a:rPr>
              <a:t> </a:t>
            </a:r>
            <a:r>
              <a:rPr sz="2800" b="1" dirty="0">
                <a:latin typeface="Aptos"/>
                <a:cs typeface="Aptos"/>
              </a:rPr>
              <a:t>)</a:t>
            </a:r>
            <a:r>
              <a:rPr sz="2800" spc="-130" dirty="0">
                <a:latin typeface="Times New Roman"/>
                <a:cs typeface="Times New Roman"/>
              </a:rPr>
              <a:t> </a:t>
            </a:r>
            <a:r>
              <a:rPr sz="2800" b="1" spc="-10" dirty="0">
                <a:latin typeface="Aptos"/>
                <a:cs typeface="Aptos"/>
              </a:rPr>
              <a:t>Guided</a:t>
            </a:r>
            <a:r>
              <a:rPr sz="2800" spc="-160" dirty="0">
                <a:latin typeface="Times New Roman"/>
                <a:cs typeface="Times New Roman"/>
              </a:rPr>
              <a:t> </a:t>
            </a:r>
            <a:r>
              <a:rPr sz="2800" b="1" spc="-20" dirty="0">
                <a:latin typeface="Aptos"/>
                <a:cs typeface="Aptos"/>
              </a:rPr>
              <a:t>Media</a:t>
            </a:r>
            <a:endParaRPr sz="2800">
              <a:latin typeface="Aptos"/>
              <a:cs typeface="Aptos"/>
            </a:endParaRPr>
          </a:p>
          <a:p>
            <a:pPr marL="927100" marR="9525" algn="just">
              <a:lnSpc>
                <a:spcPts val="3020"/>
              </a:lnSpc>
              <a:spcBef>
                <a:spcPts val="1045"/>
              </a:spcBef>
            </a:pPr>
            <a:r>
              <a:rPr sz="2800" dirty="0">
                <a:latin typeface="Aptos"/>
                <a:cs typeface="Aptos"/>
              </a:rPr>
              <a:t>Guided</a:t>
            </a:r>
            <a:r>
              <a:rPr sz="2800" spc="440" dirty="0">
                <a:latin typeface="Times New Roman"/>
                <a:cs typeface="Times New Roman"/>
              </a:rPr>
              <a:t> </a:t>
            </a:r>
            <a:r>
              <a:rPr sz="2800" dirty="0">
                <a:latin typeface="Aptos"/>
                <a:cs typeface="Aptos"/>
              </a:rPr>
              <a:t>media</a:t>
            </a:r>
            <a:r>
              <a:rPr sz="2800" spc="425" dirty="0">
                <a:latin typeface="Times New Roman"/>
                <a:cs typeface="Times New Roman"/>
              </a:rPr>
              <a:t> </a:t>
            </a:r>
            <a:r>
              <a:rPr sz="2800" dirty="0">
                <a:latin typeface="Aptos"/>
                <a:cs typeface="Aptos"/>
              </a:rPr>
              <a:t>is</a:t>
            </a:r>
            <a:r>
              <a:rPr sz="2800" spc="409" dirty="0">
                <a:latin typeface="Times New Roman"/>
                <a:cs typeface="Times New Roman"/>
              </a:rPr>
              <a:t> </a:t>
            </a:r>
            <a:r>
              <a:rPr sz="2800" dirty="0">
                <a:latin typeface="Aptos"/>
                <a:cs typeface="Aptos"/>
              </a:rPr>
              <a:t>a</a:t>
            </a:r>
            <a:r>
              <a:rPr sz="2800" spc="415" dirty="0">
                <a:latin typeface="Times New Roman"/>
                <a:cs typeface="Times New Roman"/>
              </a:rPr>
              <a:t> </a:t>
            </a:r>
            <a:r>
              <a:rPr sz="2800" dirty="0">
                <a:latin typeface="Aptos"/>
                <a:cs typeface="Aptos"/>
              </a:rPr>
              <a:t>physical</a:t>
            </a:r>
            <a:r>
              <a:rPr sz="2800" spc="420" dirty="0">
                <a:latin typeface="Times New Roman"/>
                <a:cs typeface="Times New Roman"/>
              </a:rPr>
              <a:t> </a:t>
            </a:r>
            <a:r>
              <a:rPr sz="2800" dirty="0">
                <a:latin typeface="Aptos"/>
                <a:cs typeface="Aptos"/>
              </a:rPr>
              <a:t>link</a:t>
            </a:r>
            <a:r>
              <a:rPr sz="2800" spc="409" dirty="0">
                <a:latin typeface="Times New Roman"/>
                <a:cs typeface="Times New Roman"/>
              </a:rPr>
              <a:t> </a:t>
            </a:r>
            <a:r>
              <a:rPr sz="2800" dirty="0">
                <a:latin typeface="Aptos"/>
                <a:cs typeface="Aptos"/>
              </a:rPr>
              <a:t>between</a:t>
            </a:r>
            <a:r>
              <a:rPr sz="2800" spc="415" dirty="0">
                <a:latin typeface="Times New Roman"/>
                <a:cs typeface="Times New Roman"/>
              </a:rPr>
              <a:t> </a:t>
            </a:r>
            <a:r>
              <a:rPr sz="2800" dirty="0">
                <a:latin typeface="Aptos"/>
                <a:cs typeface="Aptos"/>
              </a:rPr>
              <a:t>devices</a:t>
            </a:r>
            <a:r>
              <a:rPr sz="2800" spc="415" dirty="0">
                <a:latin typeface="Times New Roman"/>
                <a:cs typeface="Times New Roman"/>
              </a:rPr>
              <a:t> </a:t>
            </a:r>
            <a:r>
              <a:rPr sz="2800" dirty="0">
                <a:latin typeface="Aptos"/>
                <a:cs typeface="Aptos"/>
              </a:rPr>
              <a:t>that</a:t>
            </a:r>
            <a:r>
              <a:rPr sz="2800" spc="430" dirty="0">
                <a:latin typeface="Times New Roman"/>
                <a:cs typeface="Times New Roman"/>
              </a:rPr>
              <a:t> </a:t>
            </a:r>
            <a:r>
              <a:rPr sz="2800" spc="-25" dirty="0">
                <a:latin typeface="Aptos"/>
                <a:cs typeface="Aptos"/>
              </a:rPr>
              <a:t>can</a:t>
            </a:r>
            <a:r>
              <a:rPr sz="2800" spc="-25" dirty="0">
                <a:latin typeface="Times New Roman"/>
                <a:cs typeface="Times New Roman"/>
              </a:rPr>
              <a:t> </a:t>
            </a:r>
            <a:r>
              <a:rPr sz="2800" dirty="0">
                <a:latin typeface="Aptos"/>
                <a:cs typeface="Aptos"/>
              </a:rPr>
              <a:t>send</a:t>
            </a:r>
            <a:r>
              <a:rPr sz="2800" spc="-100" dirty="0">
                <a:latin typeface="Times New Roman"/>
                <a:cs typeface="Times New Roman"/>
              </a:rPr>
              <a:t> </a:t>
            </a:r>
            <a:r>
              <a:rPr sz="2800" dirty="0">
                <a:latin typeface="Aptos"/>
                <a:cs typeface="Aptos"/>
              </a:rPr>
              <a:t>data</a:t>
            </a:r>
            <a:r>
              <a:rPr sz="2800" spc="-95" dirty="0">
                <a:latin typeface="Times New Roman"/>
                <a:cs typeface="Times New Roman"/>
              </a:rPr>
              <a:t> </a:t>
            </a:r>
            <a:r>
              <a:rPr sz="2800" dirty="0">
                <a:latin typeface="Aptos"/>
                <a:cs typeface="Aptos"/>
              </a:rPr>
              <a:t>through</a:t>
            </a:r>
            <a:r>
              <a:rPr sz="2800" spc="-75" dirty="0">
                <a:latin typeface="Times New Roman"/>
                <a:cs typeface="Times New Roman"/>
              </a:rPr>
              <a:t> </a:t>
            </a:r>
            <a:r>
              <a:rPr sz="2800" dirty="0">
                <a:latin typeface="Aptos"/>
                <a:cs typeface="Aptos"/>
              </a:rPr>
              <a:t>wires.</a:t>
            </a:r>
            <a:r>
              <a:rPr sz="2800" spc="-105" dirty="0">
                <a:latin typeface="Times New Roman"/>
                <a:cs typeface="Times New Roman"/>
              </a:rPr>
              <a:t> </a:t>
            </a:r>
            <a:r>
              <a:rPr sz="2800" dirty="0">
                <a:latin typeface="Aptos"/>
                <a:cs typeface="Aptos"/>
              </a:rPr>
              <a:t>For</a:t>
            </a:r>
            <a:r>
              <a:rPr sz="2800" spc="-85" dirty="0">
                <a:latin typeface="Times New Roman"/>
                <a:cs typeface="Times New Roman"/>
              </a:rPr>
              <a:t> </a:t>
            </a:r>
            <a:r>
              <a:rPr sz="2800" spc="-20" dirty="0">
                <a:latin typeface="Aptos"/>
                <a:cs typeface="Aptos"/>
              </a:rPr>
              <a:t>example,</a:t>
            </a:r>
            <a:r>
              <a:rPr sz="2800" spc="-110" dirty="0">
                <a:latin typeface="Times New Roman"/>
                <a:cs typeface="Times New Roman"/>
              </a:rPr>
              <a:t> </a:t>
            </a:r>
            <a:r>
              <a:rPr sz="2800" dirty="0">
                <a:latin typeface="Aptos"/>
                <a:cs typeface="Aptos"/>
              </a:rPr>
              <a:t>twisted</a:t>
            </a:r>
            <a:r>
              <a:rPr sz="2800" spc="-90" dirty="0">
                <a:latin typeface="Times New Roman"/>
                <a:cs typeface="Times New Roman"/>
              </a:rPr>
              <a:t> </a:t>
            </a:r>
            <a:r>
              <a:rPr sz="2800" dirty="0">
                <a:latin typeface="Aptos"/>
                <a:cs typeface="Aptos"/>
              </a:rPr>
              <a:t>pair</a:t>
            </a:r>
            <a:r>
              <a:rPr sz="2800" spc="-95" dirty="0">
                <a:latin typeface="Times New Roman"/>
                <a:cs typeface="Times New Roman"/>
              </a:rPr>
              <a:t> </a:t>
            </a:r>
            <a:r>
              <a:rPr sz="2800" spc="-10" dirty="0">
                <a:latin typeface="Aptos"/>
                <a:cs typeface="Aptos"/>
              </a:rPr>
              <a:t>cable,</a:t>
            </a:r>
            <a:r>
              <a:rPr sz="2800" spc="-95" dirty="0">
                <a:latin typeface="Times New Roman"/>
                <a:cs typeface="Times New Roman"/>
              </a:rPr>
              <a:t> </a:t>
            </a:r>
            <a:r>
              <a:rPr sz="2800" spc="-25" dirty="0">
                <a:latin typeface="Aptos"/>
                <a:cs typeface="Aptos"/>
              </a:rPr>
              <a:t>co-</a:t>
            </a:r>
            <a:r>
              <a:rPr sz="2800" spc="-25" dirty="0">
                <a:latin typeface="Times New Roman"/>
                <a:cs typeface="Times New Roman"/>
              </a:rPr>
              <a:t> </a:t>
            </a:r>
            <a:r>
              <a:rPr sz="2800" spc="-10" dirty="0">
                <a:latin typeface="Aptos"/>
                <a:cs typeface="Aptos"/>
              </a:rPr>
              <a:t>axial</a:t>
            </a:r>
            <a:r>
              <a:rPr sz="2800" spc="-130" dirty="0">
                <a:latin typeface="Times New Roman"/>
                <a:cs typeface="Times New Roman"/>
              </a:rPr>
              <a:t> </a:t>
            </a:r>
            <a:r>
              <a:rPr sz="2800" spc="-30" dirty="0">
                <a:latin typeface="Aptos"/>
                <a:cs typeface="Aptos"/>
              </a:rPr>
              <a:t>cable,</a:t>
            </a:r>
            <a:r>
              <a:rPr sz="2800" spc="-125" dirty="0">
                <a:latin typeface="Times New Roman"/>
                <a:cs typeface="Times New Roman"/>
              </a:rPr>
              <a:t> </a:t>
            </a:r>
            <a:r>
              <a:rPr sz="2800" spc="-10" dirty="0">
                <a:latin typeface="Aptos"/>
                <a:cs typeface="Aptos"/>
              </a:rPr>
              <a:t>optical</a:t>
            </a:r>
            <a:r>
              <a:rPr sz="2800" spc="-135" dirty="0">
                <a:latin typeface="Times New Roman"/>
                <a:cs typeface="Times New Roman"/>
              </a:rPr>
              <a:t> </a:t>
            </a:r>
            <a:r>
              <a:rPr sz="2800" spc="-60" dirty="0">
                <a:latin typeface="Aptos"/>
                <a:cs typeface="Aptos"/>
              </a:rPr>
              <a:t>fiber,</a:t>
            </a:r>
            <a:r>
              <a:rPr sz="2800" spc="-130" dirty="0">
                <a:latin typeface="Times New Roman"/>
                <a:cs typeface="Times New Roman"/>
              </a:rPr>
              <a:t> </a:t>
            </a:r>
            <a:r>
              <a:rPr sz="2800" spc="-20" dirty="0">
                <a:latin typeface="Aptos"/>
                <a:cs typeface="Aptos"/>
              </a:rPr>
              <a:t>etc.</a:t>
            </a:r>
            <a:endParaRPr sz="2800">
              <a:latin typeface="Aptos"/>
              <a:cs typeface="Apto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09973" y="2262888"/>
            <a:ext cx="4105526" cy="1743958"/>
          </a:xfrm>
          <a:prstGeom prst="rect">
            <a:avLst/>
          </a:prstGeom>
        </p:spPr>
      </p:pic>
      <p:sp>
        <p:nvSpPr>
          <p:cNvPr id="3" name="object 3"/>
          <p:cNvSpPr txBox="1">
            <a:spLocks noGrp="1"/>
          </p:cNvSpPr>
          <p:nvPr>
            <p:ph type="title"/>
          </p:nvPr>
        </p:nvSpPr>
        <p:spPr>
          <a:xfrm>
            <a:off x="916940" y="492620"/>
            <a:ext cx="3881243" cy="452120"/>
          </a:xfrm>
          <a:prstGeom prst="rect">
            <a:avLst/>
          </a:prstGeom>
        </p:spPr>
        <p:txBody>
          <a:bodyPr vert="horz" wrap="square" lIns="0" tIns="12065" rIns="0" bIns="0" rtlCol="0">
            <a:spAutoFit/>
          </a:bodyPr>
          <a:lstStyle/>
          <a:p>
            <a:pPr marL="12700">
              <a:lnSpc>
                <a:spcPct val="100000"/>
              </a:lnSpc>
              <a:spcBef>
                <a:spcPts val="95"/>
              </a:spcBef>
              <a:tabLst>
                <a:tab pos="584200" algn="l"/>
              </a:tabLst>
            </a:pPr>
            <a:r>
              <a:rPr sz="2800" b="1" spc="-25" dirty="0">
                <a:latin typeface="Aptos"/>
                <a:cs typeface="Aptos"/>
              </a:rPr>
              <a:t>i.</a:t>
            </a:r>
            <a:r>
              <a:rPr sz="2800" dirty="0">
                <a:latin typeface="Times New Roman"/>
                <a:cs typeface="Times New Roman"/>
              </a:rPr>
              <a:t>	</a:t>
            </a:r>
            <a:r>
              <a:rPr sz="2800" b="1" dirty="0">
                <a:latin typeface="Aptos"/>
                <a:cs typeface="Aptos"/>
              </a:rPr>
              <a:t>Co</a:t>
            </a:r>
            <a:r>
              <a:rPr sz="2800" spc="-145" dirty="0">
                <a:latin typeface="Times New Roman"/>
                <a:cs typeface="Times New Roman"/>
              </a:rPr>
              <a:t> </a:t>
            </a:r>
            <a:r>
              <a:rPr sz="2800" b="1" dirty="0">
                <a:latin typeface="Aptos"/>
                <a:cs typeface="Aptos"/>
              </a:rPr>
              <a:t>-</a:t>
            </a:r>
            <a:r>
              <a:rPr sz="2800" spc="-140" dirty="0">
                <a:latin typeface="Times New Roman"/>
                <a:cs typeface="Times New Roman"/>
              </a:rPr>
              <a:t> </a:t>
            </a:r>
            <a:r>
              <a:rPr sz="2800" b="1" spc="-10" dirty="0">
                <a:latin typeface="Aptos"/>
                <a:cs typeface="Aptos"/>
              </a:rPr>
              <a:t>axial</a:t>
            </a:r>
            <a:r>
              <a:rPr sz="2800" spc="-165" dirty="0">
                <a:latin typeface="Times New Roman"/>
                <a:cs typeface="Times New Roman"/>
              </a:rPr>
              <a:t> </a:t>
            </a:r>
            <a:r>
              <a:rPr sz="2800" b="1" spc="-10" dirty="0">
                <a:latin typeface="Aptos"/>
                <a:cs typeface="Aptos"/>
              </a:rPr>
              <a:t>cable:</a:t>
            </a:r>
            <a:endParaRPr sz="2800" dirty="0">
              <a:latin typeface="Aptos"/>
              <a:cs typeface="Aptos"/>
            </a:endParaRPr>
          </a:p>
        </p:txBody>
      </p:sp>
      <p:sp>
        <p:nvSpPr>
          <p:cNvPr id="4" name="object 4"/>
          <p:cNvSpPr txBox="1"/>
          <p:nvPr/>
        </p:nvSpPr>
        <p:spPr>
          <a:xfrm>
            <a:off x="916940" y="1002856"/>
            <a:ext cx="10298430" cy="3670935"/>
          </a:xfrm>
          <a:prstGeom prst="rect">
            <a:avLst/>
          </a:prstGeom>
        </p:spPr>
        <p:txBody>
          <a:bodyPr vert="horz" wrap="square" lIns="0" tIns="55244" rIns="0" bIns="0" rtlCol="0">
            <a:spAutoFit/>
          </a:bodyPr>
          <a:lstStyle/>
          <a:p>
            <a:pPr marL="12700" marR="5080">
              <a:lnSpc>
                <a:spcPct val="90000"/>
              </a:lnSpc>
              <a:spcBef>
                <a:spcPts val="434"/>
              </a:spcBef>
            </a:pPr>
            <a:r>
              <a:rPr sz="2800" spc="-10" dirty="0">
                <a:latin typeface="Aptos"/>
                <a:cs typeface="Aptos"/>
              </a:rPr>
              <a:t>This</a:t>
            </a:r>
            <a:r>
              <a:rPr sz="2800" spc="-145" dirty="0">
                <a:latin typeface="Times New Roman"/>
                <a:cs typeface="Times New Roman"/>
              </a:rPr>
              <a:t> </a:t>
            </a:r>
            <a:r>
              <a:rPr sz="2800" spc="-20" dirty="0">
                <a:latin typeface="Aptos"/>
                <a:cs typeface="Aptos"/>
              </a:rPr>
              <a:t>cable</a:t>
            </a:r>
            <a:r>
              <a:rPr sz="2800" spc="-135" dirty="0">
                <a:latin typeface="Times New Roman"/>
                <a:cs typeface="Times New Roman"/>
              </a:rPr>
              <a:t> </a:t>
            </a:r>
            <a:r>
              <a:rPr sz="2800" spc="-20" dirty="0">
                <a:latin typeface="Aptos"/>
                <a:cs typeface="Aptos"/>
              </a:rPr>
              <a:t>consists</a:t>
            </a:r>
            <a:r>
              <a:rPr sz="2800" spc="-114" dirty="0">
                <a:latin typeface="Times New Roman"/>
                <a:cs typeface="Times New Roman"/>
              </a:rPr>
              <a:t> </a:t>
            </a:r>
            <a:r>
              <a:rPr sz="2800" dirty="0">
                <a:latin typeface="Aptos"/>
                <a:cs typeface="Aptos"/>
              </a:rPr>
              <a:t>of</a:t>
            </a:r>
            <a:r>
              <a:rPr sz="2800" spc="-130" dirty="0">
                <a:latin typeface="Times New Roman"/>
                <a:cs typeface="Times New Roman"/>
              </a:rPr>
              <a:t> </a:t>
            </a:r>
            <a:r>
              <a:rPr sz="2800" dirty="0">
                <a:latin typeface="Aptos"/>
                <a:cs typeface="Aptos"/>
              </a:rPr>
              <a:t>a</a:t>
            </a:r>
            <a:r>
              <a:rPr sz="2800" spc="-130" dirty="0">
                <a:latin typeface="Times New Roman"/>
                <a:cs typeface="Times New Roman"/>
              </a:rPr>
              <a:t> </a:t>
            </a:r>
            <a:r>
              <a:rPr sz="2800" spc="-10" dirty="0">
                <a:latin typeface="Aptos"/>
                <a:cs typeface="Aptos"/>
              </a:rPr>
              <a:t>copper</a:t>
            </a:r>
            <a:r>
              <a:rPr sz="2800" spc="-114" dirty="0">
                <a:latin typeface="Times New Roman"/>
                <a:cs typeface="Times New Roman"/>
              </a:rPr>
              <a:t> </a:t>
            </a:r>
            <a:r>
              <a:rPr sz="2800" spc="-20" dirty="0">
                <a:latin typeface="Aptos"/>
                <a:cs typeface="Aptos"/>
              </a:rPr>
              <a:t>wire</a:t>
            </a:r>
            <a:r>
              <a:rPr sz="2800" spc="-145" dirty="0">
                <a:latin typeface="Times New Roman"/>
                <a:cs typeface="Times New Roman"/>
              </a:rPr>
              <a:t> </a:t>
            </a:r>
            <a:r>
              <a:rPr sz="2800" spc="-20" dirty="0">
                <a:latin typeface="Aptos"/>
                <a:cs typeface="Aptos"/>
              </a:rPr>
              <a:t>conductor</a:t>
            </a:r>
            <a:r>
              <a:rPr sz="2800" spc="-95" dirty="0">
                <a:latin typeface="Times New Roman"/>
                <a:cs typeface="Times New Roman"/>
              </a:rPr>
              <a:t> </a:t>
            </a:r>
            <a:r>
              <a:rPr sz="2800" spc="-20" dirty="0">
                <a:latin typeface="Aptos"/>
                <a:cs typeface="Aptos"/>
              </a:rPr>
              <a:t>which</a:t>
            </a:r>
            <a:r>
              <a:rPr sz="2800" spc="-155" dirty="0">
                <a:latin typeface="Times New Roman"/>
                <a:cs typeface="Times New Roman"/>
              </a:rPr>
              <a:t> </a:t>
            </a:r>
            <a:r>
              <a:rPr sz="2800" dirty="0">
                <a:latin typeface="Aptos"/>
                <a:cs typeface="Aptos"/>
              </a:rPr>
              <a:t>is</a:t>
            </a:r>
            <a:r>
              <a:rPr sz="2800" spc="-140" dirty="0">
                <a:latin typeface="Times New Roman"/>
                <a:cs typeface="Times New Roman"/>
              </a:rPr>
              <a:t> </a:t>
            </a:r>
            <a:r>
              <a:rPr sz="2800" spc="-10" dirty="0">
                <a:latin typeface="Aptos"/>
                <a:cs typeface="Aptos"/>
              </a:rPr>
              <a:t>surrounded</a:t>
            </a:r>
            <a:r>
              <a:rPr sz="2800" spc="-10" dirty="0">
                <a:latin typeface="Times New Roman"/>
                <a:cs typeface="Times New Roman"/>
              </a:rPr>
              <a:t> </a:t>
            </a:r>
            <a:r>
              <a:rPr sz="2800" spc="-10" dirty="0">
                <a:latin typeface="Aptos"/>
                <a:cs typeface="Aptos"/>
              </a:rPr>
              <a:t>by</a:t>
            </a:r>
            <a:r>
              <a:rPr sz="2800" spc="-150" dirty="0">
                <a:latin typeface="Times New Roman"/>
                <a:cs typeface="Times New Roman"/>
              </a:rPr>
              <a:t> </a:t>
            </a:r>
            <a:r>
              <a:rPr sz="2800" dirty="0">
                <a:latin typeface="Aptos"/>
                <a:cs typeface="Aptos"/>
              </a:rPr>
              <a:t>an</a:t>
            </a:r>
            <a:r>
              <a:rPr sz="2800" spc="-140" dirty="0">
                <a:latin typeface="Times New Roman"/>
                <a:cs typeface="Times New Roman"/>
              </a:rPr>
              <a:t> </a:t>
            </a:r>
            <a:r>
              <a:rPr sz="2800" spc="-20" dirty="0">
                <a:latin typeface="Aptos"/>
                <a:cs typeface="Aptos"/>
              </a:rPr>
              <a:t>insulator</a:t>
            </a:r>
            <a:r>
              <a:rPr sz="2800" spc="-135" dirty="0">
                <a:latin typeface="Times New Roman"/>
                <a:cs typeface="Times New Roman"/>
              </a:rPr>
              <a:t> </a:t>
            </a:r>
            <a:r>
              <a:rPr sz="2800" spc="-25" dirty="0">
                <a:latin typeface="Aptos"/>
                <a:cs typeface="Aptos"/>
              </a:rPr>
              <a:t>over</a:t>
            </a:r>
            <a:r>
              <a:rPr sz="2800" spc="-145" dirty="0">
                <a:latin typeface="Times New Roman"/>
                <a:cs typeface="Times New Roman"/>
              </a:rPr>
              <a:t> </a:t>
            </a:r>
            <a:r>
              <a:rPr sz="2800" spc="-10" dirty="0">
                <a:latin typeface="Aptos"/>
                <a:cs typeface="Aptos"/>
              </a:rPr>
              <a:t>which</a:t>
            </a:r>
            <a:r>
              <a:rPr sz="2800" spc="-150" dirty="0">
                <a:latin typeface="Times New Roman"/>
                <a:cs typeface="Times New Roman"/>
              </a:rPr>
              <a:t> </a:t>
            </a:r>
            <a:r>
              <a:rPr sz="2800" spc="-20" dirty="0">
                <a:latin typeface="Aptos"/>
                <a:cs typeface="Aptos"/>
              </a:rPr>
              <a:t>there</a:t>
            </a:r>
            <a:r>
              <a:rPr sz="2800" spc="-135" dirty="0">
                <a:latin typeface="Times New Roman"/>
                <a:cs typeface="Times New Roman"/>
              </a:rPr>
              <a:t> </a:t>
            </a:r>
            <a:r>
              <a:rPr sz="2800" dirty="0">
                <a:latin typeface="Aptos"/>
                <a:cs typeface="Aptos"/>
              </a:rPr>
              <a:t>is</a:t>
            </a:r>
            <a:r>
              <a:rPr sz="2800" spc="-145" dirty="0">
                <a:latin typeface="Times New Roman"/>
                <a:cs typeface="Times New Roman"/>
              </a:rPr>
              <a:t> </a:t>
            </a:r>
            <a:r>
              <a:rPr sz="2800" spc="-20" dirty="0">
                <a:latin typeface="Aptos"/>
                <a:cs typeface="Aptos"/>
              </a:rPr>
              <a:t>sleeve</a:t>
            </a:r>
            <a:r>
              <a:rPr sz="2800" spc="-145" dirty="0">
                <a:latin typeface="Times New Roman"/>
                <a:cs typeface="Times New Roman"/>
              </a:rPr>
              <a:t> </a:t>
            </a:r>
            <a:r>
              <a:rPr sz="2800" dirty="0">
                <a:latin typeface="Aptos"/>
                <a:cs typeface="Aptos"/>
              </a:rPr>
              <a:t>of</a:t>
            </a:r>
            <a:r>
              <a:rPr sz="2800" spc="-140" dirty="0">
                <a:latin typeface="Times New Roman"/>
                <a:cs typeface="Times New Roman"/>
              </a:rPr>
              <a:t> </a:t>
            </a:r>
            <a:r>
              <a:rPr sz="2800" spc="-10" dirty="0">
                <a:latin typeface="Aptos"/>
                <a:cs typeface="Aptos"/>
              </a:rPr>
              <a:t>copper</a:t>
            </a:r>
            <a:r>
              <a:rPr sz="2800" spc="-114" dirty="0">
                <a:latin typeface="Times New Roman"/>
                <a:cs typeface="Times New Roman"/>
              </a:rPr>
              <a:t> </a:t>
            </a:r>
            <a:r>
              <a:rPr sz="2800" dirty="0">
                <a:latin typeface="Aptos"/>
                <a:cs typeface="Aptos"/>
              </a:rPr>
              <a:t>is</a:t>
            </a:r>
            <a:r>
              <a:rPr sz="2800" spc="-150" dirty="0">
                <a:latin typeface="Times New Roman"/>
                <a:cs typeface="Times New Roman"/>
              </a:rPr>
              <a:t> </a:t>
            </a:r>
            <a:r>
              <a:rPr sz="2800" spc="-10" dirty="0">
                <a:latin typeface="Aptos"/>
                <a:cs typeface="Aptos"/>
              </a:rPr>
              <a:t>surrounded</a:t>
            </a:r>
            <a:r>
              <a:rPr sz="2800" spc="-10" dirty="0">
                <a:latin typeface="Times New Roman"/>
                <a:cs typeface="Times New Roman"/>
              </a:rPr>
              <a:t> </a:t>
            </a:r>
            <a:r>
              <a:rPr sz="2800" spc="-10" dirty="0">
                <a:latin typeface="Aptos"/>
                <a:cs typeface="Aptos"/>
              </a:rPr>
              <a:t>which</a:t>
            </a:r>
            <a:r>
              <a:rPr sz="2800" spc="-140" dirty="0">
                <a:latin typeface="Times New Roman"/>
                <a:cs typeface="Times New Roman"/>
              </a:rPr>
              <a:t> </a:t>
            </a:r>
            <a:r>
              <a:rPr sz="2800" dirty="0">
                <a:latin typeface="Aptos"/>
                <a:cs typeface="Aptos"/>
              </a:rPr>
              <a:t>is</a:t>
            </a:r>
            <a:r>
              <a:rPr sz="2800" spc="-130" dirty="0">
                <a:latin typeface="Times New Roman"/>
                <a:cs typeface="Times New Roman"/>
              </a:rPr>
              <a:t> </a:t>
            </a:r>
            <a:r>
              <a:rPr sz="2800" spc="-20" dirty="0">
                <a:latin typeface="Aptos"/>
                <a:cs typeface="Aptos"/>
              </a:rPr>
              <a:t>then</a:t>
            </a:r>
            <a:r>
              <a:rPr sz="2800" spc="-145" dirty="0">
                <a:latin typeface="Times New Roman"/>
                <a:cs typeface="Times New Roman"/>
              </a:rPr>
              <a:t> </a:t>
            </a:r>
            <a:r>
              <a:rPr sz="2800" spc="-25" dirty="0">
                <a:latin typeface="Aptos"/>
                <a:cs typeface="Aptos"/>
              </a:rPr>
              <a:t>covered</a:t>
            </a:r>
            <a:r>
              <a:rPr sz="2800" spc="-130" dirty="0">
                <a:latin typeface="Times New Roman"/>
                <a:cs typeface="Times New Roman"/>
              </a:rPr>
              <a:t> </a:t>
            </a:r>
            <a:r>
              <a:rPr sz="2800" spc="-10" dirty="0">
                <a:latin typeface="Aptos"/>
                <a:cs typeface="Aptos"/>
              </a:rPr>
              <a:t>by</a:t>
            </a:r>
            <a:r>
              <a:rPr sz="2800" spc="-140" dirty="0">
                <a:latin typeface="Times New Roman"/>
                <a:cs typeface="Times New Roman"/>
              </a:rPr>
              <a:t> </a:t>
            </a:r>
            <a:r>
              <a:rPr sz="2800" spc="-25" dirty="0">
                <a:latin typeface="Aptos"/>
                <a:cs typeface="Aptos"/>
              </a:rPr>
              <a:t>protective</a:t>
            </a:r>
            <a:r>
              <a:rPr sz="2800" spc="-130" dirty="0">
                <a:latin typeface="Times New Roman"/>
                <a:cs typeface="Times New Roman"/>
              </a:rPr>
              <a:t> </a:t>
            </a:r>
            <a:r>
              <a:rPr sz="2800" spc="-10" dirty="0">
                <a:latin typeface="Aptos"/>
                <a:cs typeface="Aptos"/>
              </a:rPr>
              <a:t>plastic.</a:t>
            </a:r>
            <a:endParaRPr sz="2800">
              <a:latin typeface="Aptos"/>
              <a:cs typeface="Aptos"/>
            </a:endParaRPr>
          </a:p>
          <a:p>
            <a:pPr>
              <a:lnSpc>
                <a:spcPct val="100000"/>
              </a:lnSpc>
            </a:pPr>
            <a:endParaRPr sz="3650">
              <a:latin typeface="Aptos"/>
              <a:cs typeface="Aptos"/>
            </a:endParaRPr>
          </a:p>
          <a:p>
            <a:pPr marL="12700">
              <a:lnSpc>
                <a:spcPct val="100000"/>
              </a:lnSpc>
              <a:spcBef>
                <a:spcPts val="5"/>
              </a:spcBef>
            </a:pPr>
            <a:r>
              <a:rPr sz="2800" dirty="0">
                <a:latin typeface="Aptos"/>
                <a:cs typeface="Aptos"/>
              </a:rPr>
              <a:t>It</a:t>
            </a:r>
            <a:r>
              <a:rPr sz="2800" spc="-155" dirty="0">
                <a:latin typeface="Times New Roman"/>
                <a:cs typeface="Times New Roman"/>
              </a:rPr>
              <a:t> </a:t>
            </a:r>
            <a:r>
              <a:rPr sz="2800" dirty="0">
                <a:latin typeface="Aptos"/>
                <a:cs typeface="Aptos"/>
              </a:rPr>
              <a:t>is</a:t>
            </a:r>
            <a:r>
              <a:rPr sz="2800" spc="-155" dirty="0">
                <a:latin typeface="Times New Roman"/>
                <a:cs typeface="Times New Roman"/>
              </a:rPr>
              <a:t> </a:t>
            </a:r>
            <a:r>
              <a:rPr sz="2800" dirty="0">
                <a:latin typeface="Aptos"/>
                <a:cs typeface="Aptos"/>
              </a:rPr>
              <a:t>of</a:t>
            </a:r>
            <a:r>
              <a:rPr sz="2800" spc="-150" dirty="0">
                <a:latin typeface="Times New Roman"/>
                <a:cs typeface="Times New Roman"/>
              </a:rPr>
              <a:t> </a:t>
            </a:r>
            <a:r>
              <a:rPr sz="2800" spc="-20" dirty="0">
                <a:latin typeface="Aptos"/>
                <a:cs typeface="Aptos"/>
              </a:rPr>
              <a:t>two</a:t>
            </a:r>
            <a:r>
              <a:rPr sz="2800" spc="-155" dirty="0">
                <a:latin typeface="Times New Roman"/>
                <a:cs typeface="Times New Roman"/>
              </a:rPr>
              <a:t> </a:t>
            </a:r>
            <a:r>
              <a:rPr sz="2800" spc="-10" dirty="0">
                <a:latin typeface="Aptos"/>
                <a:cs typeface="Aptos"/>
              </a:rPr>
              <a:t>types:</a:t>
            </a:r>
            <a:endParaRPr sz="2800">
              <a:latin typeface="Aptos"/>
              <a:cs typeface="Aptos"/>
            </a:endParaRPr>
          </a:p>
          <a:p>
            <a:pPr>
              <a:lnSpc>
                <a:spcPct val="100000"/>
              </a:lnSpc>
              <a:spcBef>
                <a:spcPts val="10"/>
              </a:spcBef>
            </a:pPr>
            <a:endParaRPr sz="3700">
              <a:latin typeface="Aptos"/>
              <a:cs typeface="Aptos"/>
            </a:endParaRPr>
          </a:p>
          <a:p>
            <a:pPr marL="527685" indent="-515620">
              <a:lnSpc>
                <a:spcPct val="100000"/>
              </a:lnSpc>
              <a:spcBef>
                <a:spcPts val="5"/>
              </a:spcBef>
              <a:buAutoNum type="arabicParenR"/>
              <a:tabLst>
                <a:tab pos="527685" algn="l"/>
                <a:tab pos="528320" algn="l"/>
              </a:tabLst>
            </a:pPr>
            <a:r>
              <a:rPr sz="2400" dirty="0">
                <a:latin typeface="Aptos"/>
                <a:cs typeface="Aptos"/>
              </a:rPr>
              <a:t>Thicknet</a:t>
            </a:r>
            <a:r>
              <a:rPr sz="2400" spc="-125" dirty="0">
                <a:latin typeface="Times New Roman"/>
                <a:cs typeface="Times New Roman"/>
              </a:rPr>
              <a:t> </a:t>
            </a:r>
            <a:r>
              <a:rPr sz="2400" dirty="0">
                <a:latin typeface="Aptos"/>
                <a:cs typeface="Aptos"/>
              </a:rPr>
              <a:t>Co</a:t>
            </a:r>
            <a:r>
              <a:rPr sz="2400" spc="-125" dirty="0">
                <a:latin typeface="Times New Roman"/>
                <a:cs typeface="Times New Roman"/>
              </a:rPr>
              <a:t> </a:t>
            </a:r>
            <a:r>
              <a:rPr sz="2400" dirty="0">
                <a:latin typeface="Aptos"/>
                <a:cs typeface="Aptos"/>
              </a:rPr>
              <a:t>-</a:t>
            </a:r>
            <a:r>
              <a:rPr sz="2400" spc="-135" dirty="0">
                <a:latin typeface="Times New Roman"/>
                <a:cs typeface="Times New Roman"/>
              </a:rPr>
              <a:t> </a:t>
            </a:r>
            <a:r>
              <a:rPr sz="2400" dirty="0">
                <a:latin typeface="Aptos"/>
                <a:cs typeface="Aptos"/>
              </a:rPr>
              <a:t>axial</a:t>
            </a:r>
            <a:r>
              <a:rPr sz="2400" spc="-114" dirty="0">
                <a:latin typeface="Times New Roman"/>
                <a:cs typeface="Times New Roman"/>
              </a:rPr>
              <a:t> </a:t>
            </a:r>
            <a:r>
              <a:rPr sz="2400" spc="-20" dirty="0">
                <a:latin typeface="Aptos"/>
                <a:cs typeface="Aptos"/>
              </a:rPr>
              <a:t>cable</a:t>
            </a:r>
            <a:endParaRPr sz="2400">
              <a:latin typeface="Aptos"/>
              <a:cs typeface="Aptos"/>
            </a:endParaRPr>
          </a:p>
          <a:p>
            <a:pPr marL="527685" indent="-515620">
              <a:lnSpc>
                <a:spcPct val="100000"/>
              </a:lnSpc>
              <a:spcBef>
                <a:spcPts val="710"/>
              </a:spcBef>
              <a:buAutoNum type="arabicParenR"/>
              <a:tabLst>
                <a:tab pos="527685" algn="l"/>
                <a:tab pos="528320" algn="l"/>
              </a:tabLst>
            </a:pPr>
            <a:r>
              <a:rPr sz="2400" dirty="0">
                <a:latin typeface="Aptos"/>
                <a:cs typeface="Aptos"/>
              </a:rPr>
              <a:t>Thinnet</a:t>
            </a:r>
            <a:r>
              <a:rPr sz="2400" spc="-130" dirty="0">
                <a:latin typeface="Times New Roman"/>
                <a:cs typeface="Times New Roman"/>
              </a:rPr>
              <a:t> </a:t>
            </a:r>
            <a:r>
              <a:rPr sz="2400" dirty="0">
                <a:latin typeface="Aptos"/>
                <a:cs typeface="Aptos"/>
              </a:rPr>
              <a:t>Co</a:t>
            </a:r>
            <a:r>
              <a:rPr sz="2400" spc="-105" dirty="0">
                <a:latin typeface="Times New Roman"/>
                <a:cs typeface="Times New Roman"/>
              </a:rPr>
              <a:t> </a:t>
            </a:r>
            <a:r>
              <a:rPr sz="2400" dirty="0">
                <a:latin typeface="Aptos"/>
                <a:cs typeface="Aptos"/>
              </a:rPr>
              <a:t>-</a:t>
            </a:r>
            <a:r>
              <a:rPr sz="2400" spc="-130" dirty="0">
                <a:latin typeface="Times New Roman"/>
                <a:cs typeface="Times New Roman"/>
              </a:rPr>
              <a:t> </a:t>
            </a:r>
            <a:r>
              <a:rPr sz="2400" dirty="0">
                <a:latin typeface="Aptos"/>
                <a:cs typeface="Aptos"/>
              </a:rPr>
              <a:t>axial</a:t>
            </a:r>
            <a:r>
              <a:rPr sz="2400" spc="-105" dirty="0">
                <a:latin typeface="Times New Roman"/>
                <a:cs typeface="Times New Roman"/>
              </a:rPr>
              <a:t> </a:t>
            </a:r>
            <a:r>
              <a:rPr sz="2400" spc="-10" dirty="0">
                <a:latin typeface="Aptos"/>
                <a:cs typeface="Aptos"/>
              </a:rPr>
              <a:t>cable</a:t>
            </a:r>
            <a:endParaRPr sz="2400">
              <a:latin typeface="Aptos"/>
              <a:cs typeface="Aptos"/>
            </a:endParaRPr>
          </a:p>
        </p:txBody>
      </p:sp>
      <p:pic>
        <p:nvPicPr>
          <p:cNvPr id="5" name="object 5"/>
          <p:cNvPicPr/>
          <p:nvPr/>
        </p:nvPicPr>
        <p:blipFill>
          <a:blip r:embed="rId3" cstate="print"/>
          <a:stretch>
            <a:fillRect/>
          </a:stretch>
        </p:blipFill>
        <p:spPr>
          <a:xfrm>
            <a:off x="4798184" y="4301781"/>
            <a:ext cx="5956302" cy="232143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557030"/>
            <a:ext cx="10159365" cy="4881880"/>
          </a:xfrm>
          <a:prstGeom prst="rect">
            <a:avLst/>
          </a:prstGeom>
        </p:spPr>
        <p:txBody>
          <a:bodyPr vert="horz" wrap="square" lIns="0" tIns="95885" rIns="0" bIns="0" rtlCol="0">
            <a:spAutoFit/>
          </a:bodyPr>
          <a:lstStyle/>
          <a:p>
            <a:pPr marL="329565" indent="-317500">
              <a:lnSpc>
                <a:spcPct val="100000"/>
              </a:lnSpc>
              <a:spcBef>
                <a:spcPts val="755"/>
              </a:spcBef>
              <a:buSzPct val="96428"/>
              <a:buFont typeface="Wingdings"/>
              <a:buChar char=""/>
              <a:tabLst>
                <a:tab pos="330200" algn="l"/>
              </a:tabLst>
            </a:pPr>
            <a:r>
              <a:rPr sz="2800" b="1" spc="-20" dirty="0">
                <a:latin typeface="Aptos"/>
                <a:cs typeface="Aptos"/>
              </a:rPr>
              <a:t>Advantages</a:t>
            </a:r>
            <a:r>
              <a:rPr sz="2800" spc="-155" dirty="0">
                <a:latin typeface="Times New Roman"/>
                <a:cs typeface="Times New Roman"/>
              </a:rPr>
              <a:t> </a:t>
            </a:r>
            <a:r>
              <a:rPr sz="2800" b="1" dirty="0">
                <a:latin typeface="Aptos"/>
                <a:cs typeface="Aptos"/>
              </a:rPr>
              <a:t>of</a:t>
            </a:r>
            <a:r>
              <a:rPr sz="2800" spc="-130" dirty="0">
                <a:latin typeface="Times New Roman"/>
                <a:cs typeface="Times New Roman"/>
              </a:rPr>
              <a:t> </a:t>
            </a:r>
            <a:r>
              <a:rPr sz="2800" b="1" dirty="0">
                <a:latin typeface="Aptos"/>
                <a:cs typeface="Aptos"/>
              </a:rPr>
              <a:t>Co</a:t>
            </a:r>
            <a:r>
              <a:rPr sz="2800" spc="-110" dirty="0">
                <a:latin typeface="Times New Roman"/>
                <a:cs typeface="Times New Roman"/>
              </a:rPr>
              <a:t> </a:t>
            </a:r>
            <a:r>
              <a:rPr sz="2800" b="1" dirty="0">
                <a:latin typeface="Aptos"/>
                <a:cs typeface="Aptos"/>
              </a:rPr>
              <a:t>-</a:t>
            </a:r>
            <a:r>
              <a:rPr sz="2800" spc="-135" dirty="0">
                <a:latin typeface="Times New Roman"/>
                <a:cs typeface="Times New Roman"/>
              </a:rPr>
              <a:t> </a:t>
            </a:r>
            <a:r>
              <a:rPr sz="2800" b="1" spc="-10" dirty="0">
                <a:latin typeface="Aptos"/>
                <a:cs typeface="Aptos"/>
              </a:rPr>
              <a:t>axial</a:t>
            </a:r>
            <a:r>
              <a:rPr sz="2800" spc="-155" dirty="0">
                <a:latin typeface="Times New Roman"/>
                <a:cs typeface="Times New Roman"/>
              </a:rPr>
              <a:t> </a:t>
            </a:r>
            <a:r>
              <a:rPr sz="2800" b="1" spc="-10" dirty="0">
                <a:latin typeface="Aptos"/>
                <a:cs typeface="Aptos"/>
              </a:rPr>
              <a:t>cable</a:t>
            </a:r>
            <a:r>
              <a:rPr sz="2800" spc="-155" dirty="0">
                <a:latin typeface="Times New Roman"/>
                <a:cs typeface="Times New Roman"/>
              </a:rPr>
              <a:t> </a:t>
            </a:r>
            <a:r>
              <a:rPr sz="2800" b="1" spc="-50" dirty="0">
                <a:latin typeface="Aptos"/>
                <a:cs typeface="Aptos"/>
              </a:rPr>
              <a:t>:</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It</a:t>
            </a:r>
            <a:r>
              <a:rPr sz="2800" spc="-150" dirty="0">
                <a:latin typeface="Times New Roman"/>
                <a:cs typeface="Times New Roman"/>
              </a:rPr>
              <a:t> </a:t>
            </a:r>
            <a:r>
              <a:rPr sz="2800" dirty="0">
                <a:latin typeface="Aptos"/>
                <a:cs typeface="Aptos"/>
              </a:rPr>
              <a:t>is</a:t>
            </a:r>
            <a:r>
              <a:rPr sz="2800" spc="-140" dirty="0">
                <a:latin typeface="Times New Roman"/>
                <a:cs typeface="Times New Roman"/>
              </a:rPr>
              <a:t> </a:t>
            </a:r>
            <a:r>
              <a:rPr sz="2800" spc="-30" dirty="0">
                <a:latin typeface="Aptos"/>
                <a:cs typeface="Aptos"/>
              </a:rPr>
              <a:t>faster</a:t>
            </a:r>
            <a:r>
              <a:rPr sz="2800" spc="-145" dirty="0">
                <a:latin typeface="Times New Roman"/>
                <a:cs typeface="Times New Roman"/>
              </a:rPr>
              <a:t> </a:t>
            </a:r>
            <a:r>
              <a:rPr sz="2800" spc="-10" dirty="0">
                <a:latin typeface="Aptos"/>
                <a:cs typeface="Aptos"/>
              </a:rPr>
              <a:t>and</a:t>
            </a:r>
            <a:r>
              <a:rPr sz="2800" spc="-125" dirty="0">
                <a:latin typeface="Times New Roman"/>
                <a:cs typeface="Times New Roman"/>
              </a:rPr>
              <a:t> </a:t>
            </a:r>
            <a:r>
              <a:rPr sz="2800" spc="-20" dirty="0">
                <a:latin typeface="Aptos"/>
                <a:cs typeface="Aptos"/>
              </a:rPr>
              <a:t>reliable</a:t>
            </a:r>
            <a:r>
              <a:rPr sz="2800" spc="-160" dirty="0">
                <a:latin typeface="Times New Roman"/>
                <a:cs typeface="Times New Roman"/>
              </a:rPr>
              <a:t> </a:t>
            </a:r>
            <a:r>
              <a:rPr sz="2800" spc="-10" dirty="0">
                <a:latin typeface="Aptos"/>
                <a:cs typeface="Aptos"/>
              </a:rPr>
              <a:t>than</a:t>
            </a:r>
            <a:r>
              <a:rPr sz="2800" spc="-130" dirty="0">
                <a:latin typeface="Times New Roman"/>
                <a:cs typeface="Times New Roman"/>
              </a:rPr>
              <a:t> </a:t>
            </a:r>
            <a:r>
              <a:rPr sz="2800" spc="-25" dirty="0">
                <a:latin typeface="Aptos"/>
                <a:cs typeface="Aptos"/>
              </a:rPr>
              <a:t>twisted</a:t>
            </a:r>
            <a:r>
              <a:rPr sz="2800" spc="-140" dirty="0">
                <a:latin typeface="Times New Roman"/>
                <a:cs typeface="Times New Roman"/>
              </a:rPr>
              <a:t> </a:t>
            </a:r>
            <a:r>
              <a:rPr sz="2800" spc="-10" dirty="0">
                <a:latin typeface="Aptos"/>
                <a:cs typeface="Aptos"/>
              </a:rPr>
              <a:t>pair</a:t>
            </a:r>
            <a:r>
              <a:rPr sz="2800" spc="-140" dirty="0">
                <a:latin typeface="Times New Roman"/>
                <a:cs typeface="Times New Roman"/>
              </a:rPr>
              <a:t> </a:t>
            </a:r>
            <a:r>
              <a:rPr sz="2800" spc="-10" dirty="0">
                <a:latin typeface="Aptos"/>
                <a:cs typeface="Aptos"/>
              </a:rPr>
              <a:t>cable.</a:t>
            </a:r>
            <a:endParaRPr sz="2800">
              <a:latin typeface="Aptos"/>
              <a:cs typeface="Aptos"/>
            </a:endParaRPr>
          </a:p>
          <a:p>
            <a:pPr marL="527685" marR="534035" indent="-515620">
              <a:lnSpc>
                <a:spcPts val="3020"/>
              </a:lnSpc>
              <a:spcBef>
                <a:spcPts val="1060"/>
              </a:spcBef>
              <a:buAutoNum type="arabicPeriod"/>
              <a:tabLst>
                <a:tab pos="527685" algn="l"/>
                <a:tab pos="528320" algn="l"/>
              </a:tabLst>
            </a:pPr>
            <a:r>
              <a:rPr sz="2800" dirty="0">
                <a:latin typeface="Aptos"/>
                <a:cs typeface="Aptos"/>
              </a:rPr>
              <a:t>It</a:t>
            </a:r>
            <a:r>
              <a:rPr sz="2800" spc="-155" dirty="0">
                <a:latin typeface="Times New Roman"/>
                <a:cs typeface="Times New Roman"/>
              </a:rPr>
              <a:t> </a:t>
            </a:r>
            <a:r>
              <a:rPr sz="2800" spc="-10" dirty="0">
                <a:latin typeface="Aptos"/>
                <a:cs typeface="Aptos"/>
              </a:rPr>
              <a:t>can</a:t>
            </a:r>
            <a:r>
              <a:rPr sz="2800" spc="-140" dirty="0">
                <a:latin typeface="Times New Roman"/>
                <a:cs typeface="Times New Roman"/>
              </a:rPr>
              <a:t> </a:t>
            </a:r>
            <a:r>
              <a:rPr sz="2800" spc="-10" dirty="0">
                <a:latin typeface="Aptos"/>
                <a:cs typeface="Aptos"/>
              </a:rPr>
              <a:t>carry</a:t>
            </a:r>
            <a:r>
              <a:rPr sz="2800" spc="-155" dirty="0">
                <a:latin typeface="Times New Roman"/>
                <a:cs typeface="Times New Roman"/>
              </a:rPr>
              <a:t> </a:t>
            </a:r>
            <a:r>
              <a:rPr sz="2800" spc="-10" dirty="0">
                <a:latin typeface="Aptos"/>
                <a:cs typeface="Aptos"/>
              </a:rPr>
              <a:t>signal</a:t>
            </a:r>
            <a:r>
              <a:rPr sz="2800" spc="-140" dirty="0">
                <a:latin typeface="Times New Roman"/>
                <a:cs typeface="Times New Roman"/>
              </a:rPr>
              <a:t> </a:t>
            </a:r>
            <a:r>
              <a:rPr sz="2800" dirty="0">
                <a:latin typeface="Aptos"/>
                <a:cs typeface="Aptos"/>
              </a:rPr>
              <a:t>u</a:t>
            </a:r>
            <a:r>
              <a:rPr sz="2800" spc="-155" dirty="0">
                <a:latin typeface="Times New Roman"/>
                <a:cs typeface="Times New Roman"/>
              </a:rPr>
              <a:t> </a:t>
            </a:r>
            <a:r>
              <a:rPr sz="2800" dirty="0">
                <a:latin typeface="Aptos"/>
                <a:cs typeface="Aptos"/>
              </a:rPr>
              <a:t>p</a:t>
            </a:r>
            <a:r>
              <a:rPr sz="2800" spc="-145" dirty="0">
                <a:latin typeface="Times New Roman"/>
                <a:cs typeface="Times New Roman"/>
              </a:rPr>
              <a:t> </a:t>
            </a:r>
            <a:r>
              <a:rPr sz="2800" dirty="0">
                <a:latin typeface="Aptos"/>
                <a:cs typeface="Aptos"/>
              </a:rPr>
              <a:t>to</a:t>
            </a:r>
            <a:r>
              <a:rPr sz="2800" spc="-140" dirty="0">
                <a:latin typeface="Times New Roman"/>
                <a:cs typeface="Times New Roman"/>
              </a:rPr>
              <a:t> </a:t>
            </a:r>
            <a:r>
              <a:rPr sz="2800" dirty="0">
                <a:latin typeface="Aptos"/>
                <a:cs typeface="Aptos"/>
              </a:rPr>
              <a:t>500</a:t>
            </a:r>
            <a:r>
              <a:rPr sz="2800" spc="-120" dirty="0">
                <a:latin typeface="Times New Roman"/>
                <a:cs typeface="Times New Roman"/>
              </a:rPr>
              <a:t> </a:t>
            </a:r>
            <a:r>
              <a:rPr sz="2800" spc="-20" dirty="0">
                <a:latin typeface="Aptos"/>
                <a:cs typeface="Aptos"/>
              </a:rPr>
              <a:t>meter</a:t>
            </a:r>
            <a:r>
              <a:rPr sz="2800" spc="-145" dirty="0">
                <a:latin typeface="Times New Roman"/>
                <a:cs typeface="Times New Roman"/>
              </a:rPr>
              <a:t> </a:t>
            </a:r>
            <a:r>
              <a:rPr sz="2800" spc="-10" dirty="0">
                <a:latin typeface="Aptos"/>
                <a:cs typeface="Aptos"/>
              </a:rPr>
              <a:t>and</a:t>
            </a:r>
            <a:r>
              <a:rPr sz="2800" spc="-150" dirty="0">
                <a:latin typeface="Times New Roman"/>
                <a:cs typeface="Times New Roman"/>
              </a:rPr>
              <a:t> </a:t>
            </a:r>
            <a:r>
              <a:rPr sz="2800" spc="-20" dirty="0">
                <a:latin typeface="Aptos"/>
                <a:cs typeface="Aptos"/>
              </a:rPr>
              <a:t>bandwidth</a:t>
            </a:r>
            <a:r>
              <a:rPr sz="2800" spc="-150" dirty="0">
                <a:latin typeface="Times New Roman"/>
                <a:cs typeface="Times New Roman"/>
              </a:rPr>
              <a:t> </a:t>
            </a:r>
            <a:r>
              <a:rPr sz="2800" dirty="0">
                <a:latin typeface="Aptos"/>
                <a:cs typeface="Aptos"/>
              </a:rPr>
              <a:t>up</a:t>
            </a:r>
            <a:r>
              <a:rPr sz="2800" spc="-140" dirty="0">
                <a:latin typeface="Times New Roman"/>
                <a:cs typeface="Times New Roman"/>
              </a:rPr>
              <a:t> </a:t>
            </a:r>
            <a:r>
              <a:rPr sz="2800" dirty="0">
                <a:latin typeface="Aptos"/>
                <a:cs typeface="Aptos"/>
              </a:rPr>
              <a:t>to</a:t>
            </a:r>
            <a:r>
              <a:rPr sz="2800" spc="-140" dirty="0">
                <a:latin typeface="Times New Roman"/>
                <a:cs typeface="Times New Roman"/>
              </a:rPr>
              <a:t> </a:t>
            </a:r>
            <a:r>
              <a:rPr sz="2800" spc="-25" dirty="0">
                <a:latin typeface="Aptos"/>
                <a:cs typeface="Aptos"/>
              </a:rPr>
              <a:t>100</a:t>
            </a:r>
            <a:r>
              <a:rPr sz="2800" spc="-25" dirty="0">
                <a:latin typeface="Times New Roman"/>
                <a:cs typeface="Times New Roman"/>
              </a:rPr>
              <a:t> </a:t>
            </a:r>
            <a:r>
              <a:rPr sz="2800" spc="-10" dirty="0">
                <a:latin typeface="Aptos"/>
                <a:cs typeface="Aptos"/>
              </a:rPr>
              <a:t>Mbps.</a:t>
            </a:r>
            <a:endParaRPr sz="2800">
              <a:latin typeface="Aptos"/>
              <a:cs typeface="Aptos"/>
            </a:endParaRPr>
          </a:p>
          <a:p>
            <a:pPr marL="527685" marR="5080" indent="-515620">
              <a:lnSpc>
                <a:spcPts val="3030"/>
              </a:lnSpc>
              <a:spcBef>
                <a:spcPts val="994"/>
              </a:spcBef>
              <a:buAutoNum type="arabicPeriod"/>
              <a:tabLst>
                <a:tab pos="527685" algn="l"/>
                <a:tab pos="528320" algn="l"/>
              </a:tabLst>
            </a:pPr>
            <a:r>
              <a:rPr sz="2800" dirty="0">
                <a:latin typeface="Aptos"/>
                <a:cs typeface="Aptos"/>
              </a:rPr>
              <a:t>It</a:t>
            </a:r>
            <a:r>
              <a:rPr sz="2800" spc="-145" dirty="0">
                <a:latin typeface="Times New Roman"/>
                <a:cs typeface="Times New Roman"/>
              </a:rPr>
              <a:t> </a:t>
            </a:r>
            <a:r>
              <a:rPr sz="2800" spc="-20" dirty="0">
                <a:latin typeface="Aptos"/>
                <a:cs typeface="Aptos"/>
              </a:rPr>
              <a:t>supports</a:t>
            </a:r>
            <a:r>
              <a:rPr sz="2800" spc="-114" dirty="0">
                <a:latin typeface="Times New Roman"/>
                <a:cs typeface="Times New Roman"/>
              </a:rPr>
              <a:t> </a:t>
            </a:r>
            <a:r>
              <a:rPr sz="2800" spc="-20" dirty="0">
                <a:latin typeface="Aptos"/>
                <a:cs typeface="Aptos"/>
              </a:rPr>
              <a:t>multiple</a:t>
            </a:r>
            <a:r>
              <a:rPr sz="2800" spc="-140" dirty="0">
                <a:latin typeface="Times New Roman"/>
                <a:cs typeface="Times New Roman"/>
              </a:rPr>
              <a:t> </a:t>
            </a:r>
            <a:r>
              <a:rPr sz="2800" spc="-20" dirty="0">
                <a:latin typeface="Aptos"/>
                <a:cs typeface="Aptos"/>
              </a:rPr>
              <a:t>channels</a:t>
            </a:r>
            <a:r>
              <a:rPr sz="2800" spc="-125" dirty="0">
                <a:latin typeface="Times New Roman"/>
                <a:cs typeface="Times New Roman"/>
              </a:rPr>
              <a:t> </a:t>
            </a:r>
            <a:r>
              <a:rPr sz="2800" dirty="0">
                <a:latin typeface="Aptos"/>
                <a:cs typeface="Aptos"/>
              </a:rPr>
              <a:t>in</a:t>
            </a:r>
            <a:r>
              <a:rPr sz="2800" spc="-140" dirty="0">
                <a:latin typeface="Times New Roman"/>
                <a:cs typeface="Times New Roman"/>
              </a:rPr>
              <a:t> </a:t>
            </a:r>
            <a:r>
              <a:rPr sz="2800" dirty="0">
                <a:latin typeface="Aptos"/>
                <a:cs typeface="Aptos"/>
              </a:rPr>
              <a:t>a</a:t>
            </a:r>
            <a:r>
              <a:rPr sz="2800" spc="-140" dirty="0">
                <a:latin typeface="Times New Roman"/>
                <a:cs typeface="Times New Roman"/>
              </a:rPr>
              <a:t> </a:t>
            </a:r>
            <a:r>
              <a:rPr sz="2800" spc="-20" dirty="0">
                <a:latin typeface="Aptos"/>
                <a:cs typeface="Aptos"/>
              </a:rPr>
              <a:t>medium</a:t>
            </a:r>
            <a:r>
              <a:rPr sz="2800" spc="-135" dirty="0">
                <a:latin typeface="Times New Roman"/>
                <a:cs typeface="Times New Roman"/>
              </a:rPr>
              <a:t> </a:t>
            </a:r>
            <a:r>
              <a:rPr sz="2800" spc="-10" dirty="0">
                <a:latin typeface="Aptos"/>
                <a:cs typeface="Aptos"/>
              </a:rPr>
              <a:t>and</a:t>
            </a:r>
            <a:r>
              <a:rPr sz="2800" spc="-114" dirty="0">
                <a:latin typeface="Times New Roman"/>
                <a:cs typeface="Times New Roman"/>
              </a:rPr>
              <a:t> </a:t>
            </a:r>
            <a:r>
              <a:rPr sz="2800" spc="-10" dirty="0">
                <a:latin typeface="Aptos"/>
                <a:cs typeface="Aptos"/>
              </a:rPr>
              <a:t>less</a:t>
            </a:r>
            <a:r>
              <a:rPr sz="2800" spc="-140" dirty="0">
                <a:latin typeface="Times New Roman"/>
                <a:cs typeface="Times New Roman"/>
              </a:rPr>
              <a:t> </a:t>
            </a:r>
            <a:r>
              <a:rPr sz="2800" spc="-20" dirty="0">
                <a:latin typeface="Aptos"/>
                <a:cs typeface="Aptos"/>
              </a:rPr>
              <a:t>effective</a:t>
            </a:r>
            <a:r>
              <a:rPr sz="2800" spc="-140" dirty="0">
                <a:latin typeface="Times New Roman"/>
                <a:cs typeface="Times New Roman"/>
              </a:rPr>
              <a:t> </a:t>
            </a:r>
            <a:r>
              <a:rPr sz="2800" spc="-25" dirty="0">
                <a:latin typeface="Aptos"/>
                <a:cs typeface="Aptos"/>
              </a:rPr>
              <a:t>by</a:t>
            </a:r>
            <a:r>
              <a:rPr sz="2800" spc="-25" dirty="0">
                <a:latin typeface="Times New Roman"/>
                <a:cs typeface="Times New Roman"/>
              </a:rPr>
              <a:t> </a:t>
            </a:r>
            <a:r>
              <a:rPr sz="2800" spc="-20" dirty="0">
                <a:latin typeface="Aptos"/>
                <a:cs typeface="Aptos"/>
              </a:rPr>
              <a:t>electromagnetic</a:t>
            </a:r>
            <a:r>
              <a:rPr sz="2800" spc="-85" dirty="0">
                <a:latin typeface="Times New Roman"/>
                <a:cs typeface="Times New Roman"/>
              </a:rPr>
              <a:t> </a:t>
            </a:r>
            <a:r>
              <a:rPr sz="2800" spc="-10" dirty="0">
                <a:latin typeface="Aptos"/>
                <a:cs typeface="Aptos"/>
              </a:rPr>
              <a:t>interference.</a:t>
            </a:r>
            <a:endParaRPr sz="2800">
              <a:latin typeface="Aptos"/>
              <a:cs typeface="Aptos"/>
            </a:endParaRPr>
          </a:p>
          <a:p>
            <a:pPr marL="329565" indent="-317500">
              <a:lnSpc>
                <a:spcPct val="100000"/>
              </a:lnSpc>
              <a:spcBef>
                <a:spcPts val="610"/>
              </a:spcBef>
              <a:buSzPct val="96428"/>
              <a:buFont typeface="Wingdings"/>
              <a:buChar char=""/>
              <a:tabLst>
                <a:tab pos="330200" algn="l"/>
              </a:tabLst>
            </a:pPr>
            <a:r>
              <a:rPr sz="2800" b="1" spc="-20" dirty="0">
                <a:latin typeface="Aptos"/>
                <a:cs typeface="Aptos"/>
              </a:rPr>
              <a:t>Disadvantages</a:t>
            </a:r>
            <a:r>
              <a:rPr sz="2800" spc="-160" dirty="0">
                <a:latin typeface="Times New Roman"/>
                <a:cs typeface="Times New Roman"/>
              </a:rPr>
              <a:t> </a:t>
            </a:r>
            <a:r>
              <a:rPr sz="2800" b="1" dirty="0">
                <a:latin typeface="Aptos"/>
                <a:cs typeface="Aptos"/>
              </a:rPr>
              <a:t>of</a:t>
            </a:r>
            <a:r>
              <a:rPr sz="2800" spc="-114" dirty="0">
                <a:latin typeface="Times New Roman"/>
                <a:cs typeface="Times New Roman"/>
              </a:rPr>
              <a:t> </a:t>
            </a:r>
            <a:r>
              <a:rPr sz="2800" b="1" dirty="0">
                <a:latin typeface="Aptos"/>
                <a:cs typeface="Aptos"/>
              </a:rPr>
              <a:t>Co</a:t>
            </a:r>
            <a:r>
              <a:rPr sz="2800" spc="-85" dirty="0">
                <a:latin typeface="Times New Roman"/>
                <a:cs typeface="Times New Roman"/>
              </a:rPr>
              <a:t> </a:t>
            </a:r>
            <a:r>
              <a:rPr sz="2800" b="1" dirty="0">
                <a:latin typeface="Aptos"/>
                <a:cs typeface="Aptos"/>
              </a:rPr>
              <a:t>-</a:t>
            </a:r>
            <a:r>
              <a:rPr sz="2800" spc="-120" dirty="0">
                <a:latin typeface="Times New Roman"/>
                <a:cs typeface="Times New Roman"/>
              </a:rPr>
              <a:t> </a:t>
            </a:r>
            <a:r>
              <a:rPr sz="2800" b="1" spc="-10" dirty="0">
                <a:latin typeface="Aptos"/>
                <a:cs typeface="Aptos"/>
              </a:rPr>
              <a:t>axial</a:t>
            </a:r>
            <a:r>
              <a:rPr sz="2800" spc="-155" dirty="0">
                <a:latin typeface="Times New Roman"/>
                <a:cs typeface="Times New Roman"/>
              </a:rPr>
              <a:t> </a:t>
            </a:r>
            <a:r>
              <a:rPr sz="2800" b="1" spc="-10" dirty="0">
                <a:latin typeface="Aptos"/>
                <a:cs typeface="Aptos"/>
              </a:rPr>
              <a:t>cable</a:t>
            </a:r>
            <a:r>
              <a:rPr sz="2800" spc="-165" dirty="0">
                <a:latin typeface="Times New Roman"/>
                <a:cs typeface="Times New Roman"/>
              </a:rPr>
              <a:t> </a:t>
            </a:r>
            <a:r>
              <a:rPr sz="2800" b="1" spc="-50" dirty="0">
                <a:latin typeface="Aptos"/>
                <a:cs typeface="Aptos"/>
              </a:rPr>
              <a:t>:</a:t>
            </a:r>
            <a:endParaRPr sz="2800">
              <a:latin typeface="Aptos"/>
              <a:cs typeface="Aptos"/>
            </a:endParaRPr>
          </a:p>
          <a:p>
            <a:pPr marL="527685" indent="-515620">
              <a:lnSpc>
                <a:spcPct val="100000"/>
              </a:lnSpc>
              <a:spcBef>
                <a:spcPts val="675"/>
              </a:spcBef>
              <a:buAutoNum type="arabicPeriod"/>
              <a:tabLst>
                <a:tab pos="527685" algn="l"/>
                <a:tab pos="528320" algn="l"/>
              </a:tabLst>
            </a:pPr>
            <a:r>
              <a:rPr sz="2800" dirty="0">
                <a:latin typeface="Aptos"/>
                <a:cs typeface="Aptos"/>
              </a:rPr>
              <a:t>It</a:t>
            </a:r>
            <a:r>
              <a:rPr sz="2800" spc="-150" dirty="0">
                <a:latin typeface="Times New Roman"/>
                <a:cs typeface="Times New Roman"/>
              </a:rPr>
              <a:t> </a:t>
            </a:r>
            <a:r>
              <a:rPr sz="2800" dirty="0">
                <a:latin typeface="Aptos"/>
                <a:cs typeface="Aptos"/>
              </a:rPr>
              <a:t>is</a:t>
            </a:r>
            <a:r>
              <a:rPr sz="2800" spc="-145" dirty="0">
                <a:latin typeface="Times New Roman"/>
                <a:cs typeface="Times New Roman"/>
              </a:rPr>
              <a:t> </a:t>
            </a:r>
            <a:r>
              <a:rPr sz="2800" dirty="0">
                <a:latin typeface="Aptos"/>
                <a:cs typeface="Aptos"/>
              </a:rPr>
              <a:t>not</a:t>
            </a:r>
            <a:r>
              <a:rPr sz="2800" spc="-135" dirty="0">
                <a:latin typeface="Times New Roman"/>
                <a:cs typeface="Times New Roman"/>
              </a:rPr>
              <a:t> </a:t>
            </a:r>
            <a:r>
              <a:rPr sz="2800" spc="-20" dirty="0">
                <a:latin typeface="Aptos"/>
                <a:cs typeface="Aptos"/>
              </a:rPr>
              <a:t>appropriate</a:t>
            </a:r>
            <a:r>
              <a:rPr sz="2800" spc="-135" dirty="0">
                <a:latin typeface="Times New Roman"/>
                <a:cs typeface="Times New Roman"/>
              </a:rPr>
              <a:t> </a:t>
            </a:r>
            <a:r>
              <a:rPr sz="2800" spc="-10" dirty="0">
                <a:latin typeface="Aptos"/>
                <a:cs typeface="Aptos"/>
              </a:rPr>
              <a:t>for</a:t>
            </a:r>
            <a:r>
              <a:rPr sz="2800" spc="-130" dirty="0">
                <a:latin typeface="Times New Roman"/>
                <a:cs typeface="Times New Roman"/>
              </a:rPr>
              <a:t> </a:t>
            </a:r>
            <a:r>
              <a:rPr sz="2800" spc="-25" dirty="0">
                <a:latin typeface="Aptos"/>
                <a:cs typeface="Aptos"/>
              </a:rPr>
              <a:t>relatively</a:t>
            </a:r>
            <a:r>
              <a:rPr sz="2800" spc="-150" dirty="0">
                <a:latin typeface="Times New Roman"/>
                <a:cs typeface="Times New Roman"/>
              </a:rPr>
              <a:t> </a:t>
            </a:r>
            <a:r>
              <a:rPr sz="2800" spc="-25" dirty="0">
                <a:latin typeface="Aptos"/>
                <a:cs typeface="Aptos"/>
              </a:rPr>
              <a:t>larger</a:t>
            </a:r>
            <a:r>
              <a:rPr sz="2800" spc="-135" dirty="0">
                <a:latin typeface="Times New Roman"/>
                <a:cs typeface="Times New Roman"/>
              </a:rPr>
              <a:t> </a:t>
            </a:r>
            <a:r>
              <a:rPr sz="2800" spc="-10" dirty="0">
                <a:latin typeface="Aptos"/>
                <a:cs typeface="Aptos"/>
              </a:rPr>
              <a:t>distance.</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spc="-10" dirty="0">
                <a:latin typeface="Aptos"/>
                <a:cs typeface="Aptos"/>
              </a:rPr>
              <a:t>The</a:t>
            </a:r>
            <a:r>
              <a:rPr sz="2800" spc="-145" dirty="0">
                <a:latin typeface="Times New Roman"/>
                <a:cs typeface="Times New Roman"/>
              </a:rPr>
              <a:t> </a:t>
            </a:r>
            <a:r>
              <a:rPr sz="2800" spc="-10" dirty="0">
                <a:latin typeface="Aptos"/>
                <a:cs typeface="Aptos"/>
              </a:rPr>
              <a:t>data</a:t>
            </a:r>
            <a:r>
              <a:rPr sz="2800" spc="-125" dirty="0">
                <a:latin typeface="Times New Roman"/>
                <a:cs typeface="Times New Roman"/>
              </a:rPr>
              <a:t> </a:t>
            </a:r>
            <a:r>
              <a:rPr sz="2800" spc="-20" dirty="0">
                <a:latin typeface="Aptos"/>
                <a:cs typeface="Aptos"/>
              </a:rPr>
              <a:t>within</a:t>
            </a:r>
            <a:r>
              <a:rPr sz="2800" spc="-155" dirty="0">
                <a:latin typeface="Times New Roman"/>
                <a:cs typeface="Times New Roman"/>
              </a:rPr>
              <a:t> </a:t>
            </a:r>
            <a:r>
              <a:rPr sz="2800" spc="-20" dirty="0">
                <a:latin typeface="Aptos"/>
                <a:cs typeface="Aptos"/>
              </a:rPr>
              <a:t>co-</a:t>
            </a:r>
            <a:r>
              <a:rPr sz="2800" spc="-10" dirty="0">
                <a:latin typeface="Aptos"/>
                <a:cs typeface="Aptos"/>
              </a:rPr>
              <a:t>axial</a:t>
            </a:r>
            <a:r>
              <a:rPr sz="2800" spc="-140" dirty="0">
                <a:latin typeface="Times New Roman"/>
                <a:cs typeface="Times New Roman"/>
              </a:rPr>
              <a:t> </a:t>
            </a:r>
            <a:r>
              <a:rPr sz="2800" spc="-20" dirty="0">
                <a:latin typeface="Aptos"/>
                <a:cs typeface="Aptos"/>
              </a:rPr>
              <a:t>cable</a:t>
            </a:r>
            <a:r>
              <a:rPr sz="2800" spc="-135" dirty="0">
                <a:latin typeface="Times New Roman"/>
                <a:cs typeface="Times New Roman"/>
              </a:rPr>
              <a:t> </a:t>
            </a:r>
            <a:r>
              <a:rPr sz="2800" spc="-20" dirty="0">
                <a:latin typeface="Aptos"/>
                <a:cs typeface="Aptos"/>
              </a:rPr>
              <a:t>can</a:t>
            </a:r>
            <a:r>
              <a:rPr sz="2800" spc="-145" dirty="0">
                <a:latin typeface="Times New Roman"/>
                <a:cs typeface="Times New Roman"/>
              </a:rPr>
              <a:t> </a:t>
            </a:r>
            <a:r>
              <a:rPr sz="2800" spc="-10" dirty="0">
                <a:latin typeface="Aptos"/>
                <a:cs typeface="Aptos"/>
              </a:rPr>
              <a:t>easily</a:t>
            </a:r>
            <a:r>
              <a:rPr sz="2800" spc="-145" dirty="0">
                <a:latin typeface="Times New Roman"/>
                <a:cs typeface="Times New Roman"/>
              </a:rPr>
              <a:t> </a:t>
            </a:r>
            <a:r>
              <a:rPr sz="2800" dirty="0">
                <a:latin typeface="Aptos"/>
                <a:cs typeface="Aptos"/>
              </a:rPr>
              <a:t>be</a:t>
            </a:r>
            <a:r>
              <a:rPr sz="2800" spc="-140" dirty="0">
                <a:latin typeface="Times New Roman"/>
                <a:cs typeface="Times New Roman"/>
              </a:rPr>
              <a:t> </a:t>
            </a:r>
            <a:r>
              <a:rPr sz="2800" spc="-10" dirty="0">
                <a:latin typeface="Aptos"/>
                <a:cs typeface="Aptos"/>
              </a:rPr>
              <a:t>tapped.</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It</a:t>
            </a:r>
            <a:r>
              <a:rPr sz="2800" spc="-140" dirty="0">
                <a:latin typeface="Times New Roman"/>
                <a:cs typeface="Times New Roman"/>
              </a:rPr>
              <a:t> </a:t>
            </a:r>
            <a:r>
              <a:rPr sz="2800" dirty="0">
                <a:latin typeface="Aptos"/>
                <a:cs typeface="Aptos"/>
              </a:rPr>
              <a:t>is</a:t>
            </a:r>
            <a:r>
              <a:rPr sz="2800" spc="-140" dirty="0">
                <a:latin typeface="Times New Roman"/>
                <a:cs typeface="Times New Roman"/>
              </a:rPr>
              <a:t> </a:t>
            </a:r>
            <a:r>
              <a:rPr sz="2800" spc="-30" dirty="0">
                <a:latin typeface="Aptos"/>
                <a:cs typeface="Aptos"/>
              </a:rPr>
              <a:t>expensive</a:t>
            </a:r>
            <a:r>
              <a:rPr sz="2800" spc="-135" dirty="0">
                <a:latin typeface="Times New Roman"/>
                <a:cs typeface="Times New Roman"/>
              </a:rPr>
              <a:t> </a:t>
            </a:r>
            <a:r>
              <a:rPr sz="2800" spc="-20" dirty="0">
                <a:latin typeface="Aptos"/>
                <a:cs typeface="Aptos"/>
              </a:rPr>
              <a:t>than</a:t>
            </a:r>
            <a:r>
              <a:rPr sz="2800" spc="-140" dirty="0">
                <a:latin typeface="Times New Roman"/>
                <a:cs typeface="Times New Roman"/>
              </a:rPr>
              <a:t> </a:t>
            </a:r>
            <a:r>
              <a:rPr sz="2800" spc="-20" dirty="0">
                <a:latin typeface="Aptos"/>
                <a:cs typeface="Aptos"/>
              </a:rPr>
              <a:t>twisted</a:t>
            </a:r>
            <a:r>
              <a:rPr sz="2800" spc="-135" dirty="0">
                <a:latin typeface="Times New Roman"/>
                <a:cs typeface="Times New Roman"/>
              </a:rPr>
              <a:t> </a:t>
            </a:r>
            <a:r>
              <a:rPr sz="2800" spc="-10" dirty="0">
                <a:latin typeface="Aptos"/>
                <a:cs typeface="Aptos"/>
              </a:rPr>
              <a:t>pair</a:t>
            </a:r>
            <a:r>
              <a:rPr sz="2800" spc="-125" dirty="0">
                <a:latin typeface="Times New Roman"/>
                <a:cs typeface="Times New Roman"/>
              </a:rPr>
              <a:t> </a:t>
            </a:r>
            <a:r>
              <a:rPr sz="2800" spc="-10" dirty="0">
                <a:latin typeface="Aptos"/>
                <a:cs typeface="Aptos"/>
              </a:rPr>
              <a:t>cable.</a:t>
            </a:r>
            <a:endParaRPr sz="2800">
              <a:latin typeface="Aptos"/>
              <a:cs typeface="Apto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9" y="447814"/>
            <a:ext cx="10360660" cy="4116704"/>
          </a:xfrm>
          <a:prstGeom prst="rect">
            <a:avLst/>
          </a:prstGeom>
        </p:spPr>
        <p:txBody>
          <a:bodyPr vert="horz" wrap="square" lIns="0" tIns="96520" rIns="0" bIns="0" rtlCol="0">
            <a:spAutoFit/>
          </a:bodyPr>
          <a:lstStyle/>
          <a:p>
            <a:pPr marL="12700" algn="just">
              <a:lnSpc>
                <a:spcPct val="100000"/>
              </a:lnSpc>
              <a:spcBef>
                <a:spcPts val="760"/>
              </a:spcBef>
            </a:pPr>
            <a:r>
              <a:rPr sz="2800" b="1" spc="-30" dirty="0">
                <a:latin typeface="Aptos"/>
                <a:cs typeface="Aptos"/>
              </a:rPr>
              <a:t>Twisted</a:t>
            </a:r>
            <a:r>
              <a:rPr sz="2800" spc="-160" dirty="0">
                <a:latin typeface="Times New Roman"/>
                <a:cs typeface="Times New Roman"/>
              </a:rPr>
              <a:t> </a:t>
            </a:r>
            <a:r>
              <a:rPr sz="2800" b="1" dirty="0">
                <a:latin typeface="Aptos"/>
                <a:cs typeface="Aptos"/>
              </a:rPr>
              <a:t>pair</a:t>
            </a:r>
            <a:r>
              <a:rPr sz="2800" spc="-145" dirty="0">
                <a:latin typeface="Times New Roman"/>
                <a:cs typeface="Times New Roman"/>
              </a:rPr>
              <a:t> </a:t>
            </a:r>
            <a:r>
              <a:rPr sz="2800" b="1" spc="-10" dirty="0">
                <a:latin typeface="Aptos"/>
                <a:cs typeface="Aptos"/>
              </a:rPr>
              <a:t>cable/LAN</a:t>
            </a:r>
            <a:r>
              <a:rPr sz="2800" spc="-145" dirty="0">
                <a:latin typeface="Times New Roman"/>
                <a:cs typeface="Times New Roman"/>
              </a:rPr>
              <a:t> </a:t>
            </a:r>
            <a:r>
              <a:rPr sz="2800" b="1" spc="-10" dirty="0">
                <a:latin typeface="Aptos"/>
                <a:cs typeface="Aptos"/>
              </a:rPr>
              <a:t>CABLE</a:t>
            </a:r>
            <a:endParaRPr sz="2800">
              <a:latin typeface="Aptos"/>
              <a:cs typeface="Aptos"/>
            </a:endParaRPr>
          </a:p>
          <a:p>
            <a:pPr marL="12700" marR="5080" algn="just">
              <a:lnSpc>
                <a:spcPct val="90000"/>
              </a:lnSpc>
              <a:spcBef>
                <a:spcPts val="994"/>
              </a:spcBef>
            </a:pPr>
            <a:r>
              <a:rPr sz="2800" dirty="0">
                <a:latin typeface="Aptos"/>
                <a:cs typeface="Aptos"/>
              </a:rPr>
              <a:t>Twisted</a:t>
            </a:r>
            <a:r>
              <a:rPr sz="2800" spc="270" dirty="0">
                <a:latin typeface="Times New Roman"/>
                <a:cs typeface="Times New Roman"/>
              </a:rPr>
              <a:t> </a:t>
            </a:r>
            <a:r>
              <a:rPr sz="2800" dirty="0">
                <a:latin typeface="Aptos"/>
                <a:cs typeface="Aptos"/>
              </a:rPr>
              <a:t>par</a:t>
            </a:r>
            <a:r>
              <a:rPr sz="2800" spc="280" dirty="0">
                <a:latin typeface="Times New Roman"/>
                <a:cs typeface="Times New Roman"/>
              </a:rPr>
              <a:t> </a:t>
            </a:r>
            <a:r>
              <a:rPr sz="2800" dirty="0">
                <a:latin typeface="Aptos"/>
                <a:cs typeface="Aptos"/>
              </a:rPr>
              <a:t>cable</a:t>
            </a:r>
            <a:r>
              <a:rPr sz="2800" spc="275" dirty="0">
                <a:latin typeface="Times New Roman"/>
                <a:cs typeface="Times New Roman"/>
              </a:rPr>
              <a:t> </a:t>
            </a:r>
            <a:r>
              <a:rPr sz="2800" dirty="0">
                <a:latin typeface="Aptos"/>
                <a:cs typeface="Aptos"/>
              </a:rPr>
              <a:t>is</a:t>
            </a:r>
            <a:r>
              <a:rPr sz="2800" spc="275" dirty="0">
                <a:latin typeface="Times New Roman"/>
                <a:cs typeface="Times New Roman"/>
              </a:rPr>
              <a:t> </a:t>
            </a:r>
            <a:r>
              <a:rPr sz="2800" dirty="0">
                <a:latin typeface="Aptos"/>
                <a:cs typeface="Aptos"/>
              </a:rPr>
              <a:t>made</a:t>
            </a:r>
            <a:r>
              <a:rPr sz="2800" spc="280" dirty="0">
                <a:latin typeface="Times New Roman"/>
                <a:cs typeface="Times New Roman"/>
              </a:rPr>
              <a:t> </a:t>
            </a:r>
            <a:r>
              <a:rPr sz="2800" dirty="0">
                <a:latin typeface="Aptos"/>
                <a:cs typeface="Aptos"/>
              </a:rPr>
              <a:t>up</a:t>
            </a:r>
            <a:r>
              <a:rPr sz="2800" spc="280" dirty="0">
                <a:latin typeface="Times New Roman"/>
                <a:cs typeface="Times New Roman"/>
              </a:rPr>
              <a:t> </a:t>
            </a:r>
            <a:r>
              <a:rPr sz="2800" dirty="0">
                <a:latin typeface="Aptos"/>
                <a:cs typeface="Aptos"/>
              </a:rPr>
              <a:t>of</a:t>
            </a:r>
            <a:r>
              <a:rPr sz="2800" spc="275" dirty="0">
                <a:latin typeface="Times New Roman"/>
                <a:cs typeface="Times New Roman"/>
              </a:rPr>
              <a:t> </a:t>
            </a:r>
            <a:r>
              <a:rPr sz="2800" dirty="0">
                <a:latin typeface="Aptos"/>
                <a:cs typeface="Aptos"/>
              </a:rPr>
              <a:t>copper</a:t>
            </a:r>
            <a:r>
              <a:rPr sz="2800" spc="275" dirty="0">
                <a:latin typeface="Times New Roman"/>
                <a:cs typeface="Times New Roman"/>
              </a:rPr>
              <a:t> </a:t>
            </a:r>
            <a:r>
              <a:rPr sz="2800" dirty="0">
                <a:latin typeface="Aptos"/>
                <a:cs typeface="Aptos"/>
              </a:rPr>
              <a:t>wires</a:t>
            </a:r>
            <a:r>
              <a:rPr sz="2800" spc="275" dirty="0">
                <a:latin typeface="Times New Roman"/>
                <a:cs typeface="Times New Roman"/>
              </a:rPr>
              <a:t> </a:t>
            </a:r>
            <a:r>
              <a:rPr sz="2800" dirty="0">
                <a:latin typeface="Aptos"/>
                <a:cs typeface="Aptos"/>
              </a:rPr>
              <a:t>to</a:t>
            </a:r>
            <a:r>
              <a:rPr sz="2800" spc="275" dirty="0">
                <a:latin typeface="Times New Roman"/>
                <a:cs typeface="Times New Roman"/>
              </a:rPr>
              <a:t> </a:t>
            </a:r>
            <a:r>
              <a:rPr sz="2800" dirty="0">
                <a:latin typeface="Aptos"/>
                <a:cs typeface="Aptos"/>
              </a:rPr>
              <a:t>each</a:t>
            </a:r>
            <a:r>
              <a:rPr sz="2800" spc="285" dirty="0">
                <a:latin typeface="Times New Roman"/>
                <a:cs typeface="Times New Roman"/>
              </a:rPr>
              <a:t> </a:t>
            </a:r>
            <a:r>
              <a:rPr sz="2800" dirty="0">
                <a:latin typeface="Aptos"/>
                <a:cs typeface="Aptos"/>
              </a:rPr>
              <a:t>other</a:t>
            </a:r>
            <a:r>
              <a:rPr sz="2800" spc="265" dirty="0">
                <a:latin typeface="Times New Roman"/>
                <a:cs typeface="Times New Roman"/>
              </a:rPr>
              <a:t> </a:t>
            </a:r>
            <a:r>
              <a:rPr sz="2800" spc="-25" dirty="0">
                <a:latin typeface="Aptos"/>
                <a:cs typeface="Aptos"/>
              </a:rPr>
              <a:t>and</a:t>
            </a:r>
            <a:r>
              <a:rPr sz="2800" spc="-25" dirty="0">
                <a:latin typeface="Times New Roman"/>
                <a:cs typeface="Times New Roman"/>
              </a:rPr>
              <a:t> </a:t>
            </a:r>
            <a:r>
              <a:rPr sz="2800" dirty="0">
                <a:latin typeface="Aptos"/>
                <a:cs typeface="Aptos"/>
              </a:rPr>
              <a:t>finally</a:t>
            </a:r>
            <a:r>
              <a:rPr sz="2800" spc="-45" dirty="0">
                <a:latin typeface="Times New Roman"/>
                <a:cs typeface="Times New Roman"/>
              </a:rPr>
              <a:t> </a:t>
            </a:r>
            <a:r>
              <a:rPr sz="2800" dirty="0">
                <a:latin typeface="Aptos"/>
                <a:cs typeface="Aptos"/>
              </a:rPr>
              <a:t>surrounded</a:t>
            </a:r>
            <a:r>
              <a:rPr sz="2800" spc="-5" dirty="0">
                <a:latin typeface="Times New Roman"/>
                <a:cs typeface="Times New Roman"/>
              </a:rPr>
              <a:t> </a:t>
            </a:r>
            <a:r>
              <a:rPr sz="2800" dirty="0">
                <a:latin typeface="Aptos"/>
                <a:cs typeface="Aptos"/>
              </a:rPr>
              <a:t>by</a:t>
            </a:r>
            <a:r>
              <a:rPr sz="2800" spc="-45" dirty="0">
                <a:latin typeface="Times New Roman"/>
                <a:cs typeface="Times New Roman"/>
              </a:rPr>
              <a:t> </a:t>
            </a:r>
            <a:r>
              <a:rPr sz="2800" dirty="0">
                <a:latin typeface="Aptos"/>
                <a:cs typeface="Aptos"/>
              </a:rPr>
              <a:t>insulating</a:t>
            </a:r>
            <a:r>
              <a:rPr sz="2800" spc="-40" dirty="0">
                <a:latin typeface="Times New Roman"/>
                <a:cs typeface="Times New Roman"/>
              </a:rPr>
              <a:t> </a:t>
            </a:r>
            <a:r>
              <a:rPr sz="2800" dirty="0">
                <a:latin typeface="Aptos"/>
                <a:cs typeface="Aptos"/>
              </a:rPr>
              <a:t>jacket.</a:t>
            </a:r>
            <a:r>
              <a:rPr sz="2800" spc="-35" dirty="0">
                <a:latin typeface="Times New Roman"/>
                <a:cs typeface="Times New Roman"/>
              </a:rPr>
              <a:t> </a:t>
            </a:r>
            <a:r>
              <a:rPr sz="2800" dirty="0">
                <a:latin typeface="Aptos"/>
                <a:cs typeface="Aptos"/>
              </a:rPr>
              <a:t>One</a:t>
            </a:r>
            <a:r>
              <a:rPr sz="2800" spc="-25" dirty="0">
                <a:latin typeface="Times New Roman"/>
                <a:cs typeface="Times New Roman"/>
              </a:rPr>
              <a:t> </a:t>
            </a:r>
            <a:r>
              <a:rPr sz="2800" dirty="0">
                <a:latin typeface="Aptos"/>
                <a:cs typeface="Aptos"/>
              </a:rPr>
              <a:t>wire</a:t>
            </a:r>
            <a:r>
              <a:rPr sz="2800" spc="-45" dirty="0">
                <a:latin typeface="Times New Roman"/>
                <a:cs typeface="Times New Roman"/>
              </a:rPr>
              <a:t> </a:t>
            </a:r>
            <a:r>
              <a:rPr sz="2800" dirty="0">
                <a:latin typeface="Aptos"/>
                <a:cs typeface="Aptos"/>
              </a:rPr>
              <a:t>of</a:t>
            </a:r>
            <a:r>
              <a:rPr sz="2800" spc="-25" dirty="0">
                <a:latin typeface="Times New Roman"/>
                <a:cs typeface="Times New Roman"/>
              </a:rPr>
              <a:t> </a:t>
            </a:r>
            <a:r>
              <a:rPr sz="2800" dirty="0">
                <a:latin typeface="Aptos"/>
                <a:cs typeface="Aptos"/>
              </a:rPr>
              <a:t>the</a:t>
            </a:r>
            <a:r>
              <a:rPr sz="2800" spc="-35" dirty="0">
                <a:latin typeface="Times New Roman"/>
                <a:cs typeface="Times New Roman"/>
              </a:rPr>
              <a:t> </a:t>
            </a:r>
            <a:r>
              <a:rPr sz="2800" dirty="0">
                <a:latin typeface="Aptos"/>
                <a:cs typeface="Aptos"/>
              </a:rPr>
              <a:t>pair</a:t>
            </a:r>
            <a:r>
              <a:rPr sz="2800" spc="-25" dirty="0">
                <a:latin typeface="Times New Roman"/>
                <a:cs typeface="Times New Roman"/>
              </a:rPr>
              <a:t> </a:t>
            </a:r>
            <a:r>
              <a:rPr sz="2800" dirty="0">
                <a:latin typeface="Aptos"/>
                <a:cs typeface="Aptos"/>
              </a:rPr>
              <a:t>is</a:t>
            </a:r>
            <a:r>
              <a:rPr sz="2800" spc="-40" dirty="0">
                <a:latin typeface="Times New Roman"/>
                <a:cs typeface="Times New Roman"/>
              </a:rPr>
              <a:t> </a:t>
            </a:r>
            <a:r>
              <a:rPr sz="2800" spc="-20" dirty="0">
                <a:latin typeface="Aptos"/>
                <a:cs typeface="Aptos"/>
              </a:rPr>
              <a:t>used</a:t>
            </a:r>
            <a:r>
              <a:rPr sz="2800" spc="-20" dirty="0">
                <a:latin typeface="Times New Roman"/>
                <a:cs typeface="Times New Roman"/>
              </a:rPr>
              <a:t> </a:t>
            </a:r>
            <a:r>
              <a:rPr sz="2800" dirty="0">
                <a:latin typeface="Aptos"/>
                <a:cs typeface="Aptos"/>
              </a:rPr>
              <a:t>for</a:t>
            </a:r>
            <a:r>
              <a:rPr sz="2800" spc="-90" dirty="0">
                <a:latin typeface="Times New Roman"/>
                <a:cs typeface="Times New Roman"/>
              </a:rPr>
              <a:t> </a:t>
            </a:r>
            <a:r>
              <a:rPr sz="2800" dirty="0">
                <a:latin typeface="Aptos"/>
                <a:cs typeface="Aptos"/>
              </a:rPr>
              <a:t>receiving</a:t>
            </a:r>
            <a:r>
              <a:rPr sz="2800" spc="-80" dirty="0">
                <a:latin typeface="Times New Roman"/>
                <a:cs typeface="Times New Roman"/>
              </a:rPr>
              <a:t> </a:t>
            </a:r>
            <a:r>
              <a:rPr sz="2800" dirty="0">
                <a:latin typeface="Aptos"/>
                <a:cs typeface="Aptos"/>
              </a:rPr>
              <a:t>signal</a:t>
            </a:r>
            <a:r>
              <a:rPr sz="2800" spc="-75" dirty="0">
                <a:latin typeface="Times New Roman"/>
                <a:cs typeface="Times New Roman"/>
              </a:rPr>
              <a:t> </a:t>
            </a:r>
            <a:r>
              <a:rPr sz="2800" dirty="0">
                <a:latin typeface="Aptos"/>
                <a:cs typeface="Aptos"/>
              </a:rPr>
              <a:t>and</a:t>
            </a:r>
            <a:r>
              <a:rPr sz="2800" spc="-90" dirty="0">
                <a:latin typeface="Times New Roman"/>
                <a:cs typeface="Times New Roman"/>
              </a:rPr>
              <a:t> </a:t>
            </a:r>
            <a:r>
              <a:rPr sz="2800" dirty="0">
                <a:latin typeface="Aptos"/>
                <a:cs typeface="Aptos"/>
              </a:rPr>
              <a:t>other</a:t>
            </a:r>
            <a:r>
              <a:rPr sz="2800" spc="-80" dirty="0">
                <a:latin typeface="Times New Roman"/>
                <a:cs typeface="Times New Roman"/>
              </a:rPr>
              <a:t> </a:t>
            </a:r>
            <a:r>
              <a:rPr sz="2800" dirty="0">
                <a:latin typeface="Aptos"/>
                <a:cs typeface="Aptos"/>
              </a:rPr>
              <a:t>wire</a:t>
            </a:r>
            <a:r>
              <a:rPr sz="2800" spc="-95" dirty="0">
                <a:latin typeface="Times New Roman"/>
                <a:cs typeface="Times New Roman"/>
              </a:rPr>
              <a:t> </a:t>
            </a:r>
            <a:r>
              <a:rPr sz="2800" dirty="0">
                <a:latin typeface="Aptos"/>
                <a:cs typeface="Aptos"/>
              </a:rPr>
              <a:t>is</a:t>
            </a:r>
            <a:r>
              <a:rPr sz="2800" spc="-85" dirty="0">
                <a:latin typeface="Times New Roman"/>
                <a:cs typeface="Times New Roman"/>
              </a:rPr>
              <a:t> </a:t>
            </a:r>
            <a:r>
              <a:rPr sz="2800" dirty="0">
                <a:latin typeface="Aptos"/>
                <a:cs typeface="Aptos"/>
              </a:rPr>
              <a:t>used</a:t>
            </a:r>
            <a:r>
              <a:rPr sz="2800" spc="-85" dirty="0">
                <a:latin typeface="Times New Roman"/>
                <a:cs typeface="Times New Roman"/>
              </a:rPr>
              <a:t> </a:t>
            </a:r>
            <a:r>
              <a:rPr sz="2800" dirty="0">
                <a:latin typeface="Aptos"/>
                <a:cs typeface="Aptos"/>
              </a:rPr>
              <a:t>for</a:t>
            </a:r>
            <a:r>
              <a:rPr sz="2800" spc="-80" dirty="0">
                <a:latin typeface="Times New Roman"/>
                <a:cs typeface="Times New Roman"/>
              </a:rPr>
              <a:t> </a:t>
            </a:r>
            <a:r>
              <a:rPr sz="2800" spc="-10" dirty="0">
                <a:latin typeface="Aptos"/>
                <a:cs typeface="Aptos"/>
              </a:rPr>
              <a:t>transmitting</a:t>
            </a:r>
            <a:r>
              <a:rPr sz="2800" spc="-80" dirty="0">
                <a:latin typeface="Times New Roman"/>
                <a:cs typeface="Times New Roman"/>
              </a:rPr>
              <a:t> </a:t>
            </a:r>
            <a:r>
              <a:rPr sz="2800" dirty="0">
                <a:latin typeface="Aptos"/>
                <a:cs typeface="Aptos"/>
              </a:rPr>
              <a:t>data.</a:t>
            </a:r>
            <a:r>
              <a:rPr sz="2800" spc="-90" dirty="0">
                <a:latin typeface="Times New Roman"/>
                <a:cs typeface="Times New Roman"/>
              </a:rPr>
              <a:t> </a:t>
            </a:r>
            <a:r>
              <a:rPr sz="2800" dirty="0">
                <a:latin typeface="Aptos"/>
                <a:cs typeface="Aptos"/>
              </a:rPr>
              <a:t>It</a:t>
            </a:r>
            <a:r>
              <a:rPr sz="2800" spc="-95" dirty="0">
                <a:latin typeface="Times New Roman"/>
                <a:cs typeface="Times New Roman"/>
              </a:rPr>
              <a:t> </a:t>
            </a:r>
            <a:r>
              <a:rPr sz="2800" spc="-25" dirty="0">
                <a:latin typeface="Aptos"/>
                <a:cs typeface="Aptos"/>
              </a:rPr>
              <a:t>is</a:t>
            </a:r>
            <a:r>
              <a:rPr sz="2800" spc="-25" dirty="0">
                <a:latin typeface="Times New Roman"/>
                <a:cs typeface="Times New Roman"/>
              </a:rPr>
              <a:t> </a:t>
            </a:r>
            <a:r>
              <a:rPr sz="2800" dirty="0">
                <a:latin typeface="Aptos"/>
                <a:cs typeface="Aptos"/>
              </a:rPr>
              <a:t>used</a:t>
            </a:r>
            <a:r>
              <a:rPr sz="2800" spc="530" dirty="0">
                <a:latin typeface="Times New Roman"/>
                <a:cs typeface="Times New Roman"/>
              </a:rPr>
              <a:t> </a:t>
            </a:r>
            <a:r>
              <a:rPr sz="2800" dirty="0">
                <a:latin typeface="Aptos"/>
                <a:cs typeface="Aptos"/>
              </a:rPr>
              <a:t>for</a:t>
            </a:r>
            <a:r>
              <a:rPr sz="2800" spc="550" dirty="0">
                <a:latin typeface="Times New Roman"/>
                <a:cs typeface="Times New Roman"/>
              </a:rPr>
              <a:t> </a:t>
            </a:r>
            <a:r>
              <a:rPr sz="2800" dirty="0">
                <a:latin typeface="Aptos"/>
                <a:cs typeface="Aptos"/>
              </a:rPr>
              <a:t>both</a:t>
            </a:r>
            <a:r>
              <a:rPr sz="2800" spc="535" dirty="0">
                <a:latin typeface="Times New Roman"/>
                <a:cs typeface="Times New Roman"/>
              </a:rPr>
              <a:t> </a:t>
            </a:r>
            <a:r>
              <a:rPr sz="2800" dirty="0">
                <a:latin typeface="Aptos"/>
                <a:cs typeface="Aptos"/>
              </a:rPr>
              <a:t>analog</a:t>
            </a:r>
            <a:r>
              <a:rPr sz="2800" spc="540" dirty="0">
                <a:latin typeface="Times New Roman"/>
                <a:cs typeface="Times New Roman"/>
              </a:rPr>
              <a:t> </a:t>
            </a:r>
            <a:r>
              <a:rPr sz="2800" dirty="0">
                <a:latin typeface="Aptos"/>
                <a:cs typeface="Aptos"/>
              </a:rPr>
              <a:t>and</a:t>
            </a:r>
            <a:r>
              <a:rPr sz="2800" spc="545" dirty="0">
                <a:latin typeface="Times New Roman"/>
                <a:cs typeface="Times New Roman"/>
              </a:rPr>
              <a:t> </a:t>
            </a:r>
            <a:r>
              <a:rPr sz="2800" dirty="0">
                <a:latin typeface="Aptos"/>
                <a:cs typeface="Aptos"/>
              </a:rPr>
              <a:t>digital</a:t>
            </a:r>
            <a:r>
              <a:rPr sz="2800" spc="530" dirty="0">
                <a:latin typeface="Times New Roman"/>
                <a:cs typeface="Times New Roman"/>
              </a:rPr>
              <a:t> </a:t>
            </a:r>
            <a:r>
              <a:rPr sz="2800" dirty="0">
                <a:latin typeface="Aptos"/>
                <a:cs typeface="Aptos"/>
              </a:rPr>
              <a:t>transmission.</a:t>
            </a:r>
            <a:r>
              <a:rPr sz="2800" spc="520" dirty="0">
                <a:latin typeface="Times New Roman"/>
                <a:cs typeface="Times New Roman"/>
              </a:rPr>
              <a:t> </a:t>
            </a:r>
            <a:r>
              <a:rPr sz="2800" dirty="0">
                <a:latin typeface="Aptos"/>
                <a:cs typeface="Aptos"/>
              </a:rPr>
              <a:t>It</a:t>
            </a:r>
            <a:r>
              <a:rPr sz="2800" spc="530" dirty="0">
                <a:latin typeface="Times New Roman"/>
                <a:cs typeface="Times New Roman"/>
              </a:rPr>
              <a:t> </a:t>
            </a:r>
            <a:r>
              <a:rPr sz="2800" dirty="0">
                <a:latin typeface="Aptos"/>
                <a:cs typeface="Aptos"/>
              </a:rPr>
              <a:t>is</a:t>
            </a:r>
            <a:r>
              <a:rPr sz="2800" spc="530" dirty="0">
                <a:latin typeface="Times New Roman"/>
                <a:cs typeface="Times New Roman"/>
              </a:rPr>
              <a:t> </a:t>
            </a:r>
            <a:r>
              <a:rPr sz="2800" dirty="0">
                <a:latin typeface="Aptos"/>
                <a:cs typeface="Aptos"/>
              </a:rPr>
              <a:t>available</a:t>
            </a:r>
            <a:r>
              <a:rPr sz="2800" spc="530" dirty="0">
                <a:latin typeface="Times New Roman"/>
                <a:cs typeface="Times New Roman"/>
              </a:rPr>
              <a:t> </a:t>
            </a:r>
            <a:r>
              <a:rPr sz="2800" spc="-25" dirty="0">
                <a:latin typeface="Aptos"/>
                <a:cs typeface="Aptos"/>
              </a:rPr>
              <a:t>in</a:t>
            </a:r>
            <a:r>
              <a:rPr sz="2800" spc="-25" dirty="0">
                <a:latin typeface="Times New Roman"/>
                <a:cs typeface="Times New Roman"/>
              </a:rPr>
              <a:t> </a:t>
            </a:r>
            <a:r>
              <a:rPr sz="2800" spc="-25" dirty="0">
                <a:latin typeface="Aptos"/>
                <a:cs typeface="Aptos"/>
              </a:rPr>
              <a:t>different</a:t>
            </a:r>
            <a:r>
              <a:rPr sz="2800" spc="-150" dirty="0">
                <a:latin typeface="Times New Roman"/>
                <a:cs typeface="Times New Roman"/>
              </a:rPr>
              <a:t> </a:t>
            </a:r>
            <a:r>
              <a:rPr sz="2800" spc="-20" dirty="0">
                <a:latin typeface="Aptos"/>
                <a:cs typeface="Aptos"/>
              </a:rPr>
              <a:t>categories</a:t>
            </a:r>
            <a:r>
              <a:rPr sz="2800" spc="-120" dirty="0">
                <a:latin typeface="Times New Roman"/>
                <a:cs typeface="Times New Roman"/>
              </a:rPr>
              <a:t> </a:t>
            </a:r>
            <a:r>
              <a:rPr sz="2800" spc="-60" dirty="0">
                <a:latin typeface="Aptos"/>
                <a:cs typeface="Aptos"/>
              </a:rPr>
              <a:t>i.e.</a:t>
            </a:r>
            <a:r>
              <a:rPr sz="2800" spc="-145" dirty="0">
                <a:latin typeface="Times New Roman"/>
                <a:cs typeface="Times New Roman"/>
              </a:rPr>
              <a:t> </a:t>
            </a:r>
            <a:r>
              <a:rPr sz="2800" spc="-75" dirty="0">
                <a:latin typeface="Aptos"/>
                <a:cs typeface="Aptos"/>
              </a:rPr>
              <a:t>CAT</a:t>
            </a:r>
            <a:r>
              <a:rPr sz="2800" spc="-120" dirty="0">
                <a:latin typeface="Times New Roman"/>
                <a:cs typeface="Times New Roman"/>
              </a:rPr>
              <a:t> </a:t>
            </a:r>
            <a:r>
              <a:rPr sz="2800" dirty="0">
                <a:latin typeface="Aptos"/>
                <a:cs typeface="Aptos"/>
              </a:rPr>
              <a:t>1,</a:t>
            </a:r>
            <a:r>
              <a:rPr sz="2800" spc="-110" dirty="0">
                <a:latin typeface="Times New Roman"/>
                <a:cs typeface="Times New Roman"/>
              </a:rPr>
              <a:t> </a:t>
            </a:r>
            <a:r>
              <a:rPr sz="2800" spc="-75" dirty="0">
                <a:latin typeface="Aptos"/>
                <a:cs typeface="Aptos"/>
              </a:rPr>
              <a:t>CAT</a:t>
            </a:r>
            <a:r>
              <a:rPr sz="2800" spc="-120" dirty="0">
                <a:latin typeface="Times New Roman"/>
                <a:cs typeface="Times New Roman"/>
              </a:rPr>
              <a:t> </a:t>
            </a:r>
            <a:r>
              <a:rPr sz="2800" dirty="0">
                <a:latin typeface="Aptos"/>
                <a:cs typeface="Aptos"/>
              </a:rPr>
              <a:t>2,</a:t>
            </a:r>
            <a:r>
              <a:rPr sz="2800" spc="-120" dirty="0">
                <a:latin typeface="Times New Roman"/>
                <a:cs typeface="Times New Roman"/>
              </a:rPr>
              <a:t> </a:t>
            </a:r>
            <a:r>
              <a:rPr sz="2800" spc="-10" dirty="0">
                <a:latin typeface="Aptos"/>
                <a:cs typeface="Aptos"/>
              </a:rPr>
              <a:t>...,</a:t>
            </a:r>
            <a:r>
              <a:rPr sz="2800" spc="-145" dirty="0">
                <a:latin typeface="Times New Roman"/>
                <a:cs typeface="Times New Roman"/>
              </a:rPr>
              <a:t> </a:t>
            </a:r>
            <a:r>
              <a:rPr sz="2800" spc="-70" dirty="0">
                <a:latin typeface="Aptos"/>
                <a:cs typeface="Aptos"/>
              </a:rPr>
              <a:t>CAT</a:t>
            </a:r>
            <a:r>
              <a:rPr sz="2800" spc="-110" dirty="0">
                <a:latin typeface="Times New Roman"/>
                <a:cs typeface="Times New Roman"/>
              </a:rPr>
              <a:t> </a:t>
            </a:r>
            <a:r>
              <a:rPr sz="2800" dirty="0">
                <a:latin typeface="Aptos"/>
                <a:cs typeface="Aptos"/>
              </a:rPr>
              <a:t>6,</a:t>
            </a:r>
            <a:r>
              <a:rPr sz="2800" spc="-125" dirty="0">
                <a:latin typeface="Times New Roman"/>
                <a:cs typeface="Times New Roman"/>
              </a:rPr>
              <a:t> </a:t>
            </a:r>
            <a:r>
              <a:rPr sz="2800" spc="-70" dirty="0">
                <a:latin typeface="Aptos"/>
                <a:cs typeface="Aptos"/>
              </a:rPr>
              <a:t>CAT</a:t>
            </a:r>
            <a:r>
              <a:rPr sz="2800" spc="-114" dirty="0">
                <a:latin typeface="Times New Roman"/>
                <a:cs typeface="Times New Roman"/>
              </a:rPr>
              <a:t> </a:t>
            </a:r>
            <a:r>
              <a:rPr sz="2800" dirty="0">
                <a:latin typeface="Aptos"/>
                <a:cs typeface="Aptos"/>
              </a:rPr>
              <a:t>7,</a:t>
            </a:r>
            <a:r>
              <a:rPr sz="2800" spc="-110" dirty="0">
                <a:latin typeface="Times New Roman"/>
                <a:cs typeface="Times New Roman"/>
              </a:rPr>
              <a:t> </a:t>
            </a:r>
            <a:r>
              <a:rPr sz="2800" spc="-20" dirty="0">
                <a:latin typeface="Aptos"/>
                <a:cs typeface="Aptos"/>
              </a:rPr>
              <a:t>etc.</a:t>
            </a:r>
            <a:endParaRPr sz="2800">
              <a:latin typeface="Aptos"/>
              <a:cs typeface="Aptos"/>
            </a:endParaRPr>
          </a:p>
          <a:p>
            <a:pPr marL="12700" algn="just">
              <a:lnSpc>
                <a:spcPct val="100000"/>
              </a:lnSpc>
              <a:spcBef>
                <a:spcPts val="675"/>
              </a:spcBef>
            </a:pPr>
            <a:r>
              <a:rPr sz="2800" dirty="0">
                <a:latin typeface="Aptos"/>
                <a:cs typeface="Aptos"/>
              </a:rPr>
              <a:t>It</a:t>
            </a:r>
            <a:r>
              <a:rPr sz="2800" spc="-160" dirty="0">
                <a:latin typeface="Times New Roman"/>
                <a:cs typeface="Times New Roman"/>
              </a:rPr>
              <a:t> </a:t>
            </a:r>
            <a:r>
              <a:rPr sz="2800" dirty="0">
                <a:latin typeface="Aptos"/>
                <a:cs typeface="Aptos"/>
              </a:rPr>
              <a:t>is</a:t>
            </a:r>
            <a:r>
              <a:rPr sz="2800" spc="-150" dirty="0">
                <a:latin typeface="Times New Roman"/>
                <a:cs typeface="Times New Roman"/>
              </a:rPr>
              <a:t> </a:t>
            </a:r>
            <a:r>
              <a:rPr sz="2800" dirty="0">
                <a:latin typeface="Aptos"/>
                <a:cs typeface="Aptos"/>
              </a:rPr>
              <a:t>of</a:t>
            </a:r>
            <a:r>
              <a:rPr sz="2800" spc="-150" dirty="0">
                <a:latin typeface="Times New Roman"/>
                <a:cs typeface="Times New Roman"/>
              </a:rPr>
              <a:t> </a:t>
            </a:r>
            <a:r>
              <a:rPr sz="2800" spc="-20" dirty="0">
                <a:latin typeface="Aptos"/>
                <a:cs typeface="Aptos"/>
              </a:rPr>
              <a:t>two</a:t>
            </a:r>
            <a:r>
              <a:rPr sz="2800" spc="-150" dirty="0">
                <a:latin typeface="Times New Roman"/>
                <a:cs typeface="Times New Roman"/>
              </a:rPr>
              <a:t> </a:t>
            </a:r>
            <a:r>
              <a:rPr sz="2800" spc="-10" dirty="0">
                <a:latin typeface="Aptos"/>
                <a:cs typeface="Aptos"/>
              </a:rPr>
              <a:t>types:</a:t>
            </a:r>
            <a:endParaRPr sz="2800">
              <a:latin typeface="Aptos"/>
              <a:cs typeface="Aptos"/>
            </a:endParaRPr>
          </a:p>
          <a:p>
            <a:pPr marL="584200" indent="-572135" algn="just">
              <a:lnSpc>
                <a:spcPct val="100000"/>
              </a:lnSpc>
              <a:spcBef>
                <a:spcPts val="660"/>
              </a:spcBef>
              <a:buAutoNum type="romanLcParenR"/>
              <a:tabLst>
                <a:tab pos="584835" algn="l"/>
              </a:tabLst>
            </a:pPr>
            <a:r>
              <a:rPr sz="2800" spc="-10" dirty="0">
                <a:latin typeface="Aptos"/>
                <a:cs typeface="Aptos"/>
              </a:rPr>
              <a:t>UTP</a:t>
            </a:r>
            <a:r>
              <a:rPr sz="2800" spc="-160" dirty="0">
                <a:latin typeface="Times New Roman"/>
                <a:cs typeface="Times New Roman"/>
              </a:rPr>
              <a:t> </a:t>
            </a:r>
            <a:r>
              <a:rPr sz="2800" spc="-10" dirty="0">
                <a:latin typeface="Aptos"/>
                <a:cs typeface="Aptos"/>
              </a:rPr>
              <a:t>(Unshielded</a:t>
            </a:r>
            <a:r>
              <a:rPr sz="2800" spc="-120" dirty="0">
                <a:latin typeface="Times New Roman"/>
                <a:cs typeface="Times New Roman"/>
              </a:rPr>
              <a:t> </a:t>
            </a:r>
            <a:r>
              <a:rPr sz="2800" spc="-35" dirty="0">
                <a:latin typeface="Aptos"/>
                <a:cs typeface="Aptos"/>
              </a:rPr>
              <a:t>Twisted</a:t>
            </a:r>
            <a:r>
              <a:rPr sz="2800" spc="-140" dirty="0">
                <a:latin typeface="Times New Roman"/>
                <a:cs typeface="Times New Roman"/>
              </a:rPr>
              <a:t> </a:t>
            </a:r>
            <a:r>
              <a:rPr sz="2800" spc="-10" dirty="0">
                <a:latin typeface="Aptos"/>
                <a:cs typeface="Aptos"/>
              </a:rPr>
              <a:t>Pair)</a:t>
            </a:r>
            <a:endParaRPr sz="2800">
              <a:latin typeface="Aptos"/>
              <a:cs typeface="Aptos"/>
            </a:endParaRPr>
          </a:p>
          <a:p>
            <a:pPr marL="584200" indent="-572135" algn="just">
              <a:lnSpc>
                <a:spcPct val="100000"/>
              </a:lnSpc>
              <a:spcBef>
                <a:spcPts val="660"/>
              </a:spcBef>
              <a:buAutoNum type="romanLcParenR"/>
              <a:tabLst>
                <a:tab pos="584835" algn="l"/>
              </a:tabLst>
            </a:pPr>
            <a:r>
              <a:rPr sz="2800" spc="-25" dirty="0">
                <a:latin typeface="Aptos"/>
                <a:cs typeface="Aptos"/>
              </a:rPr>
              <a:t>STP</a:t>
            </a:r>
            <a:r>
              <a:rPr sz="2800" spc="-140" dirty="0">
                <a:latin typeface="Times New Roman"/>
                <a:cs typeface="Times New Roman"/>
              </a:rPr>
              <a:t> </a:t>
            </a:r>
            <a:r>
              <a:rPr sz="2800" spc="-10" dirty="0">
                <a:latin typeface="Aptos"/>
                <a:cs typeface="Aptos"/>
              </a:rPr>
              <a:t>(Shielded</a:t>
            </a:r>
            <a:r>
              <a:rPr sz="2800" spc="-120" dirty="0">
                <a:latin typeface="Times New Roman"/>
                <a:cs typeface="Times New Roman"/>
              </a:rPr>
              <a:t> </a:t>
            </a:r>
            <a:r>
              <a:rPr sz="2800" spc="-35" dirty="0">
                <a:latin typeface="Aptos"/>
                <a:cs typeface="Aptos"/>
              </a:rPr>
              <a:t>Twisted</a:t>
            </a:r>
            <a:r>
              <a:rPr sz="2800" spc="-140" dirty="0">
                <a:latin typeface="Times New Roman"/>
                <a:cs typeface="Times New Roman"/>
              </a:rPr>
              <a:t> </a:t>
            </a:r>
            <a:r>
              <a:rPr sz="2800" spc="-10" dirty="0">
                <a:latin typeface="Aptos"/>
                <a:cs typeface="Aptos"/>
              </a:rPr>
              <a:t>Pair)/ethernet</a:t>
            </a:r>
            <a:endParaRPr sz="2800">
              <a:latin typeface="Aptos"/>
              <a:cs typeface="Aptos"/>
            </a:endParaRPr>
          </a:p>
        </p:txBody>
      </p:sp>
      <p:pic>
        <p:nvPicPr>
          <p:cNvPr id="3" name="object 3"/>
          <p:cNvPicPr/>
          <p:nvPr/>
        </p:nvPicPr>
        <p:blipFill>
          <a:blip r:embed="rId2" cstate="print"/>
          <a:stretch>
            <a:fillRect/>
          </a:stretch>
        </p:blipFill>
        <p:spPr>
          <a:xfrm>
            <a:off x="1980689" y="4679432"/>
            <a:ext cx="5587997" cy="1968496"/>
          </a:xfrm>
          <a:prstGeom prst="rect">
            <a:avLst/>
          </a:prstGeom>
        </p:spPr>
      </p:pic>
      <p:pic>
        <p:nvPicPr>
          <p:cNvPr id="4" name="object 4"/>
          <p:cNvPicPr/>
          <p:nvPr/>
        </p:nvPicPr>
        <p:blipFill>
          <a:blip r:embed="rId3" cstate="print"/>
          <a:stretch>
            <a:fillRect/>
          </a:stretch>
        </p:blipFill>
        <p:spPr>
          <a:xfrm>
            <a:off x="7893329" y="3132201"/>
            <a:ext cx="3568697" cy="2273297"/>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586168"/>
            <a:ext cx="9368790" cy="5310505"/>
          </a:xfrm>
          <a:prstGeom prst="rect">
            <a:avLst/>
          </a:prstGeom>
        </p:spPr>
        <p:txBody>
          <a:bodyPr vert="horz" wrap="square" lIns="0" tIns="12065" rIns="0" bIns="0" rtlCol="0">
            <a:spAutoFit/>
          </a:bodyPr>
          <a:lstStyle/>
          <a:p>
            <a:pPr marL="329565" indent="-317500">
              <a:lnSpc>
                <a:spcPct val="100000"/>
              </a:lnSpc>
              <a:spcBef>
                <a:spcPts val="95"/>
              </a:spcBef>
              <a:buSzPct val="96428"/>
              <a:buFont typeface="Wingdings"/>
              <a:buChar char=""/>
              <a:tabLst>
                <a:tab pos="330200" algn="l"/>
              </a:tabLst>
            </a:pPr>
            <a:r>
              <a:rPr sz="2800" b="1" spc="-20" dirty="0">
                <a:latin typeface="Aptos"/>
                <a:cs typeface="Aptos"/>
              </a:rPr>
              <a:t>Advantages</a:t>
            </a:r>
            <a:r>
              <a:rPr sz="2800" spc="-135" dirty="0">
                <a:latin typeface="Times New Roman"/>
                <a:cs typeface="Times New Roman"/>
              </a:rPr>
              <a:t> </a:t>
            </a:r>
            <a:r>
              <a:rPr sz="2800" b="1" dirty="0">
                <a:latin typeface="Aptos"/>
                <a:cs typeface="Aptos"/>
              </a:rPr>
              <a:t>of</a:t>
            </a:r>
            <a:r>
              <a:rPr sz="2800" spc="-105" dirty="0">
                <a:latin typeface="Times New Roman"/>
                <a:cs typeface="Times New Roman"/>
              </a:rPr>
              <a:t> </a:t>
            </a:r>
            <a:r>
              <a:rPr sz="2800" b="1" spc="-30" dirty="0">
                <a:latin typeface="Aptos"/>
                <a:cs typeface="Aptos"/>
              </a:rPr>
              <a:t>Twisted</a:t>
            </a:r>
            <a:r>
              <a:rPr sz="2800" spc="-145" dirty="0">
                <a:latin typeface="Times New Roman"/>
                <a:cs typeface="Times New Roman"/>
              </a:rPr>
              <a:t> </a:t>
            </a:r>
            <a:r>
              <a:rPr sz="2800" b="1" spc="-10" dirty="0">
                <a:latin typeface="Aptos"/>
                <a:cs typeface="Aptos"/>
              </a:rPr>
              <a:t>pair</a:t>
            </a:r>
            <a:r>
              <a:rPr sz="2800" spc="-145" dirty="0">
                <a:latin typeface="Times New Roman"/>
                <a:cs typeface="Times New Roman"/>
              </a:rPr>
              <a:t> </a:t>
            </a:r>
            <a:r>
              <a:rPr sz="2800" b="1" spc="-10" dirty="0">
                <a:latin typeface="Aptos"/>
                <a:cs typeface="Aptos"/>
              </a:rPr>
              <a:t>cable</a:t>
            </a:r>
            <a:endParaRPr sz="2800">
              <a:latin typeface="Aptos"/>
              <a:cs typeface="Aptos"/>
            </a:endParaRPr>
          </a:p>
          <a:p>
            <a:pPr>
              <a:lnSpc>
                <a:spcPct val="100000"/>
              </a:lnSpc>
              <a:spcBef>
                <a:spcPts val="5"/>
              </a:spcBef>
            </a:pPr>
            <a:endParaRPr sz="3650">
              <a:latin typeface="Aptos"/>
              <a:cs typeface="Aptos"/>
            </a:endParaRPr>
          </a:p>
          <a:p>
            <a:pPr marL="527685" indent="-515620">
              <a:lnSpc>
                <a:spcPct val="100000"/>
              </a:lnSpc>
              <a:spcBef>
                <a:spcPts val="5"/>
              </a:spcBef>
              <a:buAutoNum type="arabicPeriod"/>
              <a:tabLst>
                <a:tab pos="527685" algn="l"/>
                <a:tab pos="528320" algn="l"/>
              </a:tabLst>
            </a:pPr>
            <a:r>
              <a:rPr sz="2800" dirty="0">
                <a:latin typeface="Aptos"/>
                <a:cs typeface="Aptos"/>
              </a:rPr>
              <a:t>It</a:t>
            </a:r>
            <a:r>
              <a:rPr sz="2800" spc="-150" dirty="0">
                <a:latin typeface="Times New Roman"/>
                <a:cs typeface="Times New Roman"/>
              </a:rPr>
              <a:t> </a:t>
            </a:r>
            <a:r>
              <a:rPr sz="2800" dirty="0">
                <a:latin typeface="Aptos"/>
                <a:cs typeface="Aptos"/>
              </a:rPr>
              <a:t>is</a:t>
            </a:r>
            <a:r>
              <a:rPr sz="2800" spc="-150" dirty="0">
                <a:latin typeface="Times New Roman"/>
                <a:cs typeface="Times New Roman"/>
              </a:rPr>
              <a:t> </a:t>
            </a:r>
            <a:r>
              <a:rPr sz="2800" spc="-10" dirty="0">
                <a:latin typeface="Aptos"/>
                <a:cs typeface="Aptos"/>
              </a:rPr>
              <a:t>cheaper</a:t>
            </a:r>
            <a:r>
              <a:rPr sz="2800" spc="-125" dirty="0">
                <a:latin typeface="Times New Roman"/>
                <a:cs typeface="Times New Roman"/>
              </a:rPr>
              <a:t> </a:t>
            </a:r>
            <a:r>
              <a:rPr sz="2800" spc="-20" dirty="0">
                <a:latin typeface="Aptos"/>
                <a:cs typeface="Aptos"/>
              </a:rPr>
              <a:t>than</a:t>
            </a:r>
            <a:r>
              <a:rPr sz="2800" spc="-155" dirty="0">
                <a:latin typeface="Times New Roman"/>
                <a:cs typeface="Times New Roman"/>
              </a:rPr>
              <a:t> </a:t>
            </a:r>
            <a:r>
              <a:rPr sz="2800" spc="-10" dirty="0">
                <a:latin typeface="Aptos"/>
                <a:cs typeface="Aptos"/>
              </a:rPr>
              <a:t>other</a:t>
            </a:r>
            <a:r>
              <a:rPr sz="2800" spc="-130" dirty="0">
                <a:latin typeface="Times New Roman"/>
                <a:cs typeface="Times New Roman"/>
              </a:rPr>
              <a:t> </a:t>
            </a:r>
            <a:r>
              <a:rPr sz="2800" spc="-10" dirty="0">
                <a:latin typeface="Aptos"/>
                <a:cs typeface="Aptos"/>
              </a:rPr>
              <a:t>cables.</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It</a:t>
            </a:r>
            <a:r>
              <a:rPr sz="2800" spc="-165" dirty="0">
                <a:latin typeface="Times New Roman"/>
                <a:cs typeface="Times New Roman"/>
              </a:rPr>
              <a:t> </a:t>
            </a:r>
            <a:r>
              <a:rPr sz="2800" dirty="0">
                <a:latin typeface="Aptos"/>
                <a:cs typeface="Aptos"/>
              </a:rPr>
              <a:t>is</a:t>
            </a:r>
            <a:r>
              <a:rPr sz="2800" spc="-150" dirty="0">
                <a:latin typeface="Times New Roman"/>
                <a:cs typeface="Times New Roman"/>
              </a:rPr>
              <a:t> </a:t>
            </a:r>
            <a:r>
              <a:rPr sz="2800" spc="-10" dirty="0">
                <a:latin typeface="Aptos"/>
                <a:cs typeface="Aptos"/>
              </a:rPr>
              <a:t>light</a:t>
            </a:r>
            <a:r>
              <a:rPr sz="2800" spc="-150" dirty="0">
                <a:latin typeface="Times New Roman"/>
                <a:cs typeface="Times New Roman"/>
              </a:rPr>
              <a:t> </a:t>
            </a:r>
            <a:r>
              <a:rPr sz="2800" spc="-10" dirty="0">
                <a:latin typeface="Aptos"/>
                <a:cs typeface="Aptos"/>
              </a:rPr>
              <a:t>and</a:t>
            </a:r>
            <a:r>
              <a:rPr sz="2800" spc="-150" dirty="0">
                <a:latin typeface="Times New Roman"/>
                <a:cs typeface="Times New Roman"/>
              </a:rPr>
              <a:t> </a:t>
            </a:r>
            <a:r>
              <a:rPr sz="2800" spc="-10" dirty="0">
                <a:latin typeface="Aptos"/>
                <a:cs typeface="Aptos"/>
              </a:rPr>
              <a:t>thin.</a:t>
            </a:r>
            <a:r>
              <a:rPr sz="2800" spc="-145" dirty="0">
                <a:latin typeface="Times New Roman"/>
                <a:cs typeface="Times New Roman"/>
              </a:rPr>
              <a:t> </a:t>
            </a:r>
            <a:r>
              <a:rPr sz="2800" spc="-45" dirty="0">
                <a:latin typeface="Aptos"/>
                <a:cs typeface="Aptos"/>
              </a:rPr>
              <a:t>So,</a:t>
            </a:r>
            <a:r>
              <a:rPr sz="2800" spc="-135" dirty="0">
                <a:latin typeface="Times New Roman"/>
                <a:cs typeface="Times New Roman"/>
              </a:rPr>
              <a:t> </a:t>
            </a:r>
            <a:r>
              <a:rPr sz="2800" dirty="0">
                <a:latin typeface="Aptos"/>
                <a:cs typeface="Aptos"/>
              </a:rPr>
              <a:t>it</a:t>
            </a:r>
            <a:r>
              <a:rPr sz="2800" spc="-140" dirty="0">
                <a:latin typeface="Times New Roman"/>
                <a:cs typeface="Times New Roman"/>
              </a:rPr>
              <a:t> </a:t>
            </a:r>
            <a:r>
              <a:rPr sz="2800" dirty="0">
                <a:latin typeface="Aptos"/>
                <a:cs typeface="Aptos"/>
              </a:rPr>
              <a:t>is</a:t>
            </a:r>
            <a:r>
              <a:rPr sz="2800" spc="-150" dirty="0">
                <a:latin typeface="Times New Roman"/>
                <a:cs typeface="Times New Roman"/>
              </a:rPr>
              <a:t> </a:t>
            </a:r>
            <a:r>
              <a:rPr sz="2800" spc="-20" dirty="0">
                <a:latin typeface="Aptos"/>
                <a:cs typeface="Aptos"/>
              </a:rPr>
              <a:t>flexible</a:t>
            </a:r>
            <a:r>
              <a:rPr sz="2800" spc="-150" dirty="0">
                <a:latin typeface="Times New Roman"/>
                <a:cs typeface="Times New Roman"/>
              </a:rPr>
              <a:t> </a:t>
            </a:r>
            <a:r>
              <a:rPr sz="2800" spc="-10" dirty="0">
                <a:latin typeface="Aptos"/>
                <a:cs typeface="Aptos"/>
              </a:rPr>
              <a:t>for</a:t>
            </a:r>
            <a:r>
              <a:rPr sz="2800" spc="-135" dirty="0">
                <a:latin typeface="Times New Roman"/>
                <a:cs typeface="Times New Roman"/>
              </a:rPr>
              <a:t> </a:t>
            </a:r>
            <a:r>
              <a:rPr sz="2800" spc="-20" dirty="0">
                <a:latin typeface="Aptos"/>
                <a:cs typeface="Aptos"/>
              </a:rPr>
              <a:t>LAN.</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It</a:t>
            </a:r>
            <a:r>
              <a:rPr sz="2800" spc="-160" dirty="0">
                <a:latin typeface="Times New Roman"/>
                <a:cs typeface="Times New Roman"/>
              </a:rPr>
              <a:t> </a:t>
            </a:r>
            <a:r>
              <a:rPr sz="2800" spc="-10" dirty="0">
                <a:latin typeface="Aptos"/>
                <a:cs typeface="Aptos"/>
              </a:rPr>
              <a:t>has</a:t>
            </a:r>
            <a:r>
              <a:rPr sz="2800" spc="-135" dirty="0">
                <a:latin typeface="Times New Roman"/>
                <a:cs typeface="Times New Roman"/>
              </a:rPr>
              <a:t> </a:t>
            </a:r>
            <a:r>
              <a:rPr sz="2800" spc="-20" dirty="0">
                <a:latin typeface="Aptos"/>
                <a:cs typeface="Aptos"/>
              </a:rPr>
              <a:t>higher</a:t>
            </a:r>
            <a:r>
              <a:rPr sz="2800" spc="-140" dirty="0">
                <a:latin typeface="Times New Roman"/>
                <a:cs typeface="Times New Roman"/>
              </a:rPr>
              <a:t> </a:t>
            </a:r>
            <a:r>
              <a:rPr sz="2800" spc="-20" dirty="0">
                <a:latin typeface="Aptos"/>
                <a:cs typeface="Aptos"/>
              </a:rPr>
              <a:t>data</a:t>
            </a:r>
            <a:r>
              <a:rPr sz="2800" spc="-140" dirty="0">
                <a:latin typeface="Times New Roman"/>
                <a:cs typeface="Times New Roman"/>
              </a:rPr>
              <a:t> </a:t>
            </a:r>
            <a:r>
              <a:rPr sz="2800" spc="-30" dirty="0">
                <a:latin typeface="Aptos"/>
                <a:cs typeface="Aptos"/>
              </a:rPr>
              <a:t>transfer</a:t>
            </a:r>
            <a:r>
              <a:rPr sz="2800" spc="-125" dirty="0">
                <a:latin typeface="Times New Roman"/>
                <a:cs typeface="Times New Roman"/>
              </a:rPr>
              <a:t> </a:t>
            </a:r>
            <a:r>
              <a:rPr sz="2800" spc="-50" dirty="0">
                <a:latin typeface="Aptos"/>
                <a:cs typeface="Aptos"/>
              </a:rPr>
              <a:t>rate</a:t>
            </a:r>
            <a:r>
              <a:rPr sz="2800" spc="-135" dirty="0">
                <a:latin typeface="Times New Roman"/>
                <a:cs typeface="Times New Roman"/>
              </a:rPr>
              <a:t> </a:t>
            </a:r>
            <a:r>
              <a:rPr sz="2800" dirty="0">
                <a:latin typeface="Aptos"/>
                <a:cs typeface="Aptos"/>
              </a:rPr>
              <a:t>up</a:t>
            </a:r>
            <a:r>
              <a:rPr sz="2800" spc="-125" dirty="0">
                <a:latin typeface="Times New Roman"/>
                <a:cs typeface="Times New Roman"/>
              </a:rPr>
              <a:t> </a:t>
            </a:r>
            <a:r>
              <a:rPr sz="2800" dirty="0">
                <a:latin typeface="Aptos"/>
                <a:cs typeface="Aptos"/>
              </a:rPr>
              <a:t>to</a:t>
            </a:r>
            <a:r>
              <a:rPr sz="2800" spc="-130" dirty="0">
                <a:latin typeface="Times New Roman"/>
                <a:cs typeface="Times New Roman"/>
              </a:rPr>
              <a:t> </a:t>
            </a:r>
            <a:r>
              <a:rPr sz="2800" dirty="0">
                <a:latin typeface="Aptos"/>
                <a:cs typeface="Aptos"/>
              </a:rPr>
              <a:t>1</a:t>
            </a:r>
            <a:r>
              <a:rPr sz="2800" spc="-135" dirty="0">
                <a:latin typeface="Times New Roman"/>
                <a:cs typeface="Times New Roman"/>
              </a:rPr>
              <a:t> </a:t>
            </a:r>
            <a:r>
              <a:rPr sz="2800" spc="-10" dirty="0">
                <a:latin typeface="Aptos"/>
                <a:cs typeface="Aptos"/>
              </a:rPr>
              <a:t>Gbps.</a:t>
            </a:r>
            <a:endParaRPr sz="2800">
              <a:latin typeface="Aptos"/>
              <a:cs typeface="Aptos"/>
            </a:endParaRPr>
          </a:p>
          <a:p>
            <a:pPr marL="329565" indent="-317500">
              <a:lnSpc>
                <a:spcPct val="100000"/>
              </a:lnSpc>
              <a:spcBef>
                <a:spcPts val="670"/>
              </a:spcBef>
              <a:buSzPct val="96428"/>
              <a:buFont typeface="Wingdings"/>
              <a:buChar char=""/>
              <a:tabLst>
                <a:tab pos="330200" algn="l"/>
              </a:tabLst>
            </a:pPr>
            <a:r>
              <a:rPr sz="2800" b="1" spc="-20" dirty="0">
                <a:latin typeface="Aptos"/>
                <a:cs typeface="Aptos"/>
              </a:rPr>
              <a:t>Disadvantage</a:t>
            </a:r>
            <a:r>
              <a:rPr sz="2800" spc="-145" dirty="0">
                <a:latin typeface="Times New Roman"/>
                <a:cs typeface="Times New Roman"/>
              </a:rPr>
              <a:t> </a:t>
            </a:r>
            <a:r>
              <a:rPr sz="2800" b="1" dirty="0">
                <a:latin typeface="Aptos"/>
                <a:cs typeface="Aptos"/>
              </a:rPr>
              <a:t>of</a:t>
            </a:r>
            <a:r>
              <a:rPr sz="2800" spc="-100" dirty="0">
                <a:latin typeface="Times New Roman"/>
                <a:cs typeface="Times New Roman"/>
              </a:rPr>
              <a:t> </a:t>
            </a:r>
            <a:r>
              <a:rPr sz="2800" b="1" spc="-30" dirty="0">
                <a:latin typeface="Aptos"/>
                <a:cs typeface="Aptos"/>
              </a:rPr>
              <a:t>Twisted</a:t>
            </a:r>
            <a:r>
              <a:rPr sz="2800" spc="-140" dirty="0">
                <a:latin typeface="Times New Roman"/>
                <a:cs typeface="Times New Roman"/>
              </a:rPr>
              <a:t> </a:t>
            </a:r>
            <a:r>
              <a:rPr sz="2800" b="1" dirty="0">
                <a:latin typeface="Aptos"/>
                <a:cs typeface="Aptos"/>
              </a:rPr>
              <a:t>pair</a:t>
            </a:r>
            <a:r>
              <a:rPr sz="2800" spc="-125" dirty="0">
                <a:latin typeface="Times New Roman"/>
                <a:cs typeface="Times New Roman"/>
              </a:rPr>
              <a:t> </a:t>
            </a:r>
            <a:r>
              <a:rPr sz="2800" b="1" spc="-10" dirty="0">
                <a:latin typeface="Aptos"/>
                <a:cs typeface="Aptos"/>
              </a:rPr>
              <a:t>cable</a:t>
            </a:r>
            <a:endParaRPr sz="2800">
              <a:latin typeface="Aptos"/>
              <a:cs typeface="Aptos"/>
            </a:endParaRPr>
          </a:p>
          <a:p>
            <a:pPr marL="527685" marR="5080" indent="-515620">
              <a:lnSpc>
                <a:spcPts val="3020"/>
              </a:lnSpc>
              <a:spcBef>
                <a:spcPts val="1050"/>
              </a:spcBef>
              <a:buAutoNum type="arabicPeriod"/>
              <a:tabLst>
                <a:tab pos="527685" algn="l"/>
                <a:tab pos="528320" algn="l"/>
              </a:tabLst>
            </a:pPr>
            <a:r>
              <a:rPr sz="2800" dirty="0">
                <a:latin typeface="Aptos"/>
                <a:cs typeface="Aptos"/>
              </a:rPr>
              <a:t>It</a:t>
            </a:r>
            <a:r>
              <a:rPr sz="2800" spc="-160" dirty="0">
                <a:latin typeface="Times New Roman"/>
                <a:cs typeface="Times New Roman"/>
              </a:rPr>
              <a:t> </a:t>
            </a:r>
            <a:r>
              <a:rPr sz="2800" dirty="0">
                <a:latin typeface="Aptos"/>
                <a:cs typeface="Aptos"/>
              </a:rPr>
              <a:t>is</a:t>
            </a:r>
            <a:r>
              <a:rPr sz="2800" spc="-150" dirty="0">
                <a:latin typeface="Times New Roman"/>
                <a:cs typeface="Times New Roman"/>
              </a:rPr>
              <a:t> </a:t>
            </a:r>
            <a:r>
              <a:rPr sz="2800" dirty="0">
                <a:latin typeface="Aptos"/>
                <a:cs typeface="Aptos"/>
              </a:rPr>
              <a:t>not</a:t>
            </a:r>
            <a:r>
              <a:rPr sz="2800" spc="-140" dirty="0">
                <a:latin typeface="Times New Roman"/>
                <a:cs typeface="Times New Roman"/>
              </a:rPr>
              <a:t> </a:t>
            </a:r>
            <a:r>
              <a:rPr sz="2800" spc="-20" dirty="0">
                <a:latin typeface="Aptos"/>
                <a:cs typeface="Aptos"/>
              </a:rPr>
              <a:t>possible</a:t>
            </a:r>
            <a:r>
              <a:rPr sz="2800" spc="-135" dirty="0">
                <a:latin typeface="Times New Roman"/>
                <a:cs typeface="Times New Roman"/>
              </a:rPr>
              <a:t> </a:t>
            </a:r>
            <a:r>
              <a:rPr sz="2800" dirty="0">
                <a:latin typeface="Aptos"/>
                <a:cs typeface="Aptos"/>
              </a:rPr>
              <a:t>to</a:t>
            </a:r>
            <a:r>
              <a:rPr sz="2800" spc="-135" dirty="0">
                <a:latin typeface="Times New Roman"/>
                <a:cs typeface="Times New Roman"/>
              </a:rPr>
              <a:t> </a:t>
            </a:r>
            <a:r>
              <a:rPr sz="2800" spc="-30" dirty="0">
                <a:latin typeface="Aptos"/>
                <a:cs typeface="Aptos"/>
              </a:rPr>
              <a:t>transmit</a:t>
            </a:r>
            <a:r>
              <a:rPr sz="2800" spc="-145" dirty="0">
                <a:latin typeface="Times New Roman"/>
                <a:cs typeface="Times New Roman"/>
              </a:rPr>
              <a:t> </a:t>
            </a:r>
            <a:r>
              <a:rPr sz="2800" spc="-20" dirty="0">
                <a:latin typeface="Aptos"/>
                <a:cs typeface="Aptos"/>
              </a:rPr>
              <a:t>data</a:t>
            </a:r>
            <a:r>
              <a:rPr sz="2800" spc="-150" dirty="0">
                <a:latin typeface="Times New Roman"/>
                <a:cs typeface="Times New Roman"/>
              </a:rPr>
              <a:t> </a:t>
            </a:r>
            <a:r>
              <a:rPr sz="2800" spc="-10" dirty="0">
                <a:latin typeface="Aptos"/>
                <a:cs typeface="Aptos"/>
              </a:rPr>
              <a:t>for</a:t>
            </a:r>
            <a:r>
              <a:rPr sz="2800" spc="-135" dirty="0">
                <a:latin typeface="Times New Roman"/>
                <a:cs typeface="Times New Roman"/>
              </a:rPr>
              <a:t> </a:t>
            </a:r>
            <a:r>
              <a:rPr sz="2800" dirty="0">
                <a:latin typeface="Aptos"/>
                <a:cs typeface="Aptos"/>
              </a:rPr>
              <a:t>a</a:t>
            </a:r>
            <a:r>
              <a:rPr sz="2800" spc="-145" dirty="0">
                <a:latin typeface="Times New Roman"/>
                <a:cs typeface="Times New Roman"/>
              </a:rPr>
              <a:t> </a:t>
            </a:r>
            <a:r>
              <a:rPr sz="2800" spc="-10" dirty="0">
                <a:latin typeface="Aptos"/>
                <a:cs typeface="Aptos"/>
              </a:rPr>
              <a:t>long</a:t>
            </a:r>
            <a:r>
              <a:rPr sz="2800" spc="-150" dirty="0">
                <a:latin typeface="Times New Roman"/>
                <a:cs typeface="Times New Roman"/>
              </a:rPr>
              <a:t> </a:t>
            </a:r>
            <a:r>
              <a:rPr sz="2800" spc="-20" dirty="0">
                <a:latin typeface="Aptos"/>
                <a:cs typeface="Aptos"/>
              </a:rPr>
              <a:t>distance</a:t>
            </a:r>
            <a:r>
              <a:rPr sz="2800" spc="-135" dirty="0">
                <a:latin typeface="Times New Roman"/>
                <a:cs typeface="Times New Roman"/>
              </a:rPr>
              <a:t> </a:t>
            </a:r>
            <a:r>
              <a:rPr sz="2800" dirty="0">
                <a:latin typeface="Aptos"/>
                <a:cs typeface="Aptos"/>
              </a:rPr>
              <a:t>(up</a:t>
            </a:r>
            <a:r>
              <a:rPr sz="2800" spc="-135" dirty="0">
                <a:latin typeface="Times New Roman"/>
                <a:cs typeface="Times New Roman"/>
              </a:rPr>
              <a:t> </a:t>
            </a:r>
            <a:r>
              <a:rPr sz="2800" spc="-25" dirty="0">
                <a:latin typeface="Aptos"/>
                <a:cs typeface="Aptos"/>
              </a:rPr>
              <a:t>to</a:t>
            </a:r>
            <a:r>
              <a:rPr sz="2800" spc="-25" dirty="0">
                <a:latin typeface="Times New Roman"/>
                <a:cs typeface="Times New Roman"/>
              </a:rPr>
              <a:t> </a:t>
            </a:r>
            <a:r>
              <a:rPr sz="2800" spc="-10" dirty="0">
                <a:latin typeface="Aptos"/>
                <a:cs typeface="Aptos"/>
              </a:rPr>
              <a:t>200m).</a:t>
            </a:r>
            <a:endParaRPr sz="2800">
              <a:latin typeface="Aptos"/>
              <a:cs typeface="Aptos"/>
            </a:endParaRPr>
          </a:p>
          <a:p>
            <a:pPr marL="527685" indent="-515620">
              <a:lnSpc>
                <a:spcPct val="100000"/>
              </a:lnSpc>
              <a:spcBef>
                <a:spcPts val="620"/>
              </a:spcBef>
              <a:buAutoNum type="arabicPeriod"/>
              <a:tabLst>
                <a:tab pos="527685" algn="l"/>
                <a:tab pos="528320" algn="l"/>
              </a:tabLst>
            </a:pPr>
            <a:r>
              <a:rPr sz="2800" dirty="0">
                <a:latin typeface="Aptos"/>
                <a:cs typeface="Aptos"/>
              </a:rPr>
              <a:t>It</a:t>
            </a:r>
            <a:r>
              <a:rPr sz="2800" spc="-150" dirty="0">
                <a:latin typeface="Times New Roman"/>
                <a:cs typeface="Times New Roman"/>
              </a:rPr>
              <a:t> </a:t>
            </a:r>
            <a:r>
              <a:rPr sz="2800" spc="-10" dirty="0">
                <a:latin typeface="Aptos"/>
                <a:cs typeface="Aptos"/>
              </a:rPr>
              <a:t>can</a:t>
            </a:r>
            <a:r>
              <a:rPr sz="2800" spc="-135" dirty="0">
                <a:latin typeface="Times New Roman"/>
                <a:cs typeface="Times New Roman"/>
              </a:rPr>
              <a:t> </a:t>
            </a:r>
            <a:r>
              <a:rPr sz="2800" dirty="0">
                <a:latin typeface="Aptos"/>
                <a:cs typeface="Aptos"/>
              </a:rPr>
              <a:t>be</a:t>
            </a:r>
            <a:r>
              <a:rPr sz="2800" spc="-140" dirty="0">
                <a:latin typeface="Times New Roman"/>
                <a:cs typeface="Times New Roman"/>
              </a:rPr>
              <a:t> </a:t>
            </a:r>
            <a:r>
              <a:rPr sz="2800" spc="-25" dirty="0">
                <a:latin typeface="Aptos"/>
                <a:cs typeface="Aptos"/>
              </a:rPr>
              <a:t>affected</a:t>
            </a:r>
            <a:r>
              <a:rPr sz="2800" spc="-140" dirty="0">
                <a:latin typeface="Times New Roman"/>
                <a:cs typeface="Times New Roman"/>
              </a:rPr>
              <a:t> </a:t>
            </a:r>
            <a:r>
              <a:rPr sz="2800" spc="-20" dirty="0">
                <a:latin typeface="Aptos"/>
                <a:cs typeface="Aptos"/>
              </a:rPr>
              <a:t>by</a:t>
            </a:r>
            <a:r>
              <a:rPr sz="2800" spc="-150" dirty="0">
                <a:latin typeface="Times New Roman"/>
                <a:cs typeface="Times New Roman"/>
              </a:rPr>
              <a:t> </a:t>
            </a:r>
            <a:r>
              <a:rPr sz="2800" spc="-10" dirty="0">
                <a:latin typeface="Aptos"/>
                <a:cs typeface="Aptos"/>
              </a:rPr>
              <a:t>electrical</a:t>
            </a:r>
            <a:r>
              <a:rPr sz="2800" spc="-140" dirty="0">
                <a:latin typeface="Times New Roman"/>
                <a:cs typeface="Times New Roman"/>
              </a:rPr>
              <a:t> </a:t>
            </a:r>
            <a:r>
              <a:rPr sz="2800" spc="-10" dirty="0">
                <a:latin typeface="Aptos"/>
                <a:cs typeface="Aptos"/>
              </a:rPr>
              <a:t>and</a:t>
            </a:r>
            <a:r>
              <a:rPr sz="2800" spc="-150" dirty="0">
                <a:latin typeface="Times New Roman"/>
                <a:cs typeface="Times New Roman"/>
              </a:rPr>
              <a:t> </a:t>
            </a:r>
            <a:r>
              <a:rPr sz="2800" spc="-20" dirty="0">
                <a:latin typeface="Aptos"/>
                <a:cs typeface="Aptos"/>
              </a:rPr>
              <a:t>magnetic</a:t>
            </a:r>
            <a:r>
              <a:rPr sz="2800" spc="-140" dirty="0">
                <a:latin typeface="Times New Roman"/>
                <a:cs typeface="Times New Roman"/>
              </a:rPr>
              <a:t> </a:t>
            </a:r>
            <a:r>
              <a:rPr sz="2800" spc="-10" dirty="0">
                <a:latin typeface="Aptos"/>
                <a:cs typeface="Aptos"/>
              </a:rPr>
              <a:t>field.</a:t>
            </a:r>
            <a:endParaRPr sz="2800">
              <a:latin typeface="Aptos"/>
              <a:cs typeface="Aptos"/>
            </a:endParaRPr>
          </a:p>
          <a:p>
            <a:pPr marL="527685" marR="80010" indent="-515620">
              <a:lnSpc>
                <a:spcPts val="3020"/>
              </a:lnSpc>
              <a:spcBef>
                <a:spcPts val="1055"/>
              </a:spcBef>
              <a:buAutoNum type="arabicPeriod"/>
              <a:tabLst>
                <a:tab pos="527685" algn="l"/>
                <a:tab pos="528320" algn="l"/>
              </a:tabLst>
            </a:pPr>
            <a:r>
              <a:rPr sz="2800" dirty="0">
                <a:latin typeface="Aptos"/>
                <a:cs typeface="Aptos"/>
              </a:rPr>
              <a:t>It</a:t>
            </a:r>
            <a:r>
              <a:rPr sz="2800" spc="-150" dirty="0">
                <a:latin typeface="Times New Roman"/>
                <a:cs typeface="Times New Roman"/>
              </a:rPr>
              <a:t> </a:t>
            </a:r>
            <a:r>
              <a:rPr sz="2800" dirty="0">
                <a:latin typeface="Aptos"/>
                <a:cs typeface="Aptos"/>
              </a:rPr>
              <a:t>is</a:t>
            </a:r>
            <a:r>
              <a:rPr sz="2800" spc="-145" dirty="0">
                <a:latin typeface="Times New Roman"/>
                <a:cs typeface="Times New Roman"/>
              </a:rPr>
              <a:t> </a:t>
            </a:r>
            <a:r>
              <a:rPr sz="2800" spc="-20" dirty="0">
                <a:latin typeface="Aptos"/>
                <a:cs typeface="Aptos"/>
              </a:rPr>
              <a:t>slower</a:t>
            </a:r>
            <a:r>
              <a:rPr sz="2800" spc="-150" dirty="0">
                <a:latin typeface="Times New Roman"/>
                <a:cs typeface="Times New Roman"/>
              </a:rPr>
              <a:t> </a:t>
            </a:r>
            <a:r>
              <a:rPr sz="2800" spc="-10" dirty="0">
                <a:latin typeface="Aptos"/>
                <a:cs typeface="Aptos"/>
              </a:rPr>
              <a:t>type</a:t>
            </a:r>
            <a:r>
              <a:rPr sz="2800" spc="-130" dirty="0">
                <a:latin typeface="Times New Roman"/>
                <a:cs typeface="Times New Roman"/>
              </a:rPr>
              <a:t> </a:t>
            </a:r>
            <a:r>
              <a:rPr sz="2800" dirty="0">
                <a:latin typeface="Aptos"/>
                <a:cs typeface="Aptos"/>
              </a:rPr>
              <a:t>of</a:t>
            </a:r>
            <a:r>
              <a:rPr sz="2800" spc="-150" dirty="0">
                <a:latin typeface="Times New Roman"/>
                <a:cs typeface="Times New Roman"/>
              </a:rPr>
              <a:t> </a:t>
            </a:r>
            <a:r>
              <a:rPr sz="2800" spc="-25" dirty="0">
                <a:latin typeface="Aptos"/>
                <a:cs typeface="Aptos"/>
              </a:rPr>
              <a:t>transmission</a:t>
            </a:r>
            <a:r>
              <a:rPr sz="2800" spc="-125" dirty="0">
                <a:latin typeface="Times New Roman"/>
                <a:cs typeface="Times New Roman"/>
              </a:rPr>
              <a:t> </a:t>
            </a:r>
            <a:r>
              <a:rPr sz="2800" spc="-20" dirty="0">
                <a:latin typeface="Aptos"/>
                <a:cs typeface="Aptos"/>
              </a:rPr>
              <a:t>media</a:t>
            </a:r>
            <a:r>
              <a:rPr sz="2800" spc="-150" dirty="0">
                <a:latin typeface="Times New Roman"/>
                <a:cs typeface="Times New Roman"/>
              </a:rPr>
              <a:t> </a:t>
            </a:r>
            <a:r>
              <a:rPr sz="2800" spc="-20" dirty="0">
                <a:latin typeface="Aptos"/>
                <a:cs typeface="Aptos"/>
              </a:rPr>
              <a:t>compared</a:t>
            </a:r>
            <a:r>
              <a:rPr sz="2800" spc="-120" dirty="0">
                <a:latin typeface="Times New Roman"/>
                <a:cs typeface="Times New Roman"/>
              </a:rPr>
              <a:t> </a:t>
            </a:r>
            <a:r>
              <a:rPr sz="2800" dirty="0">
                <a:latin typeface="Aptos"/>
                <a:cs typeface="Aptos"/>
              </a:rPr>
              <a:t>to</a:t>
            </a:r>
            <a:r>
              <a:rPr sz="2800" spc="-135" dirty="0">
                <a:latin typeface="Times New Roman"/>
                <a:cs typeface="Times New Roman"/>
              </a:rPr>
              <a:t> </a:t>
            </a:r>
            <a:r>
              <a:rPr sz="2800" spc="-10" dirty="0">
                <a:latin typeface="Aptos"/>
                <a:cs typeface="Aptos"/>
              </a:rPr>
              <a:t>other</a:t>
            </a:r>
            <a:r>
              <a:rPr sz="2800" spc="-10" dirty="0">
                <a:latin typeface="Times New Roman"/>
                <a:cs typeface="Times New Roman"/>
              </a:rPr>
              <a:t> </a:t>
            </a:r>
            <a:r>
              <a:rPr sz="2800" spc="-10" dirty="0">
                <a:latin typeface="Aptos"/>
                <a:cs typeface="Aptos"/>
              </a:rPr>
              <a:t>cables.</a:t>
            </a:r>
            <a:endParaRPr sz="2800">
              <a:latin typeface="Aptos"/>
              <a:cs typeface="Apto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305384"/>
            <a:ext cx="10160635" cy="2200275"/>
          </a:xfrm>
          <a:prstGeom prst="rect">
            <a:avLst/>
          </a:prstGeom>
        </p:spPr>
        <p:txBody>
          <a:bodyPr vert="horz" wrap="square" lIns="0" tIns="97155" rIns="0" bIns="0" rtlCol="0">
            <a:spAutoFit/>
          </a:bodyPr>
          <a:lstStyle/>
          <a:p>
            <a:pPr marL="12700">
              <a:lnSpc>
                <a:spcPct val="100000"/>
              </a:lnSpc>
              <a:spcBef>
                <a:spcPts val="765"/>
              </a:spcBef>
            </a:pPr>
            <a:r>
              <a:rPr sz="2800" dirty="0">
                <a:latin typeface="Aptos"/>
                <a:cs typeface="Aptos"/>
              </a:rPr>
              <a:t>iii)</a:t>
            </a:r>
            <a:r>
              <a:rPr sz="2800" spc="-160" dirty="0">
                <a:latin typeface="Times New Roman"/>
                <a:cs typeface="Times New Roman"/>
              </a:rPr>
              <a:t> </a:t>
            </a:r>
            <a:r>
              <a:rPr sz="2800" b="1" spc="-10" dirty="0">
                <a:latin typeface="Aptos"/>
                <a:cs typeface="Aptos"/>
              </a:rPr>
              <a:t>Optical</a:t>
            </a:r>
            <a:r>
              <a:rPr sz="2800" spc="-165" dirty="0">
                <a:latin typeface="Times New Roman"/>
                <a:cs typeface="Times New Roman"/>
              </a:rPr>
              <a:t> </a:t>
            </a:r>
            <a:r>
              <a:rPr sz="2800" b="1" spc="-20" dirty="0">
                <a:latin typeface="Aptos"/>
                <a:cs typeface="Aptos"/>
              </a:rPr>
              <a:t>Fiber</a:t>
            </a:r>
            <a:endParaRPr sz="2800">
              <a:latin typeface="Aptos"/>
              <a:cs typeface="Aptos"/>
            </a:endParaRPr>
          </a:p>
          <a:p>
            <a:pPr marL="241300" marR="5080" indent="-228600">
              <a:lnSpc>
                <a:spcPct val="90000"/>
              </a:lnSpc>
              <a:spcBef>
                <a:spcPts val="1000"/>
              </a:spcBef>
              <a:buSzPct val="96428"/>
              <a:buFont typeface="Wingdings"/>
              <a:buChar char=""/>
              <a:tabLst>
                <a:tab pos="295910" algn="l"/>
              </a:tabLst>
            </a:pPr>
            <a:r>
              <a:rPr sz="2800" dirty="0">
                <a:latin typeface="Aptos"/>
                <a:cs typeface="Aptos"/>
              </a:rPr>
              <a:t>It</a:t>
            </a:r>
            <a:r>
              <a:rPr sz="2800" spc="-155" dirty="0">
                <a:latin typeface="Times New Roman"/>
                <a:cs typeface="Times New Roman"/>
              </a:rPr>
              <a:t> </a:t>
            </a:r>
            <a:r>
              <a:rPr sz="2800" dirty="0">
                <a:latin typeface="Aptos"/>
                <a:cs typeface="Aptos"/>
              </a:rPr>
              <a:t>is</a:t>
            </a:r>
            <a:r>
              <a:rPr sz="2800" spc="-150" dirty="0">
                <a:latin typeface="Times New Roman"/>
                <a:cs typeface="Times New Roman"/>
              </a:rPr>
              <a:t> </a:t>
            </a:r>
            <a:r>
              <a:rPr sz="2800" spc="-10" dirty="0">
                <a:latin typeface="Aptos"/>
                <a:cs typeface="Aptos"/>
              </a:rPr>
              <a:t>made</a:t>
            </a:r>
            <a:r>
              <a:rPr sz="2800" spc="-140" dirty="0">
                <a:latin typeface="Times New Roman"/>
                <a:cs typeface="Times New Roman"/>
              </a:rPr>
              <a:t> </a:t>
            </a:r>
            <a:r>
              <a:rPr sz="2800" dirty="0">
                <a:latin typeface="Aptos"/>
                <a:cs typeface="Aptos"/>
              </a:rPr>
              <a:t>up</a:t>
            </a:r>
            <a:r>
              <a:rPr sz="2800" spc="-140" dirty="0">
                <a:latin typeface="Times New Roman"/>
                <a:cs typeface="Times New Roman"/>
              </a:rPr>
              <a:t> </a:t>
            </a:r>
            <a:r>
              <a:rPr sz="2800" dirty="0">
                <a:latin typeface="Aptos"/>
                <a:cs typeface="Aptos"/>
              </a:rPr>
              <a:t>of</a:t>
            </a:r>
            <a:r>
              <a:rPr sz="2800" spc="-140" dirty="0">
                <a:latin typeface="Times New Roman"/>
                <a:cs typeface="Times New Roman"/>
              </a:rPr>
              <a:t> </a:t>
            </a:r>
            <a:r>
              <a:rPr sz="2800" dirty="0">
                <a:latin typeface="Aptos"/>
                <a:cs typeface="Aptos"/>
              </a:rPr>
              <a:t>a</a:t>
            </a:r>
            <a:r>
              <a:rPr sz="2800" spc="-150" dirty="0">
                <a:latin typeface="Times New Roman"/>
                <a:cs typeface="Times New Roman"/>
              </a:rPr>
              <a:t> </a:t>
            </a:r>
            <a:r>
              <a:rPr sz="2800" spc="-10" dirty="0">
                <a:latin typeface="Aptos"/>
                <a:cs typeface="Aptos"/>
              </a:rPr>
              <a:t>glass</a:t>
            </a:r>
            <a:r>
              <a:rPr sz="2800" spc="-140" dirty="0">
                <a:latin typeface="Times New Roman"/>
                <a:cs typeface="Times New Roman"/>
              </a:rPr>
              <a:t> </a:t>
            </a:r>
            <a:r>
              <a:rPr sz="2800" dirty="0">
                <a:latin typeface="Aptos"/>
                <a:cs typeface="Aptos"/>
              </a:rPr>
              <a:t>or</a:t>
            </a:r>
            <a:r>
              <a:rPr sz="2800" spc="-135" dirty="0">
                <a:latin typeface="Times New Roman"/>
                <a:cs typeface="Times New Roman"/>
              </a:rPr>
              <a:t> </a:t>
            </a:r>
            <a:r>
              <a:rPr sz="2800" spc="-20" dirty="0">
                <a:latin typeface="Aptos"/>
                <a:cs typeface="Aptos"/>
              </a:rPr>
              <a:t>plastic</a:t>
            </a:r>
            <a:r>
              <a:rPr sz="2800" spc="-150" dirty="0">
                <a:latin typeface="Times New Roman"/>
                <a:cs typeface="Times New Roman"/>
              </a:rPr>
              <a:t> </a:t>
            </a:r>
            <a:r>
              <a:rPr sz="2800" spc="-20" dirty="0">
                <a:latin typeface="Aptos"/>
                <a:cs typeface="Aptos"/>
              </a:rPr>
              <a:t>that</a:t>
            </a:r>
            <a:r>
              <a:rPr sz="2800" spc="-150" dirty="0">
                <a:latin typeface="Times New Roman"/>
                <a:cs typeface="Times New Roman"/>
              </a:rPr>
              <a:t> </a:t>
            </a:r>
            <a:r>
              <a:rPr sz="2800" spc="-30" dirty="0">
                <a:latin typeface="Aptos"/>
                <a:cs typeface="Aptos"/>
              </a:rPr>
              <a:t>transfer</a:t>
            </a:r>
            <a:r>
              <a:rPr sz="2800" spc="-130" dirty="0">
                <a:latin typeface="Times New Roman"/>
                <a:cs typeface="Times New Roman"/>
              </a:rPr>
              <a:t> </a:t>
            </a:r>
            <a:r>
              <a:rPr sz="2800" spc="-10" dirty="0">
                <a:latin typeface="Aptos"/>
                <a:cs typeface="Aptos"/>
              </a:rPr>
              <a:t>signals</a:t>
            </a:r>
            <a:r>
              <a:rPr sz="2800" spc="-140" dirty="0">
                <a:latin typeface="Times New Roman"/>
                <a:cs typeface="Times New Roman"/>
              </a:rPr>
              <a:t> </a:t>
            </a:r>
            <a:r>
              <a:rPr sz="2800" dirty="0">
                <a:latin typeface="Aptos"/>
                <a:cs typeface="Aptos"/>
              </a:rPr>
              <a:t>in</a:t>
            </a:r>
            <a:r>
              <a:rPr sz="2800" spc="-150" dirty="0">
                <a:latin typeface="Times New Roman"/>
                <a:cs typeface="Times New Roman"/>
              </a:rPr>
              <a:t> </a:t>
            </a:r>
            <a:r>
              <a:rPr sz="2800" spc="-20" dirty="0">
                <a:latin typeface="Aptos"/>
                <a:cs typeface="Aptos"/>
              </a:rPr>
              <a:t>form</a:t>
            </a:r>
            <a:r>
              <a:rPr sz="2800" spc="-140" dirty="0">
                <a:latin typeface="Times New Roman"/>
                <a:cs typeface="Times New Roman"/>
              </a:rPr>
              <a:t> </a:t>
            </a:r>
            <a:r>
              <a:rPr sz="2800" spc="-25" dirty="0">
                <a:latin typeface="Aptos"/>
                <a:cs typeface="Aptos"/>
              </a:rPr>
              <a:t>of</a:t>
            </a:r>
            <a:r>
              <a:rPr sz="2800" spc="-25" dirty="0">
                <a:latin typeface="Times New Roman"/>
                <a:cs typeface="Times New Roman"/>
              </a:rPr>
              <a:t> </a:t>
            </a:r>
            <a:r>
              <a:rPr sz="2800" spc="-10" dirty="0">
                <a:latin typeface="Aptos"/>
                <a:cs typeface="Aptos"/>
              </a:rPr>
              <a:t>light.</a:t>
            </a:r>
            <a:r>
              <a:rPr sz="2800" spc="-160" dirty="0">
                <a:latin typeface="Times New Roman"/>
                <a:cs typeface="Times New Roman"/>
              </a:rPr>
              <a:t> </a:t>
            </a:r>
            <a:r>
              <a:rPr sz="2800" spc="-10" dirty="0">
                <a:latin typeface="Aptos"/>
                <a:cs typeface="Aptos"/>
              </a:rPr>
              <a:t>The</a:t>
            </a:r>
            <a:r>
              <a:rPr sz="2800" spc="-155" dirty="0">
                <a:latin typeface="Times New Roman"/>
                <a:cs typeface="Times New Roman"/>
              </a:rPr>
              <a:t> </a:t>
            </a:r>
            <a:r>
              <a:rPr sz="2800" spc="-10" dirty="0">
                <a:latin typeface="Aptos"/>
                <a:cs typeface="Aptos"/>
              </a:rPr>
              <a:t>main</a:t>
            </a:r>
            <a:r>
              <a:rPr sz="2800" spc="-160" dirty="0">
                <a:latin typeface="Times New Roman"/>
                <a:cs typeface="Times New Roman"/>
              </a:rPr>
              <a:t> </a:t>
            </a:r>
            <a:r>
              <a:rPr sz="2800" spc="-10" dirty="0">
                <a:latin typeface="Aptos"/>
                <a:cs typeface="Aptos"/>
              </a:rPr>
              <a:t>core</a:t>
            </a:r>
            <a:r>
              <a:rPr sz="2800" spc="-135" dirty="0">
                <a:latin typeface="Times New Roman"/>
                <a:cs typeface="Times New Roman"/>
              </a:rPr>
              <a:t> </a:t>
            </a:r>
            <a:r>
              <a:rPr sz="2800" spc="-10" dirty="0">
                <a:latin typeface="Aptos"/>
                <a:cs typeface="Aptos"/>
              </a:rPr>
              <a:t>glass</a:t>
            </a:r>
            <a:r>
              <a:rPr sz="2800" spc="-140" dirty="0">
                <a:latin typeface="Times New Roman"/>
                <a:cs typeface="Times New Roman"/>
              </a:rPr>
              <a:t> </a:t>
            </a:r>
            <a:r>
              <a:rPr sz="2800" dirty="0">
                <a:latin typeface="Aptos"/>
                <a:cs typeface="Aptos"/>
              </a:rPr>
              <a:t>is</a:t>
            </a:r>
            <a:r>
              <a:rPr sz="2800" spc="-145" dirty="0">
                <a:latin typeface="Times New Roman"/>
                <a:cs typeface="Times New Roman"/>
              </a:rPr>
              <a:t> </a:t>
            </a:r>
            <a:r>
              <a:rPr sz="2800" spc="-10" dirty="0">
                <a:latin typeface="Aptos"/>
                <a:cs typeface="Aptos"/>
              </a:rPr>
              <a:t>surrounded</a:t>
            </a:r>
            <a:r>
              <a:rPr sz="2800" spc="-120" dirty="0">
                <a:latin typeface="Times New Roman"/>
                <a:cs typeface="Times New Roman"/>
              </a:rPr>
              <a:t> </a:t>
            </a:r>
            <a:r>
              <a:rPr sz="2800" spc="-10" dirty="0">
                <a:latin typeface="Aptos"/>
                <a:cs typeface="Aptos"/>
              </a:rPr>
              <a:t>by</a:t>
            </a:r>
            <a:r>
              <a:rPr sz="2800" spc="-160" dirty="0">
                <a:latin typeface="Times New Roman"/>
                <a:cs typeface="Times New Roman"/>
              </a:rPr>
              <a:t> </a:t>
            </a:r>
            <a:r>
              <a:rPr sz="2800" dirty="0">
                <a:latin typeface="Aptos"/>
                <a:cs typeface="Aptos"/>
              </a:rPr>
              <a:t>a</a:t>
            </a:r>
            <a:r>
              <a:rPr sz="2800" spc="-150" dirty="0">
                <a:latin typeface="Times New Roman"/>
                <a:cs typeface="Times New Roman"/>
              </a:rPr>
              <a:t> </a:t>
            </a:r>
            <a:r>
              <a:rPr sz="2800" spc="-20" dirty="0">
                <a:latin typeface="Aptos"/>
                <a:cs typeface="Aptos"/>
              </a:rPr>
              <a:t>strong</a:t>
            </a:r>
            <a:r>
              <a:rPr sz="2800" spc="-140" dirty="0">
                <a:latin typeface="Times New Roman"/>
                <a:cs typeface="Times New Roman"/>
              </a:rPr>
              <a:t> </a:t>
            </a:r>
            <a:r>
              <a:rPr sz="2800" spc="-10" dirty="0">
                <a:latin typeface="Aptos"/>
                <a:cs typeface="Aptos"/>
              </a:rPr>
              <a:t>cladding</a:t>
            </a:r>
            <a:r>
              <a:rPr sz="2800" spc="-135" dirty="0">
                <a:latin typeface="Times New Roman"/>
                <a:cs typeface="Times New Roman"/>
              </a:rPr>
              <a:t> </a:t>
            </a:r>
            <a:r>
              <a:rPr sz="2800" spc="-20" dirty="0">
                <a:latin typeface="Aptos"/>
                <a:cs typeface="Aptos"/>
              </a:rPr>
              <a:t>with</a:t>
            </a:r>
            <a:r>
              <a:rPr sz="2800" spc="-20" dirty="0">
                <a:latin typeface="Times New Roman"/>
                <a:cs typeface="Times New Roman"/>
              </a:rPr>
              <a:t> </a:t>
            </a:r>
            <a:r>
              <a:rPr sz="2800" spc="-20" dirty="0">
                <a:latin typeface="Aptos"/>
                <a:cs typeface="Aptos"/>
              </a:rPr>
              <a:t>lower</a:t>
            </a:r>
            <a:r>
              <a:rPr sz="2800" spc="-155" dirty="0">
                <a:latin typeface="Times New Roman"/>
                <a:cs typeface="Times New Roman"/>
              </a:rPr>
              <a:t> </a:t>
            </a:r>
            <a:r>
              <a:rPr sz="2800" spc="-25" dirty="0">
                <a:latin typeface="Aptos"/>
                <a:cs typeface="Aptos"/>
              </a:rPr>
              <a:t>index</a:t>
            </a:r>
            <a:r>
              <a:rPr sz="2800" spc="-140" dirty="0">
                <a:latin typeface="Times New Roman"/>
                <a:cs typeface="Times New Roman"/>
              </a:rPr>
              <a:t> </a:t>
            </a:r>
            <a:r>
              <a:rPr sz="2800" dirty="0">
                <a:latin typeface="Aptos"/>
                <a:cs typeface="Aptos"/>
              </a:rPr>
              <a:t>of</a:t>
            </a:r>
            <a:r>
              <a:rPr sz="2800" spc="-135" dirty="0">
                <a:latin typeface="Times New Roman"/>
                <a:cs typeface="Times New Roman"/>
              </a:rPr>
              <a:t> </a:t>
            </a:r>
            <a:r>
              <a:rPr sz="2800" spc="-30" dirty="0">
                <a:latin typeface="Aptos"/>
                <a:cs typeface="Aptos"/>
              </a:rPr>
              <a:t>refraction.</a:t>
            </a:r>
            <a:r>
              <a:rPr sz="2800" spc="-145" dirty="0">
                <a:latin typeface="Times New Roman"/>
                <a:cs typeface="Times New Roman"/>
              </a:rPr>
              <a:t> </a:t>
            </a:r>
            <a:r>
              <a:rPr sz="2800" dirty="0">
                <a:latin typeface="Aptos"/>
                <a:cs typeface="Aptos"/>
              </a:rPr>
              <a:t>It</a:t>
            </a:r>
            <a:r>
              <a:rPr sz="2800" spc="-135" dirty="0">
                <a:latin typeface="Times New Roman"/>
                <a:cs typeface="Times New Roman"/>
              </a:rPr>
              <a:t> </a:t>
            </a:r>
            <a:r>
              <a:rPr sz="2800" spc="-25" dirty="0">
                <a:latin typeface="Aptos"/>
                <a:cs typeface="Aptos"/>
              </a:rPr>
              <a:t>works</a:t>
            </a:r>
            <a:r>
              <a:rPr sz="2800" spc="-150" dirty="0">
                <a:latin typeface="Times New Roman"/>
                <a:cs typeface="Times New Roman"/>
              </a:rPr>
              <a:t> </a:t>
            </a:r>
            <a:r>
              <a:rPr sz="2800" dirty="0">
                <a:latin typeface="Aptos"/>
                <a:cs typeface="Aptos"/>
              </a:rPr>
              <a:t>on</a:t>
            </a:r>
            <a:r>
              <a:rPr sz="2800" spc="-145" dirty="0">
                <a:latin typeface="Times New Roman"/>
                <a:cs typeface="Times New Roman"/>
              </a:rPr>
              <a:t> </a:t>
            </a:r>
            <a:r>
              <a:rPr sz="2800" dirty="0">
                <a:latin typeface="Aptos"/>
                <a:cs typeface="Aptos"/>
              </a:rPr>
              <a:t>the</a:t>
            </a:r>
            <a:r>
              <a:rPr sz="2800" spc="-140" dirty="0">
                <a:latin typeface="Times New Roman"/>
                <a:cs typeface="Times New Roman"/>
              </a:rPr>
              <a:t> </a:t>
            </a:r>
            <a:r>
              <a:rPr sz="2800" spc="-10" dirty="0">
                <a:latin typeface="Aptos"/>
                <a:cs typeface="Aptos"/>
              </a:rPr>
              <a:t>principle</a:t>
            </a:r>
            <a:r>
              <a:rPr sz="2800" spc="-140" dirty="0">
                <a:latin typeface="Times New Roman"/>
                <a:cs typeface="Times New Roman"/>
              </a:rPr>
              <a:t> </a:t>
            </a:r>
            <a:r>
              <a:rPr sz="2800" dirty="0">
                <a:latin typeface="Aptos"/>
                <a:cs typeface="Aptos"/>
              </a:rPr>
              <a:t>of</a:t>
            </a:r>
            <a:r>
              <a:rPr sz="2800" spc="-130" dirty="0">
                <a:latin typeface="Times New Roman"/>
                <a:cs typeface="Times New Roman"/>
              </a:rPr>
              <a:t> </a:t>
            </a:r>
            <a:r>
              <a:rPr sz="2800" spc="-10" dirty="0">
                <a:latin typeface="Aptos"/>
                <a:cs typeface="Aptos"/>
              </a:rPr>
              <a:t>total</a:t>
            </a:r>
            <a:r>
              <a:rPr sz="2800" spc="-150" dirty="0">
                <a:latin typeface="Times New Roman"/>
                <a:cs typeface="Times New Roman"/>
              </a:rPr>
              <a:t> </a:t>
            </a:r>
            <a:r>
              <a:rPr sz="2800" spc="-10" dirty="0">
                <a:latin typeface="Aptos"/>
                <a:cs typeface="Aptos"/>
              </a:rPr>
              <a:t>internal</a:t>
            </a:r>
            <a:r>
              <a:rPr sz="2800" spc="-10" dirty="0">
                <a:latin typeface="Times New Roman"/>
                <a:cs typeface="Times New Roman"/>
              </a:rPr>
              <a:t> </a:t>
            </a:r>
            <a:r>
              <a:rPr sz="2800" spc="-10" dirty="0">
                <a:latin typeface="Aptos"/>
                <a:cs typeface="Aptos"/>
              </a:rPr>
              <a:t>reflection.</a:t>
            </a:r>
            <a:endParaRPr sz="2800">
              <a:latin typeface="Aptos"/>
              <a:cs typeface="Aptos"/>
            </a:endParaRPr>
          </a:p>
        </p:txBody>
      </p:sp>
      <p:grpSp>
        <p:nvGrpSpPr>
          <p:cNvPr id="3" name="object 3"/>
          <p:cNvGrpSpPr/>
          <p:nvPr/>
        </p:nvGrpSpPr>
        <p:grpSpPr>
          <a:xfrm>
            <a:off x="3126234" y="2275063"/>
            <a:ext cx="7785100" cy="3916045"/>
            <a:chOff x="3126234" y="2275063"/>
            <a:chExt cx="7785100" cy="3916045"/>
          </a:xfrm>
        </p:grpSpPr>
        <p:pic>
          <p:nvPicPr>
            <p:cNvPr id="4" name="object 4"/>
            <p:cNvPicPr/>
            <p:nvPr/>
          </p:nvPicPr>
          <p:blipFill>
            <a:blip r:embed="rId2" cstate="print"/>
            <a:stretch>
              <a:fillRect/>
            </a:stretch>
          </p:blipFill>
          <p:spPr>
            <a:xfrm>
              <a:off x="6938139" y="2275063"/>
              <a:ext cx="3972938" cy="3915665"/>
            </a:xfrm>
            <a:prstGeom prst="rect">
              <a:avLst/>
            </a:prstGeom>
          </p:spPr>
        </p:pic>
        <p:pic>
          <p:nvPicPr>
            <p:cNvPr id="5" name="object 5"/>
            <p:cNvPicPr/>
            <p:nvPr/>
          </p:nvPicPr>
          <p:blipFill>
            <a:blip r:embed="rId3" cstate="print"/>
            <a:stretch>
              <a:fillRect/>
            </a:stretch>
          </p:blipFill>
          <p:spPr>
            <a:xfrm>
              <a:off x="3126234" y="2396962"/>
              <a:ext cx="4254626" cy="3287138"/>
            </a:xfrm>
            <a:prstGeom prst="rect">
              <a:avLst/>
            </a:prstGeom>
          </p:spPr>
        </p:pic>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335343"/>
            <a:ext cx="10236835" cy="2721610"/>
          </a:xfrm>
          <a:prstGeom prst="rect">
            <a:avLst/>
          </a:prstGeom>
        </p:spPr>
        <p:txBody>
          <a:bodyPr vert="horz" wrap="square" lIns="0" tIns="13335" rIns="0" bIns="0" rtlCol="0">
            <a:spAutoFit/>
          </a:bodyPr>
          <a:lstStyle/>
          <a:p>
            <a:pPr marL="307975" indent="-295910">
              <a:lnSpc>
                <a:spcPct val="100000"/>
              </a:lnSpc>
              <a:spcBef>
                <a:spcPts val="105"/>
              </a:spcBef>
              <a:buSzPct val="96153"/>
              <a:buFont typeface="Wingdings"/>
              <a:buChar char=""/>
              <a:tabLst>
                <a:tab pos="308610" algn="l"/>
              </a:tabLst>
            </a:pPr>
            <a:r>
              <a:rPr sz="2600" b="1" spc="-10" dirty="0">
                <a:latin typeface="Aptos"/>
                <a:cs typeface="Aptos"/>
              </a:rPr>
              <a:t>Advantages</a:t>
            </a:r>
            <a:r>
              <a:rPr sz="2600" spc="-145" dirty="0">
                <a:latin typeface="Times New Roman"/>
                <a:cs typeface="Times New Roman"/>
              </a:rPr>
              <a:t> </a:t>
            </a:r>
            <a:r>
              <a:rPr sz="2600" b="1" dirty="0">
                <a:latin typeface="Aptos"/>
                <a:cs typeface="Aptos"/>
              </a:rPr>
              <a:t>of</a:t>
            </a:r>
            <a:r>
              <a:rPr sz="2600" spc="-85" dirty="0">
                <a:latin typeface="Times New Roman"/>
                <a:cs typeface="Times New Roman"/>
              </a:rPr>
              <a:t> </a:t>
            </a:r>
            <a:r>
              <a:rPr sz="2600" b="1" spc="-10" dirty="0">
                <a:latin typeface="Aptos"/>
                <a:cs typeface="Aptos"/>
              </a:rPr>
              <a:t>Optical</a:t>
            </a:r>
            <a:r>
              <a:rPr sz="2600" spc="-120" dirty="0">
                <a:latin typeface="Times New Roman"/>
                <a:cs typeface="Times New Roman"/>
              </a:rPr>
              <a:t> </a:t>
            </a:r>
            <a:r>
              <a:rPr sz="2600" b="1" spc="-10" dirty="0">
                <a:latin typeface="Aptos"/>
                <a:cs typeface="Aptos"/>
              </a:rPr>
              <a:t>Fiber</a:t>
            </a:r>
            <a:endParaRPr sz="2600">
              <a:latin typeface="Aptos"/>
              <a:cs typeface="Aptos"/>
            </a:endParaRPr>
          </a:p>
          <a:p>
            <a:pPr>
              <a:lnSpc>
                <a:spcPct val="100000"/>
              </a:lnSpc>
              <a:spcBef>
                <a:spcPts val="5"/>
              </a:spcBef>
            </a:pPr>
            <a:endParaRPr sz="3250">
              <a:latin typeface="Aptos"/>
              <a:cs typeface="Aptos"/>
            </a:endParaRPr>
          </a:p>
          <a:p>
            <a:pPr marL="527685" marR="134620" indent="-515620">
              <a:lnSpc>
                <a:spcPct val="70000"/>
              </a:lnSpc>
              <a:buAutoNum type="arabicPeriod"/>
              <a:tabLst>
                <a:tab pos="527685" algn="l"/>
                <a:tab pos="528320" algn="l"/>
              </a:tabLst>
            </a:pPr>
            <a:r>
              <a:rPr sz="2600" dirty="0">
                <a:latin typeface="Aptos"/>
                <a:cs typeface="Aptos"/>
              </a:rPr>
              <a:t>The</a:t>
            </a:r>
            <a:r>
              <a:rPr sz="2600" spc="-135" dirty="0">
                <a:latin typeface="Times New Roman"/>
                <a:cs typeface="Times New Roman"/>
              </a:rPr>
              <a:t> </a:t>
            </a:r>
            <a:r>
              <a:rPr sz="2600" dirty="0">
                <a:latin typeface="Aptos"/>
                <a:cs typeface="Aptos"/>
              </a:rPr>
              <a:t>speed</a:t>
            </a:r>
            <a:r>
              <a:rPr sz="2600" spc="-110" dirty="0">
                <a:latin typeface="Times New Roman"/>
                <a:cs typeface="Times New Roman"/>
              </a:rPr>
              <a:t> </a:t>
            </a:r>
            <a:r>
              <a:rPr sz="2600" dirty="0">
                <a:latin typeface="Aptos"/>
                <a:cs typeface="Aptos"/>
              </a:rPr>
              <a:t>of</a:t>
            </a:r>
            <a:r>
              <a:rPr sz="2600" spc="-130" dirty="0">
                <a:latin typeface="Times New Roman"/>
                <a:cs typeface="Times New Roman"/>
              </a:rPr>
              <a:t> </a:t>
            </a:r>
            <a:r>
              <a:rPr sz="2600" dirty="0">
                <a:latin typeface="Aptos"/>
                <a:cs typeface="Aptos"/>
              </a:rPr>
              <a:t>optical</a:t>
            </a:r>
            <a:r>
              <a:rPr sz="2600" spc="-125" dirty="0">
                <a:latin typeface="Times New Roman"/>
                <a:cs typeface="Times New Roman"/>
              </a:rPr>
              <a:t> </a:t>
            </a:r>
            <a:r>
              <a:rPr sz="2600" dirty="0">
                <a:latin typeface="Aptos"/>
                <a:cs typeface="Aptos"/>
              </a:rPr>
              <a:t>fiber</a:t>
            </a:r>
            <a:r>
              <a:rPr sz="2600" spc="-105" dirty="0">
                <a:latin typeface="Times New Roman"/>
                <a:cs typeface="Times New Roman"/>
              </a:rPr>
              <a:t> </a:t>
            </a:r>
            <a:r>
              <a:rPr sz="2600" dirty="0">
                <a:latin typeface="Aptos"/>
                <a:cs typeface="Aptos"/>
              </a:rPr>
              <a:t>is</a:t>
            </a:r>
            <a:r>
              <a:rPr sz="2600" spc="-130" dirty="0">
                <a:latin typeface="Times New Roman"/>
                <a:cs typeface="Times New Roman"/>
              </a:rPr>
              <a:t> </a:t>
            </a:r>
            <a:r>
              <a:rPr sz="2600" spc="-10" dirty="0">
                <a:latin typeface="Aptos"/>
                <a:cs typeface="Aptos"/>
              </a:rPr>
              <a:t>highest</a:t>
            </a:r>
            <a:r>
              <a:rPr sz="2600" spc="-125" dirty="0">
                <a:latin typeface="Times New Roman"/>
                <a:cs typeface="Times New Roman"/>
              </a:rPr>
              <a:t> </a:t>
            </a:r>
            <a:r>
              <a:rPr sz="2600" dirty="0">
                <a:latin typeface="Aptos"/>
                <a:cs typeface="Aptos"/>
              </a:rPr>
              <a:t>of</a:t>
            </a:r>
            <a:r>
              <a:rPr sz="2600" spc="-125" dirty="0">
                <a:latin typeface="Times New Roman"/>
                <a:cs typeface="Times New Roman"/>
              </a:rPr>
              <a:t> </a:t>
            </a:r>
            <a:r>
              <a:rPr sz="2600" dirty="0">
                <a:latin typeface="Aptos"/>
                <a:cs typeface="Aptos"/>
              </a:rPr>
              <a:t>all</a:t>
            </a:r>
            <a:r>
              <a:rPr sz="2600" spc="-130" dirty="0">
                <a:latin typeface="Times New Roman"/>
                <a:cs typeface="Times New Roman"/>
              </a:rPr>
              <a:t> </a:t>
            </a:r>
            <a:r>
              <a:rPr sz="2600" dirty="0">
                <a:latin typeface="Aptos"/>
                <a:cs typeface="Aptos"/>
              </a:rPr>
              <a:t>cables</a:t>
            </a:r>
            <a:r>
              <a:rPr sz="2600" spc="-135" dirty="0">
                <a:latin typeface="Times New Roman"/>
                <a:cs typeface="Times New Roman"/>
              </a:rPr>
              <a:t> </a:t>
            </a:r>
            <a:r>
              <a:rPr sz="2600" spc="-50" dirty="0">
                <a:latin typeface="Aptos"/>
                <a:cs typeface="Aptos"/>
              </a:rPr>
              <a:t>i.e.</a:t>
            </a:r>
            <a:r>
              <a:rPr sz="2600" spc="-114" dirty="0">
                <a:latin typeface="Times New Roman"/>
                <a:cs typeface="Times New Roman"/>
              </a:rPr>
              <a:t> </a:t>
            </a:r>
            <a:r>
              <a:rPr sz="2600" spc="-10" dirty="0">
                <a:latin typeface="Aptos"/>
                <a:cs typeface="Aptos"/>
              </a:rPr>
              <a:t>Gbps,</a:t>
            </a:r>
            <a:r>
              <a:rPr sz="2600" spc="-125" dirty="0">
                <a:latin typeface="Times New Roman"/>
                <a:cs typeface="Times New Roman"/>
              </a:rPr>
              <a:t> </a:t>
            </a:r>
            <a:r>
              <a:rPr sz="2600" dirty="0">
                <a:latin typeface="Aptos"/>
                <a:cs typeface="Aptos"/>
              </a:rPr>
              <a:t>Tbps</a:t>
            </a:r>
            <a:r>
              <a:rPr sz="2600" spc="-120" dirty="0">
                <a:latin typeface="Times New Roman"/>
                <a:cs typeface="Times New Roman"/>
              </a:rPr>
              <a:t> </a:t>
            </a:r>
            <a:r>
              <a:rPr sz="2600" spc="-25" dirty="0">
                <a:latin typeface="Aptos"/>
                <a:cs typeface="Aptos"/>
              </a:rPr>
              <a:t>and</a:t>
            </a:r>
            <a:r>
              <a:rPr sz="2600" spc="-25" dirty="0">
                <a:latin typeface="Times New Roman"/>
                <a:cs typeface="Times New Roman"/>
              </a:rPr>
              <a:t> </a:t>
            </a:r>
            <a:r>
              <a:rPr sz="2600" dirty="0">
                <a:latin typeface="Aptos"/>
                <a:cs typeface="Aptos"/>
              </a:rPr>
              <a:t>even</a:t>
            </a:r>
            <a:r>
              <a:rPr sz="2600" spc="-165" dirty="0">
                <a:latin typeface="Times New Roman"/>
                <a:cs typeface="Times New Roman"/>
              </a:rPr>
              <a:t> </a:t>
            </a:r>
            <a:r>
              <a:rPr sz="2600" spc="-20" dirty="0">
                <a:latin typeface="Aptos"/>
                <a:cs typeface="Aptos"/>
              </a:rPr>
              <a:t>more.</a:t>
            </a:r>
            <a:endParaRPr sz="2600">
              <a:latin typeface="Aptos"/>
              <a:cs typeface="Aptos"/>
            </a:endParaRPr>
          </a:p>
          <a:p>
            <a:pPr marL="527685" indent="-515620">
              <a:lnSpc>
                <a:spcPct val="100000"/>
              </a:lnSpc>
              <a:spcBef>
                <a:spcPts val="75"/>
              </a:spcBef>
              <a:buAutoNum type="arabicPeriod"/>
              <a:tabLst>
                <a:tab pos="527685" algn="l"/>
                <a:tab pos="528320" algn="l"/>
              </a:tabLst>
            </a:pPr>
            <a:r>
              <a:rPr sz="2600" dirty="0">
                <a:latin typeface="Aptos"/>
                <a:cs typeface="Aptos"/>
              </a:rPr>
              <a:t>This</a:t>
            </a:r>
            <a:r>
              <a:rPr sz="2600" spc="-130" dirty="0">
                <a:latin typeface="Times New Roman"/>
                <a:cs typeface="Times New Roman"/>
              </a:rPr>
              <a:t> </a:t>
            </a:r>
            <a:r>
              <a:rPr sz="2600" spc="-10" dirty="0">
                <a:latin typeface="Aptos"/>
                <a:cs typeface="Aptos"/>
              </a:rPr>
              <a:t>medium</a:t>
            </a:r>
            <a:r>
              <a:rPr sz="2600" spc="-140" dirty="0">
                <a:latin typeface="Times New Roman"/>
                <a:cs typeface="Times New Roman"/>
              </a:rPr>
              <a:t> </a:t>
            </a:r>
            <a:r>
              <a:rPr sz="2600" dirty="0">
                <a:latin typeface="Aptos"/>
                <a:cs typeface="Aptos"/>
              </a:rPr>
              <a:t>can</a:t>
            </a:r>
            <a:r>
              <a:rPr sz="2600" spc="-135" dirty="0">
                <a:latin typeface="Times New Roman"/>
                <a:cs typeface="Times New Roman"/>
              </a:rPr>
              <a:t> </a:t>
            </a:r>
            <a:r>
              <a:rPr sz="2600" dirty="0">
                <a:latin typeface="Aptos"/>
                <a:cs typeface="Aptos"/>
              </a:rPr>
              <a:t>be</a:t>
            </a:r>
            <a:r>
              <a:rPr sz="2600" spc="-110" dirty="0">
                <a:latin typeface="Times New Roman"/>
                <a:cs typeface="Times New Roman"/>
              </a:rPr>
              <a:t> </a:t>
            </a:r>
            <a:r>
              <a:rPr sz="2600" dirty="0">
                <a:latin typeface="Aptos"/>
                <a:cs typeface="Aptos"/>
              </a:rPr>
              <a:t>used</a:t>
            </a:r>
            <a:r>
              <a:rPr sz="2600" spc="-125" dirty="0">
                <a:latin typeface="Times New Roman"/>
                <a:cs typeface="Times New Roman"/>
              </a:rPr>
              <a:t> </a:t>
            </a:r>
            <a:r>
              <a:rPr sz="2600" spc="-10" dirty="0">
                <a:latin typeface="Aptos"/>
                <a:cs typeface="Aptos"/>
              </a:rPr>
              <a:t>for</a:t>
            </a:r>
            <a:r>
              <a:rPr sz="2600" spc="-120" dirty="0">
                <a:latin typeface="Times New Roman"/>
                <a:cs typeface="Times New Roman"/>
              </a:rPr>
              <a:t> </a:t>
            </a:r>
            <a:r>
              <a:rPr sz="2600" dirty="0">
                <a:latin typeface="Aptos"/>
                <a:cs typeface="Aptos"/>
              </a:rPr>
              <a:t>long</a:t>
            </a:r>
            <a:r>
              <a:rPr sz="2600" spc="-125" dirty="0">
                <a:latin typeface="Times New Roman"/>
                <a:cs typeface="Times New Roman"/>
              </a:rPr>
              <a:t> </a:t>
            </a:r>
            <a:r>
              <a:rPr sz="2600" spc="-10" dirty="0">
                <a:latin typeface="Aptos"/>
                <a:cs typeface="Aptos"/>
              </a:rPr>
              <a:t>distance</a:t>
            </a:r>
            <a:r>
              <a:rPr sz="2600" spc="-120" dirty="0">
                <a:latin typeface="Times New Roman"/>
                <a:cs typeface="Times New Roman"/>
              </a:rPr>
              <a:t> </a:t>
            </a:r>
            <a:r>
              <a:rPr sz="2600" spc="-10" dirty="0">
                <a:latin typeface="Aptos"/>
                <a:cs typeface="Aptos"/>
              </a:rPr>
              <a:t>transmission.</a:t>
            </a:r>
            <a:endParaRPr sz="2600">
              <a:latin typeface="Aptos"/>
              <a:cs typeface="Aptos"/>
            </a:endParaRPr>
          </a:p>
          <a:p>
            <a:pPr marL="527685" indent="-515620">
              <a:lnSpc>
                <a:spcPct val="100000"/>
              </a:lnSpc>
              <a:spcBef>
                <a:spcPts val="60"/>
              </a:spcBef>
              <a:buAutoNum type="arabicPeriod"/>
              <a:tabLst>
                <a:tab pos="527685" algn="l"/>
                <a:tab pos="528320" algn="l"/>
              </a:tabLst>
            </a:pPr>
            <a:r>
              <a:rPr sz="2600" dirty="0">
                <a:latin typeface="Aptos"/>
                <a:cs typeface="Aptos"/>
              </a:rPr>
              <a:t>It</a:t>
            </a:r>
            <a:r>
              <a:rPr sz="2600" spc="-125" dirty="0">
                <a:latin typeface="Times New Roman"/>
                <a:cs typeface="Times New Roman"/>
              </a:rPr>
              <a:t> </a:t>
            </a:r>
            <a:r>
              <a:rPr sz="2600" dirty="0">
                <a:latin typeface="Aptos"/>
                <a:cs typeface="Aptos"/>
              </a:rPr>
              <a:t>is</a:t>
            </a:r>
            <a:r>
              <a:rPr sz="2600" spc="-130" dirty="0">
                <a:latin typeface="Times New Roman"/>
                <a:cs typeface="Times New Roman"/>
              </a:rPr>
              <a:t> </a:t>
            </a:r>
            <a:r>
              <a:rPr sz="2600" dirty="0">
                <a:latin typeface="Aptos"/>
                <a:cs typeface="Aptos"/>
              </a:rPr>
              <a:t>not</a:t>
            </a:r>
            <a:r>
              <a:rPr sz="2600" spc="-114" dirty="0">
                <a:latin typeface="Times New Roman"/>
                <a:cs typeface="Times New Roman"/>
              </a:rPr>
              <a:t> </a:t>
            </a:r>
            <a:r>
              <a:rPr sz="2600" spc="-10" dirty="0">
                <a:latin typeface="Aptos"/>
                <a:cs typeface="Aptos"/>
              </a:rPr>
              <a:t>affected</a:t>
            </a:r>
            <a:r>
              <a:rPr sz="2600" spc="-85" dirty="0">
                <a:latin typeface="Times New Roman"/>
                <a:cs typeface="Times New Roman"/>
              </a:rPr>
              <a:t> </a:t>
            </a:r>
            <a:r>
              <a:rPr sz="2600" dirty="0">
                <a:latin typeface="Aptos"/>
                <a:cs typeface="Aptos"/>
              </a:rPr>
              <a:t>by</a:t>
            </a:r>
            <a:r>
              <a:rPr sz="2600" spc="-114" dirty="0">
                <a:latin typeface="Times New Roman"/>
                <a:cs typeface="Times New Roman"/>
              </a:rPr>
              <a:t> </a:t>
            </a:r>
            <a:r>
              <a:rPr sz="2600" spc="-10" dirty="0">
                <a:latin typeface="Aptos"/>
                <a:cs typeface="Aptos"/>
              </a:rPr>
              <a:t>electromagnetic</a:t>
            </a:r>
            <a:r>
              <a:rPr sz="2600" spc="-114" dirty="0">
                <a:latin typeface="Times New Roman"/>
                <a:cs typeface="Times New Roman"/>
              </a:rPr>
              <a:t> </a:t>
            </a:r>
            <a:r>
              <a:rPr sz="2600" spc="-10" dirty="0">
                <a:latin typeface="Aptos"/>
                <a:cs typeface="Aptos"/>
              </a:rPr>
              <a:t>interference.</a:t>
            </a:r>
            <a:endParaRPr sz="2600">
              <a:latin typeface="Aptos"/>
              <a:cs typeface="Aptos"/>
            </a:endParaRPr>
          </a:p>
          <a:p>
            <a:pPr marL="527685" indent="-515620">
              <a:lnSpc>
                <a:spcPct val="100000"/>
              </a:lnSpc>
              <a:spcBef>
                <a:spcPts val="60"/>
              </a:spcBef>
              <a:buAutoNum type="arabicPeriod"/>
              <a:tabLst>
                <a:tab pos="527685" algn="l"/>
                <a:tab pos="528320" algn="l"/>
              </a:tabLst>
            </a:pPr>
            <a:r>
              <a:rPr sz="2600" dirty="0">
                <a:latin typeface="Aptos"/>
                <a:cs typeface="Aptos"/>
              </a:rPr>
              <a:t>It</a:t>
            </a:r>
            <a:r>
              <a:rPr sz="2600" spc="-145" dirty="0">
                <a:latin typeface="Times New Roman"/>
                <a:cs typeface="Times New Roman"/>
              </a:rPr>
              <a:t> </a:t>
            </a:r>
            <a:r>
              <a:rPr sz="2600" dirty="0">
                <a:latin typeface="Aptos"/>
                <a:cs typeface="Aptos"/>
              </a:rPr>
              <a:t>is</a:t>
            </a:r>
            <a:r>
              <a:rPr sz="2600" spc="-145" dirty="0">
                <a:latin typeface="Times New Roman"/>
                <a:cs typeface="Times New Roman"/>
              </a:rPr>
              <a:t> </a:t>
            </a:r>
            <a:r>
              <a:rPr sz="2600" dirty="0">
                <a:latin typeface="Aptos"/>
                <a:cs typeface="Aptos"/>
              </a:rPr>
              <a:t>the</a:t>
            </a:r>
            <a:r>
              <a:rPr sz="2600" spc="-130" dirty="0">
                <a:latin typeface="Times New Roman"/>
                <a:cs typeface="Times New Roman"/>
              </a:rPr>
              <a:t> </a:t>
            </a:r>
            <a:r>
              <a:rPr sz="2600" spc="-10" dirty="0">
                <a:latin typeface="Aptos"/>
                <a:cs typeface="Aptos"/>
              </a:rPr>
              <a:t>most</a:t>
            </a:r>
            <a:r>
              <a:rPr sz="2600" spc="-150" dirty="0">
                <a:latin typeface="Times New Roman"/>
                <a:cs typeface="Times New Roman"/>
              </a:rPr>
              <a:t> </a:t>
            </a:r>
            <a:r>
              <a:rPr sz="2600" spc="-10" dirty="0">
                <a:latin typeface="Aptos"/>
                <a:cs typeface="Aptos"/>
              </a:rPr>
              <a:t>secured,</a:t>
            </a:r>
            <a:r>
              <a:rPr sz="2600" spc="-130" dirty="0">
                <a:latin typeface="Times New Roman"/>
                <a:cs typeface="Times New Roman"/>
              </a:rPr>
              <a:t> </a:t>
            </a:r>
            <a:r>
              <a:rPr sz="2600" dirty="0">
                <a:latin typeface="Aptos"/>
                <a:cs typeface="Aptos"/>
              </a:rPr>
              <a:t>as</a:t>
            </a:r>
            <a:r>
              <a:rPr sz="2600" spc="-135" dirty="0">
                <a:latin typeface="Times New Roman"/>
                <a:cs typeface="Times New Roman"/>
              </a:rPr>
              <a:t> </a:t>
            </a:r>
            <a:r>
              <a:rPr sz="2600" dirty="0">
                <a:latin typeface="Aptos"/>
                <a:cs typeface="Aptos"/>
              </a:rPr>
              <a:t>it</a:t>
            </a:r>
            <a:r>
              <a:rPr sz="2600" spc="-140" dirty="0">
                <a:latin typeface="Times New Roman"/>
                <a:cs typeface="Times New Roman"/>
              </a:rPr>
              <a:t> </a:t>
            </a:r>
            <a:r>
              <a:rPr sz="2600" dirty="0">
                <a:latin typeface="Aptos"/>
                <a:cs typeface="Aptos"/>
              </a:rPr>
              <a:t>is</a:t>
            </a:r>
            <a:r>
              <a:rPr sz="2600" spc="-130" dirty="0">
                <a:latin typeface="Times New Roman"/>
                <a:cs typeface="Times New Roman"/>
              </a:rPr>
              <a:t> </a:t>
            </a:r>
            <a:r>
              <a:rPr sz="2600" dirty="0">
                <a:latin typeface="Aptos"/>
                <a:cs typeface="Aptos"/>
              </a:rPr>
              <a:t>difficult</a:t>
            </a:r>
            <a:r>
              <a:rPr sz="2600" spc="-130" dirty="0">
                <a:latin typeface="Times New Roman"/>
                <a:cs typeface="Times New Roman"/>
              </a:rPr>
              <a:t> </a:t>
            </a:r>
            <a:r>
              <a:rPr sz="2600" dirty="0">
                <a:latin typeface="Aptos"/>
                <a:cs typeface="Aptos"/>
              </a:rPr>
              <a:t>to</a:t>
            </a:r>
            <a:r>
              <a:rPr sz="2600" spc="-140" dirty="0">
                <a:latin typeface="Times New Roman"/>
                <a:cs typeface="Times New Roman"/>
              </a:rPr>
              <a:t> </a:t>
            </a:r>
            <a:r>
              <a:rPr sz="2600" dirty="0">
                <a:latin typeface="Aptos"/>
                <a:cs typeface="Aptos"/>
              </a:rPr>
              <a:t>tap</a:t>
            </a:r>
            <a:r>
              <a:rPr sz="2600" spc="-135" dirty="0">
                <a:latin typeface="Times New Roman"/>
                <a:cs typeface="Times New Roman"/>
              </a:rPr>
              <a:t> </a:t>
            </a:r>
            <a:r>
              <a:rPr sz="2600" dirty="0">
                <a:latin typeface="Aptos"/>
                <a:cs typeface="Aptos"/>
              </a:rPr>
              <a:t>the</a:t>
            </a:r>
            <a:r>
              <a:rPr sz="2600" spc="-130" dirty="0">
                <a:latin typeface="Times New Roman"/>
                <a:cs typeface="Times New Roman"/>
              </a:rPr>
              <a:t> </a:t>
            </a:r>
            <a:r>
              <a:rPr sz="2600" dirty="0">
                <a:latin typeface="Aptos"/>
                <a:cs typeface="Aptos"/>
              </a:rPr>
              <a:t>data</a:t>
            </a:r>
            <a:r>
              <a:rPr sz="2600" spc="-125" dirty="0">
                <a:latin typeface="Times New Roman"/>
                <a:cs typeface="Times New Roman"/>
              </a:rPr>
              <a:t> </a:t>
            </a:r>
            <a:r>
              <a:rPr sz="2600" spc="-10" dirty="0">
                <a:latin typeface="Aptos"/>
                <a:cs typeface="Aptos"/>
              </a:rPr>
              <a:t>because</a:t>
            </a:r>
            <a:r>
              <a:rPr sz="2600" spc="-130" dirty="0">
                <a:latin typeface="Times New Roman"/>
                <a:cs typeface="Times New Roman"/>
              </a:rPr>
              <a:t> </a:t>
            </a:r>
            <a:r>
              <a:rPr sz="2600" dirty="0">
                <a:latin typeface="Aptos"/>
                <a:cs typeface="Aptos"/>
              </a:rPr>
              <a:t>data</a:t>
            </a:r>
            <a:r>
              <a:rPr sz="2600" spc="-125" dirty="0">
                <a:latin typeface="Times New Roman"/>
                <a:cs typeface="Times New Roman"/>
              </a:rPr>
              <a:t> </a:t>
            </a:r>
            <a:r>
              <a:rPr sz="2600" spc="-25" dirty="0">
                <a:latin typeface="Aptos"/>
                <a:cs typeface="Aptos"/>
              </a:rPr>
              <a:t>is</a:t>
            </a:r>
            <a:endParaRPr sz="2600">
              <a:latin typeface="Aptos"/>
              <a:cs typeface="Aptos"/>
            </a:endParaRPr>
          </a:p>
        </p:txBody>
      </p:sp>
      <p:sp>
        <p:nvSpPr>
          <p:cNvPr id="3" name="object 3"/>
          <p:cNvSpPr txBox="1"/>
          <p:nvPr/>
        </p:nvSpPr>
        <p:spPr>
          <a:xfrm>
            <a:off x="1444751" y="2942211"/>
            <a:ext cx="4387850" cy="403860"/>
          </a:xfrm>
          <a:prstGeom prst="rect">
            <a:avLst/>
          </a:prstGeom>
          <a:solidFill>
            <a:srgbClr val="FFFF00"/>
          </a:solidFill>
        </p:spPr>
        <p:txBody>
          <a:bodyPr vert="horz" wrap="square" lIns="0" tIns="0" rIns="0" bIns="0" rtlCol="0">
            <a:spAutoFit/>
          </a:bodyPr>
          <a:lstStyle/>
          <a:p>
            <a:pPr>
              <a:lnSpc>
                <a:spcPts val="2985"/>
              </a:lnSpc>
            </a:pPr>
            <a:r>
              <a:rPr sz="2600" b="1" spc="-10" dirty="0">
                <a:latin typeface="Aptos"/>
                <a:cs typeface="Aptos"/>
              </a:rPr>
              <a:t>transmitted</a:t>
            </a:r>
            <a:r>
              <a:rPr sz="2600" spc="-165" dirty="0">
                <a:latin typeface="Times New Roman"/>
                <a:cs typeface="Times New Roman"/>
              </a:rPr>
              <a:t> </a:t>
            </a:r>
            <a:r>
              <a:rPr sz="2600" b="1" dirty="0">
                <a:latin typeface="Aptos"/>
                <a:cs typeface="Aptos"/>
              </a:rPr>
              <a:t>in</a:t>
            </a:r>
            <a:r>
              <a:rPr sz="2600" spc="-114" dirty="0">
                <a:latin typeface="Times New Roman"/>
                <a:cs typeface="Times New Roman"/>
              </a:rPr>
              <a:t> </a:t>
            </a:r>
            <a:r>
              <a:rPr sz="2600" b="1" dirty="0">
                <a:latin typeface="Aptos"/>
                <a:cs typeface="Aptos"/>
              </a:rPr>
              <a:t>the</a:t>
            </a:r>
            <a:r>
              <a:rPr sz="2600" spc="-145" dirty="0">
                <a:latin typeface="Times New Roman"/>
                <a:cs typeface="Times New Roman"/>
              </a:rPr>
              <a:t> </a:t>
            </a:r>
            <a:r>
              <a:rPr sz="2600" b="1" spc="-10" dirty="0">
                <a:latin typeface="Aptos"/>
                <a:cs typeface="Aptos"/>
              </a:rPr>
              <a:t>form</a:t>
            </a:r>
            <a:r>
              <a:rPr sz="2600" spc="-155" dirty="0">
                <a:latin typeface="Times New Roman"/>
                <a:cs typeface="Times New Roman"/>
              </a:rPr>
              <a:t> </a:t>
            </a:r>
            <a:r>
              <a:rPr sz="2600" b="1" dirty="0">
                <a:latin typeface="Aptos"/>
                <a:cs typeface="Aptos"/>
              </a:rPr>
              <a:t>of</a:t>
            </a:r>
            <a:r>
              <a:rPr sz="2600" spc="-105" dirty="0">
                <a:latin typeface="Times New Roman"/>
                <a:cs typeface="Times New Roman"/>
              </a:rPr>
              <a:t> </a:t>
            </a:r>
            <a:r>
              <a:rPr sz="2600" b="1" spc="-10" dirty="0">
                <a:latin typeface="Aptos"/>
                <a:cs typeface="Aptos"/>
              </a:rPr>
              <a:t>light.</a:t>
            </a:r>
            <a:endParaRPr sz="2600">
              <a:latin typeface="Aptos"/>
              <a:cs typeface="Aptos"/>
            </a:endParaRPr>
          </a:p>
        </p:txBody>
      </p:sp>
      <p:sp>
        <p:nvSpPr>
          <p:cNvPr id="4" name="object 4"/>
          <p:cNvSpPr txBox="1"/>
          <p:nvPr/>
        </p:nvSpPr>
        <p:spPr>
          <a:xfrm>
            <a:off x="916941" y="3721347"/>
            <a:ext cx="10086975" cy="2317115"/>
          </a:xfrm>
          <a:prstGeom prst="rect">
            <a:avLst/>
          </a:prstGeom>
        </p:spPr>
        <p:txBody>
          <a:bodyPr vert="horz" wrap="square" lIns="0" tIns="13335" rIns="0" bIns="0" rtlCol="0">
            <a:spAutoFit/>
          </a:bodyPr>
          <a:lstStyle/>
          <a:p>
            <a:pPr marL="307975" indent="-295910">
              <a:lnSpc>
                <a:spcPct val="100000"/>
              </a:lnSpc>
              <a:spcBef>
                <a:spcPts val="105"/>
              </a:spcBef>
              <a:buSzPct val="96153"/>
              <a:buFont typeface="Wingdings"/>
              <a:buChar char=""/>
              <a:tabLst>
                <a:tab pos="308610" algn="l"/>
              </a:tabLst>
            </a:pPr>
            <a:r>
              <a:rPr sz="2600" b="1" spc="-10" dirty="0">
                <a:latin typeface="Aptos"/>
                <a:cs typeface="Aptos"/>
              </a:rPr>
              <a:t>Disadvantages</a:t>
            </a:r>
            <a:r>
              <a:rPr sz="2600" spc="-114" dirty="0">
                <a:latin typeface="Times New Roman"/>
                <a:cs typeface="Times New Roman"/>
              </a:rPr>
              <a:t> </a:t>
            </a:r>
            <a:r>
              <a:rPr sz="2600" b="1" dirty="0">
                <a:latin typeface="Aptos"/>
                <a:cs typeface="Aptos"/>
              </a:rPr>
              <a:t>of</a:t>
            </a:r>
            <a:r>
              <a:rPr sz="2600" spc="-100" dirty="0">
                <a:latin typeface="Times New Roman"/>
                <a:cs typeface="Times New Roman"/>
              </a:rPr>
              <a:t> </a:t>
            </a:r>
            <a:r>
              <a:rPr sz="2600" b="1" spc="-10" dirty="0">
                <a:latin typeface="Aptos"/>
                <a:cs typeface="Aptos"/>
              </a:rPr>
              <a:t>Optical</a:t>
            </a:r>
            <a:r>
              <a:rPr sz="2600" spc="-114" dirty="0">
                <a:latin typeface="Times New Roman"/>
                <a:cs typeface="Times New Roman"/>
              </a:rPr>
              <a:t> </a:t>
            </a:r>
            <a:r>
              <a:rPr sz="2600" b="1" spc="-10" dirty="0">
                <a:latin typeface="Aptos"/>
                <a:cs typeface="Aptos"/>
              </a:rPr>
              <a:t>Fiber</a:t>
            </a:r>
            <a:endParaRPr sz="2600">
              <a:latin typeface="Aptos"/>
              <a:cs typeface="Aptos"/>
            </a:endParaRPr>
          </a:p>
          <a:p>
            <a:pPr marL="527685" indent="-515620">
              <a:lnSpc>
                <a:spcPct val="100000"/>
              </a:lnSpc>
              <a:spcBef>
                <a:spcPts val="60"/>
              </a:spcBef>
              <a:buAutoNum type="arabicPeriod"/>
              <a:tabLst>
                <a:tab pos="527685" algn="l"/>
                <a:tab pos="528320" algn="l"/>
              </a:tabLst>
            </a:pPr>
            <a:r>
              <a:rPr sz="2600" dirty="0">
                <a:latin typeface="Aptos"/>
                <a:cs typeface="Aptos"/>
              </a:rPr>
              <a:t>It</a:t>
            </a:r>
            <a:r>
              <a:rPr sz="2600" spc="-140" dirty="0">
                <a:latin typeface="Times New Roman"/>
                <a:cs typeface="Times New Roman"/>
              </a:rPr>
              <a:t> </a:t>
            </a:r>
            <a:r>
              <a:rPr sz="2600" dirty="0">
                <a:latin typeface="Aptos"/>
                <a:cs typeface="Aptos"/>
              </a:rPr>
              <a:t>is</a:t>
            </a:r>
            <a:r>
              <a:rPr sz="2600" spc="-140" dirty="0">
                <a:latin typeface="Times New Roman"/>
                <a:cs typeface="Times New Roman"/>
              </a:rPr>
              <a:t> </a:t>
            </a:r>
            <a:r>
              <a:rPr sz="2600" dirty="0">
                <a:latin typeface="Aptos"/>
                <a:cs typeface="Aptos"/>
              </a:rPr>
              <a:t>one</a:t>
            </a:r>
            <a:r>
              <a:rPr sz="2600" spc="-125" dirty="0">
                <a:latin typeface="Times New Roman"/>
                <a:cs typeface="Times New Roman"/>
              </a:rPr>
              <a:t> </a:t>
            </a:r>
            <a:r>
              <a:rPr sz="2600" dirty="0">
                <a:latin typeface="Aptos"/>
                <a:cs typeface="Aptos"/>
              </a:rPr>
              <a:t>of</a:t>
            </a:r>
            <a:r>
              <a:rPr sz="2600" spc="-130" dirty="0">
                <a:latin typeface="Times New Roman"/>
                <a:cs typeface="Times New Roman"/>
              </a:rPr>
              <a:t> </a:t>
            </a:r>
            <a:r>
              <a:rPr sz="2600" dirty="0">
                <a:latin typeface="Aptos"/>
                <a:cs typeface="Aptos"/>
              </a:rPr>
              <a:t>the</a:t>
            </a:r>
            <a:r>
              <a:rPr sz="2600" spc="-130" dirty="0">
                <a:latin typeface="Times New Roman"/>
                <a:cs typeface="Times New Roman"/>
              </a:rPr>
              <a:t> </a:t>
            </a:r>
            <a:r>
              <a:rPr sz="2600" spc="-10" dirty="0">
                <a:latin typeface="Aptos"/>
                <a:cs typeface="Aptos"/>
              </a:rPr>
              <a:t>expensive</a:t>
            </a:r>
            <a:r>
              <a:rPr sz="2600" spc="-125" dirty="0">
                <a:latin typeface="Times New Roman"/>
                <a:cs typeface="Times New Roman"/>
              </a:rPr>
              <a:t> </a:t>
            </a:r>
            <a:r>
              <a:rPr sz="2600" dirty="0">
                <a:latin typeface="Aptos"/>
                <a:cs typeface="Aptos"/>
              </a:rPr>
              <a:t>type</a:t>
            </a:r>
            <a:r>
              <a:rPr sz="2600" spc="-130" dirty="0">
                <a:latin typeface="Times New Roman"/>
                <a:cs typeface="Times New Roman"/>
              </a:rPr>
              <a:t> </a:t>
            </a:r>
            <a:r>
              <a:rPr sz="2600" dirty="0">
                <a:latin typeface="Aptos"/>
                <a:cs typeface="Aptos"/>
              </a:rPr>
              <a:t>of</a:t>
            </a:r>
            <a:r>
              <a:rPr sz="2600" spc="-130" dirty="0">
                <a:latin typeface="Times New Roman"/>
                <a:cs typeface="Times New Roman"/>
              </a:rPr>
              <a:t> </a:t>
            </a:r>
            <a:r>
              <a:rPr sz="2600" spc="-10" dirty="0">
                <a:latin typeface="Aptos"/>
                <a:cs typeface="Aptos"/>
              </a:rPr>
              <a:t>transmission</a:t>
            </a:r>
            <a:r>
              <a:rPr sz="2600" spc="-130" dirty="0">
                <a:latin typeface="Times New Roman"/>
                <a:cs typeface="Times New Roman"/>
              </a:rPr>
              <a:t> </a:t>
            </a:r>
            <a:r>
              <a:rPr sz="2600" spc="-10" dirty="0">
                <a:latin typeface="Aptos"/>
                <a:cs typeface="Aptos"/>
              </a:rPr>
              <a:t>media.</a:t>
            </a:r>
            <a:endParaRPr sz="2600">
              <a:latin typeface="Aptos"/>
              <a:cs typeface="Aptos"/>
            </a:endParaRPr>
          </a:p>
          <a:p>
            <a:pPr marL="527685" indent="-515620">
              <a:lnSpc>
                <a:spcPct val="100000"/>
              </a:lnSpc>
              <a:spcBef>
                <a:spcPts val="75"/>
              </a:spcBef>
              <a:buAutoNum type="arabicPeriod"/>
              <a:tabLst>
                <a:tab pos="527685" algn="l"/>
                <a:tab pos="528320" algn="l"/>
              </a:tabLst>
            </a:pPr>
            <a:r>
              <a:rPr sz="2600" dirty="0">
                <a:latin typeface="Aptos"/>
                <a:cs typeface="Aptos"/>
              </a:rPr>
              <a:t>It</a:t>
            </a:r>
            <a:r>
              <a:rPr sz="2600" spc="-130" dirty="0">
                <a:latin typeface="Times New Roman"/>
                <a:cs typeface="Times New Roman"/>
              </a:rPr>
              <a:t> </a:t>
            </a:r>
            <a:r>
              <a:rPr sz="2600" dirty="0">
                <a:latin typeface="Aptos"/>
                <a:cs typeface="Aptos"/>
              </a:rPr>
              <a:t>is</a:t>
            </a:r>
            <a:r>
              <a:rPr sz="2600" spc="-140" dirty="0">
                <a:latin typeface="Times New Roman"/>
                <a:cs typeface="Times New Roman"/>
              </a:rPr>
              <a:t> </a:t>
            </a:r>
            <a:r>
              <a:rPr sz="2600" dirty="0">
                <a:latin typeface="Aptos"/>
                <a:cs typeface="Aptos"/>
              </a:rPr>
              <a:t>not</a:t>
            </a:r>
            <a:r>
              <a:rPr sz="2600" spc="-130" dirty="0">
                <a:latin typeface="Times New Roman"/>
                <a:cs typeface="Times New Roman"/>
              </a:rPr>
              <a:t> </a:t>
            </a:r>
            <a:r>
              <a:rPr sz="2600" dirty="0">
                <a:latin typeface="Aptos"/>
                <a:cs typeface="Aptos"/>
              </a:rPr>
              <a:t>used</a:t>
            </a:r>
            <a:r>
              <a:rPr sz="2600" spc="-125" dirty="0">
                <a:latin typeface="Times New Roman"/>
                <a:cs typeface="Times New Roman"/>
              </a:rPr>
              <a:t> </a:t>
            </a:r>
            <a:r>
              <a:rPr sz="2600" dirty="0">
                <a:latin typeface="Aptos"/>
                <a:cs typeface="Aptos"/>
              </a:rPr>
              <a:t>for</a:t>
            </a:r>
            <a:r>
              <a:rPr sz="2600" spc="-120" dirty="0">
                <a:latin typeface="Times New Roman"/>
                <a:cs typeface="Times New Roman"/>
              </a:rPr>
              <a:t> </a:t>
            </a:r>
            <a:r>
              <a:rPr sz="2600" dirty="0">
                <a:latin typeface="Aptos"/>
                <a:cs typeface="Aptos"/>
              </a:rPr>
              <a:t>short</a:t>
            </a:r>
            <a:r>
              <a:rPr sz="2600" spc="-140" dirty="0">
                <a:latin typeface="Times New Roman"/>
                <a:cs typeface="Times New Roman"/>
              </a:rPr>
              <a:t> </a:t>
            </a:r>
            <a:r>
              <a:rPr sz="2600" spc="-10" dirty="0">
                <a:latin typeface="Aptos"/>
                <a:cs typeface="Aptos"/>
              </a:rPr>
              <a:t>distance</a:t>
            </a:r>
            <a:r>
              <a:rPr sz="2600" spc="-130" dirty="0">
                <a:latin typeface="Times New Roman"/>
                <a:cs typeface="Times New Roman"/>
              </a:rPr>
              <a:t> </a:t>
            </a:r>
            <a:r>
              <a:rPr sz="2600" spc="-10" dirty="0">
                <a:latin typeface="Aptos"/>
                <a:cs typeface="Aptos"/>
              </a:rPr>
              <a:t>transmission.</a:t>
            </a:r>
            <a:endParaRPr sz="2600">
              <a:latin typeface="Aptos"/>
              <a:cs typeface="Aptos"/>
            </a:endParaRPr>
          </a:p>
          <a:p>
            <a:pPr marL="527685" marR="5080" indent="-515620">
              <a:lnSpc>
                <a:spcPct val="70000"/>
              </a:lnSpc>
              <a:spcBef>
                <a:spcPts val="994"/>
              </a:spcBef>
              <a:buAutoNum type="arabicPeriod"/>
              <a:tabLst>
                <a:tab pos="527685" algn="l"/>
                <a:tab pos="528320" algn="l"/>
              </a:tabLst>
            </a:pPr>
            <a:r>
              <a:rPr sz="2600" dirty="0">
                <a:latin typeface="Aptos"/>
                <a:cs typeface="Aptos"/>
              </a:rPr>
              <a:t>Highly</a:t>
            </a:r>
            <a:r>
              <a:rPr sz="2600" spc="-125" dirty="0">
                <a:latin typeface="Times New Roman"/>
                <a:cs typeface="Times New Roman"/>
              </a:rPr>
              <a:t> </a:t>
            </a:r>
            <a:r>
              <a:rPr sz="2600" dirty="0">
                <a:latin typeface="Aptos"/>
                <a:cs typeface="Aptos"/>
              </a:rPr>
              <a:t>qualified</a:t>
            </a:r>
            <a:r>
              <a:rPr sz="2600" spc="-100" dirty="0">
                <a:latin typeface="Times New Roman"/>
                <a:cs typeface="Times New Roman"/>
              </a:rPr>
              <a:t> </a:t>
            </a:r>
            <a:r>
              <a:rPr sz="2600" dirty="0">
                <a:latin typeface="Aptos"/>
                <a:cs typeface="Aptos"/>
              </a:rPr>
              <a:t>and</a:t>
            </a:r>
            <a:r>
              <a:rPr sz="2600" spc="-120" dirty="0">
                <a:latin typeface="Times New Roman"/>
                <a:cs typeface="Times New Roman"/>
              </a:rPr>
              <a:t> </a:t>
            </a:r>
            <a:r>
              <a:rPr sz="2600" spc="-10" dirty="0">
                <a:latin typeface="Aptos"/>
                <a:cs typeface="Aptos"/>
              </a:rPr>
              <a:t>technical</a:t>
            </a:r>
            <a:r>
              <a:rPr sz="2600" spc="-145" dirty="0">
                <a:latin typeface="Times New Roman"/>
                <a:cs typeface="Times New Roman"/>
              </a:rPr>
              <a:t> </a:t>
            </a:r>
            <a:r>
              <a:rPr sz="2600" spc="-10" dirty="0">
                <a:latin typeface="Aptos"/>
                <a:cs typeface="Aptos"/>
              </a:rPr>
              <a:t>manpower</a:t>
            </a:r>
            <a:r>
              <a:rPr sz="2600" spc="-125" dirty="0">
                <a:latin typeface="Times New Roman"/>
                <a:cs typeface="Times New Roman"/>
              </a:rPr>
              <a:t> </a:t>
            </a:r>
            <a:r>
              <a:rPr sz="2600" spc="-10" dirty="0">
                <a:latin typeface="Aptos"/>
                <a:cs typeface="Aptos"/>
              </a:rPr>
              <a:t>are</a:t>
            </a:r>
            <a:r>
              <a:rPr sz="2600" spc="-120" dirty="0">
                <a:latin typeface="Times New Roman"/>
                <a:cs typeface="Times New Roman"/>
              </a:rPr>
              <a:t> </a:t>
            </a:r>
            <a:r>
              <a:rPr sz="2600" spc="-10" dirty="0">
                <a:latin typeface="Aptos"/>
                <a:cs typeface="Aptos"/>
              </a:rPr>
              <a:t>required</a:t>
            </a:r>
            <a:r>
              <a:rPr sz="2600" spc="-125" dirty="0">
                <a:latin typeface="Times New Roman"/>
                <a:cs typeface="Times New Roman"/>
              </a:rPr>
              <a:t> </a:t>
            </a:r>
            <a:r>
              <a:rPr sz="2600" dirty="0">
                <a:latin typeface="Aptos"/>
                <a:cs typeface="Aptos"/>
              </a:rPr>
              <a:t>to</a:t>
            </a:r>
            <a:r>
              <a:rPr sz="2600" spc="-125" dirty="0">
                <a:latin typeface="Times New Roman"/>
                <a:cs typeface="Times New Roman"/>
              </a:rPr>
              <a:t> </a:t>
            </a:r>
            <a:r>
              <a:rPr sz="2600" spc="-20" dirty="0">
                <a:latin typeface="Aptos"/>
                <a:cs typeface="Aptos"/>
              </a:rPr>
              <a:t>operate</a:t>
            </a:r>
            <a:r>
              <a:rPr sz="2600" spc="-120" dirty="0">
                <a:latin typeface="Times New Roman"/>
                <a:cs typeface="Times New Roman"/>
              </a:rPr>
              <a:t> </a:t>
            </a:r>
            <a:r>
              <a:rPr sz="2600" spc="-25" dirty="0">
                <a:latin typeface="Aptos"/>
                <a:cs typeface="Aptos"/>
              </a:rPr>
              <a:t>on</a:t>
            </a:r>
            <a:r>
              <a:rPr sz="2600" spc="-25" dirty="0">
                <a:latin typeface="Times New Roman"/>
                <a:cs typeface="Times New Roman"/>
              </a:rPr>
              <a:t> </a:t>
            </a:r>
            <a:r>
              <a:rPr sz="2600" dirty="0">
                <a:latin typeface="Aptos"/>
                <a:cs typeface="Aptos"/>
              </a:rPr>
              <a:t>fibre</a:t>
            </a:r>
            <a:r>
              <a:rPr sz="2600" spc="-160" dirty="0">
                <a:latin typeface="Times New Roman"/>
                <a:cs typeface="Times New Roman"/>
              </a:rPr>
              <a:t> </a:t>
            </a:r>
            <a:r>
              <a:rPr sz="2600" spc="-10" dirty="0">
                <a:latin typeface="Aptos"/>
                <a:cs typeface="Aptos"/>
              </a:rPr>
              <a:t>optics.</a:t>
            </a:r>
            <a:endParaRPr sz="2600">
              <a:latin typeface="Aptos"/>
              <a:cs typeface="Aptos"/>
            </a:endParaRPr>
          </a:p>
          <a:p>
            <a:pPr marL="527685" indent="-515620">
              <a:lnSpc>
                <a:spcPct val="100000"/>
              </a:lnSpc>
              <a:spcBef>
                <a:spcPts val="60"/>
              </a:spcBef>
              <a:buAutoNum type="arabicPeriod"/>
              <a:tabLst>
                <a:tab pos="527685" algn="l"/>
                <a:tab pos="528320" algn="l"/>
              </a:tabLst>
            </a:pPr>
            <a:r>
              <a:rPr sz="2600" dirty="0">
                <a:latin typeface="Aptos"/>
                <a:cs typeface="Aptos"/>
              </a:rPr>
              <a:t>It</a:t>
            </a:r>
            <a:r>
              <a:rPr sz="2600" spc="-140" dirty="0">
                <a:latin typeface="Times New Roman"/>
                <a:cs typeface="Times New Roman"/>
              </a:rPr>
              <a:t> </a:t>
            </a:r>
            <a:r>
              <a:rPr sz="2600" dirty="0">
                <a:latin typeface="Aptos"/>
                <a:cs typeface="Aptos"/>
              </a:rPr>
              <a:t>is</a:t>
            </a:r>
            <a:r>
              <a:rPr sz="2600" spc="-130" dirty="0">
                <a:latin typeface="Times New Roman"/>
                <a:cs typeface="Times New Roman"/>
              </a:rPr>
              <a:t> </a:t>
            </a:r>
            <a:r>
              <a:rPr sz="2600" dirty="0">
                <a:latin typeface="Aptos"/>
                <a:cs typeface="Aptos"/>
              </a:rPr>
              <a:t>very</a:t>
            </a:r>
            <a:r>
              <a:rPr sz="2600" spc="-135" dirty="0">
                <a:latin typeface="Times New Roman"/>
                <a:cs typeface="Times New Roman"/>
              </a:rPr>
              <a:t> </a:t>
            </a:r>
            <a:r>
              <a:rPr sz="2600" dirty="0">
                <a:latin typeface="Aptos"/>
                <a:cs typeface="Aptos"/>
              </a:rPr>
              <a:t>difficult</a:t>
            </a:r>
            <a:r>
              <a:rPr sz="2600" spc="-130" dirty="0">
                <a:latin typeface="Times New Roman"/>
                <a:cs typeface="Times New Roman"/>
              </a:rPr>
              <a:t> </a:t>
            </a:r>
            <a:r>
              <a:rPr sz="2600" dirty="0">
                <a:latin typeface="Aptos"/>
                <a:cs typeface="Aptos"/>
              </a:rPr>
              <a:t>to</a:t>
            </a:r>
            <a:r>
              <a:rPr sz="2600" spc="-140" dirty="0">
                <a:latin typeface="Times New Roman"/>
                <a:cs typeface="Times New Roman"/>
              </a:rPr>
              <a:t> </a:t>
            </a:r>
            <a:r>
              <a:rPr sz="2600" dirty="0">
                <a:latin typeface="Aptos"/>
                <a:cs typeface="Aptos"/>
              </a:rPr>
              <a:t>connect</a:t>
            </a:r>
            <a:r>
              <a:rPr sz="2600" spc="-165" dirty="0">
                <a:latin typeface="Times New Roman"/>
                <a:cs typeface="Times New Roman"/>
              </a:rPr>
              <a:t> </a:t>
            </a:r>
            <a:r>
              <a:rPr sz="2600" dirty="0">
                <a:latin typeface="Aptos"/>
                <a:cs typeface="Aptos"/>
              </a:rPr>
              <a:t>any</a:t>
            </a:r>
            <a:r>
              <a:rPr sz="2600" spc="-135" dirty="0">
                <a:latin typeface="Times New Roman"/>
                <a:cs typeface="Times New Roman"/>
              </a:rPr>
              <a:t> </a:t>
            </a:r>
            <a:r>
              <a:rPr sz="2600" spc="-10" dirty="0">
                <a:latin typeface="Aptos"/>
                <a:cs typeface="Aptos"/>
              </a:rPr>
              <a:t>two</a:t>
            </a:r>
            <a:r>
              <a:rPr sz="2600" spc="-130" dirty="0">
                <a:latin typeface="Times New Roman"/>
                <a:cs typeface="Times New Roman"/>
              </a:rPr>
              <a:t> </a:t>
            </a:r>
            <a:r>
              <a:rPr sz="2600" dirty="0">
                <a:latin typeface="Aptos"/>
                <a:cs typeface="Aptos"/>
              </a:rPr>
              <a:t>optical</a:t>
            </a:r>
            <a:r>
              <a:rPr sz="2600" spc="-150" dirty="0">
                <a:latin typeface="Times New Roman"/>
                <a:cs typeface="Times New Roman"/>
              </a:rPr>
              <a:t> </a:t>
            </a:r>
            <a:r>
              <a:rPr sz="2600" spc="-10" dirty="0">
                <a:latin typeface="Aptos"/>
                <a:cs typeface="Aptos"/>
              </a:rPr>
              <a:t>fibers</a:t>
            </a:r>
            <a:r>
              <a:rPr sz="2600" spc="-135" dirty="0">
                <a:latin typeface="Times New Roman"/>
                <a:cs typeface="Times New Roman"/>
              </a:rPr>
              <a:t> </a:t>
            </a:r>
            <a:r>
              <a:rPr sz="2600" dirty="0">
                <a:latin typeface="Aptos"/>
                <a:cs typeface="Aptos"/>
              </a:rPr>
              <a:t>and</a:t>
            </a:r>
            <a:r>
              <a:rPr sz="2600" spc="-135" dirty="0">
                <a:latin typeface="Times New Roman"/>
                <a:cs typeface="Times New Roman"/>
              </a:rPr>
              <a:t> </a:t>
            </a:r>
            <a:r>
              <a:rPr sz="2600" dirty="0">
                <a:latin typeface="Aptos"/>
                <a:cs typeface="Aptos"/>
              </a:rPr>
              <a:t>bend</a:t>
            </a:r>
            <a:r>
              <a:rPr sz="2600" spc="-130" dirty="0">
                <a:latin typeface="Times New Roman"/>
                <a:cs typeface="Times New Roman"/>
              </a:rPr>
              <a:t> </a:t>
            </a:r>
            <a:r>
              <a:rPr sz="2600" spc="-10" dirty="0">
                <a:latin typeface="Aptos"/>
                <a:cs typeface="Aptos"/>
              </a:rPr>
              <a:t>them.</a:t>
            </a:r>
            <a:endParaRPr sz="2600">
              <a:latin typeface="Aptos"/>
              <a:cs typeface="Apto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94512" y="361068"/>
            <a:ext cx="10775315" cy="3479165"/>
          </a:xfrm>
          <a:prstGeom prst="rect">
            <a:avLst/>
          </a:prstGeom>
        </p:spPr>
        <p:txBody>
          <a:bodyPr vert="horz" wrap="square" lIns="0" tIns="95885" rIns="0" bIns="0" rtlCol="0">
            <a:spAutoFit/>
          </a:bodyPr>
          <a:lstStyle/>
          <a:p>
            <a:pPr marL="12700" algn="just">
              <a:lnSpc>
                <a:spcPct val="100000"/>
              </a:lnSpc>
              <a:spcBef>
                <a:spcPts val="755"/>
              </a:spcBef>
            </a:pPr>
            <a:r>
              <a:rPr sz="2800" b="1" spc="-10" dirty="0">
                <a:latin typeface="Aptos"/>
                <a:cs typeface="Aptos"/>
              </a:rPr>
              <a:t>Unguided</a:t>
            </a:r>
            <a:r>
              <a:rPr sz="2800" spc="-50" dirty="0">
                <a:latin typeface="Times New Roman"/>
                <a:cs typeface="Times New Roman"/>
              </a:rPr>
              <a:t> </a:t>
            </a:r>
            <a:r>
              <a:rPr sz="2800" b="1" spc="-20" dirty="0">
                <a:latin typeface="Aptos"/>
                <a:cs typeface="Aptos"/>
              </a:rPr>
              <a:t>media/Wireless/Unbounded</a:t>
            </a:r>
            <a:r>
              <a:rPr sz="2800" spc="-35" dirty="0">
                <a:latin typeface="Times New Roman"/>
                <a:cs typeface="Times New Roman"/>
              </a:rPr>
              <a:t> </a:t>
            </a:r>
            <a:r>
              <a:rPr sz="2800" b="1" spc="-10" dirty="0">
                <a:latin typeface="Aptos"/>
                <a:cs typeface="Aptos"/>
              </a:rPr>
              <a:t>Media</a:t>
            </a:r>
            <a:endParaRPr sz="2800">
              <a:latin typeface="Aptos"/>
              <a:cs typeface="Aptos"/>
            </a:endParaRPr>
          </a:p>
          <a:p>
            <a:pPr marL="241300" marR="5080" indent="-228600" algn="just">
              <a:lnSpc>
                <a:spcPct val="90000"/>
              </a:lnSpc>
              <a:spcBef>
                <a:spcPts val="994"/>
              </a:spcBef>
              <a:buSzPct val="96428"/>
              <a:buFont typeface="Wingdings"/>
              <a:buChar char=""/>
              <a:tabLst>
                <a:tab pos="295910" algn="l"/>
              </a:tabLst>
            </a:pPr>
            <a:r>
              <a:rPr sz="2800" dirty="0">
                <a:latin typeface="Aptos"/>
                <a:cs typeface="Aptos"/>
              </a:rPr>
              <a:t>Unguided</a:t>
            </a:r>
            <a:r>
              <a:rPr sz="2800" spc="140" dirty="0">
                <a:latin typeface="Times New Roman"/>
                <a:cs typeface="Times New Roman"/>
              </a:rPr>
              <a:t> </a:t>
            </a:r>
            <a:r>
              <a:rPr sz="2800" dirty="0">
                <a:latin typeface="Aptos"/>
                <a:cs typeface="Aptos"/>
              </a:rPr>
              <a:t>media</a:t>
            </a:r>
            <a:r>
              <a:rPr sz="2800" spc="140" dirty="0">
                <a:latin typeface="Times New Roman"/>
                <a:cs typeface="Times New Roman"/>
              </a:rPr>
              <a:t> </a:t>
            </a:r>
            <a:r>
              <a:rPr sz="2800" dirty="0">
                <a:latin typeface="Aptos"/>
                <a:cs typeface="Aptos"/>
              </a:rPr>
              <a:t>is</a:t>
            </a:r>
            <a:r>
              <a:rPr sz="2800" spc="135" dirty="0">
                <a:latin typeface="Times New Roman"/>
                <a:cs typeface="Times New Roman"/>
              </a:rPr>
              <a:t> </a:t>
            </a:r>
            <a:r>
              <a:rPr sz="2800" dirty="0">
                <a:latin typeface="Aptos"/>
                <a:cs typeface="Aptos"/>
              </a:rPr>
              <a:t>also</a:t>
            </a:r>
            <a:r>
              <a:rPr sz="2800" spc="150" dirty="0">
                <a:latin typeface="Times New Roman"/>
                <a:cs typeface="Times New Roman"/>
              </a:rPr>
              <a:t> </a:t>
            </a:r>
            <a:r>
              <a:rPr sz="2800" dirty="0">
                <a:latin typeface="Aptos"/>
                <a:cs typeface="Aptos"/>
              </a:rPr>
              <a:t>called</a:t>
            </a:r>
            <a:r>
              <a:rPr sz="2800" spc="130" dirty="0">
                <a:latin typeface="Times New Roman"/>
                <a:cs typeface="Times New Roman"/>
              </a:rPr>
              <a:t> </a:t>
            </a:r>
            <a:r>
              <a:rPr sz="2800" dirty="0">
                <a:latin typeface="Aptos"/>
                <a:cs typeface="Aptos"/>
              </a:rPr>
              <a:t>wireless</a:t>
            </a:r>
            <a:r>
              <a:rPr sz="2800" spc="140" dirty="0">
                <a:latin typeface="Times New Roman"/>
                <a:cs typeface="Times New Roman"/>
              </a:rPr>
              <a:t> </a:t>
            </a:r>
            <a:r>
              <a:rPr sz="2800" dirty="0">
                <a:latin typeface="Aptos"/>
                <a:cs typeface="Aptos"/>
              </a:rPr>
              <a:t>media</a:t>
            </a:r>
            <a:r>
              <a:rPr sz="2800" spc="150" dirty="0">
                <a:latin typeface="Times New Roman"/>
                <a:cs typeface="Times New Roman"/>
              </a:rPr>
              <a:t> </a:t>
            </a:r>
            <a:r>
              <a:rPr sz="2800" dirty="0">
                <a:latin typeface="Aptos"/>
                <a:cs typeface="Aptos"/>
              </a:rPr>
              <a:t>in</a:t>
            </a:r>
            <a:r>
              <a:rPr sz="2800" spc="120" dirty="0">
                <a:latin typeface="Times New Roman"/>
                <a:cs typeface="Times New Roman"/>
              </a:rPr>
              <a:t> </a:t>
            </a:r>
            <a:r>
              <a:rPr sz="2800" dirty="0">
                <a:latin typeface="Aptos"/>
                <a:cs typeface="Aptos"/>
              </a:rPr>
              <a:t>which</a:t>
            </a:r>
            <a:r>
              <a:rPr sz="2800" spc="125" dirty="0">
                <a:latin typeface="Times New Roman"/>
                <a:cs typeface="Times New Roman"/>
              </a:rPr>
              <a:t> </a:t>
            </a:r>
            <a:r>
              <a:rPr sz="2800" dirty="0">
                <a:latin typeface="Aptos"/>
                <a:cs typeface="Aptos"/>
              </a:rPr>
              <a:t>there</a:t>
            </a:r>
            <a:r>
              <a:rPr sz="2800" spc="130" dirty="0">
                <a:latin typeface="Times New Roman"/>
                <a:cs typeface="Times New Roman"/>
              </a:rPr>
              <a:t> </a:t>
            </a:r>
            <a:r>
              <a:rPr sz="2800" dirty="0">
                <a:latin typeface="Aptos"/>
                <a:cs typeface="Aptos"/>
              </a:rPr>
              <a:t>is</a:t>
            </a:r>
            <a:r>
              <a:rPr sz="2800" spc="135" dirty="0">
                <a:latin typeface="Times New Roman"/>
                <a:cs typeface="Times New Roman"/>
              </a:rPr>
              <a:t> </a:t>
            </a:r>
            <a:r>
              <a:rPr sz="2800" spc="-25" dirty="0">
                <a:latin typeface="Aptos"/>
                <a:cs typeface="Aptos"/>
              </a:rPr>
              <a:t>no</a:t>
            </a:r>
            <a:r>
              <a:rPr sz="2800" spc="-25" dirty="0">
                <a:latin typeface="Times New Roman"/>
                <a:cs typeface="Times New Roman"/>
              </a:rPr>
              <a:t> </a:t>
            </a:r>
            <a:r>
              <a:rPr sz="2800" dirty="0">
                <a:latin typeface="Aptos"/>
                <a:cs typeface="Aptos"/>
              </a:rPr>
              <a:t>physical</a:t>
            </a:r>
            <a:r>
              <a:rPr sz="2800" spc="-15" dirty="0">
                <a:latin typeface="Times New Roman"/>
                <a:cs typeface="Times New Roman"/>
              </a:rPr>
              <a:t> </a:t>
            </a:r>
            <a:r>
              <a:rPr sz="2800" dirty="0">
                <a:latin typeface="Aptos"/>
                <a:cs typeface="Aptos"/>
              </a:rPr>
              <a:t>connection</a:t>
            </a:r>
            <a:r>
              <a:rPr sz="2800" spc="-20" dirty="0">
                <a:latin typeface="Times New Roman"/>
                <a:cs typeface="Times New Roman"/>
              </a:rPr>
              <a:t> </a:t>
            </a:r>
            <a:r>
              <a:rPr sz="2800" dirty="0">
                <a:latin typeface="Aptos"/>
                <a:cs typeface="Aptos"/>
              </a:rPr>
              <a:t>between</a:t>
            </a:r>
            <a:r>
              <a:rPr sz="2800" spc="-25" dirty="0">
                <a:latin typeface="Times New Roman"/>
                <a:cs typeface="Times New Roman"/>
              </a:rPr>
              <a:t> </a:t>
            </a:r>
            <a:r>
              <a:rPr sz="2800" dirty="0">
                <a:latin typeface="Aptos"/>
                <a:cs typeface="Aptos"/>
              </a:rPr>
              <a:t>any</a:t>
            </a:r>
            <a:r>
              <a:rPr sz="2800" spc="-25" dirty="0">
                <a:latin typeface="Times New Roman"/>
                <a:cs typeface="Times New Roman"/>
              </a:rPr>
              <a:t> </a:t>
            </a:r>
            <a:r>
              <a:rPr sz="2800" dirty="0">
                <a:latin typeface="Aptos"/>
                <a:cs typeface="Aptos"/>
              </a:rPr>
              <a:t>two</a:t>
            </a:r>
            <a:r>
              <a:rPr sz="2800" spc="-10" dirty="0">
                <a:latin typeface="Times New Roman"/>
                <a:cs typeface="Times New Roman"/>
              </a:rPr>
              <a:t> </a:t>
            </a:r>
            <a:r>
              <a:rPr sz="2800" dirty="0">
                <a:latin typeface="Aptos"/>
                <a:cs typeface="Aptos"/>
              </a:rPr>
              <a:t>communicating</a:t>
            </a:r>
            <a:r>
              <a:rPr sz="2800" spc="-30" dirty="0">
                <a:latin typeface="Times New Roman"/>
                <a:cs typeface="Times New Roman"/>
              </a:rPr>
              <a:t> </a:t>
            </a:r>
            <a:r>
              <a:rPr sz="2800" dirty="0">
                <a:latin typeface="Aptos"/>
                <a:cs typeface="Aptos"/>
              </a:rPr>
              <a:t>devices</a:t>
            </a:r>
            <a:r>
              <a:rPr sz="2800" spc="-20" dirty="0">
                <a:latin typeface="Times New Roman"/>
                <a:cs typeface="Times New Roman"/>
              </a:rPr>
              <a:t> </a:t>
            </a:r>
            <a:r>
              <a:rPr sz="2800" dirty="0">
                <a:latin typeface="Aptos"/>
                <a:cs typeface="Aptos"/>
              </a:rPr>
              <a:t>i.e.</a:t>
            </a:r>
            <a:r>
              <a:rPr sz="2800" spc="-30" dirty="0">
                <a:latin typeface="Times New Roman"/>
                <a:cs typeface="Times New Roman"/>
              </a:rPr>
              <a:t> </a:t>
            </a:r>
            <a:r>
              <a:rPr sz="2800" spc="-25" dirty="0">
                <a:latin typeface="Aptos"/>
                <a:cs typeface="Aptos"/>
              </a:rPr>
              <a:t>it</a:t>
            </a:r>
            <a:r>
              <a:rPr sz="2800" spc="-25" dirty="0">
                <a:latin typeface="Times New Roman"/>
                <a:cs typeface="Times New Roman"/>
              </a:rPr>
              <a:t> </a:t>
            </a:r>
            <a:r>
              <a:rPr sz="2800" dirty="0">
                <a:latin typeface="Aptos"/>
                <a:cs typeface="Aptos"/>
              </a:rPr>
              <a:t>transmits</a:t>
            </a:r>
            <a:r>
              <a:rPr sz="2800" spc="520" dirty="0">
                <a:latin typeface="Times New Roman"/>
                <a:cs typeface="Times New Roman"/>
              </a:rPr>
              <a:t> </a:t>
            </a:r>
            <a:r>
              <a:rPr sz="2800" dirty="0">
                <a:latin typeface="Aptos"/>
                <a:cs typeface="Aptos"/>
              </a:rPr>
              <a:t>signals</a:t>
            </a:r>
            <a:r>
              <a:rPr sz="2800" spc="530" dirty="0">
                <a:latin typeface="Times New Roman"/>
                <a:cs typeface="Times New Roman"/>
              </a:rPr>
              <a:t> </a:t>
            </a:r>
            <a:r>
              <a:rPr sz="2800" dirty="0">
                <a:latin typeface="Aptos"/>
                <a:cs typeface="Aptos"/>
              </a:rPr>
              <a:t>via</a:t>
            </a:r>
            <a:r>
              <a:rPr sz="2800" spc="505" dirty="0">
                <a:latin typeface="Times New Roman"/>
                <a:cs typeface="Times New Roman"/>
              </a:rPr>
              <a:t> </a:t>
            </a:r>
            <a:r>
              <a:rPr sz="2800" dirty="0">
                <a:latin typeface="Aptos"/>
                <a:cs typeface="Aptos"/>
              </a:rPr>
              <a:t>air.</a:t>
            </a:r>
            <a:r>
              <a:rPr sz="2800" spc="509" dirty="0">
                <a:latin typeface="Times New Roman"/>
                <a:cs typeface="Times New Roman"/>
              </a:rPr>
              <a:t> </a:t>
            </a:r>
            <a:r>
              <a:rPr sz="2800" dirty="0">
                <a:latin typeface="Aptos"/>
                <a:cs typeface="Aptos"/>
              </a:rPr>
              <a:t>For</a:t>
            </a:r>
            <a:r>
              <a:rPr sz="2800" spc="520" dirty="0">
                <a:latin typeface="Times New Roman"/>
                <a:cs typeface="Times New Roman"/>
              </a:rPr>
              <a:t> </a:t>
            </a:r>
            <a:r>
              <a:rPr sz="2800" dirty="0">
                <a:latin typeface="Aptos"/>
                <a:cs typeface="Aptos"/>
              </a:rPr>
              <a:t>example,</a:t>
            </a:r>
            <a:r>
              <a:rPr sz="2800" spc="515" dirty="0">
                <a:latin typeface="Times New Roman"/>
                <a:cs typeface="Times New Roman"/>
              </a:rPr>
              <a:t> </a:t>
            </a:r>
            <a:r>
              <a:rPr sz="2800" dirty="0">
                <a:latin typeface="Aptos"/>
                <a:cs typeface="Aptos"/>
              </a:rPr>
              <a:t>infrared,</a:t>
            </a:r>
            <a:r>
              <a:rPr sz="2800" spc="515" dirty="0">
                <a:latin typeface="Times New Roman"/>
                <a:cs typeface="Times New Roman"/>
              </a:rPr>
              <a:t> </a:t>
            </a:r>
            <a:r>
              <a:rPr sz="2800" dirty="0">
                <a:latin typeface="Aptos"/>
                <a:cs typeface="Aptos"/>
              </a:rPr>
              <a:t>Bluetooth,</a:t>
            </a:r>
            <a:r>
              <a:rPr sz="2800" spc="509" dirty="0">
                <a:latin typeface="Times New Roman"/>
                <a:cs typeface="Times New Roman"/>
              </a:rPr>
              <a:t> </a:t>
            </a:r>
            <a:r>
              <a:rPr sz="2800" spc="-25" dirty="0">
                <a:latin typeface="Aptos"/>
                <a:cs typeface="Aptos"/>
              </a:rPr>
              <a:t>Wi-Fi,</a:t>
            </a:r>
            <a:r>
              <a:rPr sz="2800" spc="-25" dirty="0">
                <a:latin typeface="Times New Roman"/>
                <a:cs typeface="Times New Roman"/>
              </a:rPr>
              <a:t> </a:t>
            </a:r>
            <a:r>
              <a:rPr sz="2800" spc="-30" dirty="0">
                <a:latin typeface="Aptos"/>
                <a:cs typeface="Aptos"/>
              </a:rPr>
              <a:t>microwaves</a:t>
            </a:r>
            <a:r>
              <a:rPr sz="2800" spc="-114" dirty="0">
                <a:latin typeface="Times New Roman"/>
                <a:cs typeface="Times New Roman"/>
              </a:rPr>
              <a:t> </a:t>
            </a:r>
            <a:r>
              <a:rPr sz="2800" spc="-25" dirty="0">
                <a:latin typeface="Aptos"/>
                <a:cs typeface="Aptos"/>
              </a:rPr>
              <a:t>(radio</a:t>
            </a:r>
            <a:r>
              <a:rPr sz="2800" spc="-100" dirty="0">
                <a:latin typeface="Times New Roman"/>
                <a:cs typeface="Times New Roman"/>
              </a:rPr>
              <a:t> </a:t>
            </a:r>
            <a:r>
              <a:rPr sz="2800" spc="-20" dirty="0">
                <a:latin typeface="Aptos"/>
                <a:cs typeface="Aptos"/>
              </a:rPr>
              <a:t>waves),</a:t>
            </a:r>
            <a:r>
              <a:rPr sz="2800" spc="-100" dirty="0">
                <a:latin typeface="Times New Roman"/>
                <a:cs typeface="Times New Roman"/>
              </a:rPr>
              <a:t> </a:t>
            </a:r>
            <a:r>
              <a:rPr sz="2800" spc="-30" dirty="0">
                <a:latin typeface="Aptos"/>
                <a:cs typeface="Aptos"/>
              </a:rPr>
              <a:t>satellite,</a:t>
            </a:r>
            <a:r>
              <a:rPr sz="2800" spc="-140" dirty="0">
                <a:latin typeface="Times New Roman"/>
                <a:cs typeface="Times New Roman"/>
              </a:rPr>
              <a:t> </a:t>
            </a:r>
            <a:r>
              <a:rPr sz="2800" spc="-20" dirty="0">
                <a:latin typeface="Aptos"/>
                <a:cs typeface="Aptos"/>
              </a:rPr>
              <a:t>etc.</a:t>
            </a:r>
            <a:endParaRPr sz="2800">
              <a:latin typeface="Aptos"/>
              <a:cs typeface="Aptos"/>
            </a:endParaRPr>
          </a:p>
          <a:p>
            <a:pPr marL="926465" marR="6985" indent="-914400" algn="just">
              <a:lnSpc>
                <a:spcPts val="3020"/>
              </a:lnSpc>
              <a:spcBef>
                <a:spcPts val="1060"/>
              </a:spcBef>
            </a:pPr>
            <a:r>
              <a:rPr sz="2800" b="1" dirty="0">
                <a:latin typeface="Aptos"/>
                <a:cs typeface="Aptos"/>
              </a:rPr>
              <a:t>i.</a:t>
            </a:r>
            <a:r>
              <a:rPr sz="2800" spc="695" dirty="0">
                <a:latin typeface="Times New Roman"/>
                <a:cs typeface="Times New Roman"/>
              </a:rPr>
              <a:t>  </a:t>
            </a:r>
            <a:r>
              <a:rPr sz="2800" b="1" dirty="0">
                <a:latin typeface="Aptos"/>
                <a:cs typeface="Aptos"/>
              </a:rPr>
              <a:t>Infrared:</a:t>
            </a:r>
            <a:r>
              <a:rPr sz="2800" spc="45" dirty="0">
                <a:latin typeface="Times New Roman"/>
                <a:cs typeface="Times New Roman"/>
              </a:rPr>
              <a:t>  </a:t>
            </a:r>
            <a:r>
              <a:rPr sz="2800" dirty="0">
                <a:latin typeface="Aptos"/>
                <a:cs typeface="Aptos"/>
              </a:rPr>
              <a:t>Infrared</a:t>
            </a:r>
            <a:r>
              <a:rPr sz="2800" spc="45" dirty="0">
                <a:latin typeface="Times New Roman"/>
                <a:cs typeface="Times New Roman"/>
              </a:rPr>
              <a:t>  </a:t>
            </a:r>
            <a:r>
              <a:rPr sz="2800" dirty="0">
                <a:latin typeface="Aptos"/>
                <a:cs typeface="Aptos"/>
              </a:rPr>
              <a:t>has</a:t>
            </a:r>
            <a:r>
              <a:rPr sz="2800" spc="40" dirty="0">
                <a:latin typeface="Times New Roman"/>
                <a:cs typeface="Times New Roman"/>
              </a:rPr>
              <a:t>  </a:t>
            </a:r>
            <a:r>
              <a:rPr sz="2800" dirty="0">
                <a:latin typeface="Aptos"/>
                <a:cs typeface="Aptos"/>
              </a:rPr>
              <a:t>the</a:t>
            </a:r>
            <a:r>
              <a:rPr sz="2800" spc="50" dirty="0">
                <a:latin typeface="Times New Roman"/>
                <a:cs typeface="Times New Roman"/>
              </a:rPr>
              <a:t>  </a:t>
            </a:r>
            <a:r>
              <a:rPr sz="2800" dirty="0">
                <a:latin typeface="Aptos"/>
                <a:cs typeface="Aptos"/>
              </a:rPr>
              <a:t>shortest</a:t>
            </a:r>
            <a:r>
              <a:rPr sz="2800" spc="45" dirty="0">
                <a:latin typeface="Times New Roman"/>
                <a:cs typeface="Times New Roman"/>
              </a:rPr>
              <a:t>  </a:t>
            </a:r>
            <a:r>
              <a:rPr sz="2800" dirty="0">
                <a:latin typeface="Aptos"/>
                <a:cs typeface="Aptos"/>
              </a:rPr>
              <a:t>transmission</a:t>
            </a:r>
            <a:r>
              <a:rPr sz="2800" spc="35" dirty="0">
                <a:latin typeface="Times New Roman"/>
                <a:cs typeface="Times New Roman"/>
              </a:rPr>
              <a:t>  </a:t>
            </a:r>
            <a:r>
              <a:rPr sz="2800" dirty="0">
                <a:latin typeface="Aptos"/>
                <a:cs typeface="Aptos"/>
              </a:rPr>
              <a:t>distance</a:t>
            </a:r>
            <a:r>
              <a:rPr sz="2800" spc="40" dirty="0">
                <a:latin typeface="Times New Roman"/>
                <a:cs typeface="Times New Roman"/>
              </a:rPr>
              <a:t>  </a:t>
            </a:r>
            <a:r>
              <a:rPr sz="2800" spc="-20" dirty="0">
                <a:latin typeface="Aptos"/>
                <a:cs typeface="Aptos"/>
              </a:rPr>
              <a:t>that</a:t>
            </a:r>
            <a:r>
              <a:rPr sz="2800" spc="-20" dirty="0">
                <a:latin typeface="Times New Roman"/>
                <a:cs typeface="Times New Roman"/>
              </a:rPr>
              <a:t> </a:t>
            </a:r>
            <a:r>
              <a:rPr sz="2800" spc="-25" dirty="0">
                <a:latin typeface="Aptos"/>
                <a:cs typeface="Aptos"/>
              </a:rPr>
              <a:t>follows</a:t>
            </a:r>
            <a:r>
              <a:rPr sz="2800" spc="-150" dirty="0">
                <a:latin typeface="Times New Roman"/>
                <a:cs typeface="Times New Roman"/>
              </a:rPr>
              <a:t> </a:t>
            </a:r>
            <a:r>
              <a:rPr sz="2800" spc="-10" dirty="0">
                <a:latin typeface="Aptos"/>
                <a:cs typeface="Aptos"/>
              </a:rPr>
              <a:t>the</a:t>
            </a:r>
            <a:r>
              <a:rPr sz="2800" spc="-165" dirty="0">
                <a:latin typeface="Times New Roman"/>
                <a:cs typeface="Times New Roman"/>
              </a:rPr>
              <a:t> </a:t>
            </a:r>
            <a:r>
              <a:rPr sz="2800" spc="-10" dirty="0">
                <a:latin typeface="Aptos"/>
                <a:cs typeface="Aptos"/>
              </a:rPr>
              <a:t>line</a:t>
            </a:r>
            <a:r>
              <a:rPr sz="2800" spc="-150" dirty="0">
                <a:latin typeface="Times New Roman"/>
                <a:cs typeface="Times New Roman"/>
              </a:rPr>
              <a:t> </a:t>
            </a:r>
            <a:r>
              <a:rPr sz="2800" dirty="0">
                <a:latin typeface="Aptos"/>
                <a:cs typeface="Aptos"/>
              </a:rPr>
              <a:t>of</a:t>
            </a:r>
            <a:r>
              <a:rPr sz="2800" spc="-150" dirty="0">
                <a:latin typeface="Times New Roman"/>
                <a:cs typeface="Times New Roman"/>
              </a:rPr>
              <a:t> </a:t>
            </a:r>
            <a:r>
              <a:rPr sz="2800" spc="-10" dirty="0">
                <a:latin typeface="Aptos"/>
                <a:cs typeface="Aptos"/>
              </a:rPr>
              <a:t>sight.</a:t>
            </a:r>
            <a:r>
              <a:rPr sz="2800" spc="-140" dirty="0">
                <a:latin typeface="Times New Roman"/>
                <a:cs typeface="Times New Roman"/>
              </a:rPr>
              <a:t> </a:t>
            </a:r>
            <a:r>
              <a:rPr sz="2800" dirty="0">
                <a:latin typeface="Aptos"/>
                <a:cs typeface="Aptos"/>
              </a:rPr>
              <a:t>It</a:t>
            </a:r>
            <a:r>
              <a:rPr sz="2800" spc="-160" dirty="0">
                <a:latin typeface="Times New Roman"/>
                <a:cs typeface="Times New Roman"/>
              </a:rPr>
              <a:t> </a:t>
            </a:r>
            <a:r>
              <a:rPr sz="2800" spc="-10" dirty="0">
                <a:latin typeface="Aptos"/>
                <a:cs typeface="Aptos"/>
              </a:rPr>
              <a:t>can</a:t>
            </a:r>
            <a:r>
              <a:rPr sz="2800" spc="-130" dirty="0">
                <a:latin typeface="Times New Roman"/>
                <a:cs typeface="Times New Roman"/>
              </a:rPr>
              <a:t> </a:t>
            </a:r>
            <a:r>
              <a:rPr sz="2800" spc="-10" dirty="0">
                <a:latin typeface="Aptos"/>
                <a:cs typeface="Aptos"/>
              </a:rPr>
              <a:t>support</a:t>
            </a:r>
            <a:r>
              <a:rPr sz="2800" spc="-125" dirty="0">
                <a:latin typeface="Times New Roman"/>
                <a:cs typeface="Times New Roman"/>
              </a:rPr>
              <a:t> </a:t>
            </a:r>
            <a:r>
              <a:rPr sz="2800" spc="-20" dirty="0">
                <a:latin typeface="Aptos"/>
                <a:cs typeface="Aptos"/>
              </a:rPr>
              <a:t>distance</a:t>
            </a:r>
            <a:r>
              <a:rPr sz="2800" spc="-140" dirty="0">
                <a:latin typeface="Times New Roman"/>
                <a:cs typeface="Times New Roman"/>
              </a:rPr>
              <a:t> </a:t>
            </a:r>
            <a:r>
              <a:rPr sz="2800" dirty="0">
                <a:latin typeface="Aptos"/>
                <a:cs typeface="Aptos"/>
              </a:rPr>
              <a:t>up</a:t>
            </a:r>
            <a:r>
              <a:rPr sz="2800" spc="-140" dirty="0">
                <a:latin typeface="Times New Roman"/>
                <a:cs typeface="Times New Roman"/>
              </a:rPr>
              <a:t> </a:t>
            </a:r>
            <a:r>
              <a:rPr sz="2800" dirty="0">
                <a:latin typeface="Aptos"/>
                <a:cs typeface="Aptos"/>
              </a:rPr>
              <a:t>to</a:t>
            </a:r>
            <a:r>
              <a:rPr sz="2800" spc="5" dirty="0">
                <a:latin typeface="Times New Roman"/>
                <a:cs typeface="Times New Roman"/>
              </a:rPr>
              <a:t>  </a:t>
            </a:r>
            <a:r>
              <a:rPr sz="2800" dirty="0">
                <a:latin typeface="Aptos"/>
                <a:cs typeface="Aptos"/>
              </a:rPr>
              <a:t>10m</a:t>
            </a:r>
            <a:r>
              <a:rPr sz="2800" spc="190" dirty="0">
                <a:latin typeface="Times New Roman"/>
                <a:cs typeface="Times New Roman"/>
              </a:rPr>
              <a:t>  </a:t>
            </a:r>
            <a:r>
              <a:rPr sz="2800" spc="-25" dirty="0">
                <a:latin typeface="Aptos"/>
                <a:cs typeface="Aptos"/>
              </a:rPr>
              <a:t>and</a:t>
            </a:r>
            <a:r>
              <a:rPr sz="2800" spc="-25" dirty="0">
                <a:latin typeface="Times New Roman"/>
                <a:cs typeface="Times New Roman"/>
              </a:rPr>
              <a:t> </a:t>
            </a:r>
            <a:r>
              <a:rPr sz="2800" spc="-10" dirty="0">
                <a:latin typeface="Aptos"/>
                <a:cs typeface="Aptos"/>
              </a:rPr>
              <a:t>supports</a:t>
            </a:r>
            <a:r>
              <a:rPr sz="2800" spc="-150" dirty="0">
                <a:latin typeface="Times New Roman"/>
                <a:cs typeface="Times New Roman"/>
              </a:rPr>
              <a:t> </a:t>
            </a:r>
            <a:r>
              <a:rPr sz="2800" dirty="0">
                <a:latin typeface="Aptos"/>
                <a:cs typeface="Aptos"/>
              </a:rPr>
              <a:t>very</a:t>
            </a:r>
            <a:r>
              <a:rPr sz="2800" spc="-160" dirty="0">
                <a:latin typeface="Times New Roman"/>
                <a:cs typeface="Times New Roman"/>
              </a:rPr>
              <a:t> </a:t>
            </a:r>
            <a:r>
              <a:rPr sz="2800" spc="-20" dirty="0">
                <a:latin typeface="Aptos"/>
                <a:cs typeface="Aptos"/>
              </a:rPr>
              <a:t>low</a:t>
            </a:r>
            <a:r>
              <a:rPr sz="2800" spc="-155" dirty="0">
                <a:latin typeface="Times New Roman"/>
                <a:cs typeface="Times New Roman"/>
              </a:rPr>
              <a:t> </a:t>
            </a:r>
            <a:r>
              <a:rPr sz="2800" spc="-10" dirty="0">
                <a:latin typeface="Aptos"/>
                <a:cs typeface="Aptos"/>
              </a:rPr>
              <a:t>bandwidth.</a:t>
            </a:r>
            <a:endParaRPr sz="2800">
              <a:latin typeface="Aptos"/>
              <a:cs typeface="Aptos"/>
            </a:endParaRPr>
          </a:p>
        </p:txBody>
      </p:sp>
      <p:pic>
        <p:nvPicPr>
          <p:cNvPr id="3" name="object 3"/>
          <p:cNvPicPr/>
          <p:nvPr/>
        </p:nvPicPr>
        <p:blipFill>
          <a:blip r:embed="rId2" cstate="print"/>
          <a:stretch>
            <a:fillRect/>
          </a:stretch>
        </p:blipFill>
        <p:spPr>
          <a:xfrm>
            <a:off x="4884930" y="4112163"/>
            <a:ext cx="1790699" cy="1538089"/>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86563" y="445122"/>
            <a:ext cx="10789285" cy="4163695"/>
          </a:xfrm>
          <a:prstGeom prst="rect">
            <a:avLst/>
          </a:prstGeom>
        </p:spPr>
        <p:txBody>
          <a:bodyPr vert="horz" wrap="square" lIns="0" tIns="54610" rIns="0" bIns="0" rtlCol="0">
            <a:spAutoFit/>
          </a:bodyPr>
          <a:lstStyle/>
          <a:p>
            <a:pPr marL="926465" marR="5080" indent="-914400" algn="just">
              <a:lnSpc>
                <a:spcPct val="90000"/>
              </a:lnSpc>
              <a:spcBef>
                <a:spcPts val="430"/>
              </a:spcBef>
            </a:pPr>
            <a:r>
              <a:rPr sz="2800" b="1" dirty="0">
                <a:latin typeface="Aptos"/>
                <a:cs typeface="Aptos"/>
              </a:rPr>
              <a:t>ii.</a:t>
            </a:r>
            <a:r>
              <a:rPr sz="2800" spc="365" dirty="0">
                <a:latin typeface="Times New Roman"/>
                <a:cs typeface="Times New Roman"/>
              </a:rPr>
              <a:t> </a:t>
            </a:r>
            <a:r>
              <a:rPr sz="2800" b="1" dirty="0">
                <a:latin typeface="Aptos"/>
                <a:cs typeface="Aptos"/>
              </a:rPr>
              <a:t>Bluetooth:</a:t>
            </a:r>
            <a:r>
              <a:rPr sz="2800" spc="375" dirty="0">
                <a:latin typeface="Times New Roman"/>
                <a:cs typeface="Times New Roman"/>
              </a:rPr>
              <a:t> </a:t>
            </a:r>
            <a:r>
              <a:rPr sz="2800" dirty="0">
                <a:latin typeface="Aptos"/>
                <a:cs typeface="Aptos"/>
              </a:rPr>
              <a:t>Bluetooth</a:t>
            </a:r>
            <a:r>
              <a:rPr sz="2800" spc="345" dirty="0">
                <a:latin typeface="Times New Roman"/>
                <a:cs typeface="Times New Roman"/>
              </a:rPr>
              <a:t> </a:t>
            </a:r>
            <a:r>
              <a:rPr sz="2800" dirty="0">
                <a:latin typeface="Aptos"/>
                <a:cs typeface="Aptos"/>
              </a:rPr>
              <a:t>is</a:t>
            </a:r>
            <a:r>
              <a:rPr sz="2800" spc="355" dirty="0">
                <a:latin typeface="Times New Roman"/>
                <a:cs typeface="Times New Roman"/>
              </a:rPr>
              <a:t> </a:t>
            </a:r>
            <a:r>
              <a:rPr sz="2800" dirty="0">
                <a:latin typeface="Aptos"/>
                <a:cs typeface="Aptos"/>
              </a:rPr>
              <a:t>a</a:t>
            </a:r>
            <a:r>
              <a:rPr sz="2800" spc="375" dirty="0">
                <a:latin typeface="Times New Roman"/>
                <a:cs typeface="Times New Roman"/>
              </a:rPr>
              <a:t> </a:t>
            </a:r>
            <a:r>
              <a:rPr sz="2800" spc="-25" dirty="0">
                <a:latin typeface="Aptos"/>
                <a:cs typeface="Aptos"/>
              </a:rPr>
              <a:t>short-</a:t>
            </a:r>
            <a:r>
              <a:rPr sz="2800" dirty="0">
                <a:latin typeface="Aptos"/>
                <a:cs typeface="Aptos"/>
              </a:rPr>
              <a:t>range</a:t>
            </a:r>
            <a:r>
              <a:rPr sz="2800" spc="370" dirty="0">
                <a:latin typeface="Times New Roman"/>
                <a:cs typeface="Times New Roman"/>
              </a:rPr>
              <a:t> </a:t>
            </a:r>
            <a:r>
              <a:rPr sz="2800" dirty="0">
                <a:latin typeface="Aptos"/>
                <a:cs typeface="Aptos"/>
              </a:rPr>
              <a:t>wireless</a:t>
            </a:r>
            <a:r>
              <a:rPr sz="2800" spc="355" dirty="0">
                <a:latin typeface="Times New Roman"/>
                <a:cs typeface="Times New Roman"/>
              </a:rPr>
              <a:t> </a:t>
            </a:r>
            <a:r>
              <a:rPr sz="2800" dirty="0">
                <a:latin typeface="Aptos"/>
                <a:cs typeface="Aptos"/>
              </a:rPr>
              <a:t>technology</a:t>
            </a:r>
            <a:r>
              <a:rPr sz="2800" spc="370" dirty="0">
                <a:latin typeface="Times New Roman"/>
                <a:cs typeface="Times New Roman"/>
              </a:rPr>
              <a:t> </a:t>
            </a:r>
            <a:r>
              <a:rPr sz="2800" dirty="0">
                <a:latin typeface="Aptos"/>
                <a:cs typeface="Aptos"/>
              </a:rPr>
              <a:t>that</a:t>
            </a:r>
            <a:r>
              <a:rPr sz="2800" spc="340" dirty="0">
                <a:latin typeface="Times New Roman"/>
                <a:cs typeface="Times New Roman"/>
              </a:rPr>
              <a:t> </a:t>
            </a:r>
            <a:r>
              <a:rPr sz="2800" spc="-25" dirty="0">
                <a:latin typeface="Aptos"/>
                <a:cs typeface="Aptos"/>
              </a:rPr>
              <a:t>is</a:t>
            </a:r>
            <a:r>
              <a:rPr sz="2800" spc="-25" dirty="0">
                <a:latin typeface="Times New Roman"/>
                <a:cs typeface="Times New Roman"/>
              </a:rPr>
              <a:t> </a:t>
            </a:r>
            <a:r>
              <a:rPr sz="2800" dirty="0">
                <a:latin typeface="Aptos"/>
                <a:cs typeface="Aptos"/>
              </a:rPr>
              <a:t>used</a:t>
            </a:r>
            <a:r>
              <a:rPr sz="2800" spc="434" dirty="0">
                <a:latin typeface="Times New Roman"/>
                <a:cs typeface="Times New Roman"/>
              </a:rPr>
              <a:t> </a:t>
            </a:r>
            <a:r>
              <a:rPr sz="2800" dirty="0">
                <a:latin typeface="Aptos"/>
                <a:cs typeface="Aptos"/>
              </a:rPr>
              <a:t>for</a:t>
            </a:r>
            <a:r>
              <a:rPr sz="2800" spc="560" dirty="0">
                <a:latin typeface="Times New Roman"/>
                <a:cs typeface="Times New Roman"/>
              </a:rPr>
              <a:t> </a:t>
            </a:r>
            <a:r>
              <a:rPr sz="2800" dirty="0">
                <a:latin typeface="Aptos"/>
                <a:cs typeface="Aptos"/>
              </a:rPr>
              <a:t>exchanging</a:t>
            </a:r>
            <a:r>
              <a:rPr sz="2800" spc="555" dirty="0">
                <a:latin typeface="Times New Roman"/>
                <a:cs typeface="Times New Roman"/>
              </a:rPr>
              <a:t> </a:t>
            </a:r>
            <a:r>
              <a:rPr sz="2800" dirty="0">
                <a:latin typeface="Aptos"/>
                <a:cs typeface="Aptos"/>
              </a:rPr>
              <a:t>data</a:t>
            </a:r>
            <a:r>
              <a:rPr sz="2800" spc="560" dirty="0">
                <a:latin typeface="Times New Roman"/>
                <a:cs typeface="Times New Roman"/>
              </a:rPr>
              <a:t> </a:t>
            </a:r>
            <a:r>
              <a:rPr sz="2800" dirty="0">
                <a:latin typeface="Aptos"/>
                <a:cs typeface="Aptos"/>
              </a:rPr>
              <a:t>between</a:t>
            </a:r>
            <a:r>
              <a:rPr sz="2800" spc="555" dirty="0">
                <a:latin typeface="Times New Roman"/>
                <a:cs typeface="Times New Roman"/>
              </a:rPr>
              <a:t> </a:t>
            </a:r>
            <a:r>
              <a:rPr sz="2800" dirty="0">
                <a:latin typeface="Aptos"/>
                <a:cs typeface="Aptos"/>
              </a:rPr>
              <a:t>fixed</a:t>
            </a:r>
            <a:r>
              <a:rPr sz="2800" spc="560" dirty="0">
                <a:latin typeface="Times New Roman"/>
                <a:cs typeface="Times New Roman"/>
              </a:rPr>
              <a:t> </a:t>
            </a:r>
            <a:r>
              <a:rPr sz="2800" dirty="0">
                <a:latin typeface="Aptos"/>
                <a:cs typeface="Aptos"/>
              </a:rPr>
              <a:t>and</a:t>
            </a:r>
            <a:r>
              <a:rPr sz="2800" spc="555" dirty="0">
                <a:latin typeface="Times New Roman"/>
                <a:cs typeface="Times New Roman"/>
              </a:rPr>
              <a:t> </a:t>
            </a:r>
            <a:r>
              <a:rPr sz="2800" dirty="0">
                <a:latin typeface="Aptos"/>
                <a:cs typeface="Aptos"/>
              </a:rPr>
              <a:t>mobile</a:t>
            </a:r>
            <a:r>
              <a:rPr sz="2800" spc="570" dirty="0">
                <a:latin typeface="Times New Roman"/>
                <a:cs typeface="Times New Roman"/>
              </a:rPr>
              <a:t> </a:t>
            </a:r>
            <a:r>
              <a:rPr sz="2800" spc="-10" dirty="0">
                <a:latin typeface="Aptos"/>
                <a:cs typeface="Aptos"/>
              </a:rPr>
              <a:t>devices</a:t>
            </a:r>
            <a:r>
              <a:rPr sz="2800" spc="-10" dirty="0">
                <a:latin typeface="Times New Roman"/>
                <a:cs typeface="Times New Roman"/>
              </a:rPr>
              <a:t> </a:t>
            </a:r>
            <a:r>
              <a:rPr sz="2800" spc="-20" dirty="0">
                <a:latin typeface="Aptos"/>
                <a:cs typeface="Aptos"/>
              </a:rPr>
              <a:t>over</a:t>
            </a:r>
            <a:r>
              <a:rPr sz="2800" spc="-140" dirty="0">
                <a:latin typeface="Times New Roman"/>
                <a:cs typeface="Times New Roman"/>
              </a:rPr>
              <a:t> </a:t>
            </a:r>
            <a:r>
              <a:rPr sz="2800" dirty="0">
                <a:latin typeface="Aptos"/>
                <a:cs typeface="Aptos"/>
              </a:rPr>
              <a:t>short</a:t>
            </a:r>
            <a:r>
              <a:rPr sz="2800" spc="445" dirty="0">
                <a:latin typeface="Times New Roman"/>
                <a:cs typeface="Times New Roman"/>
              </a:rPr>
              <a:t>  </a:t>
            </a:r>
            <a:r>
              <a:rPr sz="2800" dirty="0">
                <a:latin typeface="Aptos"/>
                <a:cs typeface="Aptos"/>
              </a:rPr>
              <a:t>distance</a:t>
            </a:r>
            <a:r>
              <a:rPr sz="2800" spc="135" dirty="0">
                <a:latin typeface="Times New Roman"/>
                <a:cs typeface="Times New Roman"/>
              </a:rPr>
              <a:t>  </a:t>
            </a:r>
            <a:r>
              <a:rPr sz="2800" dirty="0">
                <a:latin typeface="Aptos"/>
                <a:cs typeface="Aptos"/>
              </a:rPr>
              <a:t>(up</a:t>
            </a:r>
            <a:r>
              <a:rPr sz="2800" spc="135" dirty="0">
                <a:latin typeface="Times New Roman"/>
                <a:cs typeface="Times New Roman"/>
              </a:rPr>
              <a:t>  </a:t>
            </a:r>
            <a:r>
              <a:rPr sz="2800" dirty="0">
                <a:latin typeface="Aptos"/>
                <a:cs typeface="Aptos"/>
              </a:rPr>
              <a:t>to</a:t>
            </a:r>
            <a:r>
              <a:rPr sz="2800" spc="140" dirty="0">
                <a:latin typeface="Times New Roman"/>
                <a:cs typeface="Times New Roman"/>
              </a:rPr>
              <a:t>  </a:t>
            </a:r>
            <a:r>
              <a:rPr sz="2800" dirty="0">
                <a:latin typeface="Aptos"/>
                <a:cs typeface="Aptos"/>
              </a:rPr>
              <a:t>10m</a:t>
            </a:r>
            <a:r>
              <a:rPr sz="2800" spc="140" dirty="0">
                <a:latin typeface="Times New Roman"/>
                <a:cs typeface="Times New Roman"/>
              </a:rPr>
              <a:t>  </a:t>
            </a:r>
            <a:r>
              <a:rPr sz="2800" dirty="0">
                <a:latin typeface="Aptos"/>
                <a:cs typeface="Aptos"/>
              </a:rPr>
              <a:t>to</a:t>
            </a:r>
            <a:r>
              <a:rPr sz="2800" spc="140" dirty="0">
                <a:latin typeface="Times New Roman"/>
                <a:cs typeface="Times New Roman"/>
              </a:rPr>
              <a:t>  </a:t>
            </a:r>
            <a:r>
              <a:rPr sz="2800" dirty="0">
                <a:latin typeface="Aptos"/>
                <a:cs typeface="Aptos"/>
              </a:rPr>
              <a:t>20m).</a:t>
            </a:r>
            <a:r>
              <a:rPr sz="2800" spc="130" dirty="0">
                <a:latin typeface="Times New Roman"/>
                <a:cs typeface="Times New Roman"/>
              </a:rPr>
              <a:t>  </a:t>
            </a:r>
            <a:r>
              <a:rPr sz="2800" dirty="0">
                <a:latin typeface="Aptos"/>
                <a:cs typeface="Aptos"/>
              </a:rPr>
              <a:t>It</a:t>
            </a:r>
            <a:r>
              <a:rPr sz="2800" spc="135" dirty="0">
                <a:latin typeface="Times New Roman"/>
                <a:cs typeface="Times New Roman"/>
              </a:rPr>
              <a:t>  </a:t>
            </a:r>
            <a:r>
              <a:rPr sz="2800" dirty="0">
                <a:latin typeface="Aptos"/>
                <a:cs typeface="Aptos"/>
              </a:rPr>
              <a:t>relies</a:t>
            </a:r>
            <a:r>
              <a:rPr sz="2800" spc="120" dirty="0">
                <a:latin typeface="Times New Roman"/>
                <a:cs typeface="Times New Roman"/>
              </a:rPr>
              <a:t>  </a:t>
            </a:r>
            <a:r>
              <a:rPr sz="2800" dirty="0">
                <a:latin typeface="Aptos"/>
                <a:cs typeface="Aptos"/>
              </a:rPr>
              <a:t>on</a:t>
            </a:r>
            <a:r>
              <a:rPr sz="2800" spc="135" dirty="0">
                <a:latin typeface="Times New Roman"/>
                <a:cs typeface="Times New Roman"/>
              </a:rPr>
              <a:t>  </a:t>
            </a:r>
            <a:r>
              <a:rPr sz="2800" spc="-25" dirty="0">
                <a:latin typeface="Aptos"/>
                <a:cs typeface="Aptos"/>
              </a:rPr>
              <a:t>and</a:t>
            </a:r>
            <a:r>
              <a:rPr sz="2800" spc="-25" dirty="0">
                <a:latin typeface="Times New Roman"/>
                <a:cs typeface="Times New Roman"/>
              </a:rPr>
              <a:t> </a:t>
            </a:r>
            <a:r>
              <a:rPr sz="2800" dirty="0">
                <a:latin typeface="Aptos"/>
                <a:cs typeface="Aptos"/>
              </a:rPr>
              <a:t>does</a:t>
            </a:r>
            <a:r>
              <a:rPr sz="2800" spc="105" dirty="0">
                <a:latin typeface="Times New Roman"/>
                <a:cs typeface="Times New Roman"/>
              </a:rPr>
              <a:t>  </a:t>
            </a:r>
            <a:r>
              <a:rPr sz="2800" dirty="0">
                <a:latin typeface="Aptos"/>
                <a:cs typeface="Aptos"/>
              </a:rPr>
              <a:t>not</a:t>
            </a:r>
            <a:r>
              <a:rPr sz="2800" spc="110" dirty="0">
                <a:latin typeface="Times New Roman"/>
                <a:cs typeface="Times New Roman"/>
              </a:rPr>
              <a:t>  </a:t>
            </a:r>
            <a:r>
              <a:rPr sz="2800" dirty="0">
                <a:latin typeface="Aptos"/>
                <a:cs typeface="Aptos"/>
              </a:rPr>
              <a:t>require</a:t>
            </a:r>
            <a:r>
              <a:rPr sz="2800" spc="105" dirty="0">
                <a:latin typeface="Times New Roman"/>
                <a:cs typeface="Times New Roman"/>
              </a:rPr>
              <a:t>  </a:t>
            </a:r>
            <a:r>
              <a:rPr sz="2800" dirty="0">
                <a:latin typeface="Aptos"/>
                <a:cs typeface="Aptos"/>
              </a:rPr>
              <a:t>line</a:t>
            </a:r>
            <a:r>
              <a:rPr sz="2800" spc="105" dirty="0">
                <a:latin typeface="Times New Roman"/>
                <a:cs typeface="Times New Roman"/>
              </a:rPr>
              <a:t>  </a:t>
            </a:r>
            <a:r>
              <a:rPr sz="2800" dirty="0">
                <a:latin typeface="Aptos"/>
                <a:cs typeface="Aptos"/>
              </a:rPr>
              <a:t>of</a:t>
            </a:r>
            <a:r>
              <a:rPr sz="2800" spc="100" dirty="0">
                <a:latin typeface="Times New Roman"/>
                <a:cs typeface="Times New Roman"/>
              </a:rPr>
              <a:t>  </a:t>
            </a:r>
            <a:r>
              <a:rPr sz="2800" dirty="0">
                <a:latin typeface="Aptos"/>
                <a:cs typeface="Aptos"/>
              </a:rPr>
              <a:t>sight</a:t>
            </a:r>
            <a:r>
              <a:rPr sz="2800" spc="100" dirty="0">
                <a:latin typeface="Times New Roman"/>
                <a:cs typeface="Times New Roman"/>
              </a:rPr>
              <a:t>  </a:t>
            </a:r>
            <a:r>
              <a:rPr sz="2800" dirty="0">
                <a:latin typeface="Aptos"/>
                <a:cs typeface="Aptos"/>
              </a:rPr>
              <a:t>that</a:t>
            </a:r>
            <a:r>
              <a:rPr sz="2800" spc="114" dirty="0">
                <a:latin typeface="Times New Roman"/>
                <a:cs typeface="Times New Roman"/>
              </a:rPr>
              <a:t>  </a:t>
            </a:r>
            <a:r>
              <a:rPr sz="2800" dirty="0">
                <a:latin typeface="Aptos"/>
                <a:cs typeface="Aptos"/>
              </a:rPr>
              <a:t>is</a:t>
            </a:r>
            <a:r>
              <a:rPr sz="2800" spc="100" dirty="0">
                <a:latin typeface="Times New Roman"/>
                <a:cs typeface="Times New Roman"/>
              </a:rPr>
              <a:t>  </a:t>
            </a:r>
            <a:r>
              <a:rPr sz="2800" dirty="0">
                <a:latin typeface="Aptos"/>
                <a:cs typeface="Aptos"/>
              </a:rPr>
              <a:t>it</a:t>
            </a:r>
            <a:r>
              <a:rPr sz="2800" spc="100" dirty="0">
                <a:latin typeface="Times New Roman"/>
                <a:cs typeface="Times New Roman"/>
              </a:rPr>
              <a:t>  </a:t>
            </a:r>
            <a:r>
              <a:rPr sz="2800" dirty="0">
                <a:latin typeface="Aptos"/>
                <a:cs typeface="Aptos"/>
              </a:rPr>
              <a:t>can</a:t>
            </a:r>
            <a:r>
              <a:rPr sz="2800" spc="110" dirty="0">
                <a:latin typeface="Times New Roman"/>
                <a:cs typeface="Times New Roman"/>
              </a:rPr>
              <a:t>  </a:t>
            </a:r>
            <a:r>
              <a:rPr sz="2800" dirty="0">
                <a:latin typeface="Aptos"/>
                <a:cs typeface="Aptos"/>
              </a:rPr>
              <a:t>pass</a:t>
            </a:r>
            <a:r>
              <a:rPr sz="2800" spc="105" dirty="0">
                <a:latin typeface="Times New Roman"/>
                <a:cs typeface="Times New Roman"/>
              </a:rPr>
              <a:t>  </a:t>
            </a:r>
            <a:r>
              <a:rPr sz="2800" spc="-10" dirty="0">
                <a:latin typeface="Aptos"/>
                <a:cs typeface="Aptos"/>
              </a:rPr>
              <a:t>through</a:t>
            </a:r>
            <a:r>
              <a:rPr sz="2800" spc="-10" dirty="0">
                <a:latin typeface="Times New Roman"/>
                <a:cs typeface="Times New Roman"/>
              </a:rPr>
              <a:t> </a:t>
            </a:r>
            <a:r>
              <a:rPr sz="2800" spc="-20" dirty="0">
                <a:latin typeface="Aptos"/>
                <a:cs typeface="Aptos"/>
              </a:rPr>
              <a:t>obstacles.</a:t>
            </a:r>
            <a:r>
              <a:rPr sz="2800" spc="-110" dirty="0">
                <a:latin typeface="Times New Roman"/>
                <a:cs typeface="Times New Roman"/>
              </a:rPr>
              <a:t> </a:t>
            </a:r>
            <a:r>
              <a:rPr sz="2800" spc="-20" dirty="0">
                <a:latin typeface="Aptos"/>
                <a:cs typeface="Aptos"/>
              </a:rPr>
              <a:t>For</a:t>
            </a:r>
            <a:r>
              <a:rPr sz="2800" spc="-114" dirty="0">
                <a:latin typeface="Times New Roman"/>
                <a:cs typeface="Times New Roman"/>
              </a:rPr>
              <a:t> </a:t>
            </a:r>
            <a:r>
              <a:rPr sz="2800" spc="-35" dirty="0">
                <a:latin typeface="Aptos"/>
                <a:cs typeface="Aptos"/>
              </a:rPr>
              <a:t>example,</a:t>
            </a:r>
            <a:r>
              <a:rPr sz="2800" spc="-125" dirty="0">
                <a:latin typeface="Times New Roman"/>
                <a:cs typeface="Times New Roman"/>
              </a:rPr>
              <a:t> </a:t>
            </a:r>
            <a:r>
              <a:rPr sz="2800" spc="-50" dirty="0">
                <a:latin typeface="Aptos"/>
                <a:cs typeface="Aptos"/>
              </a:rPr>
              <a:t>speaker,</a:t>
            </a:r>
            <a:r>
              <a:rPr sz="2800" spc="-100" dirty="0">
                <a:latin typeface="Times New Roman"/>
                <a:cs typeface="Times New Roman"/>
              </a:rPr>
              <a:t> </a:t>
            </a:r>
            <a:r>
              <a:rPr sz="2800" spc="-20" dirty="0">
                <a:latin typeface="Aptos"/>
                <a:cs typeface="Aptos"/>
              </a:rPr>
              <a:t>headset,</a:t>
            </a:r>
            <a:r>
              <a:rPr sz="2800" spc="-130" dirty="0">
                <a:latin typeface="Times New Roman"/>
                <a:cs typeface="Times New Roman"/>
              </a:rPr>
              <a:t> </a:t>
            </a:r>
            <a:r>
              <a:rPr sz="2800" spc="-10" dirty="0">
                <a:latin typeface="Aptos"/>
                <a:cs typeface="Aptos"/>
              </a:rPr>
              <a:t>mobile</a:t>
            </a:r>
            <a:r>
              <a:rPr sz="2800" spc="-120" dirty="0">
                <a:latin typeface="Times New Roman"/>
                <a:cs typeface="Times New Roman"/>
              </a:rPr>
              <a:t> </a:t>
            </a:r>
            <a:r>
              <a:rPr sz="2800" spc="-25" dirty="0">
                <a:latin typeface="Aptos"/>
                <a:cs typeface="Aptos"/>
              </a:rPr>
              <a:t>phones,</a:t>
            </a:r>
            <a:r>
              <a:rPr sz="2800" spc="-120" dirty="0">
                <a:latin typeface="Times New Roman"/>
                <a:cs typeface="Times New Roman"/>
              </a:rPr>
              <a:t> </a:t>
            </a:r>
            <a:r>
              <a:rPr sz="2800" spc="-20" dirty="0">
                <a:latin typeface="Aptos"/>
                <a:cs typeface="Aptos"/>
              </a:rPr>
              <a:t>etc.</a:t>
            </a:r>
            <a:endParaRPr sz="2800">
              <a:latin typeface="Aptos"/>
              <a:cs typeface="Aptos"/>
            </a:endParaRPr>
          </a:p>
          <a:p>
            <a:pPr>
              <a:lnSpc>
                <a:spcPct val="100000"/>
              </a:lnSpc>
              <a:spcBef>
                <a:spcPts val="20"/>
              </a:spcBef>
            </a:pPr>
            <a:endParaRPr sz="3900">
              <a:latin typeface="Aptos"/>
              <a:cs typeface="Aptos"/>
            </a:endParaRPr>
          </a:p>
          <a:p>
            <a:pPr marL="926465" marR="5080" indent="-914400">
              <a:lnSpc>
                <a:spcPct val="90000"/>
              </a:lnSpc>
              <a:tabLst>
                <a:tab pos="524510" algn="l"/>
                <a:tab pos="1567180" algn="l"/>
                <a:tab pos="1841500" algn="l"/>
                <a:tab pos="2150745" algn="l"/>
                <a:tab pos="2503170" algn="l"/>
                <a:tab pos="2726690" algn="l"/>
                <a:tab pos="2908300" algn="l"/>
                <a:tab pos="3246755" algn="l"/>
                <a:tab pos="4130675" algn="l"/>
                <a:tab pos="4662805" algn="l"/>
                <a:tab pos="5664200" algn="l"/>
                <a:tab pos="6504305" algn="l"/>
                <a:tab pos="7645400" algn="l"/>
                <a:tab pos="8354059" algn="l"/>
                <a:tab pos="9107805" algn="l"/>
                <a:tab pos="9996170" algn="l"/>
                <a:tab pos="10071735" algn="l"/>
                <a:tab pos="10567035" algn="l"/>
              </a:tabLst>
            </a:pPr>
            <a:r>
              <a:rPr sz="2800" b="1" spc="-20" dirty="0">
                <a:latin typeface="Aptos"/>
                <a:cs typeface="Aptos"/>
              </a:rPr>
              <a:t>iii)</a:t>
            </a:r>
            <a:r>
              <a:rPr sz="2800" dirty="0">
                <a:latin typeface="Times New Roman"/>
                <a:cs typeface="Times New Roman"/>
              </a:rPr>
              <a:t>	</a:t>
            </a:r>
            <a:r>
              <a:rPr sz="2800" b="1" spc="-20" dirty="0">
                <a:latin typeface="Aptos"/>
                <a:cs typeface="Aptos"/>
              </a:rPr>
              <a:t>Wi-</a:t>
            </a:r>
            <a:r>
              <a:rPr sz="2800" b="1" spc="-25" dirty="0">
                <a:latin typeface="Aptos"/>
                <a:cs typeface="Aptos"/>
              </a:rPr>
              <a:t>Fi:</a:t>
            </a:r>
            <a:r>
              <a:rPr sz="2800" dirty="0">
                <a:latin typeface="Times New Roman"/>
                <a:cs typeface="Times New Roman"/>
              </a:rPr>
              <a:t>	</a:t>
            </a:r>
            <a:r>
              <a:rPr sz="2800" spc="-25" dirty="0">
                <a:latin typeface="Aptos"/>
                <a:cs typeface="Aptos"/>
              </a:rPr>
              <a:t>Wi-Fi</a:t>
            </a:r>
            <a:r>
              <a:rPr sz="2800" dirty="0">
                <a:latin typeface="Times New Roman"/>
                <a:cs typeface="Times New Roman"/>
              </a:rPr>
              <a:t>	</a:t>
            </a:r>
            <a:r>
              <a:rPr sz="2800" spc="-25" dirty="0">
                <a:latin typeface="Aptos"/>
                <a:cs typeface="Aptos"/>
              </a:rPr>
              <a:t>is</a:t>
            </a:r>
            <a:r>
              <a:rPr sz="2800" dirty="0">
                <a:latin typeface="Times New Roman"/>
                <a:cs typeface="Times New Roman"/>
              </a:rPr>
              <a:t>	</a:t>
            </a:r>
            <a:r>
              <a:rPr sz="2800" spc="-50" dirty="0">
                <a:latin typeface="Aptos"/>
                <a:cs typeface="Aptos"/>
              </a:rPr>
              <a:t>a</a:t>
            </a:r>
            <a:r>
              <a:rPr sz="2800" dirty="0">
                <a:latin typeface="Times New Roman"/>
                <a:cs typeface="Times New Roman"/>
              </a:rPr>
              <a:t>	</a:t>
            </a:r>
            <a:r>
              <a:rPr sz="2800" spc="-10" dirty="0">
                <a:latin typeface="Aptos"/>
                <a:cs typeface="Aptos"/>
              </a:rPr>
              <a:t>wireless</a:t>
            </a:r>
            <a:r>
              <a:rPr sz="2800" dirty="0">
                <a:latin typeface="Times New Roman"/>
                <a:cs typeface="Times New Roman"/>
              </a:rPr>
              <a:t>	</a:t>
            </a:r>
            <a:r>
              <a:rPr sz="2800" spc="-10" dirty="0">
                <a:latin typeface="Aptos"/>
                <a:cs typeface="Aptos"/>
              </a:rPr>
              <a:t>networking</a:t>
            </a:r>
            <a:r>
              <a:rPr sz="2800" dirty="0">
                <a:latin typeface="Times New Roman"/>
                <a:cs typeface="Times New Roman"/>
              </a:rPr>
              <a:t>	</a:t>
            </a:r>
            <a:r>
              <a:rPr sz="2800" spc="-10" dirty="0">
                <a:latin typeface="Aptos"/>
                <a:cs typeface="Aptos"/>
              </a:rPr>
              <a:t>technology</a:t>
            </a:r>
            <a:r>
              <a:rPr sz="2800" dirty="0">
                <a:latin typeface="Times New Roman"/>
                <a:cs typeface="Times New Roman"/>
              </a:rPr>
              <a:t>	</a:t>
            </a:r>
            <a:r>
              <a:rPr sz="2800" spc="-20" dirty="0">
                <a:latin typeface="Aptos"/>
                <a:cs typeface="Aptos"/>
              </a:rPr>
              <a:t>that</a:t>
            </a:r>
            <a:r>
              <a:rPr sz="2800" dirty="0">
                <a:latin typeface="Times New Roman"/>
                <a:cs typeface="Times New Roman"/>
              </a:rPr>
              <a:t>	</a:t>
            </a:r>
            <a:r>
              <a:rPr sz="2800" spc="-660" dirty="0">
                <a:latin typeface="Times New Roman"/>
                <a:cs typeface="Times New Roman"/>
              </a:rPr>
              <a:t> </a:t>
            </a:r>
            <a:r>
              <a:rPr sz="2800" spc="-10" dirty="0">
                <a:latin typeface="Aptos"/>
                <a:cs typeface="Aptos"/>
              </a:rPr>
              <a:t>uses</a:t>
            </a:r>
            <a:r>
              <a:rPr sz="2800" dirty="0">
                <a:latin typeface="Times New Roman"/>
                <a:cs typeface="Times New Roman"/>
              </a:rPr>
              <a:t>	</a:t>
            </a:r>
            <a:r>
              <a:rPr sz="2800" spc="-30" dirty="0">
                <a:latin typeface="Aptos"/>
                <a:cs typeface="Aptos"/>
              </a:rPr>
              <a:t>radio</a:t>
            </a:r>
            <a:r>
              <a:rPr sz="2800" spc="-30" dirty="0">
                <a:latin typeface="Times New Roman"/>
                <a:cs typeface="Times New Roman"/>
              </a:rPr>
              <a:t> </a:t>
            </a:r>
            <a:r>
              <a:rPr sz="2800" spc="-20" dirty="0">
                <a:latin typeface="Aptos"/>
                <a:cs typeface="Aptos"/>
              </a:rPr>
              <a:t>waves</a:t>
            </a:r>
            <a:r>
              <a:rPr sz="2800" dirty="0">
                <a:latin typeface="Times New Roman"/>
                <a:cs typeface="Times New Roman"/>
              </a:rPr>
              <a:t>	</a:t>
            </a:r>
            <a:r>
              <a:rPr sz="2800" spc="-25" dirty="0">
                <a:latin typeface="Aptos"/>
                <a:cs typeface="Aptos"/>
              </a:rPr>
              <a:t>to</a:t>
            </a:r>
            <a:r>
              <a:rPr sz="2800" dirty="0">
                <a:latin typeface="Times New Roman"/>
                <a:cs typeface="Times New Roman"/>
              </a:rPr>
              <a:t>		</a:t>
            </a:r>
            <a:r>
              <a:rPr sz="2800" spc="-10" dirty="0">
                <a:latin typeface="Aptos"/>
                <a:cs typeface="Aptos"/>
              </a:rPr>
              <a:t>provide</a:t>
            </a:r>
            <a:r>
              <a:rPr sz="2800" dirty="0">
                <a:latin typeface="Times New Roman"/>
                <a:cs typeface="Times New Roman"/>
              </a:rPr>
              <a:t>	</a:t>
            </a:r>
            <a:r>
              <a:rPr sz="2800" spc="-10" dirty="0">
                <a:latin typeface="Aptos"/>
                <a:cs typeface="Aptos"/>
              </a:rPr>
              <a:t>wireless</a:t>
            </a:r>
            <a:r>
              <a:rPr sz="2800" dirty="0">
                <a:latin typeface="Times New Roman"/>
                <a:cs typeface="Times New Roman"/>
              </a:rPr>
              <a:t>	</a:t>
            </a:r>
            <a:r>
              <a:rPr sz="2800" spc="-25" dirty="0">
                <a:latin typeface="Aptos"/>
                <a:cs typeface="Aptos"/>
              </a:rPr>
              <a:t>high-</a:t>
            </a:r>
            <a:r>
              <a:rPr sz="2800" spc="-20" dirty="0">
                <a:latin typeface="Aptos"/>
                <a:cs typeface="Aptos"/>
              </a:rPr>
              <a:t>speed</a:t>
            </a:r>
            <a:r>
              <a:rPr sz="2800" dirty="0">
                <a:latin typeface="Times New Roman"/>
                <a:cs typeface="Times New Roman"/>
              </a:rPr>
              <a:t>	</a:t>
            </a:r>
            <a:r>
              <a:rPr sz="2800" spc="-10" dirty="0">
                <a:latin typeface="Aptos"/>
                <a:cs typeface="Aptos"/>
              </a:rPr>
              <a:t>internet</a:t>
            </a:r>
            <a:r>
              <a:rPr sz="2800" dirty="0">
                <a:latin typeface="Times New Roman"/>
                <a:cs typeface="Times New Roman"/>
              </a:rPr>
              <a:t>	</a:t>
            </a:r>
            <a:r>
              <a:rPr sz="2800" spc="-10" dirty="0">
                <a:latin typeface="Aptos"/>
                <a:cs typeface="Aptos"/>
              </a:rPr>
              <a:t>access.</a:t>
            </a:r>
            <a:r>
              <a:rPr sz="2800" dirty="0">
                <a:latin typeface="Times New Roman"/>
                <a:cs typeface="Times New Roman"/>
              </a:rPr>
              <a:t>	</a:t>
            </a:r>
            <a:r>
              <a:rPr sz="2800" spc="-25" dirty="0">
                <a:latin typeface="Aptos"/>
                <a:cs typeface="Aptos"/>
              </a:rPr>
              <a:t>It</a:t>
            </a:r>
            <a:r>
              <a:rPr sz="2800" spc="-25" dirty="0">
                <a:latin typeface="Times New Roman"/>
                <a:cs typeface="Times New Roman"/>
              </a:rPr>
              <a:t> </a:t>
            </a:r>
            <a:r>
              <a:rPr sz="2800" spc="-20" dirty="0">
                <a:latin typeface="Aptos"/>
                <a:cs typeface="Aptos"/>
              </a:rPr>
              <a:t>uses</a:t>
            </a:r>
            <a:r>
              <a:rPr sz="2800" dirty="0">
                <a:latin typeface="Times New Roman"/>
                <a:cs typeface="Times New Roman"/>
              </a:rPr>
              <a:t>	</a:t>
            </a:r>
            <a:r>
              <a:rPr sz="2800" spc="-10" dirty="0">
                <a:latin typeface="Aptos"/>
                <a:cs typeface="Aptos"/>
              </a:rPr>
              <a:t>high</a:t>
            </a:r>
            <a:r>
              <a:rPr sz="2800" spc="-160" dirty="0">
                <a:latin typeface="Times New Roman"/>
                <a:cs typeface="Times New Roman"/>
              </a:rPr>
              <a:t> </a:t>
            </a:r>
            <a:r>
              <a:rPr sz="2800" spc="-10" dirty="0">
                <a:latin typeface="Aptos"/>
                <a:cs typeface="Aptos"/>
              </a:rPr>
              <a:t>band</a:t>
            </a:r>
            <a:r>
              <a:rPr sz="2800" spc="-150" dirty="0">
                <a:latin typeface="Times New Roman"/>
                <a:cs typeface="Times New Roman"/>
              </a:rPr>
              <a:t> </a:t>
            </a:r>
            <a:r>
              <a:rPr sz="2800" spc="-20" dirty="0">
                <a:latin typeface="Aptos"/>
                <a:cs typeface="Aptos"/>
              </a:rPr>
              <a:t>frequencies</a:t>
            </a:r>
            <a:r>
              <a:rPr sz="2800" spc="-140" dirty="0">
                <a:latin typeface="Times New Roman"/>
                <a:cs typeface="Times New Roman"/>
              </a:rPr>
              <a:t> </a:t>
            </a:r>
            <a:r>
              <a:rPr sz="2800" dirty="0">
                <a:latin typeface="Aptos"/>
                <a:cs typeface="Aptos"/>
              </a:rPr>
              <a:t>such</a:t>
            </a:r>
            <a:r>
              <a:rPr sz="2800" spc="-140" dirty="0">
                <a:latin typeface="Times New Roman"/>
                <a:cs typeface="Times New Roman"/>
              </a:rPr>
              <a:t> </a:t>
            </a:r>
            <a:r>
              <a:rPr sz="2800" dirty="0">
                <a:latin typeface="Aptos"/>
                <a:cs typeface="Aptos"/>
              </a:rPr>
              <a:t>as</a:t>
            </a:r>
            <a:r>
              <a:rPr sz="2800" spc="-160" dirty="0">
                <a:latin typeface="Times New Roman"/>
                <a:cs typeface="Times New Roman"/>
              </a:rPr>
              <a:t> </a:t>
            </a:r>
            <a:r>
              <a:rPr sz="2800" dirty="0">
                <a:latin typeface="Aptos"/>
                <a:cs typeface="Aptos"/>
              </a:rPr>
              <a:t>2.4</a:t>
            </a:r>
            <a:r>
              <a:rPr sz="2800" spc="-140" dirty="0">
                <a:latin typeface="Times New Roman"/>
                <a:cs typeface="Times New Roman"/>
              </a:rPr>
              <a:t> </a:t>
            </a:r>
            <a:r>
              <a:rPr sz="2800" spc="-10" dirty="0">
                <a:latin typeface="Aptos"/>
                <a:cs typeface="Aptos"/>
              </a:rPr>
              <a:t>GHz</a:t>
            </a:r>
            <a:r>
              <a:rPr sz="2800" spc="-150" dirty="0">
                <a:latin typeface="Times New Roman"/>
                <a:cs typeface="Times New Roman"/>
              </a:rPr>
              <a:t> </a:t>
            </a:r>
            <a:r>
              <a:rPr sz="2800" dirty="0">
                <a:latin typeface="Aptos"/>
                <a:cs typeface="Aptos"/>
              </a:rPr>
              <a:t>up</a:t>
            </a:r>
            <a:r>
              <a:rPr sz="2800" spc="-155" dirty="0">
                <a:latin typeface="Times New Roman"/>
                <a:cs typeface="Times New Roman"/>
              </a:rPr>
              <a:t> </a:t>
            </a:r>
            <a:r>
              <a:rPr sz="2800" dirty="0">
                <a:latin typeface="Aptos"/>
                <a:cs typeface="Aptos"/>
              </a:rPr>
              <a:t>to</a:t>
            </a:r>
            <a:r>
              <a:rPr sz="2800" spc="-150" dirty="0">
                <a:latin typeface="Times New Roman"/>
                <a:cs typeface="Times New Roman"/>
              </a:rPr>
              <a:t> </a:t>
            </a:r>
            <a:r>
              <a:rPr sz="2800" dirty="0">
                <a:latin typeface="Aptos"/>
                <a:cs typeface="Aptos"/>
              </a:rPr>
              <a:t>5</a:t>
            </a:r>
            <a:r>
              <a:rPr sz="2800" spc="-150" dirty="0">
                <a:latin typeface="Times New Roman"/>
                <a:cs typeface="Times New Roman"/>
              </a:rPr>
              <a:t> </a:t>
            </a:r>
            <a:r>
              <a:rPr sz="2800" spc="-20" dirty="0">
                <a:latin typeface="Aptos"/>
                <a:cs typeface="Aptos"/>
              </a:rPr>
              <a:t>GHz.</a:t>
            </a:r>
            <a:r>
              <a:rPr sz="2800" dirty="0">
                <a:latin typeface="Times New Roman"/>
                <a:cs typeface="Times New Roman"/>
              </a:rPr>
              <a:t>		</a:t>
            </a:r>
            <a:r>
              <a:rPr sz="2800" spc="-25" dirty="0">
                <a:latin typeface="Aptos"/>
                <a:cs typeface="Aptos"/>
              </a:rPr>
              <a:t>For</a:t>
            </a:r>
            <a:r>
              <a:rPr sz="2800" spc="-25" dirty="0">
                <a:latin typeface="Times New Roman"/>
                <a:cs typeface="Times New Roman"/>
              </a:rPr>
              <a:t> </a:t>
            </a:r>
            <a:r>
              <a:rPr sz="2800" spc="-35" dirty="0">
                <a:latin typeface="Aptos"/>
                <a:cs typeface="Aptos"/>
              </a:rPr>
              <a:t>example,</a:t>
            </a:r>
            <a:r>
              <a:rPr sz="2800" spc="-110" dirty="0">
                <a:latin typeface="Times New Roman"/>
                <a:cs typeface="Times New Roman"/>
              </a:rPr>
              <a:t> </a:t>
            </a:r>
            <a:r>
              <a:rPr sz="2800" spc="-95" dirty="0">
                <a:latin typeface="Aptos"/>
                <a:cs typeface="Aptos"/>
              </a:rPr>
              <a:t>IoT</a:t>
            </a:r>
            <a:r>
              <a:rPr sz="2800" spc="-114" dirty="0">
                <a:latin typeface="Times New Roman"/>
                <a:cs typeface="Times New Roman"/>
              </a:rPr>
              <a:t> </a:t>
            </a:r>
            <a:r>
              <a:rPr sz="2800" spc="-10" dirty="0">
                <a:latin typeface="Aptos"/>
                <a:cs typeface="Aptos"/>
              </a:rPr>
              <a:t>devices.</a:t>
            </a:r>
            <a:endParaRPr sz="2800">
              <a:latin typeface="Aptos"/>
              <a:cs typeface="Aptos"/>
            </a:endParaRPr>
          </a:p>
        </p:txBody>
      </p:sp>
      <p:pic>
        <p:nvPicPr>
          <p:cNvPr id="3" name="object 3"/>
          <p:cNvPicPr/>
          <p:nvPr/>
        </p:nvPicPr>
        <p:blipFill>
          <a:blip r:embed="rId2" cstate="print"/>
          <a:stretch>
            <a:fillRect/>
          </a:stretch>
        </p:blipFill>
        <p:spPr>
          <a:xfrm>
            <a:off x="5029200" y="4379023"/>
            <a:ext cx="2335400" cy="1797938"/>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97815" y="410958"/>
            <a:ext cx="4448175" cy="452120"/>
          </a:xfrm>
          <a:prstGeom prst="rect">
            <a:avLst/>
          </a:prstGeom>
        </p:spPr>
        <p:txBody>
          <a:bodyPr vert="horz" wrap="square" lIns="0" tIns="12065" rIns="0" bIns="0" rtlCol="0">
            <a:spAutoFit/>
          </a:bodyPr>
          <a:lstStyle/>
          <a:p>
            <a:pPr marL="12700">
              <a:lnSpc>
                <a:spcPct val="100000"/>
              </a:lnSpc>
              <a:spcBef>
                <a:spcPts val="95"/>
              </a:spcBef>
              <a:tabLst>
                <a:tab pos="699770" algn="l"/>
                <a:tab pos="2787650" algn="l"/>
              </a:tabLst>
            </a:pPr>
            <a:r>
              <a:rPr sz="2800" b="1" spc="-25" dirty="0">
                <a:latin typeface="Aptos"/>
                <a:cs typeface="Aptos"/>
              </a:rPr>
              <a:t>iv)</a:t>
            </a:r>
            <a:r>
              <a:rPr sz="2800" dirty="0">
                <a:latin typeface="Times New Roman"/>
                <a:cs typeface="Times New Roman"/>
              </a:rPr>
              <a:t>	</a:t>
            </a:r>
            <a:r>
              <a:rPr sz="2800" b="1" spc="-10" dirty="0">
                <a:latin typeface="Aptos"/>
                <a:cs typeface="Aptos"/>
              </a:rPr>
              <a:t>Microwave:</a:t>
            </a:r>
            <a:r>
              <a:rPr sz="2800" dirty="0">
                <a:latin typeface="Times New Roman"/>
                <a:cs typeface="Times New Roman"/>
              </a:rPr>
              <a:t>	</a:t>
            </a:r>
            <a:r>
              <a:rPr sz="2800" spc="-10" dirty="0">
                <a:latin typeface="Aptos"/>
                <a:cs typeface="Aptos"/>
              </a:rPr>
              <a:t>Microwave</a:t>
            </a:r>
            <a:endParaRPr sz="2800">
              <a:latin typeface="Aptos"/>
              <a:cs typeface="Aptos"/>
            </a:endParaRPr>
          </a:p>
        </p:txBody>
      </p:sp>
      <p:sp>
        <p:nvSpPr>
          <p:cNvPr id="3" name="object 3"/>
          <p:cNvSpPr txBox="1"/>
          <p:nvPr/>
        </p:nvSpPr>
        <p:spPr>
          <a:xfrm>
            <a:off x="5353314" y="410958"/>
            <a:ext cx="6395085" cy="452120"/>
          </a:xfrm>
          <a:prstGeom prst="rect">
            <a:avLst/>
          </a:prstGeom>
        </p:spPr>
        <p:txBody>
          <a:bodyPr vert="horz" wrap="square" lIns="0" tIns="12065" rIns="0" bIns="0" rtlCol="0">
            <a:spAutoFit/>
          </a:bodyPr>
          <a:lstStyle/>
          <a:p>
            <a:pPr marL="12700">
              <a:lnSpc>
                <a:spcPct val="100000"/>
              </a:lnSpc>
              <a:spcBef>
                <a:spcPts val="95"/>
              </a:spcBef>
              <a:tabLst>
                <a:tab pos="605155" algn="l"/>
                <a:tab pos="1130935" algn="l"/>
                <a:tab pos="2668905" algn="l"/>
                <a:tab pos="4704715" algn="l"/>
                <a:tab pos="5650865" algn="l"/>
              </a:tabLst>
            </a:pPr>
            <a:r>
              <a:rPr sz="2800" spc="-25" dirty="0">
                <a:latin typeface="Aptos"/>
                <a:cs typeface="Aptos"/>
              </a:rPr>
              <a:t>is</a:t>
            </a:r>
            <a:r>
              <a:rPr sz="2800" dirty="0">
                <a:latin typeface="Times New Roman"/>
                <a:cs typeface="Times New Roman"/>
              </a:rPr>
              <a:t>	</a:t>
            </a:r>
            <a:r>
              <a:rPr sz="2800" spc="-50" dirty="0">
                <a:latin typeface="Aptos"/>
                <a:cs typeface="Aptos"/>
              </a:rPr>
              <a:t>a</a:t>
            </a:r>
            <a:r>
              <a:rPr sz="2800" dirty="0">
                <a:latin typeface="Times New Roman"/>
                <a:cs typeface="Times New Roman"/>
              </a:rPr>
              <a:t>	</a:t>
            </a:r>
            <a:r>
              <a:rPr sz="2800" spc="-10" dirty="0">
                <a:latin typeface="Aptos"/>
                <a:cs typeface="Aptos"/>
              </a:rPr>
              <a:t>modern</a:t>
            </a:r>
            <a:r>
              <a:rPr sz="2800" dirty="0">
                <a:latin typeface="Times New Roman"/>
                <a:cs typeface="Times New Roman"/>
              </a:rPr>
              <a:t>	</a:t>
            </a:r>
            <a:r>
              <a:rPr sz="2800" spc="-10" dirty="0">
                <a:latin typeface="Aptos"/>
                <a:cs typeface="Aptos"/>
              </a:rPr>
              <a:t>technology</a:t>
            </a:r>
            <a:r>
              <a:rPr sz="2800" dirty="0">
                <a:latin typeface="Times New Roman"/>
                <a:cs typeface="Times New Roman"/>
              </a:rPr>
              <a:t>	</a:t>
            </a:r>
            <a:r>
              <a:rPr sz="2800" spc="-20" dirty="0">
                <a:latin typeface="Aptos"/>
                <a:cs typeface="Aptos"/>
              </a:rPr>
              <a:t>that</a:t>
            </a:r>
            <a:r>
              <a:rPr sz="2800" dirty="0">
                <a:latin typeface="Times New Roman"/>
                <a:cs typeface="Times New Roman"/>
              </a:rPr>
              <a:t>	</a:t>
            </a:r>
            <a:r>
              <a:rPr sz="2800" spc="-20" dirty="0">
                <a:latin typeface="Aptos"/>
                <a:cs typeface="Aptos"/>
              </a:rPr>
              <a:t>uses</a:t>
            </a:r>
            <a:endParaRPr sz="2800">
              <a:latin typeface="Aptos"/>
              <a:cs typeface="Aptos"/>
            </a:endParaRPr>
          </a:p>
        </p:txBody>
      </p:sp>
      <p:sp>
        <p:nvSpPr>
          <p:cNvPr id="4" name="object 4"/>
          <p:cNvSpPr txBox="1"/>
          <p:nvPr/>
        </p:nvSpPr>
        <p:spPr>
          <a:xfrm>
            <a:off x="10659369" y="794703"/>
            <a:ext cx="746125" cy="452120"/>
          </a:xfrm>
          <a:prstGeom prst="rect">
            <a:avLst/>
          </a:prstGeom>
        </p:spPr>
        <p:txBody>
          <a:bodyPr vert="horz" wrap="square" lIns="0" tIns="12065" rIns="0" bIns="0" rtlCol="0">
            <a:spAutoFit/>
          </a:bodyPr>
          <a:lstStyle/>
          <a:p>
            <a:pPr marL="12700">
              <a:lnSpc>
                <a:spcPct val="100000"/>
              </a:lnSpc>
              <a:spcBef>
                <a:spcPts val="95"/>
              </a:spcBef>
            </a:pPr>
            <a:r>
              <a:rPr sz="2800" spc="-20" dirty="0">
                <a:latin typeface="Aptos"/>
                <a:cs typeface="Aptos"/>
              </a:rPr>
              <a:t>from</a:t>
            </a:r>
            <a:endParaRPr sz="2800">
              <a:latin typeface="Aptos"/>
              <a:cs typeface="Aptos"/>
            </a:endParaRPr>
          </a:p>
        </p:txBody>
      </p:sp>
      <p:sp>
        <p:nvSpPr>
          <p:cNvPr id="5" name="object 5"/>
          <p:cNvSpPr txBox="1"/>
          <p:nvPr/>
        </p:nvSpPr>
        <p:spPr>
          <a:xfrm>
            <a:off x="1512192" y="794703"/>
            <a:ext cx="8743315" cy="836294"/>
          </a:xfrm>
          <a:prstGeom prst="rect">
            <a:avLst/>
          </a:prstGeom>
        </p:spPr>
        <p:txBody>
          <a:bodyPr vert="horz" wrap="square" lIns="0" tIns="60325" rIns="0" bIns="0" rtlCol="0">
            <a:spAutoFit/>
          </a:bodyPr>
          <a:lstStyle/>
          <a:p>
            <a:pPr marL="12700" marR="5080">
              <a:lnSpc>
                <a:spcPts val="3030"/>
              </a:lnSpc>
              <a:spcBef>
                <a:spcPts val="475"/>
              </a:spcBef>
            </a:pPr>
            <a:r>
              <a:rPr sz="2800" spc="-20" dirty="0">
                <a:latin typeface="Aptos"/>
                <a:cs typeface="Aptos"/>
              </a:rPr>
              <a:t>electromagnetic</a:t>
            </a:r>
            <a:r>
              <a:rPr sz="2800" spc="-105" dirty="0">
                <a:latin typeface="Times New Roman"/>
                <a:cs typeface="Times New Roman"/>
              </a:rPr>
              <a:t> </a:t>
            </a:r>
            <a:r>
              <a:rPr sz="2800" spc="-25" dirty="0">
                <a:latin typeface="Aptos"/>
                <a:cs typeface="Aptos"/>
              </a:rPr>
              <a:t>waves</a:t>
            </a:r>
            <a:r>
              <a:rPr sz="2800" spc="-120" dirty="0">
                <a:latin typeface="Times New Roman"/>
                <a:cs typeface="Times New Roman"/>
              </a:rPr>
              <a:t> </a:t>
            </a:r>
            <a:r>
              <a:rPr sz="2800" spc="-10" dirty="0">
                <a:latin typeface="Aptos"/>
                <a:cs typeface="Aptos"/>
              </a:rPr>
              <a:t>with</a:t>
            </a:r>
            <a:r>
              <a:rPr sz="2800" spc="-135" dirty="0">
                <a:latin typeface="Times New Roman"/>
                <a:cs typeface="Times New Roman"/>
              </a:rPr>
              <a:t> </a:t>
            </a:r>
            <a:r>
              <a:rPr sz="2800" spc="-30" dirty="0">
                <a:latin typeface="Aptos"/>
                <a:cs typeface="Aptos"/>
              </a:rPr>
              <a:t>microwave</a:t>
            </a:r>
            <a:r>
              <a:rPr sz="2800" spc="-130" dirty="0">
                <a:latin typeface="Times New Roman"/>
                <a:cs typeface="Times New Roman"/>
              </a:rPr>
              <a:t> </a:t>
            </a:r>
            <a:r>
              <a:rPr sz="2800" spc="-20" dirty="0">
                <a:latin typeface="Aptos"/>
                <a:cs typeface="Aptos"/>
              </a:rPr>
              <a:t>frequency</a:t>
            </a:r>
            <a:r>
              <a:rPr sz="2800" spc="-95" dirty="0">
                <a:latin typeface="Times New Roman"/>
                <a:cs typeface="Times New Roman"/>
              </a:rPr>
              <a:t> </a:t>
            </a:r>
            <a:r>
              <a:rPr sz="2800" spc="-10" dirty="0">
                <a:latin typeface="Aptos"/>
                <a:cs typeface="Aptos"/>
              </a:rPr>
              <a:t>ranges</a:t>
            </a:r>
            <a:r>
              <a:rPr sz="2800" spc="-10" dirty="0">
                <a:latin typeface="Times New Roman"/>
                <a:cs typeface="Times New Roman"/>
              </a:rPr>
              <a:t> </a:t>
            </a:r>
            <a:r>
              <a:rPr sz="2800" dirty="0">
                <a:latin typeface="Aptos"/>
                <a:cs typeface="Aptos"/>
              </a:rPr>
              <a:t>300</a:t>
            </a:r>
            <a:r>
              <a:rPr sz="2800" spc="-160" dirty="0">
                <a:latin typeface="Times New Roman"/>
                <a:cs typeface="Times New Roman"/>
              </a:rPr>
              <a:t> </a:t>
            </a:r>
            <a:r>
              <a:rPr sz="2800" spc="-10" dirty="0">
                <a:latin typeface="Aptos"/>
                <a:cs typeface="Aptos"/>
              </a:rPr>
              <a:t>MHz</a:t>
            </a:r>
            <a:r>
              <a:rPr sz="2800" spc="-165" dirty="0">
                <a:latin typeface="Times New Roman"/>
                <a:cs typeface="Times New Roman"/>
              </a:rPr>
              <a:t> </a:t>
            </a:r>
            <a:r>
              <a:rPr sz="2800" dirty="0">
                <a:latin typeface="Aptos"/>
                <a:cs typeface="Aptos"/>
              </a:rPr>
              <a:t>to</a:t>
            </a:r>
            <a:r>
              <a:rPr sz="2800" spc="-175" dirty="0">
                <a:latin typeface="Times New Roman"/>
                <a:cs typeface="Times New Roman"/>
              </a:rPr>
              <a:t> </a:t>
            </a:r>
            <a:r>
              <a:rPr sz="2800" dirty="0">
                <a:latin typeface="Aptos"/>
                <a:cs typeface="Aptos"/>
              </a:rPr>
              <a:t>300</a:t>
            </a:r>
            <a:r>
              <a:rPr sz="2800" spc="-145" dirty="0">
                <a:latin typeface="Times New Roman"/>
                <a:cs typeface="Times New Roman"/>
              </a:rPr>
              <a:t> </a:t>
            </a:r>
            <a:r>
              <a:rPr sz="2800" spc="-20" dirty="0">
                <a:latin typeface="Aptos"/>
                <a:cs typeface="Aptos"/>
              </a:rPr>
              <a:t>GHz.</a:t>
            </a:r>
            <a:endParaRPr sz="2800">
              <a:latin typeface="Aptos"/>
              <a:cs typeface="Aptos"/>
            </a:endParaRPr>
          </a:p>
        </p:txBody>
      </p:sp>
      <p:sp>
        <p:nvSpPr>
          <p:cNvPr id="6" name="object 6"/>
          <p:cNvSpPr txBox="1"/>
          <p:nvPr/>
        </p:nvSpPr>
        <p:spPr>
          <a:xfrm>
            <a:off x="1512193" y="1689850"/>
            <a:ext cx="9037320" cy="452120"/>
          </a:xfrm>
          <a:prstGeom prst="rect">
            <a:avLst/>
          </a:prstGeom>
        </p:spPr>
        <p:txBody>
          <a:bodyPr vert="horz" wrap="square" lIns="0" tIns="12065" rIns="0" bIns="0" rtlCol="0">
            <a:spAutoFit/>
          </a:bodyPr>
          <a:lstStyle/>
          <a:p>
            <a:pPr marL="12700">
              <a:lnSpc>
                <a:spcPct val="100000"/>
              </a:lnSpc>
              <a:spcBef>
                <a:spcPts val="95"/>
              </a:spcBef>
            </a:pPr>
            <a:r>
              <a:rPr sz="2800" spc="-10" dirty="0">
                <a:latin typeface="Aptos"/>
                <a:cs typeface="Aptos"/>
              </a:rPr>
              <a:t>For</a:t>
            </a:r>
            <a:r>
              <a:rPr sz="2800" spc="-125" dirty="0">
                <a:latin typeface="Times New Roman"/>
                <a:cs typeface="Times New Roman"/>
              </a:rPr>
              <a:t> </a:t>
            </a:r>
            <a:r>
              <a:rPr sz="2800" spc="-35" dirty="0">
                <a:latin typeface="Aptos"/>
                <a:cs typeface="Aptos"/>
              </a:rPr>
              <a:t>example,</a:t>
            </a:r>
            <a:r>
              <a:rPr sz="2800" spc="-135" dirty="0">
                <a:latin typeface="Times New Roman"/>
                <a:cs typeface="Times New Roman"/>
              </a:rPr>
              <a:t> </a:t>
            </a:r>
            <a:r>
              <a:rPr sz="2800" dirty="0">
                <a:latin typeface="Aptos"/>
                <a:cs typeface="Aptos"/>
              </a:rPr>
              <a:t>FM</a:t>
            </a:r>
            <a:r>
              <a:rPr sz="2800" spc="-130" dirty="0">
                <a:latin typeface="Times New Roman"/>
                <a:cs typeface="Times New Roman"/>
              </a:rPr>
              <a:t> </a:t>
            </a:r>
            <a:r>
              <a:rPr sz="2800" spc="-25" dirty="0">
                <a:latin typeface="Aptos"/>
                <a:cs typeface="Aptos"/>
              </a:rPr>
              <a:t>stations,</a:t>
            </a:r>
            <a:r>
              <a:rPr sz="2800" spc="-130" dirty="0">
                <a:latin typeface="Times New Roman"/>
                <a:cs typeface="Times New Roman"/>
              </a:rPr>
              <a:t> </a:t>
            </a:r>
            <a:r>
              <a:rPr sz="2800" spc="-20" dirty="0">
                <a:latin typeface="Aptos"/>
                <a:cs typeface="Aptos"/>
              </a:rPr>
              <a:t>telecommunication</a:t>
            </a:r>
            <a:r>
              <a:rPr sz="2800" spc="-130" dirty="0">
                <a:latin typeface="Times New Roman"/>
                <a:cs typeface="Times New Roman"/>
              </a:rPr>
              <a:t> </a:t>
            </a:r>
            <a:r>
              <a:rPr sz="2800" spc="-30" dirty="0">
                <a:latin typeface="Aptos"/>
                <a:cs typeface="Aptos"/>
              </a:rPr>
              <a:t>towers</a:t>
            </a:r>
            <a:r>
              <a:rPr sz="2800" spc="-140" dirty="0">
                <a:latin typeface="Times New Roman"/>
                <a:cs typeface="Times New Roman"/>
              </a:rPr>
              <a:t> </a:t>
            </a:r>
            <a:r>
              <a:rPr sz="2800" dirty="0">
                <a:latin typeface="Aptos"/>
                <a:cs typeface="Aptos"/>
              </a:rPr>
              <a:t>,</a:t>
            </a:r>
            <a:r>
              <a:rPr sz="2800" spc="-125" dirty="0">
                <a:latin typeface="Times New Roman"/>
                <a:cs typeface="Times New Roman"/>
              </a:rPr>
              <a:t> </a:t>
            </a:r>
            <a:r>
              <a:rPr sz="2800" spc="-10" dirty="0">
                <a:latin typeface="Aptos"/>
                <a:cs typeface="Aptos"/>
              </a:rPr>
              <a:t>etc</a:t>
            </a:r>
            <a:r>
              <a:rPr sz="2800" spc="-140" dirty="0">
                <a:latin typeface="Times New Roman"/>
                <a:cs typeface="Times New Roman"/>
              </a:rPr>
              <a:t> </a:t>
            </a:r>
            <a:r>
              <a:rPr sz="2800" spc="-50" dirty="0">
                <a:latin typeface="Aptos"/>
                <a:cs typeface="Aptos"/>
              </a:rPr>
              <a:t>.</a:t>
            </a:r>
            <a:endParaRPr sz="2800">
              <a:latin typeface="Aptos"/>
              <a:cs typeface="Aptos"/>
            </a:endParaRPr>
          </a:p>
        </p:txBody>
      </p:sp>
      <p:pic>
        <p:nvPicPr>
          <p:cNvPr id="7" name="object 7"/>
          <p:cNvPicPr/>
          <p:nvPr/>
        </p:nvPicPr>
        <p:blipFill>
          <a:blip r:embed="rId2" cstate="print"/>
          <a:stretch>
            <a:fillRect/>
          </a:stretch>
        </p:blipFill>
        <p:spPr>
          <a:xfrm>
            <a:off x="4665726" y="2244638"/>
            <a:ext cx="4149219" cy="3834886"/>
          </a:xfrm>
          <a:prstGeom prst="rect">
            <a:avLst/>
          </a:prstGeom>
        </p:spPr>
      </p:pic>
      <p:pic>
        <p:nvPicPr>
          <p:cNvPr id="8" name="object 8"/>
          <p:cNvPicPr/>
          <p:nvPr/>
        </p:nvPicPr>
        <p:blipFill>
          <a:blip r:embed="rId3" cstate="print"/>
          <a:stretch>
            <a:fillRect/>
          </a:stretch>
        </p:blipFill>
        <p:spPr>
          <a:xfrm>
            <a:off x="9578873" y="2334747"/>
            <a:ext cx="1955794" cy="416559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1" y="250303"/>
            <a:ext cx="10360025" cy="1604645"/>
          </a:xfrm>
          <a:prstGeom prst="rect">
            <a:avLst/>
          </a:prstGeom>
        </p:spPr>
        <p:txBody>
          <a:bodyPr vert="horz" wrap="square" lIns="0" tIns="54610" rIns="0" bIns="0" rtlCol="0">
            <a:spAutoFit/>
          </a:bodyPr>
          <a:lstStyle/>
          <a:p>
            <a:pPr marL="927100" marR="5080" indent="-915035" algn="just">
              <a:lnSpc>
                <a:spcPct val="90000"/>
              </a:lnSpc>
              <a:spcBef>
                <a:spcPts val="430"/>
              </a:spcBef>
            </a:pPr>
            <a:r>
              <a:rPr sz="2800" b="1" dirty="0">
                <a:latin typeface="Aptos"/>
                <a:cs typeface="Aptos"/>
              </a:rPr>
              <a:t>V)</a:t>
            </a:r>
            <a:r>
              <a:rPr sz="2800" spc="75" dirty="0">
                <a:latin typeface="Times New Roman"/>
                <a:cs typeface="Times New Roman"/>
              </a:rPr>
              <a:t> </a:t>
            </a:r>
            <a:r>
              <a:rPr sz="2800" b="1" dirty="0">
                <a:latin typeface="Aptos"/>
                <a:cs typeface="Aptos"/>
              </a:rPr>
              <a:t>Radio</a:t>
            </a:r>
            <a:r>
              <a:rPr sz="2800" spc="75" dirty="0">
                <a:latin typeface="Times New Roman"/>
                <a:cs typeface="Times New Roman"/>
              </a:rPr>
              <a:t> </a:t>
            </a:r>
            <a:r>
              <a:rPr sz="2800" b="1" dirty="0">
                <a:latin typeface="Aptos"/>
                <a:cs typeface="Aptos"/>
              </a:rPr>
              <a:t>wave:</a:t>
            </a:r>
            <a:r>
              <a:rPr sz="2800" spc="55" dirty="0">
                <a:latin typeface="Times New Roman"/>
                <a:cs typeface="Times New Roman"/>
              </a:rPr>
              <a:t> </a:t>
            </a:r>
            <a:r>
              <a:rPr sz="2800" dirty="0">
                <a:latin typeface="Aptos"/>
                <a:cs typeface="Aptos"/>
              </a:rPr>
              <a:t>It</a:t>
            </a:r>
            <a:r>
              <a:rPr sz="2800" spc="50" dirty="0">
                <a:latin typeface="Times New Roman"/>
                <a:cs typeface="Times New Roman"/>
              </a:rPr>
              <a:t> </a:t>
            </a:r>
            <a:r>
              <a:rPr sz="2800" dirty="0">
                <a:latin typeface="Aptos"/>
                <a:cs typeface="Aptos"/>
              </a:rPr>
              <a:t>is</a:t>
            </a:r>
            <a:r>
              <a:rPr sz="2800" spc="50" dirty="0">
                <a:latin typeface="Times New Roman"/>
                <a:cs typeface="Times New Roman"/>
              </a:rPr>
              <a:t> </a:t>
            </a:r>
            <a:r>
              <a:rPr sz="2800" dirty="0">
                <a:latin typeface="Aptos"/>
                <a:cs typeface="Aptos"/>
              </a:rPr>
              <a:t>the</a:t>
            </a:r>
            <a:r>
              <a:rPr sz="2800" spc="50" dirty="0">
                <a:latin typeface="Times New Roman"/>
                <a:cs typeface="Times New Roman"/>
              </a:rPr>
              <a:t> </a:t>
            </a:r>
            <a:r>
              <a:rPr sz="2800" dirty="0">
                <a:latin typeface="Aptos"/>
                <a:cs typeface="Aptos"/>
              </a:rPr>
              <a:t>type</a:t>
            </a:r>
            <a:r>
              <a:rPr sz="2800" spc="70" dirty="0">
                <a:latin typeface="Times New Roman"/>
                <a:cs typeface="Times New Roman"/>
              </a:rPr>
              <a:t> </a:t>
            </a:r>
            <a:r>
              <a:rPr sz="2800" dirty="0">
                <a:latin typeface="Aptos"/>
                <a:cs typeface="Aptos"/>
              </a:rPr>
              <a:t>of</a:t>
            </a:r>
            <a:r>
              <a:rPr sz="2800" spc="50" dirty="0">
                <a:latin typeface="Times New Roman"/>
                <a:cs typeface="Times New Roman"/>
              </a:rPr>
              <a:t> </a:t>
            </a:r>
            <a:r>
              <a:rPr sz="2800" dirty="0">
                <a:latin typeface="Aptos"/>
                <a:cs typeface="Aptos"/>
              </a:rPr>
              <a:t>wireless</a:t>
            </a:r>
            <a:r>
              <a:rPr sz="2800" spc="65" dirty="0">
                <a:latin typeface="Times New Roman"/>
                <a:cs typeface="Times New Roman"/>
              </a:rPr>
              <a:t> </a:t>
            </a:r>
            <a:r>
              <a:rPr sz="2800" dirty="0">
                <a:latin typeface="Aptos"/>
                <a:cs typeface="Aptos"/>
              </a:rPr>
              <a:t>transmission</a:t>
            </a:r>
            <a:r>
              <a:rPr sz="2800" spc="55" dirty="0">
                <a:latin typeface="Times New Roman"/>
                <a:cs typeface="Times New Roman"/>
              </a:rPr>
              <a:t> </a:t>
            </a:r>
            <a:r>
              <a:rPr sz="2800" dirty="0">
                <a:latin typeface="Aptos"/>
                <a:cs typeface="Aptos"/>
              </a:rPr>
              <a:t>medium</a:t>
            </a:r>
            <a:r>
              <a:rPr sz="2800" spc="60" dirty="0">
                <a:latin typeface="Times New Roman"/>
                <a:cs typeface="Times New Roman"/>
              </a:rPr>
              <a:t> </a:t>
            </a:r>
            <a:r>
              <a:rPr sz="2800" spc="-20" dirty="0">
                <a:latin typeface="Aptos"/>
                <a:cs typeface="Aptos"/>
              </a:rPr>
              <a:t>that</a:t>
            </a:r>
            <a:r>
              <a:rPr sz="2800" spc="-20" dirty="0">
                <a:latin typeface="Times New Roman"/>
                <a:cs typeface="Times New Roman"/>
              </a:rPr>
              <a:t> </a:t>
            </a:r>
            <a:r>
              <a:rPr sz="2800" dirty="0">
                <a:latin typeface="Aptos"/>
                <a:cs typeface="Aptos"/>
              </a:rPr>
              <a:t>can</a:t>
            </a:r>
            <a:r>
              <a:rPr sz="2800" spc="20" dirty="0">
                <a:latin typeface="Times New Roman"/>
                <a:cs typeface="Times New Roman"/>
              </a:rPr>
              <a:t> </a:t>
            </a:r>
            <a:r>
              <a:rPr sz="2800" dirty="0">
                <a:latin typeface="Aptos"/>
                <a:cs typeface="Aptos"/>
              </a:rPr>
              <a:t>operate</a:t>
            </a:r>
            <a:r>
              <a:rPr sz="2800" spc="35" dirty="0">
                <a:latin typeface="Times New Roman"/>
                <a:cs typeface="Times New Roman"/>
              </a:rPr>
              <a:t> </a:t>
            </a:r>
            <a:r>
              <a:rPr sz="2800" dirty="0">
                <a:latin typeface="Aptos"/>
                <a:cs typeface="Aptos"/>
              </a:rPr>
              <a:t>on</a:t>
            </a:r>
            <a:r>
              <a:rPr sz="2800" spc="35" dirty="0">
                <a:latin typeface="Times New Roman"/>
                <a:cs typeface="Times New Roman"/>
              </a:rPr>
              <a:t> </a:t>
            </a:r>
            <a:r>
              <a:rPr sz="2800" dirty="0">
                <a:latin typeface="Aptos"/>
                <a:cs typeface="Aptos"/>
              </a:rPr>
              <a:t>single</a:t>
            </a:r>
            <a:r>
              <a:rPr sz="2800" spc="25" dirty="0">
                <a:latin typeface="Times New Roman"/>
                <a:cs typeface="Times New Roman"/>
              </a:rPr>
              <a:t> </a:t>
            </a:r>
            <a:r>
              <a:rPr sz="2800" dirty="0">
                <a:latin typeface="Aptos"/>
                <a:cs typeface="Aptos"/>
              </a:rPr>
              <a:t>as</a:t>
            </a:r>
            <a:r>
              <a:rPr sz="2800" spc="25" dirty="0">
                <a:latin typeface="Times New Roman"/>
                <a:cs typeface="Times New Roman"/>
              </a:rPr>
              <a:t> </a:t>
            </a:r>
            <a:r>
              <a:rPr sz="2800" dirty="0">
                <a:latin typeface="Aptos"/>
                <a:cs typeface="Aptos"/>
              </a:rPr>
              <a:t>well</a:t>
            </a:r>
            <a:r>
              <a:rPr sz="2800" spc="30" dirty="0">
                <a:latin typeface="Times New Roman"/>
                <a:cs typeface="Times New Roman"/>
              </a:rPr>
              <a:t> </a:t>
            </a:r>
            <a:r>
              <a:rPr sz="2800" dirty="0">
                <a:latin typeface="Aptos"/>
                <a:cs typeface="Aptos"/>
              </a:rPr>
              <a:t>as</a:t>
            </a:r>
            <a:r>
              <a:rPr sz="2800" spc="35" dirty="0">
                <a:latin typeface="Times New Roman"/>
                <a:cs typeface="Times New Roman"/>
              </a:rPr>
              <a:t> </a:t>
            </a:r>
            <a:r>
              <a:rPr sz="2800" dirty="0">
                <a:latin typeface="Aptos"/>
                <a:cs typeface="Aptos"/>
              </a:rPr>
              <a:t>multiple</a:t>
            </a:r>
            <a:r>
              <a:rPr sz="2800" spc="35" dirty="0">
                <a:latin typeface="Times New Roman"/>
                <a:cs typeface="Times New Roman"/>
              </a:rPr>
              <a:t> </a:t>
            </a:r>
            <a:r>
              <a:rPr sz="2800" dirty="0">
                <a:latin typeface="Aptos"/>
                <a:cs typeface="Aptos"/>
              </a:rPr>
              <a:t>frequency</a:t>
            </a:r>
            <a:r>
              <a:rPr sz="2800" spc="25" dirty="0">
                <a:latin typeface="Times New Roman"/>
                <a:cs typeface="Times New Roman"/>
              </a:rPr>
              <a:t> </a:t>
            </a:r>
            <a:r>
              <a:rPr sz="2800" dirty="0">
                <a:latin typeface="Aptos"/>
                <a:cs typeface="Aptos"/>
              </a:rPr>
              <a:t>band.</a:t>
            </a:r>
            <a:r>
              <a:rPr sz="2800" spc="30" dirty="0">
                <a:latin typeface="Times New Roman"/>
                <a:cs typeface="Times New Roman"/>
              </a:rPr>
              <a:t> </a:t>
            </a:r>
            <a:r>
              <a:rPr sz="2800" spc="-25" dirty="0">
                <a:latin typeface="Aptos"/>
                <a:cs typeface="Aptos"/>
              </a:rPr>
              <a:t>In</a:t>
            </a:r>
            <a:r>
              <a:rPr sz="2800" spc="-25" dirty="0">
                <a:latin typeface="Times New Roman"/>
                <a:cs typeface="Times New Roman"/>
              </a:rPr>
              <a:t> </a:t>
            </a:r>
            <a:r>
              <a:rPr sz="2800" dirty="0">
                <a:latin typeface="Aptos"/>
                <a:cs typeface="Aptos"/>
              </a:rPr>
              <a:t>this</a:t>
            </a:r>
            <a:r>
              <a:rPr sz="2800" spc="-95" dirty="0">
                <a:latin typeface="Times New Roman"/>
                <a:cs typeface="Times New Roman"/>
              </a:rPr>
              <a:t> </a:t>
            </a:r>
            <a:r>
              <a:rPr sz="2800" dirty="0">
                <a:latin typeface="Aptos"/>
                <a:cs typeface="Aptos"/>
              </a:rPr>
              <a:t>type</a:t>
            </a:r>
            <a:r>
              <a:rPr sz="2800" spc="-80" dirty="0">
                <a:latin typeface="Times New Roman"/>
                <a:cs typeface="Times New Roman"/>
              </a:rPr>
              <a:t> </a:t>
            </a:r>
            <a:r>
              <a:rPr sz="2800" dirty="0">
                <a:latin typeface="Aptos"/>
                <a:cs typeface="Aptos"/>
              </a:rPr>
              <a:t>of</a:t>
            </a:r>
            <a:r>
              <a:rPr sz="2800" spc="-95" dirty="0">
                <a:latin typeface="Times New Roman"/>
                <a:cs typeface="Times New Roman"/>
              </a:rPr>
              <a:t> </a:t>
            </a:r>
            <a:r>
              <a:rPr sz="2800" spc="-20" dirty="0">
                <a:latin typeface="Aptos"/>
                <a:cs typeface="Aptos"/>
              </a:rPr>
              <a:t>transmission</a:t>
            </a:r>
            <a:r>
              <a:rPr sz="2800" spc="-114" dirty="0">
                <a:latin typeface="Times New Roman"/>
                <a:cs typeface="Times New Roman"/>
              </a:rPr>
              <a:t> </a:t>
            </a:r>
            <a:r>
              <a:rPr sz="2800" dirty="0">
                <a:latin typeface="Aptos"/>
                <a:cs typeface="Aptos"/>
              </a:rPr>
              <a:t>medium</a:t>
            </a:r>
            <a:r>
              <a:rPr sz="2800" spc="-80" dirty="0">
                <a:latin typeface="Times New Roman"/>
                <a:cs typeface="Times New Roman"/>
              </a:rPr>
              <a:t> </a:t>
            </a:r>
            <a:r>
              <a:rPr sz="2800" dirty="0">
                <a:latin typeface="Aptos"/>
                <a:cs typeface="Aptos"/>
              </a:rPr>
              <a:t>sender</a:t>
            </a:r>
            <a:r>
              <a:rPr sz="2800" spc="-85" dirty="0">
                <a:latin typeface="Times New Roman"/>
                <a:cs typeface="Times New Roman"/>
              </a:rPr>
              <a:t> </a:t>
            </a:r>
            <a:r>
              <a:rPr sz="2800" dirty="0">
                <a:latin typeface="Aptos"/>
                <a:cs typeface="Aptos"/>
              </a:rPr>
              <a:t>and</a:t>
            </a:r>
            <a:r>
              <a:rPr sz="2800" spc="-85" dirty="0">
                <a:latin typeface="Times New Roman"/>
                <a:cs typeface="Times New Roman"/>
              </a:rPr>
              <a:t> </a:t>
            </a:r>
            <a:r>
              <a:rPr sz="2800" spc="-10" dirty="0">
                <a:latin typeface="Aptos"/>
                <a:cs typeface="Aptos"/>
              </a:rPr>
              <a:t>receiver</a:t>
            </a:r>
            <a:r>
              <a:rPr sz="2800" spc="-95" dirty="0">
                <a:latin typeface="Times New Roman"/>
                <a:cs typeface="Times New Roman"/>
              </a:rPr>
              <a:t> </a:t>
            </a:r>
            <a:r>
              <a:rPr sz="2800" spc="-10" dirty="0">
                <a:latin typeface="Aptos"/>
                <a:cs typeface="Aptos"/>
              </a:rPr>
              <a:t>station</a:t>
            </a:r>
            <a:r>
              <a:rPr sz="2800" spc="-10" dirty="0">
                <a:latin typeface="Times New Roman"/>
                <a:cs typeface="Times New Roman"/>
              </a:rPr>
              <a:t> </a:t>
            </a:r>
            <a:r>
              <a:rPr sz="2800" spc="-20" dirty="0">
                <a:latin typeface="Aptos"/>
                <a:cs typeface="Aptos"/>
              </a:rPr>
              <a:t>must</a:t>
            </a:r>
            <a:r>
              <a:rPr sz="2800" spc="-155" dirty="0">
                <a:latin typeface="Times New Roman"/>
                <a:cs typeface="Times New Roman"/>
              </a:rPr>
              <a:t> </a:t>
            </a:r>
            <a:r>
              <a:rPr sz="2800" dirty="0">
                <a:latin typeface="Aptos"/>
                <a:cs typeface="Aptos"/>
              </a:rPr>
              <a:t>not</a:t>
            </a:r>
            <a:r>
              <a:rPr sz="2800" spc="-150" dirty="0">
                <a:latin typeface="Times New Roman"/>
                <a:cs typeface="Times New Roman"/>
              </a:rPr>
              <a:t> </a:t>
            </a:r>
            <a:r>
              <a:rPr sz="2800" dirty="0">
                <a:latin typeface="Aptos"/>
                <a:cs typeface="Aptos"/>
              </a:rPr>
              <a:t>be</a:t>
            </a:r>
            <a:r>
              <a:rPr sz="2800" spc="-135" dirty="0">
                <a:latin typeface="Times New Roman"/>
                <a:cs typeface="Times New Roman"/>
              </a:rPr>
              <a:t> </a:t>
            </a:r>
            <a:r>
              <a:rPr sz="2800" dirty="0">
                <a:latin typeface="Aptos"/>
                <a:cs typeface="Aptos"/>
              </a:rPr>
              <a:t>in</a:t>
            </a:r>
            <a:r>
              <a:rPr sz="2800" spc="-170" dirty="0">
                <a:latin typeface="Times New Roman"/>
                <a:cs typeface="Times New Roman"/>
              </a:rPr>
              <a:t> </a:t>
            </a:r>
            <a:r>
              <a:rPr sz="2800" spc="-10" dirty="0">
                <a:latin typeface="Aptos"/>
                <a:cs typeface="Aptos"/>
              </a:rPr>
              <a:t>the</a:t>
            </a:r>
            <a:r>
              <a:rPr sz="2800" spc="-150" dirty="0">
                <a:latin typeface="Times New Roman"/>
                <a:cs typeface="Times New Roman"/>
              </a:rPr>
              <a:t> </a:t>
            </a:r>
            <a:r>
              <a:rPr sz="2800" spc="-10" dirty="0">
                <a:latin typeface="Aptos"/>
                <a:cs typeface="Aptos"/>
              </a:rPr>
              <a:t>line</a:t>
            </a:r>
            <a:r>
              <a:rPr sz="2800" spc="-165" dirty="0">
                <a:latin typeface="Times New Roman"/>
                <a:cs typeface="Times New Roman"/>
              </a:rPr>
              <a:t> </a:t>
            </a:r>
            <a:r>
              <a:rPr sz="2800" dirty="0">
                <a:latin typeface="Aptos"/>
                <a:cs typeface="Aptos"/>
              </a:rPr>
              <a:t>of</a:t>
            </a:r>
            <a:r>
              <a:rPr sz="2800" spc="-155" dirty="0">
                <a:latin typeface="Times New Roman"/>
                <a:cs typeface="Times New Roman"/>
              </a:rPr>
              <a:t> </a:t>
            </a:r>
            <a:r>
              <a:rPr sz="2800" spc="-10" dirty="0">
                <a:latin typeface="Aptos"/>
                <a:cs typeface="Aptos"/>
              </a:rPr>
              <a:t>sight.</a:t>
            </a:r>
            <a:endParaRPr sz="2800">
              <a:latin typeface="Aptos"/>
              <a:cs typeface="Aptos"/>
            </a:endParaRPr>
          </a:p>
        </p:txBody>
      </p:sp>
      <p:pic>
        <p:nvPicPr>
          <p:cNvPr id="3" name="object 3"/>
          <p:cNvPicPr/>
          <p:nvPr/>
        </p:nvPicPr>
        <p:blipFill>
          <a:blip r:embed="rId2" cstate="print"/>
          <a:stretch>
            <a:fillRect/>
          </a:stretch>
        </p:blipFill>
        <p:spPr>
          <a:xfrm>
            <a:off x="4619373" y="2031964"/>
            <a:ext cx="3775709" cy="3775709"/>
          </a:xfrm>
          <a:prstGeom prst="rect">
            <a:avLst/>
          </a:prstGeom>
        </p:spPr>
      </p:pic>
      <p:pic>
        <p:nvPicPr>
          <p:cNvPr id="4" name="object 4"/>
          <p:cNvPicPr/>
          <p:nvPr/>
        </p:nvPicPr>
        <p:blipFill>
          <a:blip r:embed="rId3" cstate="print"/>
          <a:stretch>
            <a:fillRect/>
          </a:stretch>
        </p:blipFill>
        <p:spPr>
          <a:xfrm>
            <a:off x="9138564" y="2235202"/>
            <a:ext cx="1727199" cy="2755897"/>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4539" y="336918"/>
            <a:ext cx="11730355" cy="1219835"/>
          </a:xfrm>
          <a:prstGeom prst="rect">
            <a:avLst/>
          </a:prstGeom>
        </p:spPr>
        <p:txBody>
          <a:bodyPr vert="horz" wrap="square" lIns="0" tIns="60960" rIns="0" bIns="0" rtlCol="0">
            <a:spAutoFit/>
          </a:bodyPr>
          <a:lstStyle/>
          <a:p>
            <a:pPr marL="927100" marR="5080" indent="-915035">
              <a:lnSpc>
                <a:spcPts val="3020"/>
              </a:lnSpc>
              <a:spcBef>
                <a:spcPts val="480"/>
              </a:spcBef>
              <a:tabLst>
                <a:tab pos="611505" algn="l"/>
                <a:tab pos="2341245" algn="l"/>
                <a:tab pos="3959860" algn="l"/>
                <a:tab pos="4645660" algn="l"/>
                <a:tab pos="5504180" algn="l"/>
                <a:tab pos="5998210" algn="l"/>
                <a:tab pos="7287259" algn="l"/>
                <a:tab pos="8433435" algn="l"/>
                <a:tab pos="9102725" algn="l"/>
                <a:tab pos="9159875" algn="l"/>
                <a:tab pos="10221595" algn="l"/>
                <a:tab pos="10911840" algn="l"/>
              </a:tabLst>
            </a:pPr>
            <a:r>
              <a:rPr sz="2800" b="1" spc="-25" dirty="0">
                <a:latin typeface="Aptos"/>
                <a:cs typeface="Aptos"/>
              </a:rPr>
              <a:t>VI)</a:t>
            </a:r>
            <a:r>
              <a:rPr sz="2800" dirty="0">
                <a:latin typeface="Times New Roman"/>
                <a:cs typeface="Times New Roman"/>
              </a:rPr>
              <a:t>	</a:t>
            </a:r>
            <a:r>
              <a:rPr sz="2800" b="1" spc="-10" dirty="0">
                <a:latin typeface="Aptos"/>
                <a:cs typeface="Aptos"/>
              </a:rPr>
              <a:t>Satellites:</a:t>
            </a:r>
            <a:r>
              <a:rPr sz="2800" dirty="0">
                <a:latin typeface="Times New Roman"/>
                <a:cs typeface="Times New Roman"/>
              </a:rPr>
              <a:t>	</a:t>
            </a:r>
            <a:r>
              <a:rPr sz="2800" spc="-10" dirty="0">
                <a:latin typeface="Aptos"/>
                <a:cs typeface="Aptos"/>
              </a:rPr>
              <a:t>Satellites</a:t>
            </a:r>
            <a:r>
              <a:rPr sz="2800" dirty="0">
                <a:latin typeface="Times New Roman"/>
                <a:cs typeface="Times New Roman"/>
              </a:rPr>
              <a:t>	</a:t>
            </a:r>
            <a:r>
              <a:rPr sz="2800" spc="-25" dirty="0">
                <a:latin typeface="Aptos"/>
                <a:cs typeface="Aptos"/>
              </a:rPr>
              <a:t>are</a:t>
            </a:r>
            <a:r>
              <a:rPr sz="2800" dirty="0">
                <a:latin typeface="Times New Roman"/>
                <a:cs typeface="Times New Roman"/>
              </a:rPr>
              <a:t>	</a:t>
            </a:r>
            <a:r>
              <a:rPr sz="2800" spc="-20" dirty="0">
                <a:latin typeface="Aptos"/>
                <a:cs typeface="Aptos"/>
              </a:rPr>
              <a:t>kept</a:t>
            </a:r>
            <a:r>
              <a:rPr sz="2800" dirty="0">
                <a:latin typeface="Times New Roman"/>
                <a:cs typeface="Times New Roman"/>
              </a:rPr>
              <a:t>	</a:t>
            </a:r>
            <a:r>
              <a:rPr sz="2800" spc="-25" dirty="0">
                <a:latin typeface="Aptos"/>
                <a:cs typeface="Aptos"/>
              </a:rPr>
              <a:t>at</a:t>
            </a:r>
            <a:r>
              <a:rPr sz="2800" dirty="0">
                <a:latin typeface="Times New Roman"/>
                <a:cs typeface="Times New Roman"/>
              </a:rPr>
              <a:t>	</a:t>
            </a:r>
            <a:r>
              <a:rPr sz="2800" spc="-10" dirty="0">
                <a:latin typeface="Aptos"/>
                <a:cs typeface="Aptos"/>
              </a:rPr>
              <a:t>around</a:t>
            </a:r>
            <a:r>
              <a:rPr sz="2800" dirty="0">
                <a:latin typeface="Times New Roman"/>
                <a:cs typeface="Times New Roman"/>
              </a:rPr>
              <a:t>	</a:t>
            </a:r>
            <a:r>
              <a:rPr sz="2800" spc="-10" dirty="0">
                <a:latin typeface="Aptos"/>
                <a:cs typeface="Aptos"/>
              </a:rPr>
              <a:t>36000</a:t>
            </a:r>
            <a:r>
              <a:rPr sz="2800" dirty="0">
                <a:latin typeface="Times New Roman"/>
                <a:cs typeface="Times New Roman"/>
              </a:rPr>
              <a:t>	</a:t>
            </a:r>
            <a:r>
              <a:rPr sz="2800" spc="-25" dirty="0">
                <a:latin typeface="Aptos"/>
                <a:cs typeface="Aptos"/>
              </a:rPr>
              <a:t>km</a:t>
            </a:r>
            <a:r>
              <a:rPr sz="2800" dirty="0">
                <a:latin typeface="Times New Roman"/>
                <a:cs typeface="Times New Roman"/>
              </a:rPr>
              <a:t>	</a:t>
            </a:r>
            <a:r>
              <a:rPr sz="2800" spc="-10" dirty="0">
                <a:latin typeface="Aptos"/>
                <a:cs typeface="Aptos"/>
              </a:rPr>
              <a:t>above</a:t>
            </a:r>
            <a:r>
              <a:rPr sz="2800" dirty="0">
                <a:latin typeface="Times New Roman"/>
                <a:cs typeface="Times New Roman"/>
              </a:rPr>
              <a:t>	</a:t>
            </a:r>
            <a:r>
              <a:rPr sz="2800" spc="-25" dirty="0">
                <a:latin typeface="Aptos"/>
                <a:cs typeface="Aptos"/>
              </a:rPr>
              <a:t>the</a:t>
            </a:r>
            <a:r>
              <a:rPr sz="2800" dirty="0">
                <a:latin typeface="Times New Roman"/>
                <a:cs typeface="Times New Roman"/>
              </a:rPr>
              <a:t>	</a:t>
            </a:r>
            <a:r>
              <a:rPr sz="2800" spc="-10" dirty="0">
                <a:latin typeface="Aptos"/>
                <a:cs typeface="Aptos"/>
              </a:rPr>
              <a:t>earth</a:t>
            </a:r>
            <a:r>
              <a:rPr sz="2800" spc="-10" dirty="0">
                <a:latin typeface="Times New Roman"/>
                <a:cs typeface="Times New Roman"/>
              </a:rPr>
              <a:t> </a:t>
            </a:r>
            <a:r>
              <a:rPr sz="2800" spc="-20" dirty="0">
                <a:latin typeface="Aptos"/>
                <a:cs typeface="Aptos"/>
              </a:rPr>
              <a:t>surface</a:t>
            </a:r>
            <a:r>
              <a:rPr sz="2800" spc="-145" dirty="0">
                <a:latin typeface="Times New Roman"/>
                <a:cs typeface="Times New Roman"/>
              </a:rPr>
              <a:t> </a:t>
            </a:r>
            <a:r>
              <a:rPr sz="2800" spc="-10" dirty="0">
                <a:latin typeface="Aptos"/>
                <a:cs typeface="Aptos"/>
              </a:rPr>
              <a:t>which</a:t>
            </a:r>
            <a:r>
              <a:rPr sz="2800" spc="-160" dirty="0">
                <a:latin typeface="Times New Roman"/>
                <a:cs typeface="Times New Roman"/>
              </a:rPr>
              <a:t> </a:t>
            </a:r>
            <a:r>
              <a:rPr sz="2800" spc="-10" dirty="0">
                <a:latin typeface="Aptos"/>
                <a:cs typeface="Aptos"/>
              </a:rPr>
              <a:t>continuously</a:t>
            </a:r>
            <a:r>
              <a:rPr sz="2800" spc="-135" dirty="0">
                <a:latin typeface="Times New Roman"/>
                <a:cs typeface="Times New Roman"/>
              </a:rPr>
              <a:t> </a:t>
            </a:r>
            <a:r>
              <a:rPr sz="2800" spc="-25" dirty="0">
                <a:latin typeface="Aptos"/>
                <a:cs typeface="Aptos"/>
              </a:rPr>
              <a:t>rotates</a:t>
            </a:r>
            <a:r>
              <a:rPr sz="2800" spc="-150" dirty="0">
                <a:latin typeface="Times New Roman"/>
                <a:cs typeface="Times New Roman"/>
              </a:rPr>
              <a:t> </a:t>
            </a:r>
            <a:r>
              <a:rPr sz="2800" dirty="0">
                <a:latin typeface="Aptos"/>
                <a:cs typeface="Aptos"/>
              </a:rPr>
              <a:t>in</a:t>
            </a:r>
            <a:r>
              <a:rPr sz="2800" spc="-170" dirty="0">
                <a:latin typeface="Times New Roman"/>
                <a:cs typeface="Times New Roman"/>
              </a:rPr>
              <a:t> </a:t>
            </a:r>
            <a:r>
              <a:rPr sz="2800" spc="-10" dirty="0">
                <a:latin typeface="Aptos"/>
                <a:cs typeface="Aptos"/>
              </a:rPr>
              <a:t>the</a:t>
            </a:r>
            <a:r>
              <a:rPr sz="2800" spc="-155" dirty="0">
                <a:latin typeface="Times New Roman"/>
                <a:cs typeface="Times New Roman"/>
              </a:rPr>
              <a:t> </a:t>
            </a:r>
            <a:r>
              <a:rPr sz="2800" spc="-10" dirty="0">
                <a:latin typeface="Aptos"/>
                <a:cs typeface="Aptos"/>
              </a:rPr>
              <a:t>same</a:t>
            </a:r>
            <a:r>
              <a:rPr sz="2800" spc="-140" dirty="0">
                <a:latin typeface="Times New Roman"/>
                <a:cs typeface="Times New Roman"/>
              </a:rPr>
              <a:t> </a:t>
            </a:r>
            <a:r>
              <a:rPr sz="2800" dirty="0">
                <a:latin typeface="Aptos"/>
                <a:cs typeface="Aptos"/>
              </a:rPr>
              <a:t>orbit.</a:t>
            </a:r>
            <a:r>
              <a:rPr sz="2800" spc="260" dirty="0">
                <a:latin typeface="Times New Roman"/>
                <a:cs typeface="Times New Roman"/>
              </a:rPr>
              <a:t> </a:t>
            </a:r>
            <a:r>
              <a:rPr sz="2800" spc="-25" dirty="0">
                <a:latin typeface="Aptos"/>
                <a:cs typeface="Aptos"/>
              </a:rPr>
              <a:t>The</a:t>
            </a:r>
            <a:r>
              <a:rPr sz="2800" spc="-25" dirty="0">
                <a:latin typeface="Times New Roman"/>
                <a:cs typeface="Times New Roman"/>
              </a:rPr>
              <a:t> </a:t>
            </a:r>
            <a:r>
              <a:rPr sz="2800" spc="-25" dirty="0">
                <a:latin typeface="Aptos"/>
                <a:cs typeface="Aptos"/>
              </a:rPr>
              <a:t>communication</a:t>
            </a:r>
            <a:r>
              <a:rPr sz="2800" spc="-130" dirty="0">
                <a:latin typeface="Times New Roman"/>
                <a:cs typeface="Times New Roman"/>
              </a:rPr>
              <a:t> </a:t>
            </a:r>
            <a:r>
              <a:rPr sz="2800" dirty="0">
                <a:latin typeface="Aptos"/>
                <a:cs typeface="Aptos"/>
              </a:rPr>
              <a:t>is</a:t>
            </a:r>
            <a:r>
              <a:rPr sz="2800" spc="-135" dirty="0">
                <a:latin typeface="Times New Roman"/>
                <a:cs typeface="Times New Roman"/>
              </a:rPr>
              <a:t> </a:t>
            </a:r>
            <a:r>
              <a:rPr sz="2800" spc="-10" dirty="0">
                <a:latin typeface="Aptos"/>
                <a:cs typeface="Aptos"/>
              </a:rPr>
              <a:t>done</a:t>
            </a:r>
            <a:r>
              <a:rPr sz="2800" spc="-130" dirty="0">
                <a:latin typeface="Times New Roman"/>
                <a:cs typeface="Times New Roman"/>
              </a:rPr>
              <a:t> </a:t>
            </a:r>
            <a:r>
              <a:rPr sz="2800" spc="-20" dirty="0">
                <a:latin typeface="Aptos"/>
                <a:cs typeface="Aptos"/>
              </a:rPr>
              <a:t>through</a:t>
            </a:r>
            <a:r>
              <a:rPr sz="2800" spc="-120" dirty="0">
                <a:latin typeface="Times New Roman"/>
                <a:cs typeface="Times New Roman"/>
              </a:rPr>
              <a:t> </a:t>
            </a:r>
            <a:r>
              <a:rPr sz="2800" spc="-10" dirty="0">
                <a:latin typeface="Aptos"/>
                <a:cs typeface="Aptos"/>
              </a:rPr>
              <a:t>uplink</a:t>
            </a:r>
            <a:r>
              <a:rPr sz="2800" spc="-140" dirty="0">
                <a:latin typeface="Times New Roman"/>
                <a:cs typeface="Times New Roman"/>
              </a:rPr>
              <a:t> </a:t>
            </a:r>
            <a:r>
              <a:rPr sz="2800" spc="-10" dirty="0">
                <a:latin typeface="Aptos"/>
                <a:cs typeface="Aptos"/>
              </a:rPr>
              <a:t>and</a:t>
            </a:r>
            <a:r>
              <a:rPr sz="2800" spc="-130" dirty="0">
                <a:latin typeface="Times New Roman"/>
                <a:cs typeface="Times New Roman"/>
              </a:rPr>
              <a:t> </a:t>
            </a:r>
            <a:r>
              <a:rPr sz="2800" spc="-10" dirty="0">
                <a:latin typeface="Aptos"/>
                <a:cs typeface="Aptos"/>
              </a:rPr>
              <a:t>downlink</a:t>
            </a:r>
            <a:r>
              <a:rPr sz="2800" dirty="0">
                <a:latin typeface="Times New Roman"/>
                <a:cs typeface="Times New Roman"/>
              </a:rPr>
              <a:t>		</a:t>
            </a:r>
            <a:r>
              <a:rPr sz="2800" dirty="0">
                <a:latin typeface="Aptos"/>
                <a:cs typeface="Aptos"/>
              </a:rPr>
              <a:t>using</a:t>
            </a:r>
            <a:r>
              <a:rPr sz="2800" spc="-60" dirty="0">
                <a:latin typeface="Times New Roman"/>
                <a:cs typeface="Times New Roman"/>
              </a:rPr>
              <a:t> </a:t>
            </a:r>
            <a:r>
              <a:rPr sz="2800" spc="-10" dirty="0">
                <a:latin typeface="Aptos"/>
                <a:cs typeface="Aptos"/>
              </a:rPr>
              <a:t>ground</a:t>
            </a:r>
            <a:endParaRPr sz="2800">
              <a:latin typeface="Aptos"/>
              <a:cs typeface="Aptos"/>
            </a:endParaRPr>
          </a:p>
        </p:txBody>
      </p:sp>
      <p:sp>
        <p:nvSpPr>
          <p:cNvPr id="3" name="object 3"/>
          <p:cNvSpPr txBox="1"/>
          <p:nvPr/>
        </p:nvSpPr>
        <p:spPr>
          <a:xfrm>
            <a:off x="9439919" y="1489320"/>
            <a:ext cx="2584450" cy="452120"/>
          </a:xfrm>
          <a:prstGeom prst="rect">
            <a:avLst/>
          </a:prstGeom>
        </p:spPr>
        <p:txBody>
          <a:bodyPr vert="horz" wrap="square" lIns="0" tIns="12065" rIns="0" bIns="0" rtlCol="0">
            <a:spAutoFit/>
          </a:bodyPr>
          <a:lstStyle/>
          <a:p>
            <a:pPr marL="12700">
              <a:lnSpc>
                <a:spcPct val="100000"/>
              </a:lnSpc>
              <a:spcBef>
                <a:spcPts val="95"/>
              </a:spcBef>
              <a:tabLst>
                <a:tab pos="1993900" algn="l"/>
              </a:tabLst>
            </a:pPr>
            <a:r>
              <a:rPr sz="2800" spc="-10" dirty="0">
                <a:latin typeface="Aptos"/>
                <a:cs typeface="Aptos"/>
              </a:rPr>
              <a:t>purpose,</a:t>
            </a:r>
            <a:r>
              <a:rPr sz="2800" dirty="0">
                <a:latin typeface="Times New Roman"/>
                <a:cs typeface="Times New Roman"/>
              </a:rPr>
              <a:t>	</a:t>
            </a:r>
            <a:r>
              <a:rPr sz="2800" spc="-20" dirty="0">
                <a:latin typeface="Aptos"/>
                <a:cs typeface="Aptos"/>
              </a:rPr>
              <a:t>etc.</a:t>
            </a:r>
            <a:endParaRPr sz="2800">
              <a:latin typeface="Aptos"/>
              <a:cs typeface="Aptos"/>
            </a:endParaRPr>
          </a:p>
        </p:txBody>
      </p:sp>
      <p:sp>
        <p:nvSpPr>
          <p:cNvPr id="4" name="object 4"/>
          <p:cNvSpPr txBox="1"/>
          <p:nvPr/>
        </p:nvSpPr>
        <p:spPr>
          <a:xfrm>
            <a:off x="1209244" y="1489320"/>
            <a:ext cx="7708900" cy="1346200"/>
          </a:xfrm>
          <a:prstGeom prst="rect">
            <a:avLst/>
          </a:prstGeom>
        </p:spPr>
        <p:txBody>
          <a:bodyPr vert="horz" wrap="square" lIns="0" tIns="60960" rIns="0" bIns="0" rtlCol="0">
            <a:spAutoFit/>
          </a:bodyPr>
          <a:lstStyle/>
          <a:p>
            <a:pPr marL="12700" marR="5080">
              <a:lnSpc>
                <a:spcPts val="3020"/>
              </a:lnSpc>
              <a:spcBef>
                <a:spcPts val="480"/>
              </a:spcBef>
            </a:pPr>
            <a:r>
              <a:rPr sz="2800" spc="-25" dirty="0">
                <a:latin typeface="Aptos"/>
                <a:cs typeface="Aptos"/>
              </a:rPr>
              <a:t>stations.</a:t>
            </a:r>
            <a:r>
              <a:rPr sz="2800" spc="-130" dirty="0">
                <a:latin typeface="Times New Roman"/>
                <a:cs typeface="Times New Roman"/>
              </a:rPr>
              <a:t> </a:t>
            </a:r>
            <a:r>
              <a:rPr sz="2800" dirty="0">
                <a:latin typeface="Aptos"/>
                <a:cs typeface="Aptos"/>
              </a:rPr>
              <a:t>It</a:t>
            </a:r>
            <a:r>
              <a:rPr sz="2800" spc="-150" dirty="0">
                <a:latin typeface="Times New Roman"/>
                <a:cs typeface="Times New Roman"/>
              </a:rPr>
              <a:t> </a:t>
            </a:r>
            <a:r>
              <a:rPr sz="2800" dirty="0">
                <a:latin typeface="Aptos"/>
                <a:cs typeface="Aptos"/>
              </a:rPr>
              <a:t>is</a:t>
            </a:r>
            <a:r>
              <a:rPr sz="2800" spc="-140" dirty="0">
                <a:latin typeface="Times New Roman"/>
                <a:cs typeface="Times New Roman"/>
              </a:rPr>
              <a:t> </a:t>
            </a:r>
            <a:r>
              <a:rPr sz="2800" spc="-10" dirty="0">
                <a:latin typeface="Aptos"/>
                <a:cs typeface="Aptos"/>
              </a:rPr>
              <a:t>used</a:t>
            </a:r>
            <a:r>
              <a:rPr sz="2800" spc="-135" dirty="0">
                <a:latin typeface="Times New Roman"/>
                <a:cs typeface="Times New Roman"/>
              </a:rPr>
              <a:t> </a:t>
            </a:r>
            <a:r>
              <a:rPr sz="2800" spc="-10" dirty="0">
                <a:latin typeface="Aptos"/>
                <a:cs typeface="Aptos"/>
              </a:rPr>
              <a:t>for</a:t>
            </a:r>
            <a:r>
              <a:rPr sz="2800" spc="-130" dirty="0">
                <a:latin typeface="Times New Roman"/>
                <a:cs typeface="Times New Roman"/>
              </a:rPr>
              <a:t> </a:t>
            </a:r>
            <a:r>
              <a:rPr sz="2800" spc="-20" dirty="0">
                <a:latin typeface="Aptos"/>
                <a:cs typeface="Aptos"/>
              </a:rPr>
              <a:t>universe</a:t>
            </a:r>
            <a:r>
              <a:rPr sz="2800" spc="-135" dirty="0">
                <a:latin typeface="Times New Roman"/>
                <a:cs typeface="Times New Roman"/>
              </a:rPr>
              <a:t> </a:t>
            </a:r>
            <a:r>
              <a:rPr sz="2800" spc="-60" dirty="0">
                <a:latin typeface="Aptos"/>
                <a:cs typeface="Aptos"/>
              </a:rPr>
              <a:t>study,</a:t>
            </a:r>
            <a:r>
              <a:rPr sz="2800" spc="-114" dirty="0">
                <a:latin typeface="Times New Roman"/>
                <a:cs typeface="Times New Roman"/>
              </a:rPr>
              <a:t> </a:t>
            </a:r>
            <a:r>
              <a:rPr sz="2800" spc="-25" dirty="0">
                <a:latin typeface="Aptos"/>
                <a:cs typeface="Aptos"/>
              </a:rPr>
              <a:t>GPS,</a:t>
            </a:r>
            <a:r>
              <a:rPr sz="2800" spc="-120" dirty="0">
                <a:latin typeface="Times New Roman"/>
                <a:cs typeface="Times New Roman"/>
              </a:rPr>
              <a:t> </a:t>
            </a:r>
            <a:r>
              <a:rPr sz="2800" spc="-10" dirty="0">
                <a:latin typeface="Aptos"/>
                <a:cs typeface="Aptos"/>
              </a:rPr>
              <a:t>military</a:t>
            </a:r>
            <a:r>
              <a:rPr sz="2800" spc="-10" dirty="0">
                <a:latin typeface="Times New Roman"/>
                <a:cs typeface="Times New Roman"/>
              </a:rPr>
              <a:t> </a:t>
            </a:r>
            <a:r>
              <a:rPr sz="2800" spc="-20" dirty="0">
                <a:latin typeface="Aptos"/>
                <a:cs typeface="Aptos"/>
              </a:rPr>
              <a:t>Majorly</a:t>
            </a:r>
            <a:r>
              <a:rPr sz="2800" spc="-135" dirty="0">
                <a:latin typeface="Times New Roman"/>
                <a:cs typeface="Times New Roman"/>
              </a:rPr>
              <a:t> </a:t>
            </a:r>
            <a:r>
              <a:rPr sz="2800" spc="-20" dirty="0">
                <a:latin typeface="Aptos"/>
                <a:cs typeface="Aptos"/>
              </a:rPr>
              <a:t>Satellites</a:t>
            </a:r>
            <a:r>
              <a:rPr sz="2800" spc="-130" dirty="0">
                <a:latin typeface="Times New Roman"/>
                <a:cs typeface="Times New Roman"/>
              </a:rPr>
              <a:t> </a:t>
            </a:r>
            <a:r>
              <a:rPr sz="2800" spc="-30" dirty="0">
                <a:latin typeface="Aptos"/>
                <a:cs typeface="Aptos"/>
              </a:rPr>
              <a:t>are</a:t>
            </a:r>
            <a:r>
              <a:rPr sz="2800" spc="-140" dirty="0">
                <a:latin typeface="Times New Roman"/>
                <a:cs typeface="Times New Roman"/>
              </a:rPr>
              <a:t> </a:t>
            </a:r>
            <a:r>
              <a:rPr sz="2800" dirty="0">
                <a:latin typeface="Aptos"/>
                <a:cs typeface="Aptos"/>
              </a:rPr>
              <a:t>of</a:t>
            </a:r>
            <a:r>
              <a:rPr sz="2800" spc="-130" dirty="0">
                <a:latin typeface="Times New Roman"/>
                <a:cs typeface="Times New Roman"/>
              </a:rPr>
              <a:t> </a:t>
            </a:r>
            <a:r>
              <a:rPr sz="2800" spc="-20" dirty="0">
                <a:latin typeface="Aptos"/>
                <a:cs typeface="Aptos"/>
              </a:rPr>
              <a:t>two</a:t>
            </a:r>
            <a:r>
              <a:rPr sz="2800" spc="-114" dirty="0">
                <a:latin typeface="Times New Roman"/>
                <a:cs typeface="Times New Roman"/>
              </a:rPr>
              <a:t> </a:t>
            </a:r>
            <a:r>
              <a:rPr sz="2800" spc="-10" dirty="0">
                <a:latin typeface="Aptos"/>
                <a:cs typeface="Aptos"/>
              </a:rPr>
              <a:t>types</a:t>
            </a:r>
            <a:r>
              <a:rPr sz="2800" spc="-114" dirty="0">
                <a:latin typeface="Times New Roman"/>
                <a:cs typeface="Times New Roman"/>
              </a:rPr>
              <a:t> </a:t>
            </a:r>
            <a:r>
              <a:rPr sz="2800" spc="-50" dirty="0">
                <a:latin typeface="Aptos"/>
                <a:cs typeface="Aptos"/>
              </a:rPr>
              <a:t>:</a:t>
            </a:r>
            <a:endParaRPr sz="2800">
              <a:latin typeface="Aptos"/>
              <a:cs typeface="Aptos"/>
            </a:endParaRPr>
          </a:p>
          <a:p>
            <a:pPr marL="120650">
              <a:lnSpc>
                <a:spcPct val="100000"/>
              </a:lnSpc>
              <a:spcBef>
                <a:spcPts val="620"/>
              </a:spcBef>
            </a:pPr>
            <a:r>
              <a:rPr sz="2800" dirty="0">
                <a:latin typeface="Aptos"/>
                <a:cs typeface="Aptos"/>
              </a:rPr>
              <a:t>i)</a:t>
            </a:r>
            <a:r>
              <a:rPr sz="2800" spc="-125" dirty="0">
                <a:latin typeface="Times New Roman"/>
                <a:cs typeface="Times New Roman"/>
              </a:rPr>
              <a:t> </a:t>
            </a:r>
            <a:r>
              <a:rPr sz="2800" spc="-10" dirty="0">
                <a:latin typeface="Aptos"/>
                <a:cs typeface="Aptos"/>
              </a:rPr>
              <a:t>Geo</a:t>
            </a:r>
            <a:r>
              <a:rPr sz="2800" spc="-120" dirty="0">
                <a:latin typeface="Times New Roman"/>
                <a:cs typeface="Times New Roman"/>
              </a:rPr>
              <a:t> </a:t>
            </a:r>
            <a:r>
              <a:rPr sz="2800" spc="-20" dirty="0">
                <a:latin typeface="Aptos"/>
                <a:cs typeface="Aptos"/>
              </a:rPr>
              <a:t>Stationary</a:t>
            </a:r>
            <a:r>
              <a:rPr sz="2800" spc="-114" dirty="0">
                <a:latin typeface="Times New Roman"/>
                <a:cs typeface="Times New Roman"/>
              </a:rPr>
              <a:t> </a:t>
            </a:r>
            <a:r>
              <a:rPr sz="2800" spc="-20" dirty="0">
                <a:latin typeface="Aptos"/>
                <a:cs typeface="Aptos"/>
              </a:rPr>
              <a:t>Satellite</a:t>
            </a:r>
            <a:r>
              <a:rPr sz="2800" spc="-140" dirty="0">
                <a:latin typeface="Times New Roman"/>
                <a:cs typeface="Times New Roman"/>
              </a:rPr>
              <a:t> </a:t>
            </a:r>
            <a:r>
              <a:rPr sz="2800" spc="-25" dirty="0">
                <a:latin typeface="Aptos"/>
                <a:cs typeface="Aptos"/>
              </a:rPr>
              <a:t>and</a:t>
            </a:r>
            <a:endParaRPr sz="2800">
              <a:latin typeface="Aptos"/>
              <a:cs typeface="Aptos"/>
            </a:endParaRPr>
          </a:p>
        </p:txBody>
      </p:sp>
      <p:sp>
        <p:nvSpPr>
          <p:cNvPr id="5" name="object 5"/>
          <p:cNvSpPr txBox="1"/>
          <p:nvPr/>
        </p:nvSpPr>
        <p:spPr>
          <a:xfrm>
            <a:off x="1317500" y="2896356"/>
            <a:ext cx="2770505" cy="452120"/>
          </a:xfrm>
          <a:prstGeom prst="rect">
            <a:avLst/>
          </a:prstGeom>
        </p:spPr>
        <p:txBody>
          <a:bodyPr vert="horz" wrap="square" lIns="0" tIns="12065" rIns="0" bIns="0" rtlCol="0">
            <a:spAutoFit/>
          </a:bodyPr>
          <a:lstStyle/>
          <a:p>
            <a:pPr marL="12700">
              <a:lnSpc>
                <a:spcPct val="100000"/>
              </a:lnSpc>
              <a:spcBef>
                <a:spcPts val="95"/>
              </a:spcBef>
            </a:pPr>
            <a:r>
              <a:rPr sz="2800" dirty="0">
                <a:latin typeface="Aptos"/>
                <a:cs typeface="Aptos"/>
              </a:rPr>
              <a:t>ii)</a:t>
            </a:r>
            <a:r>
              <a:rPr sz="2800" spc="-165" dirty="0">
                <a:latin typeface="Times New Roman"/>
                <a:cs typeface="Times New Roman"/>
              </a:rPr>
              <a:t> </a:t>
            </a:r>
            <a:r>
              <a:rPr sz="2800" spc="-10" dirty="0">
                <a:latin typeface="Aptos"/>
                <a:cs typeface="Aptos"/>
              </a:rPr>
              <a:t>Space</a:t>
            </a:r>
            <a:r>
              <a:rPr sz="2800" spc="-130" dirty="0">
                <a:latin typeface="Times New Roman"/>
                <a:cs typeface="Times New Roman"/>
              </a:rPr>
              <a:t> </a:t>
            </a:r>
            <a:r>
              <a:rPr sz="2800" spc="-10" dirty="0">
                <a:latin typeface="Aptos"/>
                <a:cs typeface="Aptos"/>
              </a:rPr>
              <a:t>Satellite:</a:t>
            </a:r>
            <a:endParaRPr sz="2800">
              <a:latin typeface="Aptos"/>
              <a:cs typeface="Aptos"/>
            </a:endParaRPr>
          </a:p>
        </p:txBody>
      </p:sp>
      <p:sp>
        <p:nvSpPr>
          <p:cNvPr id="6" name="object 6"/>
          <p:cNvSpPr txBox="1"/>
          <p:nvPr/>
        </p:nvSpPr>
        <p:spPr>
          <a:xfrm>
            <a:off x="6063754" y="6413705"/>
            <a:ext cx="122682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Aptos"/>
                <a:cs typeface="Aptos"/>
              </a:rPr>
              <a:t>Fig:</a:t>
            </a:r>
            <a:r>
              <a:rPr sz="1800" spc="-80" dirty="0">
                <a:latin typeface="Times New Roman"/>
                <a:cs typeface="Times New Roman"/>
              </a:rPr>
              <a:t> </a:t>
            </a:r>
            <a:r>
              <a:rPr sz="1800" spc="-10" dirty="0">
                <a:latin typeface="Aptos"/>
                <a:cs typeface="Aptos"/>
              </a:rPr>
              <a:t>Satellite</a:t>
            </a:r>
            <a:endParaRPr sz="1800">
              <a:latin typeface="Aptos"/>
              <a:cs typeface="Aptos"/>
            </a:endParaRPr>
          </a:p>
        </p:txBody>
      </p:sp>
      <p:grpSp>
        <p:nvGrpSpPr>
          <p:cNvPr id="7" name="object 7"/>
          <p:cNvGrpSpPr/>
          <p:nvPr/>
        </p:nvGrpSpPr>
        <p:grpSpPr>
          <a:xfrm>
            <a:off x="4115691" y="2345306"/>
            <a:ext cx="7989570" cy="3957320"/>
            <a:chOff x="4115691" y="2345306"/>
            <a:chExt cx="7989570" cy="3957320"/>
          </a:xfrm>
        </p:grpSpPr>
        <p:pic>
          <p:nvPicPr>
            <p:cNvPr id="8" name="object 8"/>
            <p:cNvPicPr/>
            <p:nvPr/>
          </p:nvPicPr>
          <p:blipFill>
            <a:blip r:embed="rId2" cstate="print"/>
            <a:stretch>
              <a:fillRect/>
            </a:stretch>
          </p:blipFill>
          <p:spPr>
            <a:xfrm>
              <a:off x="9395231" y="2345306"/>
              <a:ext cx="2709793" cy="2352042"/>
            </a:xfrm>
            <a:prstGeom prst="rect">
              <a:avLst/>
            </a:prstGeom>
          </p:spPr>
        </p:pic>
        <p:pic>
          <p:nvPicPr>
            <p:cNvPr id="9" name="object 9"/>
            <p:cNvPicPr/>
            <p:nvPr/>
          </p:nvPicPr>
          <p:blipFill>
            <a:blip r:embed="rId3" cstate="print"/>
            <a:stretch>
              <a:fillRect/>
            </a:stretch>
          </p:blipFill>
          <p:spPr>
            <a:xfrm>
              <a:off x="4115691" y="2842007"/>
              <a:ext cx="5279387" cy="3460622"/>
            </a:xfrm>
            <a:prstGeom prst="rect">
              <a:avLst/>
            </a:prstGeom>
          </p:spPr>
        </p:pic>
      </p:grpSp>
      <p:sp>
        <p:nvSpPr>
          <p:cNvPr id="10" name="object 10"/>
          <p:cNvSpPr txBox="1"/>
          <p:nvPr/>
        </p:nvSpPr>
        <p:spPr>
          <a:xfrm>
            <a:off x="4907035" y="4870191"/>
            <a:ext cx="826135" cy="239395"/>
          </a:xfrm>
          <a:prstGeom prst="rect">
            <a:avLst/>
          </a:prstGeom>
        </p:spPr>
        <p:txBody>
          <a:bodyPr vert="horz" wrap="square" lIns="0" tIns="13335" rIns="0" bIns="0" rtlCol="0">
            <a:spAutoFit/>
          </a:bodyPr>
          <a:lstStyle/>
          <a:p>
            <a:pPr marL="12700">
              <a:lnSpc>
                <a:spcPct val="100000"/>
              </a:lnSpc>
              <a:spcBef>
                <a:spcPts val="105"/>
              </a:spcBef>
            </a:pPr>
            <a:r>
              <a:rPr sz="1400" b="1" spc="-10" dirty="0">
                <a:solidFill>
                  <a:srgbClr val="FF0000"/>
                </a:solidFill>
                <a:latin typeface="Aptos"/>
                <a:cs typeface="Aptos"/>
              </a:rPr>
              <a:t>dishHome</a:t>
            </a:r>
            <a:endParaRPr sz="1400">
              <a:latin typeface="Aptos"/>
              <a:cs typeface="Aptos"/>
            </a:endParaRPr>
          </a:p>
        </p:txBody>
      </p:sp>
      <p:sp>
        <p:nvSpPr>
          <p:cNvPr id="11" name="object 11"/>
          <p:cNvSpPr txBox="1"/>
          <p:nvPr/>
        </p:nvSpPr>
        <p:spPr>
          <a:xfrm>
            <a:off x="7549149" y="2862190"/>
            <a:ext cx="1177925" cy="239395"/>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FFFF00"/>
                </a:solidFill>
                <a:latin typeface="Aptos"/>
                <a:cs typeface="Aptos"/>
              </a:rPr>
              <a:t>Space</a:t>
            </a:r>
            <a:r>
              <a:rPr sz="1400" spc="-80" dirty="0">
                <a:solidFill>
                  <a:srgbClr val="FFFF00"/>
                </a:solidFill>
                <a:latin typeface="Times New Roman"/>
                <a:cs typeface="Times New Roman"/>
              </a:rPr>
              <a:t> </a:t>
            </a:r>
            <a:r>
              <a:rPr sz="1400" b="1" spc="-10" dirty="0">
                <a:solidFill>
                  <a:srgbClr val="FFFF00"/>
                </a:solidFill>
                <a:latin typeface="Aptos"/>
                <a:cs typeface="Aptos"/>
              </a:rPr>
              <a:t>Satellite</a:t>
            </a:r>
            <a:endParaRPr sz="1400">
              <a:latin typeface="Aptos"/>
              <a:cs typeface="Aptos"/>
            </a:endParaRPr>
          </a:p>
        </p:txBody>
      </p:sp>
      <p:sp>
        <p:nvSpPr>
          <p:cNvPr id="12" name="object 12"/>
          <p:cNvSpPr txBox="1"/>
          <p:nvPr/>
        </p:nvSpPr>
        <p:spPr>
          <a:xfrm>
            <a:off x="4815341" y="5796482"/>
            <a:ext cx="1193165" cy="239395"/>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FFFF00"/>
                </a:solidFill>
                <a:latin typeface="Aptos"/>
                <a:cs typeface="Aptos"/>
              </a:rPr>
              <a:t>Ground</a:t>
            </a:r>
            <a:r>
              <a:rPr sz="1400" spc="-90" dirty="0">
                <a:solidFill>
                  <a:srgbClr val="FFFF00"/>
                </a:solidFill>
                <a:latin typeface="Times New Roman"/>
                <a:cs typeface="Times New Roman"/>
              </a:rPr>
              <a:t> </a:t>
            </a:r>
            <a:r>
              <a:rPr sz="1400" b="1" spc="-10" dirty="0">
                <a:solidFill>
                  <a:srgbClr val="FFFF00"/>
                </a:solidFill>
                <a:latin typeface="Aptos"/>
                <a:cs typeface="Aptos"/>
              </a:rPr>
              <a:t>Station</a:t>
            </a:r>
            <a:endParaRPr sz="1400">
              <a:latin typeface="Aptos"/>
              <a:cs typeface="Apto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4" y="139686"/>
            <a:ext cx="10071735" cy="2372360"/>
          </a:xfrm>
          <a:prstGeom prst="rect">
            <a:avLst/>
          </a:prstGeom>
        </p:spPr>
        <p:txBody>
          <a:bodyPr vert="horz" wrap="square" lIns="0" tIns="54610" rIns="0" bIns="0" rtlCol="0">
            <a:spAutoFit/>
          </a:bodyPr>
          <a:lstStyle/>
          <a:p>
            <a:pPr marL="12700" marR="5080">
              <a:lnSpc>
                <a:spcPct val="90000"/>
              </a:lnSpc>
              <a:spcBef>
                <a:spcPts val="430"/>
              </a:spcBef>
            </a:pPr>
            <a:r>
              <a:rPr sz="2800" b="1" spc="-10" dirty="0">
                <a:latin typeface="Aptos"/>
                <a:cs typeface="Aptos"/>
              </a:rPr>
              <a:t>Receiver:</a:t>
            </a:r>
            <a:r>
              <a:rPr sz="2800" spc="-155" dirty="0">
                <a:latin typeface="Times New Roman"/>
                <a:cs typeface="Times New Roman"/>
              </a:rPr>
              <a:t> </a:t>
            </a:r>
            <a:r>
              <a:rPr sz="2800" spc="-40" dirty="0">
                <a:latin typeface="Aptos"/>
                <a:cs typeface="Aptos"/>
              </a:rPr>
              <a:t>Receiver,</a:t>
            </a:r>
            <a:r>
              <a:rPr sz="2800" spc="-125" dirty="0">
                <a:latin typeface="Times New Roman"/>
                <a:cs typeface="Times New Roman"/>
              </a:rPr>
              <a:t> </a:t>
            </a:r>
            <a:r>
              <a:rPr sz="2800" dirty="0">
                <a:latin typeface="Aptos"/>
                <a:cs typeface="Aptos"/>
              </a:rPr>
              <a:t>in</a:t>
            </a:r>
            <a:r>
              <a:rPr sz="2800" spc="-150" dirty="0">
                <a:latin typeface="Times New Roman"/>
                <a:cs typeface="Times New Roman"/>
              </a:rPr>
              <a:t> </a:t>
            </a:r>
            <a:r>
              <a:rPr sz="2800" spc="-20" dirty="0">
                <a:latin typeface="Aptos"/>
                <a:cs typeface="Aptos"/>
              </a:rPr>
              <a:t>electronics,</a:t>
            </a:r>
            <a:r>
              <a:rPr sz="2800" spc="-135" dirty="0">
                <a:latin typeface="Times New Roman"/>
                <a:cs typeface="Times New Roman"/>
              </a:rPr>
              <a:t> </a:t>
            </a:r>
            <a:r>
              <a:rPr sz="2800" spc="-20" dirty="0">
                <a:latin typeface="Aptos"/>
                <a:cs typeface="Aptos"/>
              </a:rPr>
              <a:t>any</a:t>
            </a:r>
            <a:r>
              <a:rPr sz="2800" spc="-150" dirty="0">
                <a:latin typeface="Times New Roman"/>
                <a:cs typeface="Times New Roman"/>
              </a:rPr>
              <a:t> </a:t>
            </a:r>
            <a:r>
              <a:rPr sz="2800" dirty="0">
                <a:latin typeface="Aptos"/>
                <a:cs typeface="Aptos"/>
              </a:rPr>
              <a:t>of</a:t>
            </a:r>
            <a:r>
              <a:rPr sz="2800" spc="-150" dirty="0">
                <a:latin typeface="Times New Roman"/>
                <a:cs typeface="Times New Roman"/>
              </a:rPr>
              <a:t> </a:t>
            </a:r>
            <a:r>
              <a:rPr sz="2800" spc="-10" dirty="0">
                <a:latin typeface="Aptos"/>
                <a:cs typeface="Aptos"/>
              </a:rPr>
              <a:t>various</a:t>
            </a:r>
            <a:r>
              <a:rPr sz="2800" spc="-125" dirty="0">
                <a:latin typeface="Times New Roman"/>
                <a:cs typeface="Times New Roman"/>
              </a:rPr>
              <a:t> </a:t>
            </a:r>
            <a:r>
              <a:rPr sz="2800" spc="-10" dirty="0">
                <a:latin typeface="Aptos"/>
                <a:cs typeface="Aptos"/>
              </a:rPr>
              <a:t>devices</a:t>
            </a:r>
            <a:r>
              <a:rPr sz="2800" spc="-130" dirty="0">
                <a:latin typeface="Times New Roman"/>
                <a:cs typeface="Times New Roman"/>
              </a:rPr>
              <a:t> </a:t>
            </a:r>
            <a:r>
              <a:rPr sz="2800" spc="-20" dirty="0">
                <a:latin typeface="Aptos"/>
                <a:cs typeface="Aptos"/>
              </a:rPr>
              <a:t>that</a:t>
            </a:r>
            <a:r>
              <a:rPr sz="2800" spc="-20" dirty="0">
                <a:latin typeface="Times New Roman"/>
                <a:cs typeface="Times New Roman"/>
              </a:rPr>
              <a:t> </a:t>
            </a:r>
            <a:r>
              <a:rPr sz="2800" spc="-10" dirty="0">
                <a:latin typeface="Aptos"/>
                <a:cs typeface="Aptos"/>
              </a:rPr>
              <a:t>accept</a:t>
            </a:r>
            <a:r>
              <a:rPr sz="2800" spc="-130" dirty="0">
                <a:latin typeface="Times New Roman"/>
                <a:cs typeface="Times New Roman"/>
              </a:rPr>
              <a:t> </a:t>
            </a:r>
            <a:r>
              <a:rPr sz="2800" spc="-20" dirty="0">
                <a:latin typeface="Aptos"/>
                <a:cs typeface="Aptos"/>
              </a:rPr>
              <a:t>signals,</a:t>
            </a:r>
            <a:r>
              <a:rPr sz="2800" spc="-140" dirty="0">
                <a:latin typeface="Times New Roman"/>
                <a:cs typeface="Times New Roman"/>
              </a:rPr>
              <a:t> </a:t>
            </a:r>
            <a:r>
              <a:rPr sz="2800" spc="-10" dirty="0">
                <a:latin typeface="Aptos"/>
                <a:cs typeface="Aptos"/>
              </a:rPr>
              <a:t>such</a:t>
            </a:r>
            <a:r>
              <a:rPr sz="2800" spc="-140" dirty="0">
                <a:latin typeface="Times New Roman"/>
                <a:cs typeface="Times New Roman"/>
              </a:rPr>
              <a:t> </a:t>
            </a:r>
            <a:r>
              <a:rPr sz="2800" dirty="0">
                <a:latin typeface="Aptos"/>
                <a:cs typeface="Aptos"/>
              </a:rPr>
              <a:t>as</a:t>
            </a:r>
            <a:r>
              <a:rPr sz="2800" spc="-135" dirty="0">
                <a:latin typeface="Times New Roman"/>
                <a:cs typeface="Times New Roman"/>
              </a:rPr>
              <a:t> </a:t>
            </a:r>
            <a:r>
              <a:rPr sz="2800" spc="-30" dirty="0">
                <a:latin typeface="Aptos"/>
                <a:cs typeface="Aptos"/>
              </a:rPr>
              <a:t>radio</a:t>
            </a:r>
            <a:r>
              <a:rPr sz="2800" spc="-140" dirty="0">
                <a:latin typeface="Times New Roman"/>
                <a:cs typeface="Times New Roman"/>
              </a:rPr>
              <a:t> </a:t>
            </a:r>
            <a:r>
              <a:rPr sz="2800" spc="-30" dirty="0">
                <a:latin typeface="Aptos"/>
                <a:cs typeface="Aptos"/>
              </a:rPr>
              <a:t>waves,</a:t>
            </a:r>
            <a:r>
              <a:rPr sz="2800" spc="-135" dirty="0">
                <a:latin typeface="Times New Roman"/>
                <a:cs typeface="Times New Roman"/>
              </a:rPr>
              <a:t> </a:t>
            </a:r>
            <a:r>
              <a:rPr sz="2800" spc="-10" dirty="0">
                <a:latin typeface="Aptos"/>
                <a:cs typeface="Aptos"/>
              </a:rPr>
              <a:t>and</a:t>
            </a:r>
            <a:r>
              <a:rPr sz="2800" spc="-150" dirty="0">
                <a:latin typeface="Times New Roman"/>
                <a:cs typeface="Times New Roman"/>
              </a:rPr>
              <a:t> </a:t>
            </a:r>
            <a:r>
              <a:rPr sz="2800" spc="-20" dirty="0">
                <a:latin typeface="Aptos"/>
                <a:cs typeface="Aptos"/>
              </a:rPr>
              <a:t>convert</a:t>
            </a:r>
            <a:r>
              <a:rPr sz="2800" spc="-130" dirty="0">
                <a:latin typeface="Times New Roman"/>
                <a:cs typeface="Times New Roman"/>
              </a:rPr>
              <a:t> </a:t>
            </a:r>
            <a:r>
              <a:rPr sz="2800" spc="-20" dirty="0">
                <a:latin typeface="Aptos"/>
                <a:cs typeface="Aptos"/>
              </a:rPr>
              <a:t>them</a:t>
            </a:r>
            <a:r>
              <a:rPr sz="2800" spc="-140" dirty="0">
                <a:latin typeface="Times New Roman"/>
                <a:cs typeface="Times New Roman"/>
              </a:rPr>
              <a:t> </a:t>
            </a:r>
            <a:r>
              <a:rPr sz="2800" spc="-10" dirty="0">
                <a:latin typeface="Aptos"/>
                <a:cs typeface="Aptos"/>
              </a:rPr>
              <a:t>(frequently</a:t>
            </a:r>
            <a:r>
              <a:rPr sz="2800" spc="-10" dirty="0">
                <a:latin typeface="Times New Roman"/>
                <a:cs typeface="Times New Roman"/>
              </a:rPr>
              <a:t> </a:t>
            </a:r>
            <a:r>
              <a:rPr sz="2800" spc="-10" dirty="0">
                <a:latin typeface="Aptos"/>
                <a:cs typeface="Aptos"/>
              </a:rPr>
              <a:t>with</a:t>
            </a:r>
            <a:r>
              <a:rPr sz="2800" spc="-135" dirty="0">
                <a:latin typeface="Times New Roman"/>
                <a:cs typeface="Times New Roman"/>
              </a:rPr>
              <a:t> </a:t>
            </a:r>
            <a:r>
              <a:rPr sz="2800" spc="-25" dirty="0">
                <a:latin typeface="Aptos"/>
                <a:cs typeface="Aptos"/>
              </a:rPr>
              <a:t>amplification)</a:t>
            </a:r>
            <a:r>
              <a:rPr sz="2800" spc="-150" dirty="0">
                <a:latin typeface="Times New Roman"/>
                <a:cs typeface="Times New Roman"/>
              </a:rPr>
              <a:t> </a:t>
            </a:r>
            <a:r>
              <a:rPr sz="2800" spc="-10" dirty="0">
                <a:latin typeface="Aptos"/>
                <a:cs typeface="Aptos"/>
              </a:rPr>
              <a:t>into</a:t>
            </a:r>
            <a:r>
              <a:rPr sz="2800" spc="-114" dirty="0">
                <a:latin typeface="Times New Roman"/>
                <a:cs typeface="Times New Roman"/>
              </a:rPr>
              <a:t> </a:t>
            </a:r>
            <a:r>
              <a:rPr sz="2800" dirty="0">
                <a:latin typeface="Aptos"/>
                <a:cs typeface="Aptos"/>
              </a:rPr>
              <a:t>a</a:t>
            </a:r>
            <a:r>
              <a:rPr sz="2800" spc="-125" dirty="0">
                <a:latin typeface="Times New Roman"/>
                <a:cs typeface="Times New Roman"/>
              </a:rPr>
              <a:t> </a:t>
            </a:r>
            <a:r>
              <a:rPr sz="2800" spc="-10" dirty="0">
                <a:latin typeface="Aptos"/>
                <a:cs typeface="Aptos"/>
              </a:rPr>
              <a:t>useful</a:t>
            </a:r>
            <a:r>
              <a:rPr sz="2800" spc="-135" dirty="0">
                <a:latin typeface="Times New Roman"/>
                <a:cs typeface="Times New Roman"/>
              </a:rPr>
              <a:t> </a:t>
            </a:r>
            <a:r>
              <a:rPr sz="2800" spc="-20" dirty="0">
                <a:latin typeface="Aptos"/>
                <a:cs typeface="Aptos"/>
              </a:rPr>
              <a:t>form.</a:t>
            </a:r>
            <a:r>
              <a:rPr sz="2800" spc="-130" dirty="0">
                <a:latin typeface="Times New Roman"/>
                <a:cs typeface="Times New Roman"/>
              </a:rPr>
              <a:t> </a:t>
            </a:r>
            <a:r>
              <a:rPr sz="2800" spc="-20" dirty="0">
                <a:latin typeface="Aptos"/>
                <a:cs typeface="Aptos"/>
              </a:rPr>
              <a:t>Examples</a:t>
            </a:r>
            <a:r>
              <a:rPr sz="2800" spc="-130" dirty="0">
                <a:latin typeface="Times New Roman"/>
                <a:cs typeface="Times New Roman"/>
              </a:rPr>
              <a:t> </a:t>
            </a:r>
            <a:r>
              <a:rPr sz="2800" spc="-10" dirty="0">
                <a:latin typeface="Aptos"/>
                <a:cs typeface="Aptos"/>
              </a:rPr>
              <a:t>are</a:t>
            </a:r>
            <a:r>
              <a:rPr sz="2800" spc="-120" dirty="0">
                <a:latin typeface="Times New Roman"/>
                <a:cs typeface="Times New Roman"/>
              </a:rPr>
              <a:t> </a:t>
            </a:r>
            <a:r>
              <a:rPr sz="2800" spc="-10" dirty="0">
                <a:latin typeface="Aptos"/>
                <a:cs typeface="Aptos"/>
              </a:rPr>
              <a:t>telephone</a:t>
            </a:r>
            <a:r>
              <a:rPr sz="2800" spc="-10" dirty="0">
                <a:latin typeface="Times New Roman"/>
                <a:cs typeface="Times New Roman"/>
              </a:rPr>
              <a:t> </a:t>
            </a:r>
            <a:r>
              <a:rPr sz="2800" spc="-25" dirty="0">
                <a:latin typeface="Aptos"/>
                <a:cs typeface="Aptos"/>
              </a:rPr>
              <a:t>receivers,</a:t>
            </a:r>
            <a:r>
              <a:rPr sz="2800" spc="-150" dirty="0">
                <a:latin typeface="Times New Roman"/>
                <a:cs typeface="Times New Roman"/>
              </a:rPr>
              <a:t> </a:t>
            </a:r>
            <a:r>
              <a:rPr sz="2800" spc="-10" dirty="0">
                <a:latin typeface="Aptos"/>
                <a:cs typeface="Aptos"/>
              </a:rPr>
              <a:t>which</a:t>
            </a:r>
            <a:r>
              <a:rPr sz="2800" spc="-145" dirty="0">
                <a:latin typeface="Times New Roman"/>
                <a:cs typeface="Times New Roman"/>
              </a:rPr>
              <a:t> </a:t>
            </a:r>
            <a:r>
              <a:rPr sz="2800" spc="-30" dirty="0">
                <a:latin typeface="Aptos"/>
                <a:cs typeface="Aptos"/>
              </a:rPr>
              <a:t>transform</a:t>
            </a:r>
            <a:r>
              <a:rPr sz="2800" spc="-120" dirty="0">
                <a:latin typeface="Times New Roman"/>
                <a:cs typeface="Times New Roman"/>
              </a:rPr>
              <a:t> </a:t>
            </a:r>
            <a:r>
              <a:rPr sz="2800" spc="-10" dirty="0">
                <a:latin typeface="Aptos"/>
                <a:cs typeface="Aptos"/>
              </a:rPr>
              <a:t>electrical</a:t>
            </a:r>
            <a:r>
              <a:rPr sz="2800" spc="-130" dirty="0">
                <a:latin typeface="Times New Roman"/>
                <a:cs typeface="Times New Roman"/>
              </a:rPr>
              <a:t> </a:t>
            </a:r>
            <a:r>
              <a:rPr sz="2800" spc="-20" dirty="0">
                <a:latin typeface="Aptos"/>
                <a:cs typeface="Aptos"/>
              </a:rPr>
              <a:t>impulses</a:t>
            </a:r>
            <a:r>
              <a:rPr sz="2800" spc="-135" dirty="0">
                <a:latin typeface="Times New Roman"/>
                <a:cs typeface="Times New Roman"/>
              </a:rPr>
              <a:t> </a:t>
            </a:r>
            <a:r>
              <a:rPr sz="2800" spc="-10" dirty="0">
                <a:latin typeface="Aptos"/>
                <a:cs typeface="Aptos"/>
              </a:rPr>
              <a:t>into</a:t>
            </a:r>
            <a:r>
              <a:rPr sz="2800" spc="-145" dirty="0">
                <a:latin typeface="Times New Roman"/>
                <a:cs typeface="Times New Roman"/>
              </a:rPr>
              <a:t> </a:t>
            </a:r>
            <a:r>
              <a:rPr sz="2800" spc="-10" dirty="0">
                <a:latin typeface="Aptos"/>
                <a:cs typeface="Aptos"/>
              </a:rPr>
              <a:t>audio</a:t>
            </a:r>
            <a:r>
              <a:rPr sz="2800" spc="-135" dirty="0">
                <a:latin typeface="Times New Roman"/>
                <a:cs typeface="Times New Roman"/>
              </a:rPr>
              <a:t> </a:t>
            </a:r>
            <a:r>
              <a:rPr sz="2800" spc="-10" dirty="0">
                <a:latin typeface="Aptos"/>
                <a:cs typeface="Aptos"/>
              </a:rPr>
              <a:t>signals,</a:t>
            </a:r>
            <a:r>
              <a:rPr sz="2800" spc="-10" dirty="0">
                <a:latin typeface="Times New Roman"/>
                <a:cs typeface="Times New Roman"/>
              </a:rPr>
              <a:t> </a:t>
            </a:r>
            <a:r>
              <a:rPr sz="2800" spc="-10" dirty="0">
                <a:latin typeface="Aptos"/>
                <a:cs typeface="Aptos"/>
              </a:rPr>
              <a:t>and</a:t>
            </a:r>
            <a:r>
              <a:rPr sz="2800" spc="-150" dirty="0">
                <a:latin typeface="Times New Roman"/>
                <a:cs typeface="Times New Roman"/>
              </a:rPr>
              <a:t> </a:t>
            </a:r>
            <a:r>
              <a:rPr sz="2800" spc="-25" dirty="0">
                <a:latin typeface="Aptos"/>
                <a:cs typeface="Aptos"/>
              </a:rPr>
              <a:t>radio</a:t>
            </a:r>
            <a:r>
              <a:rPr sz="2800" spc="-135" dirty="0">
                <a:latin typeface="Times New Roman"/>
                <a:cs typeface="Times New Roman"/>
              </a:rPr>
              <a:t> </a:t>
            </a:r>
            <a:r>
              <a:rPr sz="2800" dirty="0">
                <a:latin typeface="Aptos"/>
                <a:cs typeface="Aptos"/>
              </a:rPr>
              <a:t>or</a:t>
            </a:r>
            <a:r>
              <a:rPr sz="2800" spc="-135" dirty="0">
                <a:latin typeface="Times New Roman"/>
                <a:cs typeface="Times New Roman"/>
              </a:rPr>
              <a:t> </a:t>
            </a:r>
            <a:r>
              <a:rPr sz="2800" spc="-20" dirty="0">
                <a:latin typeface="Aptos"/>
                <a:cs typeface="Aptos"/>
              </a:rPr>
              <a:t>television</a:t>
            </a:r>
            <a:r>
              <a:rPr sz="2800" spc="-155" dirty="0">
                <a:latin typeface="Times New Roman"/>
                <a:cs typeface="Times New Roman"/>
              </a:rPr>
              <a:t> </a:t>
            </a:r>
            <a:r>
              <a:rPr sz="2800" spc="-25" dirty="0">
                <a:latin typeface="Aptos"/>
                <a:cs typeface="Aptos"/>
              </a:rPr>
              <a:t>receivers,</a:t>
            </a:r>
            <a:r>
              <a:rPr sz="2800" spc="-130" dirty="0">
                <a:latin typeface="Times New Roman"/>
                <a:cs typeface="Times New Roman"/>
              </a:rPr>
              <a:t> </a:t>
            </a:r>
            <a:r>
              <a:rPr sz="2800" spc="-10" dirty="0">
                <a:latin typeface="Aptos"/>
                <a:cs typeface="Aptos"/>
              </a:rPr>
              <a:t>which</a:t>
            </a:r>
            <a:r>
              <a:rPr sz="2800" spc="-150" dirty="0">
                <a:latin typeface="Times New Roman"/>
                <a:cs typeface="Times New Roman"/>
              </a:rPr>
              <a:t> </a:t>
            </a:r>
            <a:r>
              <a:rPr sz="2800" spc="-10" dirty="0">
                <a:latin typeface="Aptos"/>
                <a:cs typeface="Aptos"/>
              </a:rPr>
              <a:t>accept</a:t>
            </a:r>
            <a:r>
              <a:rPr sz="2800" spc="-114" dirty="0">
                <a:latin typeface="Times New Roman"/>
                <a:cs typeface="Times New Roman"/>
              </a:rPr>
              <a:t> </a:t>
            </a:r>
            <a:r>
              <a:rPr sz="2800" spc="-10" dirty="0">
                <a:latin typeface="Aptos"/>
                <a:cs typeface="Aptos"/>
              </a:rPr>
              <a:t>electromagnetic</a:t>
            </a:r>
            <a:r>
              <a:rPr sz="2800" spc="-10" dirty="0">
                <a:latin typeface="Times New Roman"/>
                <a:cs typeface="Times New Roman"/>
              </a:rPr>
              <a:t> </a:t>
            </a:r>
            <a:r>
              <a:rPr sz="2800" spc="-25" dirty="0">
                <a:latin typeface="Aptos"/>
                <a:cs typeface="Aptos"/>
              </a:rPr>
              <a:t>waves</a:t>
            </a:r>
            <a:r>
              <a:rPr sz="2800" spc="-145" dirty="0">
                <a:latin typeface="Times New Roman"/>
                <a:cs typeface="Times New Roman"/>
              </a:rPr>
              <a:t> </a:t>
            </a:r>
            <a:r>
              <a:rPr sz="2800" spc="-10" dirty="0">
                <a:latin typeface="Aptos"/>
                <a:cs typeface="Aptos"/>
              </a:rPr>
              <a:t>and</a:t>
            </a:r>
            <a:r>
              <a:rPr sz="2800" spc="-135" dirty="0">
                <a:latin typeface="Times New Roman"/>
                <a:cs typeface="Times New Roman"/>
              </a:rPr>
              <a:t> </a:t>
            </a:r>
            <a:r>
              <a:rPr sz="2800" spc="-20" dirty="0">
                <a:latin typeface="Aptos"/>
                <a:cs typeface="Aptos"/>
              </a:rPr>
              <a:t>convert</a:t>
            </a:r>
            <a:r>
              <a:rPr sz="2800" spc="-120" dirty="0">
                <a:latin typeface="Times New Roman"/>
                <a:cs typeface="Times New Roman"/>
              </a:rPr>
              <a:t> </a:t>
            </a:r>
            <a:r>
              <a:rPr sz="2800" spc="-20" dirty="0">
                <a:latin typeface="Aptos"/>
                <a:cs typeface="Aptos"/>
              </a:rPr>
              <a:t>them</a:t>
            </a:r>
            <a:r>
              <a:rPr sz="2800" spc="-135" dirty="0">
                <a:latin typeface="Times New Roman"/>
                <a:cs typeface="Times New Roman"/>
              </a:rPr>
              <a:t> </a:t>
            </a:r>
            <a:r>
              <a:rPr sz="2800" spc="-10" dirty="0">
                <a:latin typeface="Aptos"/>
                <a:cs typeface="Aptos"/>
              </a:rPr>
              <a:t>into</a:t>
            </a:r>
            <a:r>
              <a:rPr sz="2800" spc="-140" dirty="0">
                <a:latin typeface="Times New Roman"/>
                <a:cs typeface="Times New Roman"/>
              </a:rPr>
              <a:t> </a:t>
            </a:r>
            <a:r>
              <a:rPr sz="2800" spc="-10" dirty="0">
                <a:latin typeface="Aptos"/>
                <a:cs typeface="Aptos"/>
              </a:rPr>
              <a:t>sound</a:t>
            </a:r>
            <a:r>
              <a:rPr sz="2800" spc="-110" dirty="0">
                <a:latin typeface="Times New Roman"/>
                <a:cs typeface="Times New Roman"/>
              </a:rPr>
              <a:t> </a:t>
            </a:r>
            <a:r>
              <a:rPr sz="2800" dirty="0">
                <a:latin typeface="Aptos"/>
                <a:cs typeface="Aptos"/>
              </a:rPr>
              <a:t>or</a:t>
            </a:r>
            <a:r>
              <a:rPr sz="2800" spc="-135" dirty="0">
                <a:latin typeface="Times New Roman"/>
                <a:cs typeface="Times New Roman"/>
              </a:rPr>
              <a:t> </a:t>
            </a:r>
            <a:r>
              <a:rPr sz="2800" spc="-20" dirty="0">
                <a:latin typeface="Aptos"/>
                <a:cs typeface="Aptos"/>
              </a:rPr>
              <a:t>television</a:t>
            </a:r>
            <a:r>
              <a:rPr sz="2800" spc="-155" dirty="0">
                <a:latin typeface="Times New Roman"/>
                <a:cs typeface="Times New Roman"/>
              </a:rPr>
              <a:t> </a:t>
            </a:r>
            <a:r>
              <a:rPr sz="2800" spc="-10" dirty="0">
                <a:latin typeface="Aptos"/>
                <a:cs typeface="Aptos"/>
              </a:rPr>
              <a:t>pictures</a:t>
            </a:r>
            <a:endParaRPr sz="2800">
              <a:latin typeface="Aptos"/>
              <a:cs typeface="Apto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046025" y="817099"/>
            <a:ext cx="8840886" cy="5974876"/>
          </a:xfrm>
          <a:prstGeom prst="rect">
            <a:avLst/>
          </a:prstGeom>
        </p:spPr>
      </p:pic>
      <p:sp>
        <p:nvSpPr>
          <p:cNvPr id="3" name="object 3"/>
          <p:cNvSpPr txBox="1"/>
          <p:nvPr/>
        </p:nvSpPr>
        <p:spPr>
          <a:xfrm>
            <a:off x="3486156" y="206184"/>
            <a:ext cx="4801870" cy="300355"/>
          </a:xfrm>
          <a:prstGeom prst="rect">
            <a:avLst/>
          </a:prstGeom>
        </p:spPr>
        <p:txBody>
          <a:bodyPr vert="horz" wrap="square" lIns="0" tIns="12700" rIns="0" bIns="0" rtlCol="0">
            <a:spAutoFit/>
          </a:bodyPr>
          <a:lstStyle/>
          <a:p>
            <a:pPr marL="12700">
              <a:lnSpc>
                <a:spcPct val="100000"/>
              </a:lnSpc>
              <a:spcBef>
                <a:spcPts val="100"/>
              </a:spcBef>
            </a:pPr>
            <a:r>
              <a:rPr sz="1800" spc="-10" dirty="0">
                <a:latin typeface="Aptos"/>
                <a:cs typeface="Aptos"/>
              </a:rPr>
              <a:t>Difference</a:t>
            </a:r>
            <a:r>
              <a:rPr sz="1800" spc="-80" dirty="0">
                <a:latin typeface="Times New Roman"/>
                <a:cs typeface="Times New Roman"/>
              </a:rPr>
              <a:t> </a:t>
            </a:r>
            <a:r>
              <a:rPr sz="1800" spc="-10" dirty="0">
                <a:latin typeface="Aptos"/>
                <a:cs typeface="Aptos"/>
              </a:rPr>
              <a:t>between</a:t>
            </a:r>
            <a:r>
              <a:rPr sz="1800" spc="-40" dirty="0">
                <a:latin typeface="Times New Roman"/>
                <a:cs typeface="Times New Roman"/>
              </a:rPr>
              <a:t> </a:t>
            </a:r>
            <a:r>
              <a:rPr sz="1800" spc="-10" dirty="0">
                <a:latin typeface="Aptos"/>
                <a:cs typeface="Aptos"/>
              </a:rPr>
              <a:t>Guided</a:t>
            </a:r>
            <a:r>
              <a:rPr sz="1800" spc="-70" dirty="0">
                <a:latin typeface="Times New Roman"/>
                <a:cs typeface="Times New Roman"/>
              </a:rPr>
              <a:t> </a:t>
            </a:r>
            <a:r>
              <a:rPr sz="1800" dirty="0">
                <a:latin typeface="Aptos"/>
                <a:cs typeface="Aptos"/>
              </a:rPr>
              <a:t>and</a:t>
            </a:r>
            <a:r>
              <a:rPr sz="1800" spc="-70" dirty="0">
                <a:latin typeface="Times New Roman"/>
                <a:cs typeface="Times New Roman"/>
              </a:rPr>
              <a:t> </a:t>
            </a:r>
            <a:r>
              <a:rPr sz="1800" spc="-10" dirty="0">
                <a:latin typeface="Aptos"/>
                <a:cs typeface="Aptos"/>
              </a:rPr>
              <a:t>Unguided</a:t>
            </a:r>
            <a:r>
              <a:rPr sz="1800" spc="-85" dirty="0">
                <a:latin typeface="Times New Roman"/>
                <a:cs typeface="Times New Roman"/>
              </a:rPr>
              <a:t> </a:t>
            </a:r>
            <a:r>
              <a:rPr sz="1800" spc="-10" dirty="0">
                <a:latin typeface="Aptos"/>
                <a:cs typeface="Aptos"/>
              </a:rPr>
              <a:t>media</a:t>
            </a:r>
            <a:endParaRPr sz="1800">
              <a:latin typeface="Aptos"/>
              <a:cs typeface="Apto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283450"/>
            <a:ext cx="10361295" cy="5354320"/>
          </a:xfrm>
          <a:prstGeom prst="rect">
            <a:avLst/>
          </a:prstGeom>
        </p:spPr>
        <p:txBody>
          <a:bodyPr vert="horz" wrap="square" lIns="0" tIns="54610" rIns="0" bIns="0" rtlCol="0">
            <a:spAutoFit/>
          </a:bodyPr>
          <a:lstStyle/>
          <a:p>
            <a:pPr marL="12700" algn="just">
              <a:lnSpc>
                <a:spcPct val="100000"/>
              </a:lnSpc>
              <a:spcBef>
                <a:spcPts val="430"/>
              </a:spcBef>
            </a:pPr>
            <a:r>
              <a:rPr sz="2800" b="1" spc="-35" dirty="0">
                <a:latin typeface="Aptos"/>
                <a:cs typeface="Aptos"/>
              </a:rPr>
              <a:t>Transmission</a:t>
            </a:r>
            <a:r>
              <a:rPr sz="2800" spc="-85" dirty="0">
                <a:latin typeface="Times New Roman"/>
                <a:cs typeface="Times New Roman"/>
              </a:rPr>
              <a:t> </a:t>
            </a:r>
            <a:r>
              <a:rPr sz="2800" b="1" spc="-20" dirty="0">
                <a:latin typeface="Aptos"/>
                <a:cs typeface="Aptos"/>
              </a:rPr>
              <a:t>Impairments</a:t>
            </a:r>
            <a:r>
              <a:rPr sz="2800" spc="-85" dirty="0">
                <a:latin typeface="Times New Roman"/>
                <a:cs typeface="Times New Roman"/>
              </a:rPr>
              <a:t> </a:t>
            </a:r>
            <a:r>
              <a:rPr sz="2800" b="1" spc="-10" dirty="0">
                <a:latin typeface="Aptos"/>
                <a:cs typeface="Aptos"/>
              </a:rPr>
              <a:t>Terminology</a:t>
            </a:r>
            <a:endParaRPr sz="2800">
              <a:latin typeface="Aptos"/>
              <a:cs typeface="Aptos"/>
            </a:endParaRPr>
          </a:p>
          <a:p>
            <a:pPr marL="12700" marR="249554" indent="914400" algn="just">
              <a:lnSpc>
                <a:spcPts val="2690"/>
              </a:lnSpc>
              <a:spcBef>
                <a:spcPts val="975"/>
              </a:spcBef>
            </a:pPr>
            <a:r>
              <a:rPr sz="2800" spc="-40" dirty="0">
                <a:latin typeface="Aptos"/>
                <a:cs typeface="Aptos"/>
              </a:rPr>
              <a:t>Transmission</a:t>
            </a:r>
            <a:r>
              <a:rPr sz="2800" spc="-130" dirty="0">
                <a:latin typeface="Times New Roman"/>
                <a:cs typeface="Times New Roman"/>
              </a:rPr>
              <a:t> </a:t>
            </a:r>
            <a:r>
              <a:rPr sz="2800" spc="-20" dirty="0">
                <a:latin typeface="Aptos"/>
                <a:cs typeface="Aptos"/>
              </a:rPr>
              <a:t>impairments</a:t>
            </a:r>
            <a:r>
              <a:rPr sz="2800" spc="-135" dirty="0">
                <a:latin typeface="Times New Roman"/>
                <a:cs typeface="Times New Roman"/>
              </a:rPr>
              <a:t> </a:t>
            </a:r>
            <a:r>
              <a:rPr sz="2800" spc="-10" dirty="0">
                <a:latin typeface="Aptos"/>
                <a:cs typeface="Aptos"/>
              </a:rPr>
              <a:t>occur</a:t>
            </a:r>
            <a:r>
              <a:rPr sz="2800" spc="-105" dirty="0">
                <a:latin typeface="Times New Roman"/>
                <a:cs typeface="Times New Roman"/>
              </a:rPr>
              <a:t> </a:t>
            </a:r>
            <a:r>
              <a:rPr sz="2800" spc="-10" dirty="0">
                <a:latin typeface="Aptos"/>
                <a:cs typeface="Aptos"/>
              </a:rPr>
              <a:t>when</a:t>
            </a:r>
            <a:r>
              <a:rPr sz="2800" spc="-135" dirty="0">
                <a:latin typeface="Times New Roman"/>
                <a:cs typeface="Times New Roman"/>
              </a:rPr>
              <a:t> </a:t>
            </a:r>
            <a:r>
              <a:rPr sz="2800" spc="-10" dirty="0">
                <a:latin typeface="Aptos"/>
                <a:cs typeface="Aptos"/>
              </a:rPr>
              <a:t>the</a:t>
            </a:r>
            <a:r>
              <a:rPr sz="2800" spc="-135" dirty="0">
                <a:latin typeface="Times New Roman"/>
                <a:cs typeface="Times New Roman"/>
              </a:rPr>
              <a:t> </a:t>
            </a:r>
            <a:r>
              <a:rPr sz="2800" spc="-20" dirty="0">
                <a:latin typeface="Aptos"/>
                <a:cs typeface="Aptos"/>
              </a:rPr>
              <a:t>received</a:t>
            </a:r>
            <a:r>
              <a:rPr sz="2800" spc="-125" dirty="0">
                <a:latin typeface="Times New Roman"/>
                <a:cs typeface="Times New Roman"/>
              </a:rPr>
              <a:t> </a:t>
            </a:r>
            <a:r>
              <a:rPr sz="2800" spc="-10" dirty="0">
                <a:latin typeface="Aptos"/>
                <a:cs typeface="Aptos"/>
              </a:rPr>
              <a:t>signal</a:t>
            </a:r>
            <a:r>
              <a:rPr sz="2800" spc="-135" dirty="0">
                <a:latin typeface="Times New Roman"/>
                <a:cs typeface="Times New Roman"/>
              </a:rPr>
              <a:t> </a:t>
            </a:r>
            <a:r>
              <a:rPr sz="2800" spc="-25" dirty="0">
                <a:latin typeface="Aptos"/>
                <a:cs typeface="Aptos"/>
              </a:rPr>
              <a:t>is</a:t>
            </a:r>
            <a:r>
              <a:rPr sz="2800" spc="-25" dirty="0">
                <a:latin typeface="Times New Roman"/>
                <a:cs typeface="Times New Roman"/>
              </a:rPr>
              <a:t> </a:t>
            </a:r>
            <a:r>
              <a:rPr sz="2800" spc="-20" dirty="0">
                <a:latin typeface="Aptos"/>
                <a:cs typeface="Aptos"/>
              </a:rPr>
              <a:t>different</a:t>
            </a:r>
            <a:r>
              <a:rPr sz="2800" spc="-135" dirty="0">
                <a:latin typeface="Times New Roman"/>
                <a:cs typeface="Times New Roman"/>
              </a:rPr>
              <a:t> </a:t>
            </a:r>
            <a:r>
              <a:rPr sz="2800" spc="-20" dirty="0">
                <a:latin typeface="Aptos"/>
                <a:cs typeface="Aptos"/>
              </a:rPr>
              <a:t>from</a:t>
            </a:r>
            <a:r>
              <a:rPr sz="2800" spc="-114" dirty="0">
                <a:latin typeface="Times New Roman"/>
                <a:cs typeface="Times New Roman"/>
              </a:rPr>
              <a:t> </a:t>
            </a:r>
            <a:r>
              <a:rPr sz="2800" spc="-10" dirty="0">
                <a:latin typeface="Aptos"/>
                <a:cs typeface="Aptos"/>
              </a:rPr>
              <a:t>the</a:t>
            </a:r>
            <a:r>
              <a:rPr sz="2800" spc="-130" dirty="0">
                <a:latin typeface="Times New Roman"/>
                <a:cs typeface="Times New Roman"/>
              </a:rPr>
              <a:t> </a:t>
            </a:r>
            <a:r>
              <a:rPr sz="2800" spc="-30" dirty="0">
                <a:latin typeface="Aptos"/>
                <a:cs typeface="Aptos"/>
              </a:rPr>
              <a:t>transmitted</a:t>
            </a:r>
            <a:r>
              <a:rPr sz="2800" spc="-120" dirty="0">
                <a:latin typeface="Times New Roman"/>
                <a:cs typeface="Times New Roman"/>
              </a:rPr>
              <a:t> </a:t>
            </a:r>
            <a:r>
              <a:rPr sz="2800" spc="-10" dirty="0">
                <a:latin typeface="Aptos"/>
                <a:cs typeface="Aptos"/>
              </a:rPr>
              <a:t>signal.</a:t>
            </a:r>
            <a:endParaRPr sz="2800">
              <a:latin typeface="Aptos"/>
              <a:cs typeface="Aptos"/>
            </a:endParaRPr>
          </a:p>
          <a:p>
            <a:pPr marL="12700" algn="just">
              <a:lnSpc>
                <a:spcPct val="100000"/>
              </a:lnSpc>
              <a:spcBef>
                <a:spcPts val="355"/>
              </a:spcBef>
            </a:pPr>
            <a:r>
              <a:rPr sz="2800" spc="-10" dirty="0">
                <a:latin typeface="Aptos"/>
                <a:cs typeface="Aptos"/>
              </a:rPr>
              <a:t>Some</a:t>
            </a:r>
            <a:r>
              <a:rPr sz="2800" spc="-135" dirty="0">
                <a:latin typeface="Times New Roman"/>
                <a:cs typeface="Times New Roman"/>
              </a:rPr>
              <a:t> </a:t>
            </a:r>
            <a:r>
              <a:rPr sz="2800" dirty="0">
                <a:latin typeface="Aptos"/>
                <a:cs typeface="Aptos"/>
              </a:rPr>
              <a:t>if</a:t>
            </a:r>
            <a:r>
              <a:rPr sz="2800" spc="-145" dirty="0">
                <a:latin typeface="Times New Roman"/>
                <a:cs typeface="Times New Roman"/>
              </a:rPr>
              <a:t> </a:t>
            </a:r>
            <a:r>
              <a:rPr sz="2800" spc="-10" dirty="0">
                <a:latin typeface="Aptos"/>
                <a:cs typeface="Aptos"/>
              </a:rPr>
              <a:t>the</a:t>
            </a:r>
            <a:r>
              <a:rPr sz="2800" spc="-135" dirty="0">
                <a:latin typeface="Times New Roman"/>
                <a:cs typeface="Times New Roman"/>
              </a:rPr>
              <a:t> </a:t>
            </a:r>
            <a:r>
              <a:rPr sz="2800" spc="-20" dirty="0">
                <a:latin typeface="Aptos"/>
                <a:cs typeface="Aptos"/>
              </a:rPr>
              <a:t>impairments</a:t>
            </a:r>
            <a:r>
              <a:rPr sz="2800" spc="-145" dirty="0">
                <a:latin typeface="Times New Roman"/>
                <a:cs typeface="Times New Roman"/>
              </a:rPr>
              <a:t> </a:t>
            </a:r>
            <a:r>
              <a:rPr sz="2800" spc="-20" dirty="0">
                <a:latin typeface="Aptos"/>
                <a:cs typeface="Aptos"/>
              </a:rPr>
              <a:t>are</a:t>
            </a:r>
            <a:r>
              <a:rPr sz="2800" spc="-135" dirty="0">
                <a:latin typeface="Times New Roman"/>
                <a:cs typeface="Times New Roman"/>
              </a:rPr>
              <a:t> </a:t>
            </a:r>
            <a:r>
              <a:rPr sz="2800" spc="-20" dirty="0">
                <a:latin typeface="Aptos"/>
                <a:cs typeface="Aptos"/>
              </a:rPr>
              <a:t>given</a:t>
            </a:r>
            <a:r>
              <a:rPr sz="2800" spc="-145" dirty="0">
                <a:latin typeface="Times New Roman"/>
                <a:cs typeface="Times New Roman"/>
              </a:rPr>
              <a:t> </a:t>
            </a:r>
            <a:r>
              <a:rPr sz="2800" spc="-10" dirty="0">
                <a:latin typeface="Aptos"/>
                <a:cs typeface="Aptos"/>
              </a:rPr>
              <a:t>below:</a:t>
            </a:r>
            <a:endParaRPr sz="2800">
              <a:latin typeface="Aptos"/>
              <a:cs typeface="Aptos"/>
            </a:endParaRPr>
          </a:p>
          <a:p>
            <a:pPr marL="527685" marR="7620" indent="-515620" algn="just">
              <a:lnSpc>
                <a:spcPts val="2690"/>
              </a:lnSpc>
              <a:spcBef>
                <a:spcPts val="975"/>
              </a:spcBef>
              <a:buAutoNum type="arabicParenR"/>
              <a:tabLst>
                <a:tab pos="528320" algn="l"/>
              </a:tabLst>
            </a:pPr>
            <a:r>
              <a:rPr sz="2800" b="1" dirty="0">
                <a:latin typeface="Aptos"/>
                <a:cs typeface="Aptos"/>
              </a:rPr>
              <a:t>Jitter:</a:t>
            </a:r>
            <a:r>
              <a:rPr sz="2800" spc="100" dirty="0">
                <a:latin typeface="Times New Roman"/>
                <a:cs typeface="Times New Roman"/>
              </a:rPr>
              <a:t>  </a:t>
            </a:r>
            <a:r>
              <a:rPr sz="2800" dirty="0">
                <a:latin typeface="Aptos"/>
                <a:cs typeface="Aptos"/>
              </a:rPr>
              <a:t>Jitter</a:t>
            </a:r>
            <a:r>
              <a:rPr sz="2800" spc="85" dirty="0">
                <a:latin typeface="Times New Roman"/>
                <a:cs typeface="Times New Roman"/>
              </a:rPr>
              <a:t>  </a:t>
            </a:r>
            <a:r>
              <a:rPr sz="2800" dirty="0">
                <a:latin typeface="Aptos"/>
                <a:cs typeface="Aptos"/>
              </a:rPr>
              <a:t>is</a:t>
            </a:r>
            <a:r>
              <a:rPr sz="2800" spc="85" dirty="0">
                <a:latin typeface="Times New Roman"/>
                <a:cs typeface="Times New Roman"/>
              </a:rPr>
              <a:t>  </a:t>
            </a:r>
            <a:r>
              <a:rPr sz="2800" dirty="0">
                <a:latin typeface="Aptos"/>
                <a:cs typeface="Aptos"/>
              </a:rPr>
              <a:t>a</a:t>
            </a:r>
            <a:r>
              <a:rPr sz="2800" spc="95" dirty="0">
                <a:latin typeface="Times New Roman"/>
                <a:cs typeface="Times New Roman"/>
              </a:rPr>
              <a:t>  </a:t>
            </a:r>
            <a:r>
              <a:rPr sz="2800" b="1" dirty="0">
                <a:latin typeface="Aptos"/>
                <a:cs typeface="Aptos"/>
              </a:rPr>
              <a:t>fluctuation</a:t>
            </a:r>
            <a:r>
              <a:rPr sz="2800" spc="95" dirty="0">
                <a:latin typeface="Times New Roman"/>
                <a:cs typeface="Times New Roman"/>
              </a:rPr>
              <a:t>  </a:t>
            </a:r>
            <a:r>
              <a:rPr sz="2800" dirty="0">
                <a:latin typeface="Aptos"/>
                <a:cs typeface="Aptos"/>
              </a:rPr>
              <a:t>in</a:t>
            </a:r>
            <a:r>
              <a:rPr sz="2800" spc="85" dirty="0">
                <a:latin typeface="Times New Roman"/>
                <a:cs typeface="Times New Roman"/>
              </a:rPr>
              <a:t>  </a:t>
            </a:r>
            <a:r>
              <a:rPr sz="2800" dirty="0">
                <a:latin typeface="Aptos"/>
                <a:cs typeface="Aptos"/>
              </a:rPr>
              <a:t>delay</a:t>
            </a:r>
            <a:r>
              <a:rPr sz="2800" spc="85" dirty="0">
                <a:latin typeface="Times New Roman"/>
                <a:cs typeface="Times New Roman"/>
              </a:rPr>
              <a:t>  </a:t>
            </a:r>
            <a:r>
              <a:rPr sz="2800" dirty="0">
                <a:latin typeface="Aptos"/>
                <a:cs typeface="Aptos"/>
              </a:rPr>
              <a:t>as</a:t>
            </a:r>
            <a:r>
              <a:rPr sz="2800" spc="90" dirty="0">
                <a:latin typeface="Times New Roman"/>
                <a:cs typeface="Times New Roman"/>
              </a:rPr>
              <a:t>  </a:t>
            </a:r>
            <a:r>
              <a:rPr sz="2800" dirty="0">
                <a:latin typeface="Aptos"/>
                <a:cs typeface="Aptos"/>
              </a:rPr>
              <a:t>packets</a:t>
            </a:r>
            <a:r>
              <a:rPr sz="2800" spc="100" dirty="0">
                <a:latin typeface="Times New Roman"/>
                <a:cs typeface="Times New Roman"/>
              </a:rPr>
              <a:t>  </a:t>
            </a:r>
            <a:r>
              <a:rPr sz="2800" dirty="0">
                <a:latin typeface="Aptos"/>
                <a:cs typeface="Aptos"/>
              </a:rPr>
              <a:t>are</a:t>
            </a:r>
            <a:r>
              <a:rPr sz="2800" spc="90" dirty="0">
                <a:latin typeface="Times New Roman"/>
                <a:cs typeface="Times New Roman"/>
              </a:rPr>
              <a:t>  </a:t>
            </a:r>
            <a:r>
              <a:rPr sz="2800" spc="-10" dirty="0">
                <a:latin typeface="Aptos"/>
                <a:cs typeface="Aptos"/>
              </a:rPr>
              <a:t>being</a:t>
            </a:r>
            <a:r>
              <a:rPr sz="2800" spc="-10" dirty="0">
                <a:latin typeface="Times New Roman"/>
                <a:cs typeface="Times New Roman"/>
              </a:rPr>
              <a:t> </a:t>
            </a:r>
            <a:r>
              <a:rPr sz="2800" dirty="0">
                <a:latin typeface="Aptos"/>
                <a:cs typeface="Aptos"/>
              </a:rPr>
              <a:t>transferred</a:t>
            </a:r>
            <a:r>
              <a:rPr sz="2800" spc="155" dirty="0">
                <a:latin typeface="Times New Roman"/>
                <a:cs typeface="Times New Roman"/>
              </a:rPr>
              <a:t> </a:t>
            </a:r>
            <a:r>
              <a:rPr sz="2800" dirty="0">
                <a:latin typeface="Aptos"/>
                <a:cs typeface="Aptos"/>
              </a:rPr>
              <a:t>across</a:t>
            </a:r>
            <a:r>
              <a:rPr sz="2800" spc="165" dirty="0">
                <a:latin typeface="Times New Roman"/>
                <a:cs typeface="Times New Roman"/>
              </a:rPr>
              <a:t> </a:t>
            </a:r>
            <a:r>
              <a:rPr sz="2800" dirty="0">
                <a:latin typeface="Aptos"/>
                <a:cs typeface="Aptos"/>
              </a:rPr>
              <a:t>a</a:t>
            </a:r>
            <a:r>
              <a:rPr sz="2800" spc="145" dirty="0">
                <a:latin typeface="Times New Roman"/>
                <a:cs typeface="Times New Roman"/>
              </a:rPr>
              <a:t> </a:t>
            </a:r>
            <a:r>
              <a:rPr sz="2800" dirty="0">
                <a:latin typeface="Aptos"/>
                <a:cs typeface="Aptos"/>
              </a:rPr>
              <a:t>network.</a:t>
            </a:r>
            <a:r>
              <a:rPr sz="2800" spc="145" dirty="0">
                <a:latin typeface="Times New Roman"/>
                <a:cs typeface="Times New Roman"/>
              </a:rPr>
              <a:t> </a:t>
            </a:r>
            <a:r>
              <a:rPr sz="2800" dirty="0">
                <a:latin typeface="Aptos"/>
                <a:cs typeface="Aptos"/>
              </a:rPr>
              <a:t>It</a:t>
            </a:r>
            <a:r>
              <a:rPr sz="2800" spc="150" dirty="0">
                <a:latin typeface="Times New Roman"/>
                <a:cs typeface="Times New Roman"/>
              </a:rPr>
              <a:t> </a:t>
            </a:r>
            <a:r>
              <a:rPr sz="2800" dirty="0">
                <a:latin typeface="Aptos"/>
                <a:cs typeface="Aptos"/>
              </a:rPr>
              <a:t>is</a:t>
            </a:r>
            <a:r>
              <a:rPr sz="2800" spc="150" dirty="0">
                <a:latin typeface="Times New Roman"/>
                <a:cs typeface="Times New Roman"/>
              </a:rPr>
              <a:t> </a:t>
            </a:r>
            <a:r>
              <a:rPr sz="2800" dirty="0">
                <a:latin typeface="Aptos"/>
                <a:cs typeface="Aptos"/>
              </a:rPr>
              <a:t>also</a:t>
            </a:r>
            <a:r>
              <a:rPr sz="2800" spc="165" dirty="0">
                <a:latin typeface="Times New Roman"/>
                <a:cs typeface="Times New Roman"/>
              </a:rPr>
              <a:t> </a:t>
            </a:r>
            <a:r>
              <a:rPr sz="2800" dirty="0">
                <a:latin typeface="Aptos"/>
                <a:cs typeface="Aptos"/>
              </a:rPr>
              <a:t>called</a:t>
            </a:r>
            <a:r>
              <a:rPr sz="2800" spc="165" dirty="0">
                <a:latin typeface="Times New Roman"/>
                <a:cs typeface="Times New Roman"/>
              </a:rPr>
              <a:t> </a:t>
            </a:r>
            <a:r>
              <a:rPr sz="2800" dirty="0">
                <a:latin typeface="Aptos"/>
                <a:cs typeface="Aptos"/>
              </a:rPr>
              <a:t>variation</a:t>
            </a:r>
            <a:r>
              <a:rPr sz="2800" spc="140" dirty="0">
                <a:latin typeface="Times New Roman"/>
                <a:cs typeface="Times New Roman"/>
              </a:rPr>
              <a:t> </a:t>
            </a:r>
            <a:r>
              <a:rPr sz="2800" dirty="0">
                <a:latin typeface="Aptos"/>
                <a:cs typeface="Aptos"/>
              </a:rPr>
              <a:t>in</a:t>
            </a:r>
            <a:r>
              <a:rPr sz="2800" spc="140" dirty="0">
                <a:latin typeface="Times New Roman"/>
                <a:cs typeface="Times New Roman"/>
              </a:rPr>
              <a:t> </a:t>
            </a:r>
            <a:r>
              <a:rPr sz="2800" spc="-20" dirty="0">
                <a:latin typeface="Aptos"/>
                <a:cs typeface="Aptos"/>
              </a:rPr>
              <a:t>time</a:t>
            </a:r>
            <a:r>
              <a:rPr sz="2800" spc="-20" dirty="0">
                <a:latin typeface="Times New Roman"/>
                <a:cs typeface="Times New Roman"/>
              </a:rPr>
              <a:t> </a:t>
            </a:r>
            <a:r>
              <a:rPr sz="2800" dirty="0">
                <a:latin typeface="Aptos"/>
                <a:cs typeface="Aptos"/>
              </a:rPr>
              <a:t>between</a:t>
            </a:r>
            <a:r>
              <a:rPr sz="2800" spc="135" dirty="0">
                <a:latin typeface="Times New Roman"/>
                <a:cs typeface="Times New Roman"/>
              </a:rPr>
              <a:t> </a:t>
            </a:r>
            <a:r>
              <a:rPr sz="2800" dirty="0">
                <a:latin typeface="Aptos"/>
                <a:cs typeface="Aptos"/>
              </a:rPr>
              <a:t>data</a:t>
            </a:r>
            <a:r>
              <a:rPr sz="2800" spc="145" dirty="0">
                <a:latin typeface="Times New Roman"/>
                <a:cs typeface="Times New Roman"/>
              </a:rPr>
              <a:t> </a:t>
            </a:r>
            <a:r>
              <a:rPr sz="2800" dirty="0">
                <a:latin typeface="Aptos"/>
                <a:cs typeface="Aptos"/>
              </a:rPr>
              <a:t>packets</a:t>
            </a:r>
            <a:r>
              <a:rPr sz="2800" spc="140" dirty="0">
                <a:latin typeface="Times New Roman"/>
                <a:cs typeface="Times New Roman"/>
              </a:rPr>
              <a:t> </a:t>
            </a:r>
            <a:r>
              <a:rPr sz="2800" dirty="0">
                <a:latin typeface="Aptos"/>
                <a:cs typeface="Aptos"/>
              </a:rPr>
              <a:t>that</a:t>
            </a:r>
            <a:r>
              <a:rPr sz="2800" spc="150" dirty="0">
                <a:latin typeface="Times New Roman"/>
                <a:cs typeface="Times New Roman"/>
              </a:rPr>
              <a:t> </a:t>
            </a:r>
            <a:r>
              <a:rPr sz="2800" dirty="0">
                <a:latin typeface="Aptos"/>
                <a:cs typeface="Aptos"/>
              </a:rPr>
              <a:t>may</a:t>
            </a:r>
            <a:r>
              <a:rPr sz="2800" spc="135" dirty="0">
                <a:latin typeface="Times New Roman"/>
                <a:cs typeface="Times New Roman"/>
              </a:rPr>
              <a:t> </a:t>
            </a:r>
            <a:r>
              <a:rPr sz="2800" dirty="0">
                <a:latin typeface="Aptos"/>
                <a:cs typeface="Aptos"/>
              </a:rPr>
              <a:t>be</a:t>
            </a:r>
            <a:r>
              <a:rPr sz="2800" spc="150" dirty="0">
                <a:latin typeface="Times New Roman"/>
                <a:cs typeface="Times New Roman"/>
              </a:rPr>
              <a:t> </a:t>
            </a:r>
            <a:r>
              <a:rPr sz="2800" dirty="0">
                <a:latin typeface="Aptos"/>
                <a:cs typeface="Aptos"/>
              </a:rPr>
              <a:t>caused</a:t>
            </a:r>
            <a:r>
              <a:rPr sz="2800" spc="140" dirty="0">
                <a:latin typeface="Times New Roman"/>
                <a:cs typeface="Times New Roman"/>
              </a:rPr>
              <a:t> </a:t>
            </a:r>
            <a:r>
              <a:rPr sz="2800" dirty="0">
                <a:latin typeface="Aptos"/>
                <a:cs typeface="Aptos"/>
              </a:rPr>
              <a:t>by</a:t>
            </a:r>
            <a:r>
              <a:rPr sz="2800" spc="145" dirty="0">
                <a:latin typeface="Times New Roman"/>
                <a:cs typeface="Times New Roman"/>
              </a:rPr>
              <a:t> </a:t>
            </a:r>
            <a:r>
              <a:rPr sz="2800" dirty="0">
                <a:latin typeface="Aptos"/>
                <a:cs typeface="Aptos"/>
              </a:rPr>
              <a:t>transit</a:t>
            </a:r>
            <a:r>
              <a:rPr sz="2800" spc="135" dirty="0">
                <a:latin typeface="Times New Roman"/>
                <a:cs typeface="Times New Roman"/>
              </a:rPr>
              <a:t> </a:t>
            </a:r>
            <a:r>
              <a:rPr sz="2800" dirty="0">
                <a:latin typeface="Aptos"/>
                <a:cs typeface="Aptos"/>
              </a:rPr>
              <a:t>points</a:t>
            </a:r>
            <a:r>
              <a:rPr sz="2800" spc="140" dirty="0">
                <a:latin typeface="Times New Roman"/>
                <a:cs typeface="Times New Roman"/>
              </a:rPr>
              <a:t> </a:t>
            </a:r>
            <a:r>
              <a:rPr sz="2800" spc="-25" dirty="0">
                <a:latin typeface="Aptos"/>
                <a:cs typeface="Aptos"/>
              </a:rPr>
              <a:t>or</a:t>
            </a:r>
            <a:r>
              <a:rPr sz="2800" spc="-25" dirty="0">
                <a:latin typeface="Times New Roman"/>
                <a:cs typeface="Times New Roman"/>
              </a:rPr>
              <a:t> </a:t>
            </a:r>
            <a:r>
              <a:rPr sz="2800" spc="-20" dirty="0">
                <a:latin typeface="Aptos"/>
                <a:cs typeface="Aptos"/>
              </a:rPr>
              <a:t>network</a:t>
            </a:r>
            <a:r>
              <a:rPr sz="2800" spc="-110" dirty="0">
                <a:latin typeface="Times New Roman"/>
                <a:cs typeface="Times New Roman"/>
              </a:rPr>
              <a:t> </a:t>
            </a:r>
            <a:r>
              <a:rPr sz="2800" spc="-10" dirty="0">
                <a:latin typeface="Aptos"/>
                <a:cs typeface="Aptos"/>
              </a:rPr>
              <a:t>traffic.</a:t>
            </a:r>
            <a:endParaRPr sz="2800">
              <a:latin typeface="Aptos"/>
              <a:cs typeface="Aptos"/>
            </a:endParaRPr>
          </a:p>
          <a:p>
            <a:pPr marL="527685" marR="1367155" indent="-515620" algn="just">
              <a:lnSpc>
                <a:spcPts val="2690"/>
              </a:lnSpc>
              <a:spcBef>
                <a:spcPts val="990"/>
              </a:spcBef>
              <a:buAutoNum type="arabicParenR"/>
              <a:tabLst>
                <a:tab pos="528320" algn="l"/>
              </a:tabLst>
            </a:pPr>
            <a:r>
              <a:rPr sz="2800" b="1" spc="-10" dirty="0">
                <a:latin typeface="Aptos"/>
                <a:cs typeface="Aptos"/>
              </a:rPr>
              <a:t>Echo:</a:t>
            </a:r>
            <a:r>
              <a:rPr sz="2800" spc="-160" dirty="0">
                <a:latin typeface="Times New Roman"/>
                <a:cs typeface="Times New Roman"/>
              </a:rPr>
              <a:t> </a:t>
            </a:r>
            <a:r>
              <a:rPr sz="2800" spc="-10" dirty="0">
                <a:latin typeface="Aptos"/>
                <a:cs typeface="Aptos"/>
              </a:rPr>
              <a:t>Echo</a:t>
            </a:r>
            <a:r>
              <a:rPr sz="2800" spc="-130" dirty="0">
                <a:latin typeface="Times New Roman"/>
                <a:cs typeface="Times New Roman"/>
              </a:rPr>
              <a:t> </a:t>
            </a:r>
            <a:r>
              <a:rPr sz="2800" dirty="0">
                <a:latin typeface="Aptos"/>
                <a:cs typeface="Aptos"/>
              </a:rPr>
              <a:t>is</a:t>
            </a:r>
            <a:r>
              <a:rPr sz="2800" spc="-145" dirty="0">
                <a:latin typeface="Times New Roman"/>
                <a:cs typeface="Times New Roman"/>
              </a:rPr>
              <a:t> </a:t>
            </a:r>
            <a:r>
              <a:rPr sz="2800" dirty="0">
                <a:latin typeface="Aptos"/>
                <a:cs typeface="Aptos"/>
              </a:rPr>
              <a:t>a</a:t>
            </a:r>
            <a:r>
              <a:rPr sz="2800" spc="-150" dirty="0">
                <a:latin typeface="Times New Roman"/>
                <a:cs typeface="Times New Roman"/>
              </a:rPr>
              <a:t> </a:t>
            </a:r>
            <a:r>
              <a:rPr sz="2800" spc="-10" dirty="0">
                <a:latin typeface="Aptos"/>
                <a:cs typeface="Aptos"/>
              </a:rPr>
              <a:t>sound</a:t>
            </a:r>
            <a:r>
              <a:rPr sz="2800" spc="-135" dirty="0">
                <a:latin typeface="Times New Roman"/>
                <a:cs typeface="Times New Roman"/>
              </a:rPr>
              <a:t> </a:t>
            </a:r>
            <a:r>
              <a:rPr sz="2800" spc="-20" dirty="0">
                <a:latin typeface="Aptos"/>
                <a:cs typeface="Aptos"/>
              </a:rPr>
              <a:t>that</a:t>
            </a:r>
            <a:r>
              <a:rPr sz="2800" spc="-150" dirty="0">
                <a:latin typeface="Times New Roman"/>
                <a:cs typeface="Times New Roman"/>
              </a:rPr>
              <a:t> </a:t>
            </a:r>
            <a:r>
              <a:rPr sz="2800" dirty="0">
                <a:latin typeface="Aptos"/>
                <a:cs typeface="Aptos"/>
              </a:rPr>
              <a:t>is</a:t>
            </a:r>
            <a:r>
              <a:rPr sz="2800" spc="-150" dirty="0">
                <a:latin typeface="Times New Roman"/>
                <a:cs typeface="Times New Roman"/>
              </a:rPr>
              <a:t> </a:t>
            </a:r>
            <a:r>
              <a:rPr sz="2800" dirty="0">
                <a:latin typeface="Aptos"/>
                <a:cs typeface="Aptos"/>
              </a:rPr>
              <a:t>a</a:t>
            </a:r>
            <a:r>
              <a:rPr sz="2800" spc="-145" dirty="0">
                <a:latin typeface="Times New Roman"/>
                <a:cs typeface="Times New Roman"/>
              </a:rPr>
              <a:t> </a:t>
            </a:r>
            <a:r>
              <a:rPr sz="2800" spc="-10" dirty="0">
                <a:latin typeface="Aptos"/>
                <a:cs typeface="Aptos"/>
              </a:rPr>
              <a:t>copy</a:t>
            </a:r>
            <a:r>
              <a:rPr sz="2800" spc="-135" dirty="0">
                <a:latin typeface="Times New Roman"/>
                <a:cs typeface="Times New Roman"/>
              </a:rPr>
              <a:t> </a:t>
            </a:r>
            <a:r>
              <a:rPr sz="2800" dirty="0">
                <a:latin typeface="Aptos"/>
                <a:cs typeface="Aptos"/>
              </a:rPr>
              <a:t>of</a:t>
            </a:r>
            <a:r>
              <a:rPr sz="2800" spc="-140" dirty="0">
                <a:latin typeface="Times New Roman"/>
                <a:cs typeface="Times New Roman"/>
              </a:rPr>
              <a:t> </a:t>
            </a:r>
            <a:r>
              <a:rPr sz="2800" spc="-20" dirty="0">
                <a:latin typeface="Aptos"/>
                <a:cs typeface="Aptos"/>
              </a:rPr>
              <a:t>another</a:t>
            </a:r>
            <a:r>
              <a:rPr sz="2800" spc="-150" dirty="0">
                <a:latin typeface="Times New Roman"/>
                <a:cs typeface="Times New Roman"/>
              </a:rPr>
              <a:t> </a:t>
            </a:r>
            <a:r>
              <a:rPr sz="2800" spc="-10" dirty="0">
                <a:latin typeface="Aptos"/>
                <a:cs typeface="Aptos"/>
              </a:rPr>
              <a:t>sound</a:t>
            </a:r>
            <a:r>
              <a:rPr sz="2800" spc="-135" dirty="0">
                <a:latin typeface="Times New Roman"/>
                <a:cs typeface="Times New Roman"/>
              </a:rPr>
              <a:t> </a:t>
            </a:r>
            <a:r>
              <a:rPr sz="2800" spc="-25" dirty="0">
                <a:latin typeface="Aptos"/>
                <a:cs typeface="Aptos"/>
              </a:rPr>
              <a:t>is</a:t>
            </a:r>
            <a:r>
              <a:rPr sz="2800" spc="-25" dirty="0">
                <a:latin typeface="Times New Roman"/>
                <a:cs typeface="Times New Roman"/>
              </a:rPr>
              <a:t> </a:t>
            </a:r>
            <a:r>
              <a:rPr sz="2800" spc="-20" dirty="0">
                <a:latin typeface="Aptos"/>
                <a:cs typeface="Aptos"/>
              </a:rPr>
              <a:t>produced</a:t>
            </a:r>
            <a:r>
              <a:rPr sz="2800" spc="-120" dirty="0">
                <a:latin typeface="Times New Roman"/>
                <a:cs typeface="Times New Roman"/>
              </a:rPr>
              <a:t> </a:t>
            </a:r>
            <a:r>
              <a:rPr sz="2800" spc="-10" dirty="0">
                <a:latin typeface="Aptos"/>
                <a:cs typeface="Aptos"/>
              </a:rPr>
              <a:t>when</a:t>
            </a:r>
            <a:r>
              <a:rPr sz="2800" spc="-150" dirty="0">
                <a:latin typeface="Times New Roman"/>
                <a:cs typeface="Times New Roman"/>
              </a:rPr>
              <a:t> </a:t>
            </a:r>
            <a:r>
              <a:rPr sz="2800" spc="-10" dirty="0">
                <a:latin typeface="Aptos"/>
                <a:cs typeface="Aptos"/>
              </a:rPr>
              <a:t>sound</a:t>
            </a:r>
            <a:r>
              <a:rPr sz="2800" spc="-135" dirty="0">
                <a:latin typeface="Times New Roman"/>
                <a:cs typeface="Times New Roman"/>
              </a:rPr>
              <a:t> </a:t>
            </a:r>
            <a:r>
              <a:rPr sz="2800" spc="-25" dirty="0">
                <a:latin typeface="Aptos"/>
                <a:cs typeface="Aptos"/>
              </a:rPr>
              <a:t>waves</a:t>
            </a:r>
            <a:r>
              <a:rPr sz="2800" spc="-150" dirty="0">
                <a:latin typeface="Times New Roman"/>
                <a:cs typeface="Times New Roman"/>
              </a:rPr>
              <a:t> </a:t>
            </a:r>
            <a:r>
              <a:rPr sz="2800" spc="-10" dirty="0">
                <a:latin typeface="Aptos"/>
                <a:cs typeface="Aptos"/>
              </a:rPr>
              <a:t>bounce</a:t>
            </a:r>
            <a:r>
              <a:rPr sz="2800" spc="-140" dirty="0">
                <a:latin typeface="Times New Roman"/>
                <a:cs typeface="Times New Roman"/>
              </a:rPr>
              <a:t> </a:t>
            </a:r>
            <a:r>
              <a:rPr sz="2800" dirty="0">
                <a:latin typeface="Aptos"/>
                <a:cs typeface="Aptos"/>
              </a:rPr>
              <a:t>on</a:t>
            </a:r>
            <a:r>
              <a:rPr sz="2800" spc="-145" dirty="0">
                <a:latin typeface="Times New Roman"/>
                <a:cs typeface="Times New Roman"/>
              </a:rPr>
              <a:t> </a:t>
            </a:r>
            <a:r>
              <a:rPr sz="2800" spc="-10" dirty="0">
                <a:latin typeface="Aptos"/>
                <a:cs typeface="Aptos"/>
              </a:rPr>
              <a:t>the</a:t>
            </a:r>
            <a:r>
              <a:rPr sz="2800" spc="-155" dirty="0">
                <a:latin typeface="Times New Roman"/>
                <a:cs typeface="Times New Roman"/>
              </a:rPr>
              <a:t> </a:t>
            </a:r>
            <a:r>
              <a:rPr sz="2800" spc="-10" dirty="0">
                <a:latin typeface="Aptos"/>
                <a:cs typeface="Aptos"/>
              </a:rPr>
              <a:t>surface.</a:t>
            </a:r>
            <a:endParaRPr sz="2800">
              <a:latin typeface="Aptos"/>
              <a:cs typeface="Aptos"/>
            </a:endParaRPr>
          </a:p>
          <a:p>
            <a:pPr marL="526415" indent="-514350" algn="just">
              <a:lnSpc>
                <a:spcPct val="100000"/>
              </a:lnSpc>
              <a:spcBef>
                <a:spcPts val="355"/>
              </a:spcBef>
              <a:buAutoNum type="arabicParenR"/>
              <a:tabLst>
                <a:tab pos="527050" algn="l"/>
              </a:tabLst>
            </a:pPr>
            <a:r>
              <a:rPr sz="2800" b="1" spc="-10" dirty="0">
                <a:latin typeface="Aptos"/>
                <a:cs typeface="Aptos"/>
              </a:rPr>
              <a:t>Crosstalk:</a:t>
            </a:r>
            <a:endParaRPr sz="2800">
              <a:latin typeface="Aptos"/>
              <a:cs typeface="Aptos"/>
            </a:endParaRPr>
          </a:p>
          <a:p>
            <a:pPr marL="927100" marR="5080" algn="just">
              <a:lnSpc>
                <a:spcPts val="2690"/>
              </a:lnSpc>
              <a:spcBef>
                <a:spcPts val="975"/>
              </a:spcBef>
            </a:pPr>
            <a:r>
              <a:rPr sz="2800" dirty="0">
                <a:latin typeface="Aptos"/>
                <a:cs typeface="Aptos"/>
              </a:rPr>
              <a:t>Cross</a:t>
            </a:r>
            <a:r>
              <a:rPr sz="2800" spc="-40" dirty="0">
                <a:latin typeface="Times New Roman"/>
                <a:cs typeface="Times New Roman"/>
              </a:rPr>
              <a:t> </a:t>
            </a:r>
            <a:r>
              <a:rPr sz="2800" dirty="0">
                <a:latin typeface="Aptos"/>
                <a:cs typeface="Aptos"/>
              </a:rPr>
              <a:t>is</a:t>
            </a:r>
            <a:r>
              <a:rPr sz="2800" spc="-35" dirty="0">
                <a:latin typeface="Times New Roman"/>
                <a:cs typeface="Times New Roman"/>
              </a:rPr>
              <a:t> </a:t>
            </a:r>
            <a:r>
              <a:rPr sz="2800" dirty="0">
                <a:latin typeface="Aptos"/>
                <a:cs typeface="Aptos"/>
              </a:rPr>
              <a:t>a</a:t>
            </a:r>
            <a:r>
              <a:rPr sz="2800" spc="-25" dirty="0">
                <a:latin typeface="Times New Roman"/>
                <a:cs typeface="Times New Roman"/>
              </a:rPr>
              <a:t> </a:t>
            </a:r>
            <a:r>
              <a:rPr sz="2800" dirty="0">
                <a:latin typeface="Aptos"/>
                <a:cs typeface="Aptos"/>
              </a:rPr>
              <a:t>form</a:t>
            </a:r>
            <a:r>
              <a:rPr sz="2800" spc="-15" dirty="0">
                <a:latin typeface="Times New Roman"/>
                <a:cs typeface="Times New Roman"/>
              </a:rPr>
              <a:t> </a:t>
            </a:r>
            <a:r>
              <a:rPr sz="2800" dirty="0">
                <a:latin typeface="Aptos"/>
                <a:cs typeface="Aptos"/>
              </a:rPr>
              <a:t>of</a:t>
            </a:r>
            <a:r>
              <a:rPr sz="2800" spc="-40" dirty="0">
                <a:latin typeface="Times New Roman"/>
                <a:cs typeface="Times New Roman"/>
              </a:rPr>
              <a:t> </a:t>
            </a:r>
            <a:r>
              <a:rPr sz="2800" spc="-10" dirty="0">
                <a:latin typeface="Aptos"/>
                <a:cs typeface="Aptos"/>
              </a:rPr>
              <a:t>interference</a:t>
            </a:r>
            <a:r>
              <a:rPr sz="2800" spc="-35" dirty="0">
                <a:latin typeface="Times New Roman"/>
                <a:cs typeface="Times New Roman"/>
              </a:rPr>
              <a:t> </a:t>
            </a:r>
            <a:r>
              <a:rPr sz="2800" dirty="0">
                <a:latin typeface="Aptos"/>
                <a:cs typeface="Aptos"/>
              </a:rPr>
              <a:t>in</a:t>
            </a:r>
            <a:r>
              <a:rPr sz="2800" spc="-45" dirty="0">
                <a:latin typeface="Times New Roman"/>
                <a:cs typeface="Times New Roman"/>
              </a:rPr>
              <a:t> </a:t>
            </a:r>
            <a:r>
              <a:rPr sz="2800" dirty="0">
                <a:latin typeface="Aptos"/>
                <a:cs typeface="Aptos"/>
              </a:rPr>
              <a:t>which</a:t>
            </a:r>
            <a:r>
              <a:rPr sz="2800" spc="-35" dirty="0">
                <a:latin typeface="Times New Roman"/>
                <a:cs typeface="Times New Roman"/>
              </a:rPr>
              <a:t> </a:t>
            </a:r>
            <a:r>
              <a:rPr sz="2800" dirty="0">
                <a:latin typeface="Aptos"/>
                <a:cs typeface="Aptos"/>
              </a:rPr>
              <a:t>signal</a:t>
            </a:r>
            <a:r>
              <a:rPr sz="2800" spc="-35" dirty="0">
                <a:latin typeface="Times New Roman"/>
                <a:cs typeface="Times New Roman"/>
              </a:rPr>
              <a:t> </a:t>
            </a:r>
            <a:r>
              <a:rPr sz="2800" dirty="0">
                <a:latin typeface="Aptos"/>
                <a:cs typeface="Aptos"/>
              </a:rPr>
              <a:t>in</a:t>
            </a:r>
            <a:r>
              <a:rPr sz="2800" spc="-45" dirty="0">
                <a:latin typeface="Times New Roman"/>
                <a:cs typeface="Times New Roman"/>
              </a:rPr>
              <a:t> </a:t>
            </a:r>
            <a:r>
              <a:rPr sz="2800" dirty="0">
                <a:latin typeface="Aptos"/>
                <a:cs typeface="Aptos"/>
              </a:rPr>
              <a:t>one</a:t>
            </a:r>
            <a:r>
              <a:rPr sz="2800" spc="-25" dirty="0">
                <a:latin typeface="Times New Roman"/>
                <a:cs typeface="Times New Roman"/>
              </a:rPr>
              <a:t> </a:t>
            </a:r>
            <a:r>
              <a:rPr sz="2800" dirty="0">
                <a:latin typeface="Aptos"/>
                <a:cs typeface="Aptos"/>
              </a:rPr>
              <a:t>cable</a:t>
            </a:r>
            <a:r>
              <a:rPr sz="2800" spc="-25" dirty="0">
                <a:latin typeface="Times New Roman"/>
                <a:cs typeface="Times New Roman"/>
              </a:rPr>
              <a:t> </a:t>
            </a:r>
            <a:r>
              <a:rPr sz="2800" spc="-25" dirty="0">
                <a:latin typeface="Aptos"/>
                <a:cs typeface="Aptos"/>
              </a:rPr>
              <a:t>is</a:t>
            </a:r>
            <a:r>
              <a:rPr sz="2800" spc="-25" dirty="0">
                <a:latin typeface="Times New Roman"/>
                <a:cs typeface="Times New Roman"/>
              </a:rPr>
              <a:t> </a:t>
            </a:r>
            <a:r>
              <a:rPr sz="2800" spc="-20" dirty="0">
                <a:latin typeface="Aptos"/>
                <a:cs typeface="Aptos"/>
              </a:rPr>
              <a:t>mixed</a:t>
            </a:r>
            <a:r>
              <a:rPr sz="2800" spc="-125" dirty="0">
                <a:latin typeface="Times New Roman"/>
                <a:cs typeface="Times New Roman"/>
              </a:rPr>
              <a:t> </a:t>
            </a:r>
            <a:r>
              <a:rPr sz="2800" spc="-10" dirty="0">
                <a:latin typeface="Aptos"/>
                <a:cs typeface="Aptos"/>
              </a:rPr>
              <a:t>with</a:t>
            </a:r>
            <a:r>
              <a:rPr sz="2800" spc="-145" dirty="0">
                <a:latin typeface="Times New Roman"/>
                <a:cs typeface="Times New Roman"/>
              </a:rPr>
              <a:t> </a:t>
            </a:r>
            <a:r>
              <a:rPr sz="2800" spc="-20" dirty="0">
                <a:latin typeface="Aptos"/>
                <a:cs typeface="Aptos"/>
              </a:rPr>
              <a:t>another</a:t>
            </a:r>
            <a:r>
              <a:rPr sz="2800" spc="-135" dirty="0">
                <a:latin typeface="Times New Roman"/>
                <a:cs typeface="Times New Roman"/>
              </a:rPr>
              <a:t> </a:t>
            </a:r>
            <a:r>
              <a:rPr sz="2800" spc="-10" dirty="0">
                <a:latin typeface="Aptos"/>
                <a:cs typeface="Aptos"/>
              </a:rPr>
              <a:t>cable.</a:t>
            </a:r>
            <a:endParaRPr sz="2800">
              <a:latin typeface="Aptos"/>
              <a:cs typeface="Apto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284869"/>
            <a:ext cx="10359390" cy="5012690"/>
          </a:xfrm>
          <a:prstGeom prst="rect">
            <a:avLst/>
          </a:prstGeom>
        </p:spPr>
        <p:txBody>
          <a:bodyPr vert="horz" wrap="square" lIns="0" tIns="95885" rIns="0" bIns="0" rtlCol="0">
            <a:spAutoFit/>
          </a:bodyPr>
          <a:lstStyle/>
          <a:p>
            <a:pPr marL="526415" indent="-514350">
              <a:lnSpc>
                <a:spcPct val="100000"/>
              </a:lnSpc>
              <a:spcBef>
                <a:spcPts val="755"/>
              </a:spcBef>
              <a:buAutoNum type="arabicParenR" startAt="4"/>
              <a:tabLst>
                <a:tab pos="526415" algn="l"/>
                <a:tab pos="527050" algn="l"/>
              </a:tabLst>
            </a:pPr>
            <a:r>
              <a:rPr sz="2800" b="1" spc="-10" dirty="0">
                <a:latin typeface="Aptos"/>
                <a:cs typeface="Aptos"/>
              </a:rPr>
              <a:t>Distortion:</a:t>
            </a:r>
            <a:endParaRPr sz="2800">
              <a:latin typeface="Aptos"/>
              <a:cs typeface="Aptos"/>
            </a:endParaRPr>
          </a:p>
          <a:p>
            <a:pPr marL="927100" marR="5080">
              <a:lnSpc>
                <a:spcPts val="3030"/>
              </a:lnSpc>
              <a:spcBef>
                <a:spcPts val="1035"/>
              </a:spcBef>
            </a:pPr>
            <a:r>
              <a:rPr sz="2800" dirty="0">
                <a:latin typeface="Aptos"/>
                <a:cs typeface="Aptos"/>
              </a:rPr>
              <a:t>Distortion</a:t>
            </a:r>
            <a:r>
              <a:rPr sz="2800" spc="229" dirty="0">
                <a:latin typeface="Times New Roman"/>
                <a:cs typeface="Times New Roman"/>
              </a:rPr>
              <a:t> </a:t>
            </a:r>
            <a:r>
              <a:rPr sz="2800" dirty="0">
                <a:latin typeface="Aptos"/>
                <a:cs typeface="Aptos"/>
              </a:rPr>
              <a:t>is</a:t>
            </a:r>
            <a:r>
              <a:rPr sz="2800" spc="254" dirty="0">
                <a:latin typeface="Times New Roman"/>
                <a:cs typeface="Times New Roman"/>
              </a:rPr>
              <a:t> </a:t>
            </a:r>
            <a:r>
              <a:rPr sz="2800" dirty="0">
                <a:latin typeface="Aptos"/>
                <a:cs typeface="Aptos"/>
              </a:rPr>
              <a:t>a</a:t>
            </a:r>
            <a:r>
              <a:rPr sz="2800" spc="270" dirty="0">
                <a:latin typeface="Times New Roman"/>
                <a:cs typeface="Times New Roman"/>
              </a:rPr>
              <a:t> </a:t>
            </a:r>
            <a:r>
              <a:rPr sz="2800" dirty="0">
                <a:latin typeface="Aptos"/>
                <a:cs typeface="Aptos"/>
              </a:rPr>
              <a:t>change</a:t>
            </a:r>
            <a:r>
              <a:rPr sz="2800" spc="260" dirty="0">
                <a:latin typeface="Times New Roman"/>
                <a:cs typeface="Times New Roman"/>
              </a:rPr>
              <a:t> </a:t>
            </a:r>
            <a:r>
              <a:rPr sz="2800" dirty="0">
                <a:latin typeface="Aptos"/>
                <a:cs typeface="Aptos"/>
              </a:rPr>
              <a:t>in</a:t>
            </a:r>
            <a:r>
              <a:rPr sz="2800" spc="250" dirty="0">
                <a:latin typeface="Times New Roman"/>
                <a:cs typeface="Times New Roman"/>
              </a:rPr>
              <a:t> </a:t>
            </a:r>
            <a:r>
              <a:rPr sz="2800" dirty="0">
                <a:latin typeface="Aptos"/>
                <a:cs typeface="Aptos"/>
              </a:rPr>
              <a:t>the</a:t>
            </a:r>
            <a:r>
              <a:rPr sz="2800" spc="250" dirty="0">
                <a:latin typeface="Times New Roman"/>
                <a:cs typeface="Times New Roman"/>
              </a:rPr>
              <a:t> </a:t>
            </a:r>
            <a:r>
              <a:rPr sz="2800" dirty="0">
                <a:latin typeface="Aptos"/>
                <a:cs typeface="Aptos"/>
              </a:rPr>
              <a:t>form</a:t>
            </a:r>
            <a:r>
              <a:rPr sz="2800" spc="275" dirty="0">
                <a:latin typeface="Times New Roman"/>
                <a:cs typeface="Times New Roman"/>
              </a:rPr>
              <a:t> </a:t>
            </a:r>
            <a:r>
              <a:rPr sz="2800" dirty="0">
                <a:latin typeface="Aptos"/>
                <a:cs typeface="Aptos"/>
              </a:rPr>
              <a:t>or</a:t>
            </a:r>
            <a:r>
              <a:rPr sz="2800" spc="270" dirty="0">
                <a:latin typeface="Times New Roman"/>
                <a:cs typeface="Times New Roman"/>
              </a:rPr>
              <a:t> </a:t>
            </a:r>
            <a:r>
              <a:rPr sz="2800" dirty="0">
                <a:latin typeface="Aptos"/>
                <a:cs typeface="Aptos"/>
              </a:rPr>
              <a:t>shape</a:t>
            </a:r>
            <a:r>
              <a:rPr sz="2800" spc="280" dirty="0">
                <a:latin typeface="Times New Roman"/>
                <a:cs typeface="Times New Roman"/>
              </a:rPr>
              <a:t> </a:t>
            </a:r>
            <a:r>
              <a:rPr sz="2800" dirty="0">
                <a:latin typeface="Aptos"/>
                <a:cs typeface="Aptos"/>
              </a:rPr>
              <a:t>of</a:t>
            </a:r>
            <a:r>
              <a:rPr sz="2800" spc="254" dirty="0">
                <a:latin typeface="Times New Roman"/>
                <a:cs typeface="Times New Roman"/>
              </a:rPr>
              <a:t> </a:t>
            </a:r>
            <a:r>
              <a:rPr sz="2800" dirty="0">
                <a:latin typeface="Aptos"/>
                <a:cs typeface="Aptos"/>
              </a:rPr>
              <a:t>a</a:t>
            </a:r>
            <a:r>
              <a:rPr sz="2800" spc="270" dirty="0">
                <a:latin typeface="Times New Roman"/>
                <a:cs typeface="Times New Roman"/>
              </a:rPr>
              <a:t> </a:t>
            </a:r>
            <a:r>
              <a:rPr sz="2800" dirty="0">
                <a:latin typeface="Aptos"/>
                <a:cs typeface="Aptos"/>
              </a:rPr>
              <a:t>signal</a:t>
            </a:r>
            <a:r>
              <a:rPr sz="2800" spc="270" dirty="0">
                <a:latin typeface="Times New Roman"/>
                <a:cs typeface="Times New Roman"/>
              </a:rPr>
              <a:t> </a:t>
            </a:r>
            <a:r>
              <a:rPr sz="2800" spc="-20" dirty="0">
                <a:latin typeface="Aptos"/>
                <a:cs typeface="Aptos"/>
              </a:rPr>
              <a:t>that</a:t>
            </a:r>
            <a:r>
              <a:rPr sz="2800" spc="-20" dirty="0">
                <a:latin typeface="Times New Roman"/>
                <a:cs typeface="Times New Roman"/>
              </a:rPr>
              <a:t> </a:t>
            </a:r>
            <a:r>
              <a:rPr sz="2800" spc="-10" dirty="0">
                <a:latin typeface="Aptos"/>
                <a:cs typeface="Aptos"/>
              </a:rPr>
              <a:t>can</a:t>
            </a:r>
            <a:r>
              <a:rPr sz="2800" spc="-145" dirty="0">
                <a:latin typeface="Times New Roman"/>
                <a:cs typeface="Times New Roman"/>
              </a:rPr>
              <a:t> </a:t>
            </a:r>
            <a:r>
              <a:rPr sz="2800" spc="-20" dirty="0">
                <a:latin typeface="Aptos"/>
                <a:cs typeface="Aptos"/>
              </a:rPr>
              <a:t>cause</a:t>
            </a:r>
            <a:r>
              <a:rPr sz="2800" spc="-140" dirty="0">
                <a:latin typeface="Times New Roman"/>
                <a:cs typeface="Times New Roman"/>
              </a:rPr>
              <a:t> </a:t>
            </a:r>
            <a:r>
              <a:rPr sz="2800" dirty="0">
                <a:latin typeface="Aptos"/>
                <a:cs typeface="Aptos"/>
              </a:rPr>
              <a:t>an</a:t>
            </a:r>
            <a:r>
              <a:rPr sz="2800" spc="-160" dirty="0">
                <a:latin typeface="Times New Roman"/>
                <a:cs typeface="Times New Roman"/>
              </a:rPr>
              <a:t> </a:t>
            </a:r>
            <a:r>
              <a:rPr sz="2800" spc="-10" dirty="0">
                <a:latin typeface="Aptos"/>
                <a:cs typeface="Aptos"/>
              </a:rPr>
              <a:t>unclear</a:t>
            </a:r>
            <a:r>
              <a:rPr sz="2800" spc="-155" dirty="0">
                <a:latin typeface="Times New Roman"/>
                <a:cs typeface="Times New Roman"/>
              </a:rPr>
              <a:t> </a:t>
            </a:r>
            <a:r>
              <a:rPr sz="2800" spc="-10" dirty="0">
                <a:latin typeface="Aptos"/>
                <a:cs typeface="Aptos"/>
              </a:rPr>
              <a:t>reception.</a:t>
            </a:r>
            <a:endParaRPr sz="2800">
              <a:latin typeface="Aptos"/>
              <a:cs typeface="Aptos"/>
            </a:endParaRPr>
          </a:p>
          <a:p>
            <a:pPr marL="526415" indent="-514350">
              <a:lnSpc>
                <a:spcPct val="100000"/>
              </a:lnSpc>
              <a:spcBef>
                <a:spcPts val="625"/>
              </a:spcBef>
              <a:buAutoNum type="arabicParenR" startAt="5"/>
              <a:tabLst>
                <a:tab pos="526415" algn="l"/>
                <a:tab pos="527050" algn="l"/>
              </a:tabLst>
            </a:pPr>
            <a:r>
              <a:rPr sz="2800" b="1" spc="-10" dirty="0">
                <a:latin typeface="Aptos"/>
                <a:cs typeface="Aptos"/>
              </a:rPr>
              <a:t>Noise:</a:t>
            </a:r>
            <a:endParaRPr sz="2800">
              <a:latin typeface="Aptos"/>
              <a:cs typeface="Aptos"/>
            </a:endParaRPr>
          </a:p>
          <a:p>
            <a:pPr marL="927100" marR="1242060">
              <a:lnSpc>
                <a:spcPct val="90000"/>
              </a:lnSpc>
              <a:spcBef>
                <a:spcPts val="994"/>
              </a:spcBef>
            </a:pPr>
            <a:r>
              <a:rPr sz="2800" spc="-10" dirty="0">
                <a:latin typeface="Aptos"/>
                <a:cs typeface="Aptos"/>
              </a:rPr>
              <a:t>Noise</a:t>
            </a:r>
            <a:r>
              <a:rPr sz="2800" spc="-155" dirty="0">
                <a:latin typeface="Times New Roman"/>
                <a:cs typeface="Times New Roman"/>
              </a:rPr>
              <a:t> </a:t>
            </a:r>
            <a:r>
              <a:rPr sz="2800" dirty="0">
                <a:latin typeface="Aptos"/>
                <a:cs typeface="Aptos"/>
              </a:rPr>
              <a:t>is</a:t>
            </a:r>
            <a:r>
              <a:rPr sz="2800" spc="-140" dirty="0">
                <a:latin typeface="Times New Roman"/>
                <a:cs typeface="Times New Roman"/>
              </a:rPr>
              <a:t> </a:t>
            </a:r>
            <a:r>
              <a:rPr sz="2800" spc="-10" dirty="0">
                <a:latin typeface="Aptos"/>
                <a:cs typeface="Aptos"/>
              </a:rPr>
              <a:t>the</a:t>
            </a:r>
            <a:r>
              <a:rPr sz="2800" spc="-130" dirty="0">
                <a:latin typeface="Times New Roman"/>
                <a:cs typeface="Times New Roman"/>
              </a:rPr>
              <a:t> </a:t>
            </a:r>
            <a:r>
              <a:rPr sz="2800" spc="-35" dirty="0">
                <a:latin typeface="Aptos"/>
                <a:cs typeface="Aptos"/>
              </a:rPr>
              <a:t>mix-</a:t>
            </a:r>
            <a:r>
              <a:rPr sz="2800" dirty="0">
                <a:latin typeface="Aptos"/>
                <a:cs typeface="Aptos"/>
              </a:rPr>
              <a:t>up</a:t>
            </a:r>
            <a:r>
              <a:rPr sz="2800" spc="-130" dirty="0">
                <a:latin typeface="Times New Roman"/>
                <a:cs typeface="Times New Roman"/>
              </a:rPr>
              <a:t> </a:t>
            </a:r>
            <a:r>
              <a:rPr sz="2800" dirty="0">
                <a:latin typeface="Aptos"/>
                <a:cs typeface="Aptos"/>
              </a:rPr>
              <a:t>of</a:t>
            </a:r>
            <a:r>
              <a:rPr sz="2800" spc="-140" dirty="0">
                <a:latin typeface="Times New Roman"/>
                <a:cs typeface="Times New Roman"/>
              </a:rPr>
              <a:t> </a:t>
            </a:r>
            <a:r>
              <a:rPr sz="2800" spc="-25" dirty="0">
                <a:latin typeface="Aptos"/>
                <a:cs typeface="Aptos"/>
              </a:rPr>
              <a:t>different</a:t>
            </a:r>
            <a:r>
              <a:rPr sz="2800" spc="-155" dirty="0">
                <a:latin typeface="Times New Roman"/>
                <a:cs typeface="Times New Roman"/>
              </a:rPr>
              <a:t> </a:t>
            </a:r>
            <a:r>
              <a:rPr sz="2800" spc="-25" dirty="0">
                <a:latin typeface="Aptos"/>
                <a:cs typeface="Aptos"/>
              </a:rPr>
              <a:t>unwanted</a:t>
            </a:r>
            <a:r>
              <a:rPr sz="2800" spc="-120" dirty="0">
                <a:latin typeface="Times New Roman"/>
                <a:cs typeface="Times New Roman"/>
              </a:rPr>
              <a:t> </a:t>
            </a:r>
            <a:r>
              <a:rPr sz="2800" spc="-10" dirty="0">
                <a:latin typeface="Aptos"/>
                <a:cs typeface="Aptos"/>
              </a:rPr>
              <a:t>signals</a:t>
            </a:r>
            <a:r>
              <a:rPr sz="2800" spc="-150" dirty="0">
                <a:latin typeface="Times New Roman"/>
                <a:cs typeface="Times New Roman"/>
              </a:rPr>
              <a:t> </a:t>
            </a:r>
            <a:r>
              <a:rPr sz="2800" spc="-25" dirty="0">
                <a:latin typeface="Aptos"/>
                <a:cs typeface="Aptos"/>
              </a:rPr>
              <a:t>or</a:t>
            </a:r>
            <a:r>
              <a:rPr sz="2800" spc="-25" dirty="0">
                <a:latin typeface="Times New Roman"/>
                <a:cs typeface="Times New Roman"/>
              </a:rPr>
              <a:t> </a:t>
            </a:r>
            <a:r>
              <a:rPr sz="2800" spc="-20" dirty="0">
                <a:latin typeface="Aptos"/>
                <a:cs typeface="Aptos"/>
              </a:rPr>
              <a:t>frequencies</a:t>
            </a:r>
            <a:r>
              <a:rPr sz="2800" spc="-120" dirty="0">
                <a:latin typeface="Times New Roman"/>
                <a:cs typeface="Times New Roman"/>
              </a:rPr>
              <a:t> </a:t>
            </a:r>
            <a:r>
              <a:rPr sz="2800" spc="-10" dirty="0">
                <a:latin typeface="Aptos"/>
                <a:cs typeface="Aptos"/>
              </a:rPr>
              <a:t>while</a:t>
            </a:r>
            <a:r>
              <a:rPr sz="2800" spc="-145" dirty="0">
                <a:latin typeface="Times New Roman"/>
                <a:cs typeface="Times New Roman"/>
              </a:rPr>
              <a:t> </a:t>
            </a:r>
            <a:r>
              <a:rPr sz="2800" spc="-20" dirty="0">
                <a:latin typeface="Aptos"/>
                <a:cs typeface="Aptos"/>
              </a:rPr>
              <a:t>communicating</a:t>
            </a:r>
            <a:r>
              <a:rPr sz="2800" spc="-114" dirty="0">
                <a:latin typeface="Times New Roman"/>
                <a:cs typeface="Times New Roman"/>
              </a:rPr>
              <a:t> </a:t>
            </a:r>
            <a:r>
              <a:rPr sz="2800" spc="-10" dirty="0">
                <a:latin typeface="Aptos"/>
                <a:cs typeface="Aptos"/>
              </a:rPr>
              <a:t>the</a:t>
            </a:r>
            <a:r>
              <a:rPr sz="2800" spc="-130" dirty="0">
                <a:latin typeface="Times New Roman"/>
                <a:cs typeface="Times New Roman"/>
              </a:rPr>
              <a:t> </a:t>
            </a:r>
            <a:r>
              <a:rPr sz="2800" spc="-20" dirty="0">
                <a:latin typeface="Aptos"/>
                <a:cs typeface="Aptos"/>
              </a:rPr>
              <a:t>messages</a:t>
            </a:r>
            <a:r>
              <a:rPr sz="2800" spc="-95" dirty="0">
                <a:latin typeface="Times New Roman"/>
                <a:cs typeface="Times New Roman"/>
              </a:rPr>
              <a:t> </a:t>
            </a:r>
            <a:r>
              <a:rPr sz="2800" spc="-20" dirty="0">
                <a:latin typeface="Aptos"/>
                <a:cs typeface="Aptos"/>
              </a:rPr>
              <a:t>from</a:t>
            </a:r>
            <a:r>
              <a:rPr sz="2800" spc="-20" dirty="0">
                <a:latin typeface="Times New Roman"/>
                <a:cs typeface="Times New Roman"/>
              </a:rPr>
              <a:t> </a:t>
            </a:r>
            <a:r>
              <a:rPr sz="2800" dirty="0">
                <a:latin typeface="Aptos"/>
                <a:cs typeface="Aptos"/>
              </a:rPr>
              <a:t>one</a:t>
            </a:r>
            <a:r>
              <a:rPr sz="2800" spc="-175" dirty="0">
                <a:latin typeface="Times New Roman"/>
                <a:cs typeface="Times New Roman"/>
              </a:rPr>
              <a:t> </a:t>
            </a:r>
            <a:r>
              <a:rPr sz="2800" dirty="0">
                <a:latin typeface="Aptos"/>
                <a:cs typeface="Aptos"/>
              </a:rPr>
              <a:t>end</a:t>
            </a:r>
            <a:r>
              <a:rPr sz="2800" spc="-170" dirty="0">
                <a:latin typeface="Times New Roman"/>
                <a:cs typeface="Times New Roman"/>
              </a:rPr>
              <a:t> </a:t>
            </a:r>
            <a:r>
              <a:rPr sz="2800" dirty="0">
                <a:latin typeface="Aptos"/>
                <a:cs typeface="Aptos"/>
              </a:rPr>
              <a:t>to</a:t>
            </a:r>
            <a:r>
              <a:rPr sz="2800" spc="-165" dirty="0">
                <a:latin typeface="Times New Roman"/>
                <a:cs typeface="Times New Roman"/>
              </a:rPr>
              <a:t> </a:t>
            </a:r>
            <a:r>
              <a:rPr sz="2800" spc="-10" dirty="0">
                <a:latin typeface="Aptos"/>
                <a:cs typeface="Aptos"/>
              </a:rPr>
              <a:t>another.</a:t>
            </a:r>
            <a:endParaRPr sz="2800">
              <a:latin typeface="Aptos"/>
              <a:cs typeface="Aptos"/>
            </a:endParaRPr>
          </a:p>
          <a:p>
            <a:pPr marL="527685" indent="-515620">
              <a:lnSpc>
                <a:spcPct val="100000"/>
              </a:lnSpc>
              <a:spcBef>
                <a:spcPts val="660"/>
              </a:spcBef>
              <a:buAutoNum type="arabicParenR" startAt="6"/>
              <a:tabLst>
                <a:tab pos="527685" algn="l"/>
                <a:tab pos="528320" algn="l"/>
              </a:tabLst>
            </a:pPr>
            <a:r>
              <a:rPr sz="2800" b="1" spc="-10" dirty="0">
                <a:latin typeface="Aptos"/>
                <a:cs typeface="Aptos"/>
              </a:rPr>
              <a:t>Bandwidth:</a:t>
            </a:r>
            <a:endParaRPr sz="2800">
              <a:latin typeface="Aptos"/>
              <a:cs typeface="Aptos"/>
            </a:endParaRPr>
          </a:p>
          <a:p>
            <a:pPr marL="927100" marR="5080" algn="just">
              <a:lnSpc>
                <a:spcPts val="3020"/>
              </a:lnSpc>
              <a:spcBef>
                <a:spcPts val="1060"/>
              </a:spcBef>
            </a:pPr>
            <a:r>
              <a:rPr sz="2800" dirty="0">
                <a:latin typeface="Aptos"/>
                <a:cs typeface="Aptos"/>
              </a:rPr>
              <a:t>Bandwidth</a:t>
            </a:r>
            <a:r>
              <a:rPr sz="2800" spc="204" dirty="0">
                <a:latin typeface="Times New Roman"/>
                <a:cs typeface="Times New Roman"/>
              </a:rPr>
              <a:t> </a:t>
            </a:r>
            <a:r>
              <a:rPr sz="2800" dirty="0">
                <a:latin typeface="Aptos"/>
                <a:cs typeface="Aptos"/>
              </a:rPr>
              <a:t>refers</a:t>
            </a:r>
            <a:r>
              <a:rPr sz="2800" spc="215" dirty="0">
                <a:latin typeface="Times New Roman"/>
                <a:cs typeface="Times New Roman"/>
              </a:rPr>
              <a:t> </a:t>
            </a:r>
            <a:r>
              <a:rPr sz="2800" dirty="0">
                <a:latin typeface="Aptos"/>
                <a:cs typeface="Aptos"/>
              </a:rPr>
              <a:t>to</a:t>
            </a:r>
            <a:r>
              <a:rPr sz="2800" spc="229" dirty="0">
                <a:latin typeface="Times New Roman"/>
                <a:cs typeface="Times New Roman"/>
              </a:rPr>
              <a:t> </a:t>
            </a:r>
            <a:r>
              <a:rPr sz="2800" dirty="0">
                <a:latin typeface="Aptos"/>
                <a:cs typeface="Aptos"/>
              </a:rPr>
              <a:t>the</a:t>
            </a:r>
            <a:r>
              <a:rPr sz="2800" spc="215" dirty="0">
                <a:latin typeface="Times New Roman"/>
                <a:cs typeface="Times New Roman"/>
              </a:rPr>
              <a:t> </a:t>
            </a:r>
            <a:r>
              <a:rPr sz="2800" dirty="0">
                <a:latin typeface="Aptos"/>
                <a:cs typeface="Aptos"/>
              </a:rPr>
              <a:t>speed</a:t>
            </a:r>
            <a:r>
              <a:rPr sz="2800" spc="240" dirty="0">
                <a:latin typeface="Times New Roman"/>
                <a:cs typeface="Times New Roman"/>
              </a:rPr>
              <a:t> </a:t>
            </a:r>
            <a:r>
              <a:rPr sz="2800" dirty="0">
                <a:latin typeface="Aptos"/>
                <a:cs typeface="Aptos"/>
              </a:rPr>
              <a:t>of</a:t>
            </a:r>
            <a:r>
              <a:rPr sz="2800" spc="220" dirty="0">
                <a:latin typeface="Times New Roman"/>
                <a:cs typeface="Times New Roman"/>
              </a:rPr>
              <a:t> </a:t>
            </a:r>
            <a:r>
              <a:rPr sz="2800" dirty="0">
                <a:latin typeface="Aptos"/>
                <a:cs typeface="Aptos"/>
              </a:rPr>
              <a:t>the</a:t>
            </a:r>
            <a:r>
              <a:rPr sz="2800" spc="215" dirty="0">
                <a:latin typeface="Times New Roman"/>
                <a:cs typeface="Times New Roman"/>
              </a:rPr>
              <a:t> </a:t>
            </a:r>
            <a:r>
              <a:rPr sz="2800" dirty="0">
                <a:latin typeface="Aptos"/>
                <a:cs typeface="Aptos"/>
              </a:rPr>
              <a:t>internet</a:t>
            </a:r>
            <a:r>
              <a:rPr sz="2800" spc="229" dirty="0">
                <a:latin typeface="Times New Roman"/>
                <a:cs typeface="Times New Roman"/>
              </a:rPr>
              <a:t> </a:t>
            </a:r>
            <a:r>
              <a:rPr sz="2800" dirty="0">
                <a:latin typeface="Aptos"/>
                <a:cs typeface="Aptos"/>
              </a:rPr>
              <a:t>i.e.</a:t>
            </a:r>
            <a:r>
              <a:rPr sz="2800" spc="210" dirty="0">
                <a:latin typeface="Times New Roman"/>
                <a:cs typeface="Times New Roman"/>
              </a:rPr>
              <a:t> </a:t>
            </a:r>
            <a:r>
              <a:rPr sz="2800" dirty="0">
                <a:latin typeface="Aptos"/>
                <a:cs typeface="Aptos"/>
              </a:rPr>
              <a:t>it</a:t>
            </a:r>
            <a:r>
              <a:rPr sz="2800" spc="210" dirty="0">
                <a:latin typeface="Times New Roman"/>
                <a:cs typeface="Times New Roman"/>
              </a:rPr>
              <a:t> </a:t>
            </a:r>
            <a:r>
              <a:rPr sz="2800" spc="-10" dirty="0">
                <a:latin typeface="Aptos"/>
                <a:cs typeface="Aptos"/>
              </a:rPr>
              <a:t>justifies</a:t>
            </a:r>
            <a:r>
              <a:rPr sz="2800" spc="-10" dirty="0">
                <a:latin typeface="Times New Roman"/>
                <a:cs typeface="Times New Roman"/>
              </a:rPr>
              <a:t> </a:t>
            </a:r>
            <a:r>
              <a:rPr sz="2800" dirty="0">
                <a:latin typeface="Aptos"/>
                <a:cs typeface="Aptos"/>
              </a:rPr>
              <a:t>the</a:t>
            </a:r>
            <a:r>
              <a:rPr sz="2800" spc="75" dirty="0">
                <a:latin typeface="Times New Roman"/>
                <a:cs typeface="Times New Roman"/>
              </a:rPr>
              <a:t> </a:t>
            </a:r>
            <a:r>
              <a:rPr sz="2800" dirty="0">
                <a:latin typeface="Aptos"/>
                <a:cs typeface="Aptos"/>
              </a:rPr>
              <a:t>number</a:t>
            </a:r>
            <a:r>
              <a:rPr sz="2800" spc="95" dirty="0">
                <a:latin typeface="Times New Roman"/>
                <a:cs typeface="Times New Roman"/>
              </a:rPr>
              <a:t> </a:t>
            </a:r>
            <a:r>
              <a:rPr sz="2800" dirty="0">
                <a:latin typeface="Aptos"/>
                <a:cs typeface="Aptos"/>
              </a:rPr>
              <a:t>of</a:t>
            </a:r>
            <a:r>
              <a:rPr sz="2800" spc="85" dirty="0">
                <a:latin typeface="Times New Roman"/>
                <a:cs typeface="Times New Roman"/>
              </a:rPr>
              <a:t> </a:t>
            </a:r>
            <a:r>
              <a:rPr sz="2800" dirty="0">
                <a:latin typeface="Aptos"/>
                <a:cs typeface="Aptos"/>
              </a:rPr>
              <a:t>bits</a:t>
            </a:r>
            <a:r>
              <a:rPr sz="2800" spc="95" dirty="0">
                <a:latin typeface="Times New Roman"/>
                <a:cs typeface="Times New Roman"/>
              </a:rPr>
              <a:t> </a:t>
            </a:r>
            <a:r>
              <a:rPr sz="2800" dirty="0">
                <a:latin typeface="Aptos"/>
                <a:cs typeface="Aptos"/>
              </a:rPr>
              <a:t>(mb,</a:t>
            </a:r>
            <a:r>
              <a:rPr sz="2800" spc="100" dirty="0">
                <a:latin typeface="Times New Roman"/>
                <a:cs typeface="Times New Roman"/>
              </a:rPr>
              <a:t> </a:t>
            </a:r>
            <a:r>
              <a:rPr sz="2800" dirty="0">
                <a:latin typeface="Aptos"/>
                <a:cs typeface="Aptos"/>
              </a:rPr>
              <a:t>kb)</a:t>
            </a:r>
            <a:r>
              <a:rPr sz="2800" spc="80" dirty="0">
                <a:latin typeface="Times New Roman"/>
                <a:cs typeface="Times New Roman"/>
              </a:rPr>
              <a:t> </a:t>
            </a:r>
            <a:r>
              <a:rPr sz="2800" dirty="0">
                <a:latin typeface="Aptos"/>
                <a:cs typeface="Aptos"/>
              </a:rPr>
              <a:t>that</a:t>
            </a:r>
            <a:r>
              <a:rPr sz="2800" spc="85" dirty="0">
                <a:latin typeface="Times New Roman"/>
                <a:cs typeface="Times New Roman"/>
              </a:rPr>
              <a:t> </a:t>
            </a:r>
            <a:r>
              <a:rPr sz="2800" dirty="0">
                <a:latin typeface="Aptos"/>
                <a:cs typeface="Aptos"/>
              </a:rPr>
              <a:t>can</a:t>
            </a:r>
            <a:r>
              <a:rPr sz="2800" spc="90" dirty="0">
                <a:latin typeface="Times New Roman"/>
                <a:cs typeface="Times New Roman"/>
              </a:rPr>
              <a:t> </a:t>
            </a:r>
            <a:r>
              <a:rPr sz="2800" dirty="0">
                <a:latin typeface="Aptos"/>
                <a:cs typeface="Aptos"/>
              </a:rPr>
              <a:t>be</a:t>
            </a:r>
            <a:r>
              <a:rPr sz="2800" spc="85" dirty="0">
                <a:latin typeface="Times New Roman"/>
                <a:cs typeface="Times New Roman"/>
              </a:rPr>
              <a:t> </a:t>
            </a:r>
            <a:r>
              <a:rPr sz="2800" dirty="0">
                <a:latin typeface="Aptos"/>
                <a:cs typeface="Aptos"/>
              </a:rPr>
              <a:t>communicated</a:t>
            </a:r>
            <a:r>
              <a:rPr sz="2800" spc="95" dirty="0">
                <a:latin typeface="Times New Roman"/>
                <a:cs typeface="Times New Roman"/>
              </a:rPr>
              <a:t> </a:t>
            </a:r>
            <a:r>
              <a:rPr sz="2800" dirty="0">
                <a:latin typeface="Aptos"/>
                <a:cs typeface="Aptos"/>
              </a:rPr>
              <a:t>by</a:t>
            </a:r>
            <a:r>
              <a:rPr sz="2800" spc="80" dirty="0">
                <a:latin typeface="Times New Roman"/>
                <a:cs typeface="Times New Roman"/>
              </a:rPr>
              <a:t> </a:t>
            </a:r>
            <a:r>
              <a:rPr sz="2800" spc="-50" dirty="0">
                <a:latin typeface="Aptos"/>
                <a:cs typeface="Aptos"/>
              </a:rPr>
              <a:t>a</a:t>
            </a:r>
            <a:r>
              <a:rPr sz="2800" spc="-50" dirty="0">
                <a:latin typeface="Times New Roman"/>
                <a:cs typeface="Times New Roman"/>
              </a:rPr>
              <a:t> </a:t>
            </a:r>
            <a:r>
              <a:rPr sz="2800" spc="-10" dirty="0">
                <a:latin typeface="Aptos"/>
                <a:cs typeface="Aptos"/>
              </a:rPr>
              <a:t>sender</a:t>
            </a:r>
            <a:r>
              <a:rPr sz="2800" spc="-145" dirty="0">
                <a:latin typeface="Times New Roman"/>
                <a:cs typeface="Times New Roman"/>
              </a:rPr>
              <a:t> </a:t>
            </a:r>
            <a:r>
              <a:rPr sz="2800" dirty="0">
                <a:latin typeface="Aptos"/>
                <a:cs typeface="Aptos"/>
              </a:rPr>
              <a:t>to</a:t>
            </a:r>
            <a:r>
              <a:rPr sz="2800" spc="-145" dirty="0">
                <a:latin typeface="Times New Roman"/>
                <a:cs typeface="Times New Roman"/>
              </a:rPr>
              <a:t> </a:t>
            </a:r>
            <a:r>
              <a:rPr sz="2800" spc="-20" dirty="0">
                <a:latin typeface="Aptos"/>
                <a:cs typeface="Aptos"/>
              </a:rPr>
              <a:t>receiver</a:t>
            </a:r>
            <a:r>
              <a:rPr sz="2800" spc="-145" dirty="0">
                <a:latin typeface="Times New Roman"/>
                <a:cs typeface="Times New Roman"/>
              </a:rPr>
              <a:t> </a:t>
            </a:r>
            <a:r>
              <a:rPr sz="2800" dirty="0">
                <a:latin typeface="Aptos"/>
                <a:cs typeface="Aptos"/>
              </a:rPr>
              <a:t>in</a:t>
            </a:r>
            <a:r>
              <a:rPr sz="2800" spc="-170" dirty="0">
                <a:latin typeface="Times New Roman"/>
                <a:cs typeface="Times New Roman"/>
              </a:rPr>
              <a:t> </a:t>
            </a:r>
            <a:r>
              <a:rPr sz="2800" dirty="0">
                <a:latin typeface="Aptos"/>
                <a:cs typeface="Aptos"/>
              </a:rPr>
              <a:t>one</a:t>
            </a:r>
            <a:r>
              <a:rPr sz="2800" spc="395" dirty="0">
                <a:latin typeface="Times New Roman"/>
                <a:cs typeface="Times New Roman"/>
              </a:rPr>
              <a:t> </a:t>
            </a:r>
            <a:r>
              <a:rPr sz="2800" spc="-10" dirty="0">
                <a:latin typeface="Aptos"/>
                <a:cs typeface="Aptos"/>
              </a:rPr>
              <a:t>second.</a:t>
            </a:r>
            <a:endParaRPr sz="2800">
              <a:latin typeface="Aptos"/>
              <a:cs typeface="Apto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1" y="303389"/>
            <a:ext cx="7563484" cy="696595"/>
          </a:xfrm>
          <a:prstGeom prst="rect">
            <a:avLst/>
          </a:prstGeom>
        </p:spPr>
        <p:txBody>
          <a:bodyPr vert="horz" wrap="square" lIns="0" tIns="13335" rIns="0" bIns="0" rtlCol="0">
            <a:spAutoFit/>
          </a:bodyPr>
          <a:lstStyle/>
          <a:p>
            <a:pPr marL="12700">
              <a:lnSpc>
                <a:spcPct val="100000"/>
              </a:lnSpc>
              <a:spcBef>
                <a:spcPts val="105"/>
              </a:spcBef>
            </a:pPr>
            <a:r>
              <a:rPr spc="-10" dirty="0"/>
              <a:t>Network</a:t>
            </a:r>
            <a:r>
              <a:rPr spc="-229" dirty="0">
                <a:latin typeface="Times New Roman"/>
                <a:cs typeface="Times New Roman"/>
              </a:rPr>
              <a:t> </a:t>
            </a:r>
            <a:r>
              <a:rPr spc="-45" dirty="0"/>
              <a:t>Topology</a:t>
            </a:r>
            <a:r>
              <a:rPr spc="-225" dirty="0">
                <a:latin typeface="Times New Roman"/>
                <a:cs typeface="Times New Roman"/>
              </a:rPr>
              <a:t> </a:t>
            </a:r>
            <a:r>
              <a:rPr dirty="0"/>
              <a:t>/</a:t>
            </a:r>
            <a:r>
              <a:rPr spc="-260" dirty="0">
                <a:latin typeface="Times New Roman"/>
                <a:cs typeface="Times New Roman"/>
              </a:rPr>
              <a:t> </a:t>
            </a:r>
            <a:r>
              <a:rPr dirty="0"/>
              <a:t>LAN</a:t>
            </a:r>
            <a:r>
              <a:rPr spc="-229" dirty="0">
                <a:latin typeface="Times New Roman"/>
                <a:cs typeface="Times New Roman"/>
              </a:rPr>
              <a:t> </a:t>
            </a:r>
            <a:r>
              <a:rPr spc="-25" dirty="0"/>
              <a:t>Topology</a:t>
            </a:r>
          </a:p>
        </p:txBody>
      </p:sp>
      <p:sp>
        <p:nvSpPr>
          <p:cNvPr id="3" name="object 3"/>
          <p:cNvSpPr txBox="1"/>
          <p:nvPr/>
        </p:nvSpPr>
        <p:spPr>
          <a:xfrm>
            <a:off x="916940" y="959625"/>
            <a:ext cx="10358120" cy="3221990"/>
          </a:xfrm>
          <a:prstGeom prst="rect">
            <a:avLst/>
          </a:prstGeom>
        </p:spPr>
        <p:txBody>
          <a:bodyPr vert="horz" wrap="square" lIns="0" tIns="96520" rIns="0" bIns="0" rtlCol="0">
            <a:spAutoFit/>
          </a:bodyPr>
          <a:lstStyle/>
          <a:p>
            <a:pPr marL="12700" algn="just">
              <a:lnSpc>
                <a:spcPct val="100000"/>
              </a:lnSpc>
              <a:spcBef>
                <a:spcPts val="760"/>
              </a:spcBef>
            </a:pPr>
            <a:r>
              <a:rPr sz="2800" b="1" spc="-10" dirty="0">
                <a:latin typeface="Aptos"/>
                <a:cs typeface="Aptos"/>
              </a:rPr>
              <a:t>Network</a:t>
            </a:r>
            <a:r>
              <a:rPr sz="2800" spc="-165" dirty="0">
                <a:latin typeface="Times New Roman"/>
                <a:cs typeface="Times New Roman"/>
              </a:rPr>
              <a:t> </a:t>
            </a:r>
            <a:r>
              <a:rPr sz="2800" b="1" spc="-10" dirty="0">
                <a:latin typeface="Aptos"/>
                <a:cs typeface="Aptos"/>
              </a:rPr>
              <a:t>Topology</a:t>
            </a:r>
            <a:endParaRPr sz="2800">
              <a:latin typeface="Aptos"/>
              <a:cs typeface="Aptos"/>
            </a:endParaRPr>
          </a:p>
          <a:p>
            <a:pPr marL="12700" marR="5080" algn="just">
              <a:lnSpc>
                <a:spcPts val="3020"/>
              </a:lnSpc>
              <a:spcBef>
                <a:spcPts val="1045"/>
              </a:spcBef>
            </a:pPr>
            <a:r>
              <a:rPr sz="2800" dirty="0">
                <a:latin typeface="Aptos"/>
                <a:cs typeface="Aptos"/>
              </a:rPr>
              <a:t>Network</a:t>
            </a:r>
            <a:r>
              <a:rPr sz="2800" spc="500" dirty="0">
                <a:latin typeface="Times New Roman"/>
                <a:cs typeface="Times New Roman"/>
              </a:rPr>
              <a:t> </a:t>
            </a:r>
            <a:r>
              <a:rPr sz="2800" dirty="0">
                <a:latin typeface="Aptos"/>
                <a:cs typeface="Aptos"/>
              </a:rPr>
              <a:t>topology</a:t>
            </a:r>
            <a:r>
              <a:rPr sz="2800" spc="530" dirty="0">
                <a:latin typeface="Times New Roman"/>
                <a:cs typeface="Times New Roman"/>
              </a:rPr>
              <a:t> </a:t>
            </a:r>
            <a:r>
              <a:rPr sz="2800" dirty="0">
                <a:latin typeface="Aptos"/>
                <a:cs typeface="Aptos"/>
              </a:rPr>
              <a:t>is</a:t>
            </a:r>
            <a:r>
              <a:rPr sz="2800" spc="495" dirty="0">
                <a:latin typeface="Times New Roman"/>
                <a:cs typeface="Times New Roman"/>
              </a:rPr>
              <a:t> </a:t>
            </a:r>
            <a:r>
              <a:rPr sz="2800" dirty="0">
                <a:latin typeface="Aptos"/>
                <a:cs typeface="Aptos"/>
              </a:rPr>
              <a:t>the</a:t>
            </a:r>
            <a:r>
              <a:rPr sz="2800" spc="495" dirty="0">
                <a:latin typeface="Times New Roman"/>
                <a:cs typeface="Times New Roman"/>
              </a:rPr>
              <a:t> </a:t>
            </a:r>
            <a:r>
              <a:rPr sz="2800" dirty="0">
                <a:latin typeface="Aptos"/>
                <a:cs typeface="Aptos"/>
              </a:rPr>
              <a:t>way</a:t>
            </a:r>
            <a:r>
              <a:rPr sz="2800" spc="500" dirty="0">
                <a:latin typeface="Times New Roman"/>
                <a:cs typeface="Times New Roman"/>
              </a:rPr>
              <a:t> </a:t>
            </a:r>
            <a:r>
              <a:rPr sz="2800" dirty="0">
                <a:latin typeface="Aptos"/>
                <a:cs typeface="Aptos"/>
              </a:rPr>
              <a:t>of</a:t>
            </a:r>
            <a:r>
              <a:rPr sz="2800" spc="500" dirty="0">
                <a:latin typeface="Times New Roman"/>
                <a:cs typeface="Times New Roman"/>
              </a:rPr>
              <a:t> </a:t>
            </a:r>
            <a:r>
              <a:rPr sz="2800" dirty="0">
                <a:latin typeface="Aptos"/>
                <a:cs typeface="Aptos"/>
              </a:rPr>
              <a:t>arrangement</a:t>
            </a:r>
            <a:r>
              <a:rPr sz="2800" spc="525" dirty="0">
                <a:latin typeface="Times New Roman"/>
                <a:cs typeface="Times New Roman"/>
              </a:rPr>
              <a:t> </a:t>
            </a:r>
            <a:r>
              <a:rPr sz="2800" dirty="0">
                <a:latin typeface="Aptos"/>
                <a:cs typeface="Aptos"/>
              </a:rPr>
              <a:t>of</a:t>
            </a:r>
            <a:r>
              <a:rPr sz="2800" spc="515" dirty="0">
                <a:latin typeface="Times New Roman"/>
                <a:cs typeface="Times New Roman"/>
              </a:rPr>
              <a:t> </a:t>
            </a:r>
            <a:r>
              <a:rPr sz="2800" dirty="0">
                <a:latin typeface="Aptos"/>
                <a:cs typeface="Aptos"/>
              </a:rPr>
              <a:t>computers</a:t>
            </a:r>
            <a:r>
              <a:rPr sz="2800" spc="495" dirty="0">
                <a:latin typeface="Times New Roman"/>
                <a:cs typeface="Times New Roman"/>
              </a:rPr>
              <a:t> </a:t>
            </a:r>
            <a:r>
              <a:rPr sz="2800" dirty="0">
                <a:latin typeface="Aptos"/>
                <a:cs typeface="Aptos"/>
              </a:rPr>
              <a:t>in</a:t>
            </a:r>
            <a:r>
              <a:rPr sz="2800" spc="495" dirty="0">
                <a:latin typeface="Times New Roman"/>
                <a:cs typeface="Times New Roman"/>
              </a:rPr>
              <a:t> </a:t>
            </a:r>
            <a:r>
              <a:rPr sz="2800" spc="-50" dirty="0">
                <a:latin typeface="Aptos"/>
                <a:cs typeface="Aptos"/>
              </a:rPr>
              <a:t>a</a:t>
            </a:r>
            <a:r>
              <a:rPr sz="2800" spc="-50" dirty="0">
                <a:latin typeface="Times New Roman"/>
                <a:cs typeface="Times New Roman"/>
              </a:rPr>
              <a:t> </a:t>
            </a:r>
            <a:r>
              <a:rPr sz="2800" spc="-10" dirty="0">
                <a:latin typeface="Aptos"/>
                <a:cs typeface="Aptos"/>
              </a:rPr>
              <a:t>network.</a:t>
            </a:r>
            <a:endParaRPr sz="2800">
              <a:latin typeface="Aptos"/>
              <a:cs typeface="Aptos"/>
            </a:endParaRPr>
          </a:p>
          <a:p>
            <a:pPr marL="12700" marR="5080" algn="just">
              <a:lnSpc>
                <a:spcPts val="3020"/>
              </a:lnSpc>
              <a:spcBef>
                <a:spcPts val="1015"/>
              </a:spcBef>
            </a:pPr>
            <a:r>
              <a:rPr sz="2800" b="1" dirty="0">
                <a:latin typeface="Aptos"/>
                <a:cs typeface="Aptos"/>
              </a:rPr>
              <a:t>1</a:t>
            </a:r>
            <a:r>
              <a:rPr sz="2800" spc="260" dirty="0">
                <a:latin typeface="Times New Roman"/>
                <a:cs typeface="Times New Roman"/>
              </a:rPr>
              <a:t> </a:t>
            </a:r>
            <a:r>
              <a:rPr sz="2800" b="1" dirty="0">
                <a:latin typeface="Aptos"/>
                <a:cs typeface="Aptos"/>
              </a:rPr>
              <a:t>)</a:t>
            </a:r>
            <a:r>
              <a:rPr sz="2800" spc="260" dirty="0">
                <a:latin typeface="Times New Roman"/>
                <a:cs typeface="Times New Roman"/>
              </a:rPr>
              <a:t> </a:t>
            </a:r>
            <a:r>
              <a:rPr sz="2800" b="1" dirty="0">
                <a:latin typeface="Aptos"/>
                <a:cs typeface="Aptos"/>
              </a:rPr>
              <a:t>Bus</a:t>
            </a:r>
            <a:r>
              <a:rPr sz="2800" spc="265" dirty="0">
                <a:latin typeface="Times New Roman"/>
                <a:cs typeface="Times New Roman"/>
              </a:rPr>
              <a:t> </a:t>
            </a:r>
            <a:r>
              <a:rPr sz="2800" b="1" dirty="0">
                <a:latin typeface="Aptos"/>
                <a:cs typeface="Aptos"/>
              </a:rPr>
              <a:t>Topology:</a:t>
            </a:r>
            <a:r>
              <a:rPr sz="2800" spc="260" dirty="0">
                <a:latin typeface="Times New Roman"/>
                <a:cs typeface="Times New Roman"/>
              </a:rPr>
              <a:t> </a:t>
            </a:r>
            <a:r>
              <a:rPr sz="2800" dirty="0">
                <a:latin typeface="Aptos"/>
                <a:cs typeface="Aptos"/>
              </a:rPr>
              <a:t>-</a:t>
            </a:r>
            <a:r>
              <a:rPr sz="2800" spc="240" dirty="0">
                <a:latin typeface="Times New Roman"/>
                <a:cs typeface="Times New Roman"/>
              </a:rPr>
              <a:t> </a:t>
            </a:r>
            <a:r>
              <a:rPr sz="2800" dirty="0">
                <a:latin typeface="Aptos"/>
                <a:cs typeface="Aptos"/>
              </a:rPr>
              <a:t>Bus</a:t>
            </a:r>
            <a:r>
              <a:rPr sz="2800" spc="254" dirty="0">
                <a:latin typeface="Times New Roman"/>
                <a:cs typeface="Times New Roman"/>
              </a:rPr>
              <a:t> </a:t>
            </a:r>
            <a:r>
              <a:rPr sz="2800" dirty="0">
                <a:latin typeface="Aptos"/>
                <a:cs typeface="Aptos"/>
              </a:rPr>
              <a:t>topology</a:t>
            </a:r>
            <a:r>
              <a:rPr sz="2800" spc="254" dirty="0">
                <a:latin typeface="Times New Roman"/>
                <a:cs typeface="Times New Roman"/>
              </a:rPr>
              <a:t> </a:t>
            </a:r>
            <a:r>
              <a:rPr sz="2800" dirty="0">
                <a:latin typeface="Aptos"/>
                <a:cs typeface="Aptos"/>
              </a:rPr>
              <a:t>is</a:t>
            </a:r>
            <a:r>
              <a:rPr sz="2800" spc="250" dirty="0">
                <a:latin typeface="Times New Roman"/>
                <a:cs typeface="Times New Roman"/>
              </a:rPr>
              <a:t> </a:t>
            </a:r>
            <a:r>
              <a:rPr sz="2800" dirty="0">
                <a:latin typeface="Aptos"/>
                <a:cs typeface="Aptos"/>
              </a:rPr>
              <a:t>a</a:t>
            </a:r>
            <a:r>
              <a:rPr sz="2800" spc="254" dirty="0">
                <a:latin typeface="Times New Roman"/>
                <a:cs typeface="Times New Roman"/>
              </a:rPr>
              <a:t> </a:t>
            </a:r>
            <a:r>
              <a:rPr sz="2800" dirty="0">
                <a:latin typeface="Aptos"/>
                <a:cs typeface="Aptos"/>
              </a:rPr>
              <a:t>type</a:t>
            </a:r>
            <a:r>
              <a:rPr sz="2800" spc="265" dirty="0">
                <a:latin typeface="Times New Roman"/>
                <a:cs typeface="Times New Roman"/>
              </a:rPr>
              <a:t> </a:t>
            </a:r>
            <a:r>
              <a:rPr sz="2800" dirty="0">
                <a:latin typeface="Aptos"/>
                <a:cs typeface="Aptos"/>
              </a:rPr>
              <a:t>of</a:t>
            </a:r>
            <a:r>
              <a:rPr sz="2800" spc="250" dirty="0">
                <a:latin typeface="Times New Roman"/>
                <a:cs typeface="Times New Roman"/>
              </a:rPr>
              <a:t> </a:t>
            </a:r>
            <a:r>
              <a:rPr sz="2800" dirty="0">
                <a:latin typeface="Aptos"/>
                <a:cs typeface="Aptos"/>
              </a:rPr>
              <a:t>network</a:t>
            </a:r>
            <a:r>
              <a:rPr sz="2800" spc="250" dirty="0">
                <a:latin typeface="Times New Roman"/>
                <a:cs typeface="Times New Roman"/>
              </a:rPr>
              <a:t> </a:t>
            </a:r>
            <a:r>
              <a:rPr sz="2800" dirty="0">
                <a:latin typeface="Aptos"/>
                <a:cs typeface="Aptos"/>
              </a:rPr>
              <a:t>topology</a:t>
            </a:r>
            <a:r>
              <a:rPr sz="2800" spc="254" dirty="0">
                <a:latin typeface="Times New Roman"/>
                <a:cs typeface="Times New Roman"/>
              </a:rPr>
              <a:t> </a:t>
            </a:r>
            <a:r>
              <a:rPr sz="2800" spc="-25" dirty="0">
                <a:latin typeface="Aptos"/>
                <a:cs typeface="Aptos"/>
              </a:rPr>
              <a:t>in</a:t>
            </a:r>
            <a:r>
              <a:rPr sz="2800" spc="-25" dirty="0">
                <a:latin typeface="Times New Roman"/>
                <a:cs typeface="Times New Roman"/>
              </a:rPr>
              <a:t> </a:t>
            </a:r>
            <a:r>
              <a:rPr sz="2800" dirty="0">
                <a:latin typeface="Aptos"/>
                <a:cs typeface="Aptos"/>
              </a:rPr>
              <a:t>which</a:t>
            </a:r>
            <a:r>
              <a:rPr sz="2800" spc="-130" dirty="0">
                <a:latin typeface="Times New Roman"/>
                <a:cs typeface="Times New Roman"/>
              </a:rPr>
              <a:t> </a:t>
            </a:r>
            <a:r>
              <a:rPr sz="2800" dirty="0">
                <a:latin typeface="Aptos"/>
                <a:cs typeface="Aptos"/>
              </a:rPr>
              <a:t>all</a:t>
            </a:r>
            <a:r>
              <a:rPr sz="2800" spc="-100" dirty="0">
                <a:latin typeface="Times New Roman"/>
                <a:cs typeface="Times New Roman"/>
              </a:rPr>
              <a:t> </a:t>
            </a:r>
            <a:r>
              <a:rPr sz="2800" dirty="0">
                <a:latin typeface="Aptos"/>
                <a:cs typeface="Aptos"/>
              </a:rPr>
              <a:t>the</a:t>
            </a:r>
            <a:r>
              <a:rPr sz="2800" spc="-114" dirty="0">
                <a:latin typeface="Times New Roman"/>
                <a:cs typeface="Times New Roman"/>
              </a:rPr>
              <a:t> </a:t>
            </a:r>
            <a:r>
              <a:rPr sz="2800" spc="-10" dirty="0">
                <a:latin typeface="Aptos"/>
                <a:cs typeface="Aptos"/>
              </a:rPr>
              <a:t>computers</a:t>
            </a:r>
            <a:r>
              <a:rPr sz="2800" spc="-110" dirty="0">
                <a:latin typeface="Times New Roman"/>
                <a:cs typeface="Times New Roman"/>
              </a:rPr>
              <a:t> </a:t>
            </a:r>
            <a:r>
              <a:rPr sz="2800" dirty="0">
                <a:latin typeface="Aptos"/>
                <a:cs typeface="Aptos"/>
              </a:rPr>
              <a:t>or</a:t>
            </a:r>
            <a:r>
              <a:rPr sz="2800" spc="-110" dirty="0">
                <a:latin typeface="Times New Roman"/>
                <a:cs typeface="Times New Roman"/>
              </a:rPr>
              <a:t> </a:t>
            </a:r>
            <a:r>
              <a:rPr sz="2800" dirty="0">
                <a:latin typeface="Aptos"/>
                <a:cs typeface="Aptos"/>
              </a:rPr>
              <a:t>digital</a:t>
            </a:r>
            <a:r>
              <a:rPr sz="2800" spc="-114" dirty="0">
                <a:latin typeface="Times New Roman"/>
                <a:cs typeface="Times New Roman"/>
              </a:rPr>
              <a:t> </a:t>
            </a:r>
            <a:r>
              <a:rPr sz="2800" dirty="0">
                <a:latin typeface="Aptos"/>
                <a:cs typeface="Aptos"/>
              </a:rPr>
              <a:t>devices</a:t>
            </a:r>
            <a:r>
              <a:rPr sz="2800" spc="-125" dirty="0">
                <a:latin typeface="Times New Roman"/>
                <a:cs typeface="Times New Roman"/>
              </a:rPr>
              <a:t> </a:t>
            </a:r>
            <a:r>
              <a:rPr sz="2800" dirty="0">
                <a:latin typeface="Aptos"/>
                <a:cs typeface="Aptos"/>
              </a:rPr>
              <a:t>are</a:t>
            </a:r>
            <a:r>
              <a:rPr sz="2800" spc="-100" dirty="0">
                <a:latin typeface="Times New Roman"/>
                <a:cs typeface="Times New Roman"/>
              </a:rPr>
              <a:t> </a:t>
            </a:r>
            <a:r>
              <a:rPr sz="2800" dirty="0">
                <a:latin typeface="Aptos"/>
                <a:cs typeface="Aptos"/>
              </a:rPr>
              <a:t>connected.</a:t>
            </a:r>
            <a:r>
              <a:rPr sz="2800" spc="-95" dirty="0">
                <a:latin typeface="Times New Roman"/>
                <a:cs typeface="Times New Roman"/>
              </a:rPr>
              <a:t> </a:t>
            </a:r>
            <a:r>
              <a:rPr sz="2800" dirty="0">
                <a:latin typeface="Aptos"/>
                <a:cs typeface="Aptos"/>
              </a:rPr>
              <a:t>There</a:t>
            </a:r>
            <a:r>
              <a:rPr sz="2800" spc="-114" dirty="0">
                <a:latin typeface="Times New Roman"/>
                <a:cs typeface="Times New Roman"/>
              </a:rPr>
              <a:t> </a:t>
            </a:r>
            <a:r>
              <a:rPr sz="2800" spc="-25" dirty="0">
                <a:latin typeface="Aptos"/>
                <a:cs typeface="Aptos"/>
              </a:rPr>
              <a:t>are</a:t>
            </a:r>
            <a:r>
              <a:rPr sz="2800" spc="-25" dirty="0">
                <a:latin typeface="Times New Roman"/>
                <a:cs typeface="Times New Roman"/>
              </a:rPr>
              <a:t> </a:t>
            </a:r>
            <a:r>
              <a:rPr sz="2800" spc="-25" dirty="0">
                <a:latin typeface="Aptos"/>
                <a:cs typeface="Aptos"/>
              </a:rPr>
              <a:t>termination</a:t>
            </a:r>
            <a:r>
              <a:rPr sz="2800" spc="-150" dirty="0">
                <a:latin typeface="Times New Roman"/>
                <a:cs typeface="Times New Roman"/>
              </a:rPr>
              <a:t> </a:t>
            </a:r>
            <a:r>
              <a:rPr sz="2800" spc="-20" dirty="0">
                <a:latin typeface="Aptos"/>
                <a:cs typeface="Aptos"/>
              </a:rPr>
              <a:t>points</a:t>
            </a:r>
            <a:r>
              <a:rPr sz="2800" spc="-130" dirty="0">
                <a:latin typeface="Times New Roman"/>
                <a:cs typeface="Times New Roman"/>
              </a:rPr>
              <a:t> </a:t>
            </a:r>
            <a:r>
              <a:rPr sz="2800" dirty="0">
                <a:latin typeface="Aptos"/>
                <a:cs typeface="Aptos"/>
              </a:rPr>
              <a:t>on</a:t>
            </a:r>
            <a:r>
              <a:rPr sz="2800" spc="-145" dirty="0">
                <a:latin typeface="Times New Roman"/>
                <a:cs typeface="Times New Roman"/>
              </a:rPr>
              <a:t> </a:t>
            </a:r>
            <a:r>
              <a:rPr sz="2800" spc="-10" dirty="0">
                <a:latin typeface="Aptos"/>
                <a:cs typeface="Aptos"/>
              </a:rPr>
              <a:t>the</a:t>
            </a:r>
            <a:r>
              <a:rPr sz="2800" spc="-135" dirty="0">
                <a:latin typeface="Times New Roman"/>
                <a:cs typeface="Times New Roman"/>
              </a:rPr>
              <a:t> </a:t>
            </a:r>
            <a:r>
              <a:rPr sz="2800" spc="-10" dirty="0">
                <a:latin typeface="Aptos"/>
                <a:cs typeface="Aptos"/>
              </a:rPr>
              <a:t>both</a:t>
            </a:r>
            <a:r>
              <a:rPr sz="2800" spc="-135" dirty="0">
                <a:latin typeface="Times New Roman"/>
                <a:cs typeface="Times New Roman"/>
              </a:rPr>
              <a:t> </a:t>
            </a:r>
            <a:r>
              <a:rPr sz="2800" spc="-10" dirty="0">
                <a:latin typeface="Aptos"/>
                <a:cs typeface="Aptos"/>
              </a:rPr>
              <a:t>sides</a:t>
            </a:r>
            <a:r>
              <a:rPr sz="2800" spc="-125" dirty="0">
                <a:latin typeface="Times New Roman"/>
                <a:cs typeface="Times New Roman"/>
              </a:rPr>
              <a:t> </a:t>
            </a:r>
            <a:r>
              <a:rPr sz="2800" dirty="0">
                <a:latin typeface="Aptos"/>
                <a:cs typeface="Aptos"/>
              </a:rPr>
              <a:t>t</a:t>
            </a:r>
            <a:r>
              <a:rPr sz="2800" spc="-140" dirty="0">
                <a:latin typeface="Times New Roman"/>
                <a:cs typeface="Times New Roman"/>
              </a:rPr>
              <a:t> </a:t>
            </a:r>
            <a:r>
              <a:rPr sz="2800" dirty="0">
                <a:latin typeface="Aptos"/>
                <a:cs typeface="Aptos"/>
              </a:rPr>
              <a:t>o</a:t>
            </a:r>
            <a:r>
              <a:rPr sz="2800" spc="-130" dirty="0">
                <a:latin typeface="Times New Roman"/>
                <a:cs typeface="Times New Roman"/>
              </a:rPr>
              <a:t> </a:t>
            </a:r>
            <a:r>
              <a:rPr sz="2800" spc="-20" dirty="0">
                <a:latin typeface="Aptos"/>
                <a:cs typeface="Aptos"/>
              </a:rPr>
              <a:t>protect</a:t>
            </a:r>
            <a:r>
              <a:rPr sz="2800" spc="-130" dirty="0">
                <a:latin typeface="Times New Roman"/>
                <a:cs typeface="Times New Roman"/>
              </a:rPr>
              <a:t> </a:t>
            </a:r>
            <a:r>
              <a:rPr sz="2800" spc="-10" dirty="0">
                <a:latin typeface="Aptos"/>
                <a:cs typeface="Aptos"/>
              </a:rPr>
              <a:t>the</a:t>
            </a:r>
            <a:r>
              <a:rPr sz="2800" spc="-125" dirty="0">
                <a:latin typeface="Times New Roman"/>
                <a:cs typeface="Times New Roman"/>
              </a:rPr>
              <a:t> </a:t>
            </a:r>
            <a:r>
              <a:rPr sz="2800" spc="-20" dirty="0">
                <a:latin typeface="Aptos"/>
                <a:cs typeface="Aptos"/>
              </a:rPr>
              <a:t>data</a:t>
            </a:r>
            <a:r>
              <a:rPr sz="2800" spc="-135" dirty="0">
                <a:latin typeface="Times New Roman"/>
                <a:cs typeface="Times New Roman"/>
              </a:rPr>
              <a:t> </a:t>
            </a:r>
            <a:r>
              <a:rPr sz="2800" spc="-10" dirty="0">
                <a:latin typeface="Aptos"/>
                <a:cs typeface="Aptos"/>
              </a:rPr>
              <a:t>signal</a:t>
            </a:r>
            <a:endParaRPr sz="2800">
              <a:latin typeface="Aptos"/>
              <a:cs typeface="Aptos"/>
            </a:endParaRPr>
          </a:p>
          <a:p>
            <a:pPr marL="12700">
              <a:lnSpc>
                <a:spcPct val="100000"/>
              </a:lnSpc>
              <a:spcBef>
                <a:spcPts val="630"/>
              </a:spcBef>
            </a:pPr>
            <a:r>
              <a:rPr sz="2800" spc="-10" dirty="0">
                <a:latin typeface="Aptos"/>
                <a:cs typeface="Aptos"/>
              </a:rPr>
              <a:t>loss.</a:t>
            </a:r>
            <a:endParaRPr sz="2800">
              <a:latin typeface="Aptos"/>
              <a:cs typeface="Aptos"/>
            </a:endParaRPr>
          </a:p>
        </p:txBody>
      </p:sp>
      <p:pic>
        <p:nvPicPr>
          <p:cNvPr id="4" name="object 4"/>
          <p:cNvPicPr/>
          <p:nvPr/>
        </p:nvPicPr>
        <p:blipFill>
          <a:blip r:embed="rId2" cstate="print"/>
          <a:stretch>
            <a:fillRect/>
          </a:stretch>
        </p:blipFill>
        <p:spPr>
          <a:xfrm>
            <a:off x="2427480" y="3679570"/>
            <a:ext cx="5338571" cy="2813303"/>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05481" y="196861"/>
            <a:ext cx="10600055" cy="5905500"/>
          </a:xfrm>
          <a:prstGeom prst="rect">
            <a:avLst/>
          </a:prstGeom>
        </p:spPr>
        <p:txBody>
          <a:bodyPr vert="horz" wrap="square" lIns="0" tIns="96520" rIns="0" bIns="0" rtlCol="0">
            <a:spAutoFit/>
          </a:bodyPr>
          <a:lstStyle/>
          <a:p>
            <a:pPr marL="329565" indent="-317500">
              <a:lnSpc>
                <a:spcPct val="100000"/>
              </a:lnSpc>
              <a:spcBef>
                <a:spcPts val="760"/>
              </a:spcBef>
              <a:buSzPct val="96428"/>
              <a:buFont typeface="Wingdings"/>
              <a:buChar char=""/>
              <a:tabLst>
                <a:tab pos="330200" algn="l"/>
              </a:tabLst>
            </a:pPr>
            <a:r>
              <a:rPr sz="2800" b="1" spc="-10" dirty="0">
                <a:latin typeface="Aptos"/>
                <a:cs typeface="Aptos"/>
              </a:rPr>
              <a:t>Advantages</a:t>
            </a:r>
            <a:endParaRPr sz="2800">
              <a:latin typeface="Aptos"/>
              <a:cs typeface="Aptos"/>
            </a:endParaRPr>
          </a:p>
          <a:p>
            <a:pPr marL="527685" indent="-515620">
              <a:lnSpc>
                <a:spcPct val="100000"/>
              </a:lnSpc>
              <a:spcBef>
                <a:spcPts val="665"/>
              </a:spcBef>
              <a:buAutoNum type="arabicPeriod"/>
              <a:tabLst>
                <a:tab pos="527685" algn="l"/>
                <a:tab pos="528320" algn="l"/>
              </a:tabLst>
            </a:pPr>
            <a:r>
              <a:rPr sz="2800" dirty="0">
                <a:latin typeface="Aptos"/>
                <a:cs typeface="Aptos"/>
              </a:rPr>
              <a:t>It</a:t>
            </a:r>
            <a:r>
              <a:rPr sz="2800" spc="-155" dirty="0">
                <a:latin typeface="Times New Roman"/>
                <a:cs typeface="Times New Roman"/>
              </a:rPr>
              <a:t> </a:t>
            </a:r>
            <a:r>
              <a:rPr sz="2800" dirty="0">
                <a:latin typeface="Aptos"/>
                <a:cs typeface="Aptos"/>
              </a:rPr>
              <a:t>is</a:t>
            </a:r>
            <a:r>
              <a:rPr sz="2800" spc="-155" dirty="0">
                <a:latin typeface="Times New Roman"/>
                <a:cs typeface="Times New Roman"/>
              </a:rPr>
              <a:t> </a:t>
            </a:r>
            <a:r>
              <a:rPr sz="2800" spc="-20" dirty="0">
                <a:latin typeface="Aptos"/>
                <a:cs typeface="Aptos"/>
              </a:rPr>
              <a:t>easy</a:t>
            </a:r>
            <a:r>
              <a:rPr sz="2800" spc="-140" dirty="0">
                <a:latin typeface="Times New Roman"/>
                <a:cs typeface="Times New Roman"/>
              </a:rPr>
              <a:t> </a:t>
            </a:r>
            <a:r>
              <a:rPr sz="2800" spc="-10" dirty="0">
                <a:latin typeface="Aptos"/>
                <a:cs typeface="Aptos"/>
              </a:rPr>
              <a:t>setup.</a:t>
            </a:r>
            <a:endParaRPr sz="2800">
              <a:latin typeface="Aptos"/>
              <a:cs typeface="Aptos"/>
            </a:endParaRPr>
          </a:p>
          <a:p>
            <a:pPr marL="527685" indent="-515620">
              <a:lnSpc>
                <a:spcPct val="100000"/>
              </a:lnSpc>
              <a:spcBef>
                <a:spcPts val="670"/>
              </a:spcBef>
              <a:buAutoNum type="arabicPeriod"/>
              <a:tabLst>
                <a:tab pos="527685" algn="l"/>
                <a:tab pos="528320" algn="l"/>
              </a:tabLst>
            </a:pPr>
            <a:r>
              <a:rPr sz="2800" dirty="0">
                <a:latin typeface="Aptos"/>
                <a:cs typeface="Aptos"/>
              </a:rPr>
              <a:t>It</a:t>
            </a:r>
            <a:r>
              <a:rPr sz="2800" spc="-150" dirty="0">
                <a:latin typeface="Times New Roman"/>
                <a:cs typeface="Times New Roman"/>
              </a:rPr>
              <a:t> </a:t>
            </a:r>
            <a:r>
              <a:rPr sz="2800" dirty="0">
                <a:latin typeface="Aptos"/>
                <a:cs typeface="Aptos"/>
              </a:rPr>
              <a:t>is</a:t>
            </a:r>
            <a:r>
              <a:rPr sz="2800" spc="-150" dirty="0">
                <a:latin typeface="Times New Roman"/>
                <a:cs typeface="Times New Roman"/>
              </a:rPr>
              <a:t> </a:t>
            </a:r>
            <a:r>
              <a:rPr sz="2800" dirty="0">
                <a:latin typeface="Aptos"/>
                <a:cs typeface="Aptos"/>
              </a:rPr>
              <a:t>not</a:t>
            </a:r>
            <a:r>
              <a:rPr sz="2800" spc="-140" dirty="0">
                <a:latin typeface="Times New Roman"/>
                <a:cs typeface="Times New Roman"/>
              </a:rPr>
              <a:t> </a:t>
            </a:r>
            <a:r>
              <a:rPr sz="2800" spc="-25" dirty="0">
                <a:latin typeface="Aptos"/>
                <a:cs typeface="Aptos"/>
              </a:rPr>
              <a:t>expensive</a:t>
            </a:r>
            <a:r>
              <a:rPr sz="2800" spc="-130" dirty="0">
                <a:latin typeface="Times New Roman"/>
                <a:cs typeface="Times New Roman"/>
              </a:rPr>
              <a:t> </a:t>
            </a:r>
            <a:r>
              <a:rPr sz="2800" dirty="0">
                <a:latin typeface="Aptos"/>
                <a:cs typeface="Aptos"/>
              </a:rPr>
              <a:t>as</a:t>
            </a:r>
            <a:r>
              <a:rPr sz="2800" spc="-145" dirty="0">
                <a:latin typeface="Times New Roman"/>
                <a:cs typeface="Times New Roman"/>
              </a:rPr>
              <a:t> </a:t>
            </a:r>
            <a:r>
              <a:rPr sz="2800" dirty="0">
                <a:latin typeface="Aptos"/>
                <a:cs typeface="Aptos"/>
              </a:rPr>
              <a:t>it</a:t>
            </a:r>
            <a:r>
              <a:rPr sz="2800" spc="-150" dirty="0">
                <a:latin typeface="Times New Roman"/>
                <a:cs typeface="Times New Roman"/>
              </a:rPr>
              <a:t> </a:t>
            </a:r>
            <a:r>
              <a:rPr sz="2800" spc="-25" dirty="0">
                <a:latin typeface="Aptos"/>
                <a:cs typeface="Aptos"/>
              </a:rPr>
              <a:t>requires</a:t>
            </a:r>
            <a:r>
              <a:rPr sz="2800" spc="-150" dirty="0">
                <a:latin typeface="Times New Roman"/>
                <a:cs typeface="Times New Roman"/>
              </a:rPr>
              <a:t> </a:t>
            </a:r>
            <a:r>
              <a:rPr sz="2800" spc="-10" dirty="0">
                <a:latin typeface="Aptos"/>
                <a:cs typeface="Aptos"/>
              </a:rPr>
              <a:t>least</a:t>
            </a:r>
            <a:r>
              <a:rPr sz="2800" spc="-150" dirty="0">
                <a:latin typeface="Times New Roman"/>
                <a:cs typeface="Times New Roman"/>
              </a:rPr>
              <a:t> </a:t>
            </a:r>
            <a:r>
              <a:rPr sz="2800" spc="-20" dirty="0">
                <a:latin typeface="Aptos"/>
                <a:cs typeface="Aptos"/>
              </a:rPr>
              <a:t>amount</a:t>
            </a:r>
            <a:r>
              <a:rPr sz="2800" spc="-135" dirty="0">
                <a:latin typeface="Times New Roman"/>
                <a:cs typeface="Times New Roman"/>
              </a:rPr>
              <a:t> </a:t>
            </a:r>
            <a:r>
              <a:rPr sz="2800" dirty="0">
                <a:latin typeface="Aptos"/>
                <a:cs typeface="Aptos"/>
              </a:rPr>
              <a:t>of</a:t>
            </a:r>
            <a:r>
              <a:rPr sz="2800" spc="-150" dirty="0">
                <a:latin typeface="Times New Roman"/>
                <a:cs typeface="Times New Roman"/>
              </a:rPr>
              <a:t> </a:t>
            </a:r>
            <a:r>
              <a:rPr sz="2800" spc="-10" dirty="0">
                <a:latin typeface="Aptos"/>
                <a:cs typeface="Aptos"/>
              </a:rPr>
              <a:t>cable.</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It</a:t>
            </a:r>
            <a:r>
              <a:rPr sz="2800" spc="-160" dirty="0">
                <a:latin typeface="Times New Roman"/>
                <a:cs typeface="Times New Roman"/>
              </a:rPr>
              <a:t> </a:t>
            </a:r>
            <a:r>
              <a:rPr sz="2800" dirty="0">
                <a:latin typeface="Aptos"/>
                <a:cs typeface="Aptos"/>
              </a:rPr>
              <a:t>is</a:t>
            </a:r>
            <a:r>
              <a:rPr sz="2800" spc="-145" dirty="0">
                <a:latin typeface="Times New Roman"/>
                <a:cs typeface="Times New Roman"/>
              </a:rPr>
              <a:t> </a:t>
            </a:r>
            <a:r>
              <a:rPr sz="2800" spc="-20" dirty="0">
                <a:latin typeface="Aptos"/>
                <a:cs typeface="Aptos"/>
              </a:rPr>
              <a:t>easy</a:t>
            </a:r>
            <a:r>
              <a:rPr sz="2800" spc="-140" dirty="0">
                <a:latin typeface="Times New Roman"/>
                <a:cs typeface="Times New Roman"/>
              </a:rPr>
              <a:t> </a:t>
            </a:r>
            <a:r>
              <a:rPr sz="2800" dirty="0">
                <a:latin typeface="Aptos"/>
                <a:cs typeface="Aptos"/>
              </a:rPr>
              <a:t>to</a:t>
            </a:r>
            <a:r>
              <a:rPr sz="2800" spc="-135" dirty="0">
                <a:latin typeface="Times New Roman"/>
                <a:cs typeface="Times New Roman"/>
              </a:rPr>
              <a:t> </a:t>
            </a:r>
            <a:r>
              <a:rPr sz="2800" spc="-20" dirty="0">
                <a:latin typeface="Aptos"/>
                <a:cs typeface="Aptos"/>
              </a:rPr>
              <a:t>implement</a:t>
            </a:r>
            <a:r>
              <a:rPr sz="2800" spc="-155" dirty="0">
                <a:latin typeface="Times New Roman"/>
                <a:cs typeface="Times New Roman"/>
              </a:rPr>
              <a:t> </a:t>
            </a:r>
            <a:r>
              <a:rPr sz="2800" spc="-10" dirty="0">
                <a:latin typeface="Aptos"/>
                <a:cs typeface="Aptos"/>
              </a:rPr>
              <a:t>and</a:t>
            </a:r>
            <a:r>
              <a:rPr sz="2800" spc="-130" dirty="0">
                <a:latin typeface="Times New Roman"/>
                <a:cs typeface="Times New Roman"/>
              </a:rPr>
              <a:t> </a:t>
            </a:r>
            <a:r>
              <a:rPr sz="2800" spc="-10" dirty="0">
                <a:latin typeface="Aptos"/>
                <a:cs typeface="Aptos"/>
              </a:rPr>
              <a:t>extent.</a:t>
            </a:r>
            <a:endParaRPr sz="2800">
              <a:latin typeface="Aptos"/>
              <a:cs typeface="Aptos"/>
            </a:endParaRPr>
          </a:p>
          <a:p>
            <a:pPr marL="527685" indent="-515620">
              <a:lnSpc>
                <a:spcPct val="100000"/>
              </a:lnSpc>
              <a:spcBef>
                <a:spcPts val="665"/>
              </a:spcBef>
              <a:buAutoNum type="arabicPeriod"/>
              <a:tabLst>
                <a:tab pos="527685" algn="l"/>
                <a:tab pos="528320" algn="l"/>
              </a:tabLst>
            </a:pPr>
            <a:r>
              <a:rPr sz="2800" spc="-45" dirty="0">
                <a:latin typeface="Aptos"/>
                <a:cs typeface="Aptos"/>
              </a:rPr>
              <a:t>Terminator</a:t>
            </a:r>
            <a:r>
              <a:rPr sz="2800" spc="-125" dirty="0">
                <a:latin typeface="Times New Roman"/>
                <a:cs typeface="Times New Roman"/>
              </a:rPr>
              <a:t> </a:t>
            </a:r>
            <a:r>
              <a:rPr sz="2800" spc="-10" dirty="0">
                <a:latin typeface="Aptos"/>
                <a:cs typeface="Aptos"/>
              </a:rPr>
              <a:t>doesn't</a:t>
            </a:r>
            <a:r>
              <a:rPr sz="2800" spc="-125" dirty="0">
                <a:latin typeface="Times New Roman"/>
                <a:cs typeface="Times New Roman"/>
              </a:rPr>
              <a:t> </a:t>
            </a:r>
            <a:r>
              <a:rPr sz="2800" spc="-20" dirty="0">
                <a:latin typeface="Aptos"/>
                <a:cs typeface="Aptos"/>
              </a:rPr>
              <a:t>allow</a:t>
            </a:r>
            <a:r>
              <a:rPr sz="2800" spc="-155" dirty="0">
                <a:latin typeface="Times New Roman"/>
                <a:cs typeface="Times New Roman"/>
              </a:rPr>
              <a:t> </a:t>
            </a:r>
            <a:r>
              <a:rPr sz="2800" spc="-20" dirty="0">
                <a:latin typeface="Aptos"/>
                <a:cs typeface="Aptos"/>
              </a:rPr>
              <a:t>data</a:t>
            </a:r>
            <a:r>
              <a:rPr sz="2800" spc="-130" dirty="0">
                <a:latin typeface="Times New Roman"/>
                <a:cs typeface="Times New Roman"/>
              </a:rPr>
              <a:t> </a:t>
            </a:r>
            <a:r>
              <a:rPr sz="2800" dirty="0">
                <a:latin typeface="Aptos"/>
                <a:cs typeface="Aptos"/>
              </a:rPr>
              <a:t>to</a:t>
            </a:r>
            <a:r>
              <a:rPr sz="2800" spc="-125" dirty="0">
                <a:latin typeface="Times New Roman"/>
                <a:cs typeface="Times New Roman"/>
              </a:rPr>
              <a:t> </a:t>
            </a:r>
            <a:r>
              <a:rPr sz="2800" spc="-10" dirty="0">
                <a:latin typeface="Aptos"/>
                <a:cs typeface="Aptos"/>
              </a:rPr>
              <a:t>escape</a:t>
            </a:r>
            <a:endParaRPr sz="2800">
              <a:latin typeface="Aptos"/>
              <a:cs typeface="Aptos"/>
            </a:endParaRPr>
          </a:p>
          <a:p>
            <a:pPr marL="527685" marR="865505" indent="-515620">
              <a:lnSpc>
                <a:spcPts val="3020"/>
              </a:lnSpc>
              <a:spcBef>
                <a:spcPts val="1055"/>
              </a:spcBef>
              <a:buAutoNum type="arabicPeriod"/>
              <a:tabLst>
                <a:tab pos="527685" algn="l"/>
                <a:tab pos="528320" algn="l"/>
              </a:tabLst>
            </a:pPr>
            <a:r>
              <a:rPr sz="2800" spc="-10" dirty="0">
                <a:latin typeface="Aptos"/>
                <a:cs typeface="Aptos"/>
              </a:rPr>
              <a:t>Each</a:t>
            </a:r>
            <a:r>
              <a:rPr sz="2800" spc="-155" dirty="0">
                <a:latin typeface="Times New Roman"/>
                <a:cs typeface="Times New Roman"/>
              </a:rPr>
              <a:t> </a:t>
            </a:r>
            <a:r>
              <a:rPr sz="2800" spc="-10" dirty="0">
                <a:latin typeface="Aptos"/>
                <a:cs typeface="Aptos"/>
              </a:rPr>
              <a:t>computer</a:t>
            </a:r>
            <a:r>
              <a:rPr sz="2800" spc="-135" dirty="0">
                <a:latin typeface="Times New Roman"/>
                <a:cs typeface="Times New Roman"/>
              </a:rPr>
              <a:t> </a:t>
            </a:r>
            <a:r>
              <a:rPr sz="2800" dirty="0">
                <a:latin typeface="Aptos"/>
                <a:cs typeface="Aptos"/>
              </a:rPr>
              <a:t>in</a:t>
            </a:r>
            <a:r>
              <a:rPr sz="2800" spc="-155" dirty="0">
                <a:latin typeface="Times New Roman"/>
                <a:cs typeface="Times New Roman"/>
              </a:rPr>
              <a:t> </a:t>
            </a:r>
            <a:r>
              <a:rPr sz="2800" dirty="0">
                <a:latin typeface="Aptos"/>
                <a:cs typeface="Aptos"/>
              </a:rPr>
              <a:t>a</a:t>
            </a:r>
            <a:r>
              <a:rPr sz="2800" spc="-160" dirty="0">
                <a:latin typeface="Times New Roman"/>
                <a:cs typeface="Times New Roman"/>
              </a:rPr>
              <a:t> </a:t>
            </a:r>
            <a:r>
              <a:rPr sz="2800" spc="-20" dirty="0">
                <a:latin typeface="Aptos"/>
                <a:cs typeface="Aptos"/>
              </a:rPr>
              <a:t>network</a:t>
            </a:r>
            <a:r>
              <a:rPr sz="2800" spc="-155" dirty="0">
                <a:latin typeface="Times New Roman"/>
                <a:cs typeface="Times New Roman"/>
              </a:rPr>
              <a:t> </a:t>
            </a:r>
            <a:r>
              <a:rPr sz="2800" dirty="0">
                <a:latin typeface="Aptos"/>
                <a:cs typeface="Aptos"/>
              </a:rPr>
              <a:t>has</a:t>
            </a:r>
            <a:r>
              <a:rPr sz="2800" spc="-145" dirty="0">
                <a:latin typeface="Times New Roman"/>
                <a:cs typeface="Times New Roman"/>
              </a:rPr>
              <a:t> </a:t>
            </a:r>
            <a:r>
              <a:rPr sz="2800" spc="-10" dirty="0">
                <a:latin typeface="Aptos"/>
                <a:cs typeface="Aptos"/>
              </a:rPr>
              <a:t>equal</a:t>
            </a:r>
            <a:r>
              <a:rPr sz="2800" spc="-140" dirty="0">
                <a:latin typeface="Times New Roman"/>
                <a:cs typeface="Times New Roman"/>
              </a:rPr>
              <a:t> </a:t>
            </a:r>
            <a:r>
              <a:rPr sz="2800" spc="-20" dirty="0">
                <a:latin typeface="Aptos"/>
                <a:cs typeface="Aptos"/>
              </a:rPr>
              <a:t>access</a:t>
            </a:r>
            <a:r>
              <a:rPr sz="2800" spc="-140" dirty="0">
                <a:latin typeface="Times New Roman"/>
                <a:cs typeface="Times New Roman"/>
              </a:rPr>
              <a:t> </a:t>
            </a:r>
            <a:r>
              <a:rPr sz="2800" dirty="0">
                <a:latin typeface="Aptos"/>
                <a:cs typeface="Aptos"/>
              </a:rPr>
              <a:t>and</a:t>
            </a:r>
            <a:r>
              <a:rPr sz="2800" spc="-140" dirty="0">
                <a:latin typeface="Times New Roman"/>
                <a:cs typeface="Times New Roman"/>
              </a:rPr>
              <a:t> </a:t>
            </a:r>
            <a:r>
              <a:rPr sz="2800" spc="-10" dirty="0">
                <a:latin typeface="Aptos"/>
                <a:cs typeface="Aptos"/>
              </a:rPr>
              <a:t>priority</a:t>
            </a:r>
            <a:r>
              <a:rPr sz="2800" spc="-165" dirty="0">
                <a:latin typeface="Times New Roman"/>
                <a:cs typeface="Times New Roman"/>
              </a:rPr>
              <a:t> </a:t>
            </a:r>
            <a:r>
              <a:rPr sz="2800" spc="-25" dirty="0">
                <a:latin typeface="Aptos"/>
                <a:cs typeface="Aptos"/>
              </a:rPr>
              <a:t>to</a:t>
            </a:r>
            <a:r>
              <a:rPr sz="2800" spc="-25" dirty="0">
                <a:latin typeface="Times New Roman"/>
                <a:cs typeface="Times New Roman"/>
              </a:rPr>
              <a:t> </a:t>
            </a:r>
            <a:r>
              <a:rPr sz="2800" spc="-25" dirty="0">
                <a:latin typeface="Aptos"/>
                <a:cs typeface="Aptos"/>
              </a:rPr>
              <a:t>communicate</a:t>
            </a:r>
            <a:r>
              <a:rPr sz="2800" spc="-125" dirty="0">
                <a:latin typeface="Times New Roman"/>
                <a:cs typeface="Times New Roman"/>
              </a:rPr>
              <a:t> </a:t>
            </a:r>
            <a:r>
              <a:rPr sz="2800" dirty="0">
                <a:latin typeface="Aptos"/>
                <a:cs typeface="Aptos"/>
              </a:rPr>
              <a:t>on</a:t>
            </a:r>
            <a:r>
              <a:rPr sz="2800" spc="-140" dirty="0">
                <a:latin typeface="Times New Roman"/>
                <a:cs typeface="Times New Roman"/>
              </a:rPr>
              <a:t> </a:t>
            </a:r>
            <a:r>
              <a:rPr sz="2800" spc="-10" dirty="0">
                <a:latin typeface="Aptos"/>
                <a:cs typeface="Aptos"/>
              </a:rPr>
              <a:t>the</a:t>
            </a:r>
            <a:r>
              <a:rPr sz="2800" spc="-140" dirty="0">
                <a:latin typeface="Times New Roman"/>
                <a:cs typeface="Times New Roman"/>
              </a:rPr>
              <a:t> </a:t>
            </a:r>
            <a:r>
              <a:rPr sz="2800" spc="-10" dirty="0">
                <a:latin typeface="Aptos"/>
                <a:cs typeface="Aptos"/>
              </a:rPr>
              <a:t>network.</a:t>
            </a:r>
            <a:endParaRPr sz="2800">
              <a:latin typeface="Aptos"/>
              <a:cs typeface="Aptos"/>
            </a:endParaRPr>
          </a:p>
          <a:p>
            <a:pPr marL="329565" indent="-317500">
              <a:lnSpc>
                <a:spcPct val="100000"/>
              </a:lnSpc>
              <a:spcBef>
                <a:spcPts val="625"/>
              </a:spcBef>
              <a:buSzPct val="96428"/>
              <a:buFont typeface="Wingdings"/>
              <a:buChar char=""/>
              <a:tabLst>
                <a:tab pos="330200" algn="l"/>
              </a:tabLst>
            </a:pPr>
            <a:r>
              <a:rPr sz="2800" b="1" spc="-10" dirty="0">
                <a:latin typeface="Aptos"/>
                <a:cs typeface="Aptos"/>
              </a:rPr>
              <a:t>Disadvantages:</a:t>
            </a:r>
            <a:endParaRPr sz="2800">
              <a:latin typeface="Aptos"/>
              <a:cs typeface="Aptos"/>
            </a:endParaRPr>
          </a:p>
          <a:p>
            <a:pPr marL="527685" marR="5080" indent="-515620">
              <a:lnSpc>
                <a:spcPts val="3020"/>
              </a:lnSpc>
              <a:spcBef>
                <a:spcPts val="1040"/>
              </a:spcBef>
              <a:buAutoNum type="arabicPeriod"/>
              <a:tabLst>
                <a:tab pos="527685" algn="l"/>
                <a:tab pos="528320" algn="l"/>
              </a:tabLst>
            </a:pPr>
            <a:r>
              <a:rPr sz="2800" spc="-10" dirty="0">
                <a:latin typeface="Aptos"/>
                <a:cs typeface="Aptos"/>
              </a:rPr>
              <a:t>Since</a:t>
            </a:r>
            <a:r>
              <a:rPr sz="2800" spc="-155" dirty="0">
                <a:latin typeface="Times New Roman"/>
                <a:cs typeface="Times New Roman"/>
              </a:rPr>
              <a:t> </a:t>
            </a:r>
            <a:r>
              <a:rPr sz="2800" dirty="0">
                <a:latin typeface="Aptos"/>
                <a:cs typeface="Aptos"/>
              </a:rPr>
              <a:t>every</a:t>
            </a:r>
            <a:r>
              <a:rPr sz="2800" spc="-155" dirty="0">
                <a:latin typeface="Times New Roman"/>
                <a:cs typeface="Times New Roman"/>
              </a:rPr>
              <a:t> </a:t>
            </a:r>
            <a:r>
              <a:rPr sz="2800" spc="-10" dirty="0">
                <a:latin typeface="Aptos"/>
                <a:cs typeface="Aptos"/>
              </a:rPr>
              <a:t>computer</a:t>
            </a:r>
            <a:r>
              <a:rPr sz="2800" spc="-135" dirty="0">
                <a:latin typeface="Times New Roman"/>
                <a:cs typeface="Times New Roman"/>
              </a:rPr>
              <a:t> </a:t>
            </a:r>
            <a:r>
              <a:rPr sz="2800" dirty="0">
                <a:latin typeface="Aptos"/>
                <a:cs typeface="Aptos"/>
              </a:rPr>
              <a:t>in</a:t>
            </a:r>
            <a:r>
              <a:rPr sz="2800" spc="-150" dirty="0">
                <a:latin typeface="Times New Roman"/>
                <a:cs typeface="Times New Roman"/>
              </a:rPr>
              <a:t> </a:t>
            </a:r>
            <a:r>
              <a:rPr sz="2800" dirty="0">
                <a:latin typeface="Aptos"/>
                <a:cs typeface="Aptos"/>
              </a:rPr>
              <a:t>a</a:t>
            </a:r>
            <a:r>
              <a:rPr sz="2800" spc="-155" dirty="0">
                <a:latin typeface="Times New Roman"/>
                <a:cs typeface="Times New Roman"/>
              </a:rPr>
              <a:t> </a:t>
            </a:r>
            <a:r>
              <a:rPr sz="2800" spc="-20" dirty="0">
                <a:latin typeface="Aptos"/>
                <a:cs typeface="Aptos"/>
              </a:rPr>
              <a:t>network</a:t>
            </a:r>
            <a:r>
              <a:rPr sz="2800" spc="-150" dirty="0">
                <a:latin typeface="Times New Roman"/>
                <a:cs typeface="Times New Roman"/>
              </a:rPr>
              <a:t> </a:t>
            </a:r>
            <a:r>
              <a:rPr sz="2800" spc="-20" dirty="0">
                <a:latin typeface="Aptos"/>
                <a:cs typeface="Aptos"/>
              </a:rPr>
              <a:t>are</a:t>
            </a:r>
            <a:r>
              <a:rPr sz="2800" spc="-145" dirty="0">
                <a:latin typeface="Times New Roman"/>
                <a:cs typeface="Times New Roman"/>
              </a:rPr>
              <a:t> </a:t>
            </a:r>
            <a:r>
              <a:rPr sz="2800" spc="-20" dirty="0">
                <a:latin typeface="Aptos"/>
                <a:cs typeface="Aptos"/>
              </a:rPr>
              <a:t>connected</a:t>
            </a:r>
            <a:r>
              <a:rPr sz="2800" spc="-125" dirty="0">
                <a:latin typeface="Times New Roman"/>
                <a:cs typeface="Times New Roman"/>
              </a:rPr>
              <a:t> </a:t>
            </a:r>
            <a:r>
              <a:rPr sz="2800" dirty="0">
                <a:latin typeface="Aptos"/>
                <a:cs typeface="Aptos"/>
              </a:rPr>
              <a:t>to</a:t>
            </a:r>
            <a:r>
              <a:rPr sz="2800" spc="-140" dirty="0">
                <a:latin typeface="Times New Roman"/>
                <a:cs typeface="Times New Roman"/>
              </a:rPr>
              <a:t> </a:t>
            </a:r>
            <a:r>
              <a:rPr sz="2800" spc="-10" dirty="0">
                <a:latin typeface="Aptos"/>
                <a:cs typeface="Aptos"/>
              </a:rPr>
              <a:t>the</a:t>
            </a:r>
            <a:r>
              <a:rPr sz="2800" spc="-155" dirty="0">
                <a:latin typeface="Times New Roman"/>
                <a:cs typeface="Times New Roman"/>
              </a:rPr>
              <a:t> </a:t>
            </a:r>
            <a:r>
              <a:rPr sz="2800" spc="-20" dirty="0">
                <a:latin typeface="Aptos"/>
                <a:cs typeface="Aptos"/>
              </a:rPr>
              <a:t>bus,</a:t>
            </a:r>
            <a:r>
              <a:rPr sz="2800" spc="-130" dirty="0">
                <a:latin typeface="Times New Roman"/>
                <a:cs typeface="Times New Roman"/>
              </a:rPr>
              <a:t> </a:t>
            </a:r>
            <a:r>
              <a:rPr sz="2800" dirty="0">
                <a:latin typeface="Aptos"/>
                <a:cs typeface="Aptos"/>
              </a:rPr>
              <a:t>if</a:t>
            </a:r>
            <a:r>
              <a:rPr sz="2800" spc="-170" dirty="0">
                <a:latin typeface="Times New Roman"/>
                <a:cs typeface="Times New Roman"/>
              </a:rPr>
              <a:t> </a:t>
            </a:r>
            <a:r>
              <a:rPr sz="2800" spc="-25" dirty="0">
                <a:latin typeface="Aptos"/>
                <a:cs typeface="Aptos"/>
              </a:rPr>
              <a:t>the</a:t>
            </a:r>
            <a:r>
              <a:rPr sz="2800" spc="-25" dirty="0">
                <a:latin typeface="Times New Roman"/>
                <a:cs typeface="Times New Roman"/>
              </a:rPr>
              <a:t> </a:t>
            </a:r>
            <a:r>
              <a:rPr sz="2800" spc="-20" dirty="0">
                <a:latin typeface="Aptos"/>
                <a:cs typeface="Aptos"/>
              </a:rPr>
              <a:t>cable</a:t>
            </a:r>
            <a:r>
              <a:rPr sz="2800" spc="-155" dirty="0">
                <a:latin typeface="Times New Roman"/>
                <a:cs typeface="Times New Roman"/>
              </a:rPr>
              <a:t> </a:t>
            </a:r>
            <a:r>
              <a:rPr sz="2800" spc="-25" dirty="0">
                <a:latin typeface="Aptos"/>
                <a:cs typeface="Aptos"/>
              </a:rPr>
              <a:t>fails</a:t>
            </a:r>
            <a:r>
              <a:rPr sz="2800" spc="-155" dirty="0">
                <a:latin typeface="Times New Roman"/>
                <a:cs typeface="Times New Roman"/>
              </a:rPr>
              <a:t> </a:t>
            </a:r>
            <a:r>
              <a:rPr sz="2800" dirty="0">
                <a:latin typeface="Aptos"/>
                <a:cs typeface="Aptos"/>
              </a:rPr>
              <a:t>to</a:t>
            </a:r>
            <a:r>
              <a:rPr sz="2800" spc="-135" dirty="0">
                <a:latin typeface="Times New Roman"/>
                <a:cs typeface="Times New Roman"/>
              </a:rPr>
              <a:t> </a:t>
            </a:r>
            <a:r>
              <a:rPr sz="2800" spc="-10" dirty="0">
                <a:latin typeface="Aptos"/>
                <a:cs typeface="Aptos"/>
              </a:rPr>
              <a:t>work</a:t>
            </a:r>
            <a:r>
              <a:rPr sz="2800" spc="-130" dirty="0">
                <a:latin typeface="Times New Roman"/>
                <a:cs typeface="Times New Roman"/>
              </a:rPr>
              <a:t> </a:t>
            </a:r>
            <a:r>
              <a:rPr sz="2800" spc="-20" dirty="0">
                <a:latin typeface="Aptos"/>
                <a:cs typeface="Aptos"/>
              </a:rPr>
              <a:t>then</a:t>
            </a:r>
            <a:r>
              <a:rPr sz="2800" spc="-145" dirty="0">
                <a:latin typeface="Times New Roman"/>
                <a:cs typeface="Times New Roman"/>
              </a:rPr>
              <a:t> </a:t>
            </a:r>
            <a:r>
              <a:rPr sz="2800" spc="-10" dirty="0">
                <a:latin typeface="Aptos"/>
                <a:cs typeface="Aptos"/>
              </a:rPr>
              <a:t>whole</a:t>
            </a:r>
            <a:r>
              <a:rPr sz="2800" spc="-145" dirty="0">
                <a:latin typeface="Times New Roman"/>
                <a:cs typeface="Times New Roman"/>
              </a:rPr>
              <a:t> </a:t>
            </a:r>
            <a:r>
              <a:rPr sz="2800" spc="-25" dirty="0">
                <a:latin typeface="Aptos"/>
                <a:cs typeface="Aptos"/>
              </a:rPr>
              <a:t>network</a:t>
            </a:r>
            <a:r>
              <a:rPr sz="2800" spc="-145" dirty="0">
                <a:latin typeface="Times New Roman"/>
                <a:cs typeface="Times New Roman"/>
              </a:rPr>
              <a:t> </a:t>
            </a:r>
            <a:r>
              <a:rPr sz="2800" dirty="0">
                <a:latin typeface="Aptos"/>
                <a:cs typeface="Aptos"/>
              </a:rPr>
              <a:t>is</a:t>
            </a:r>
            <a:r>
              <a:rPr sz="2800" spc="-145" dirty="0">
                <a:latin typeface="Times New Roman"/>
                <a:cs typeface="Times New Roman"/>
              </a:rPr>
              <a:t> </a:t>
            </a:r>
            <a:r>
              <a:rPr sz="2800" spc="-10" dirty="0">
                <a:latin typeface="Aptos"/>
                <a:cs typeface="Aptos"/>
              </a:rPr>
              <a:t>affected.</a:t>
            </a:r>
            <a:endParaRPr sz="2800">
              <a:latin typeface="Aptos"/>
              <a:cs typeface="Aptos"/>
            </a:endParaRPr>
          </a:p>
          <a:p>
            <a:pPr marL="527685" indent="-515620">
              <a:lnSpc>
                <a:spcPct val="100000"/>
              </a:lnSpc>
              <a:spcBef>
                <a:spcPts val="635"/>
              </a:spcBef>
              <a:buAutoNum type="arabicPeriod"/>
              <a:tabLst>
                <a:tab pos="527685" algn="l"/>
                <a:tab pos="528320" algn="l"/>
              </a:tabLst>
            </a:pPr>
            <a:r>
              <a:rPr sz="2800" dirty="0">
                <a:latin typeface="Aptos"/>
                <a:cs typeface="Aptos"/>
              </a:rPr>
              <a:t>As</a:t>
            </a:r>
            <a:r>
              <a:rPr sz="2800" spc="-135" dirty="0">
                <a:latin typeface="Times New Roman"/>
                <a:cs typeface="Times New Roman"/>
              </a:rPr>
              <a:t> </a:t>
            </a:r>
            <a:r>
              <a:rPr sz="2800" spc="-10" dirty="0">
                <a:latin typeface="Aptos"/>
                <a:cs typeface="Aptos"/>
              </a:rPr>
              <a:t>the</a:t>
            </a:r>
            <a:r>
              <a:rPr sz="2800" spc="-150" dirty="0">
                <a:latin typeface="Times New Roman"/>
                <a:cs typeface="Times New Roman"/>
              </a:rPr>
              <a:t> </a:t>
            </a:r>
            <a:r>
              <a:rPr sz="2800" spc="-20" dirty="0">
                <a:latin typeface="Aptos"/>
                <a:cs typeface="Aptos"/>
              </a:rPr>
              <a:t>number</a:t>
            </a:r>
            <a:r>
              <a:rPr sz="2800" spc="-125" dirty="0">
                <a:latin typeface="Times New Roman"/>
                <a:cs typeface="Times New Roman"/>
              </a:rPr>
              <a:t> </a:t>
            </a:r>
            <a:r>
              <a:rPr sz="2800" dirty="0">
                <a:latin typeface="Aptos"/>
                <a:cs typeface="Aptos"/>
              </a:rPr>
              <a:t>of</a:t>
            </a:r>
            <a:r>
              <a:rPr sz="2800" spc="-140" dirty="0">
                <a:latin typeface="Times New Roman"/>
                <a:cs typeface="Times New Roman"/>
              </a:rPr>
              <a:t> </a:t>
            </a:r>
            <a:r>
              <a:rPr sz="2800" spc="-10" dirty="0">
                <a:latin typeface="Aptos"/>
                <a:cs typeface="Aptos"/>
              </a:rPr>
              <a:t>computer</a:t>
            </a:r>
            <a:r>
              <a:rPr sz="2800" spc="-125" dirty="0">
                <a:latin typeface="Times New Roman"/>
                <a:cs typeface="Times New Roman"/>
              </a:rPr>
              <a:t> </a:t>
            </a:r>
            <a:r>
              <a:rPr sz="2800" spc="-20" dirty="0">
                <a:latin typeface="Aptos"/>
                <a:cs typeface="Aptos"/>
              </a:rPr>
              <a:t>increases,</a:t>
            </a:r>
            <a:r>
              <a:rPr sz="2800" spc="-130" dirty="0">
                <a:latin typeface="Times New Roman"/>
                <a:cs typeface="Times New Roman"/>
              </a:rPr>
              <a:t> </a:t>
            </a:r>
            <a:r>
              <a:rPr sz="2800" spc="-20" dirty="0">
                <a:latin typeface="Aptos"/>
                <a:cs typeface="Aptos"/>
              </a:rPr>
              <a:t>performance</a:t>
            </a:r>
            <a:r>
              <a:rPr sz="2800" spc="-125" dirty="0">
                <a:latin typeface="Times New Roman"/>
                <a:cs typeface="Times New Roman"/>
              </a:rPr>
              <a:t> </a:t>
            </a:r>
            <a:r>
              <a:rPr sz="2800" spc="-10" dirty="0">
                <a:latin typeface="Aptos"/>
                <a:cs typeface="Aptos"/>
              </a:rPr>
              <a:t>decreases.</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dirty="0">
                <a:latin typeface="Aptos"/>
                <a:cs typeface="Aptos"/>
              </a:rPr>
              <a:t>It</a:t>
            </a:r>
            <a:r>
              <a:rPr sz="2800" spc="-150" dirty="0">
                <a:latin typeface="Times New Roman"/>
                <a:cs typeface="Times New Roman"/>
              </a:rPr>
              <a:t> </a:t>
            </a:r>
            <a:r>
              <a:rPr sz="2800" spc="-20" dirty="0">
                <a:latin typeface="Aptos"/>
                <a:cs typeface="Aptos"/>
              </a:rPr>
              <a:t>cannot</a:t>
            </a:r>
            <a:r>
              <a:rPr sz="2800" spc="-130" dirty="0">
                <a:latin typeface="Times New Roman"/>
                <a:cs typeface="Times New Roman"/>
              </a:rPr>
              <a:t> </a:t>
            </a:r>
            <a:r>
              <a:rPr sz="2800" spc="-20" dirty="0">
                <a:latin typeface="Aptos"/>
                <a:cs typeface="Aptos"/>
              </a:rPr>
              <a:t>cover</a:t>
            </a:r>
            <a:r>
              <a:rPr sz="2800" spc="-125" dirty="0">
                <a:latin typeface="Times New Roman"/>
                <a:cs typeface="Times New Roman"/>
              </a:rPr>
              <a:t> </a:t>
            </a:r>
            <a:r>
              <a:rPr sz="2800" spc="-25" dirty="0">
                <a:latin typeface="Aptos"/>
                <a:cs typeface="Aptos"/>
              </a:rPr>
              <a:t>large</a:t>
            </a:r>
            <a:r>
              <a:rPr sz="2800" spc="-135" dirty="0">
                <a:latin typeface="Times New Roman"/>
                <a:cs typeface="Times New Roman"/>
              </a:rPr>
              <a:t> </a:t>
            </a:r>
            <a:r>
              <a:rPr sz="2800" spc="-25" dirty="0">
                <a:latin typeface="Aptos"/>
                <a:cs typeface="Aptos"/>
              </a:rPr>
              <a:t>geographical</a:t>
            </a:r>
            <a:r>
              <a:rPr sz="2800" spc="-120" dirty="0">
                <a:latin typeface="Times New Roman"/>
                <a:cs typeface="Times New Roman"/>
              </a:rPr>
              <a:t> </a:t>
            </a:r>
            <a:r>
              <a:rPr sz="2800" spc="-10" dirty="0">
                <a:latin typeface="Aptos"/>
                <a:cs typeface="Aptos"/>
              </a:rPr>
              <a:t>area.</a:t>
            </a:r>
            <a:endParaRPr sz="2800">
              <a:latin typeface="Aptos"/>
              <a:cs typeface="Apto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1" y="412483"/>
            <a:ext cx="9986010" cy="1219835"/>
          </a:xfrm>
          <a:prstGeom prst="rect">
            <a:avLst/>
          </a:prstGeom>
        </p:spPr>
        <p:txBody>
          <a:bodyPr vert="horz" wrap="square" lIns="0" tIns="60960" rIns="0" bIns="0" rtlCol="0">
            <a:spAutoFit/>
          </a:bodyPr>
          <a:lstStyle/>
          <a:p>
            <a:pPr marL="12700" marR="5080">
              <a:lnSpc>
                <a:spcPts val="3020"/>
              </a:lnSpc>
              <a:spcBef>
                <a:spcPts val="480"/>
              </a:spcBef>
            </a:pPr>
            <a:r>
              <a:rPr sz="2800" dirty="0">
                <a:latin typeface="Aptos"/>
                <a:cs typeface="Aptos"/>
              </a:rPr>
              <a:t>2</a:t>
            </a:r>
            <a:r>
              <a:rPr sz="2800" spc="-135" dirty="0">
                <a:latin typeface="Times New Roman"/>
                <a:cs typeface="Times New Roman"/>
              </a:rPr>
              <a:t> </a:t>
            </a:r>
            <a:r>
              <a:rPr sz="2800" dirty="0">
                <a:latin typeface="Aptos"/>
                <a:cs typeface="Aptos"/>
              </a:rPr>
              <a:t>)</a:t>
            </a:r>
            <a:r>
              <a:rPr sz="2800" spc="-130" dirty="0">
                <a:latin typeface="Times New Roman"/>
                <a:cs typeface="Times New Roman"/>
              </a:rPr>
              <a:t> </a:t>
            </a:r>
            <a:r>
              <a:rPr sz="2800" spc="-10" dirty="0">
                <a:latin typeface="Aptos"/>
                <a:cs typeface="Aptos"/>
              </a:rPr>
              <a:t>Star</a:t>
            </a:r>
            <a:r>
              <a:rPr sz="2800" spc="-135" dirty="0">
                <a:latin typeface="Times New Roman"/>
                <a:cs typeface="Times New Roman"/>
              </a:rPr>
              <a:t> </a:t>
            </a:r>
            <a:r>
              <a:rPr sz="2800" spc="-35" dirty="0">
                <a:latin typeface="Aptos"/>
                <a:cs typeface="Aptos"/>
              </a:rPr>
              <a:t>Topology:</a:t>
            </a:r>
            <a:r>
              <a:rPr sz="2800" spc="-95" dirty="0">
                <a:latin typeface="Times New Roman"/>
                <a:cs typeface="Times New Roman"/>
              </a:rPr>
              <a:t> </a:t>
            </a:r>
            <a:r>
              <a:rPr sz="2800" dirty="0">
                <a:latin typeface="Aptos"/>
                <a:cs typeface="Aptos"/>
              </a:rPr>
              <a:t>-</a:t>
            </a:r>
            <a:r>
              <a:rPr sz="2800" spc="-135" dirty="0">
                <a:latin typeface="Times New Roman"/>
                <a:cs typeface="Times New Roman"/>
              </a:rPr>
              <a:t> </a:t>
            </a:r>
            <a:r>
              <a:rPr sz="2800" spc="-10" dirty="0">
                <a:latin typeface="Aptos"/>
                <a:cs typeface="Aptos"/>
              </a:rPr>
              <a:t>Star</a:t>
            </a:r>
            <a:r>
              <a:rPr sz="2800" spc="-135" dirty="0">
                <a:latin typeface="Times New Roman"/>
                <a:cs typeface="Times New Roman"/>
              </a:rPr>
              <a:t> </a:t>
            </a:r>
            <a:r>
              <a:rPr sz="2800" spc="-10" dirty="0">
                <a:latin typeface="Aptos"/>
                <a:cs typeface="Aptos"/>
              </a:rPr>
              <a:t>topology</a:t>
            </a:r>
            <a:r>
              <a:rPr sz="2800" spc="-130" dirty="0">
                <a:latin typeface="Times New Roman"/>
                <a:cs typeface="Times New Roman"/>
              </a:rPr>
              <a:t> </a:t>
            </a:r>
            <a:r>
              <a:rPr sz="2800" spc="-25" dirty="0">
                <a:latin typeface="Aptos"/>
                <a:cs typeface="Aptos"/>
              </a:rPr>
              <a:t>works</a:t>
            </a:r>
            <a:r>
              <a:rPr sz="2800" spc="-130" dirty="0">
                <a:latin typeface="Times New Roman"/>
                <a:cs typeface="Times New Roman"/>
              </a:rPr>
              <a:t> </a:t>
            </a:r>
            <a:r>
              <a:rPr sz="2800" dirty="0">
                <a:latin typeface="Aptos"/>
                <a:cs typeface="Aptos"/>
              </a:rPr>
              <a:t>a</a:t>
            </a:r>
            <a:r>
              <a:rPr sz="2800" spc="-145" dirty="0">
                <a:latin typeface="Times New Roman"/>
                <a:cs typeface="Times New Roman"/>
              </a:rPr>
              <a:t> </a:t>
            </a:r>
            <a:r>
              <a:rPr sz="2800" dirty="0">
                <a:latin typeface="Aptos"/>
                <a:cs typeface="Aptos"/>
              </a:rPr>
              <a:t>s</a:t>
            </a:r>
            <a:r>
              <a:rPr sz="2800" spc="-130" dirty="0">
                <a:latin typeface="Times New Roman"/>
                <a:cs typeface="Times New Roman"/>
              </a:rPr>
              <a:t> </a:t>
            </a:r>
            <a:r>
              <a:rPr sz="2800" dirty="0">
                <a:latin typeface="Aptos"/>
                <a:cs typeface="Aptos"/>
              </a:rPr>
              <a:t>a</a:t>
            </a:r>
            <a:r>
              <a:rPr sz="2800" spc="-140" dirty="0">
                <a:latin typeface="Times New Roman"/>
                <a:cs typeface="Times New Roman"/>
              </a:rPr>
              <a:t> </a:t>
            </a:r>
            <a:r>
              <a:rPr sz="2800" spc="-20" dirty="0">
                <a:latin typeface="Aptos"/>
                <a:cs typeface="Aptos"/>
              </a:rPr>
              <a:t>client-</a:t>
            </a:r>
            <a:r>
              <a:rPr sz="2800" spc="-10" dirty="0">
                <a:latin typeface="Aptos"/>
                <a:cs typeface="Aptos"/>
              </a:rPr>
              <a:t>server</a:t>
            </a:r>
            <a:r>
              <a:rPr sz="2800" spc="-135" dirty="0">
                <a:latin typeface="Times New Roman"/>
                <a:cs typeface="Times New Roman"/>
              </a:rPr>
              <a:t> </a:t>
            </a:r>
            <a:r>
              <a:rPr sz="2800" spc="-10" dirty="0">
                <a:latin typeface="Aptos"/>
                <a:cs typeface="Aptos"/>
              </a:rPr>
              <a:t>network</a:t>
            </a:r>
            <a:r>
              <a:rPr sz="2800" spc="-10" dirty="0">
                <a:latin typeface="Times New Roman"/>
                <a:cs typeface="Times New Roman"/>
              </a:rPr>
              <a:t> </a:t>
            </a:r>
            <a:r>
              <a:rPr sz="2800" spc="-25" dirty="0">
                <a:latin typeface="Aptos"/>
                <a:cs typeface="Aptos"/>
              </a:rPr>
              <a:t>architecture</a:t>
            </a:r>
            <a:r>
              <a:rPr sz="2800" spc="-135" dirty="0">
                <a:latin typeface="Times New Roman"/>
                <a:cs typeface="Times New Roman"/>
              </a:rPr>
              <a:t> </a:t>
            </a:r>
            <a:r>
              <a:rPr sz="2800" dirty="0">
                <a:latin typeface="Aptos"/>
                <a:cs typeface="Aptos"/>
              </a:rPr>
              <a:t>in</a:t>
            </a:r>
            <a:r>
              <a:rPr sz="2800" spc="-150" dirty="0">
                <a:latin typeface="Times New Roman"/>
                <a:cs typeface="Times New Roman"/>
              </a:rPr>
              <a:t> </a:t>
            </a:r>
            <a:r>
              <a:rPr sz="2800" spc="-10" dirty="0">
                <a:latin typeface="Aptos"/>
                <a:cs typeface="Aptos"/>
              </a:rPr>
              <a:t>which</a:t>
            </a:r>
            <a:r>
              <a:rPr sz="2800" spc="-155" dirty="0">
                <a:latin typeface="Times New Roman"/>
                <a:cs typeface="Times New Roman"/>
              </a:rPr>
              <a:t> </a:t>
            </a:r>
            <a:r>
              <a:rPr sz="2800" spc="-20" dirty="0">
                <a:latin typeface="Aptos"/>
                <a:cs typeface="Aptos"/>
              </a:rPr>
              <a:t>there</a:t>
            </a:r>
            <a:r>
              <a:rPr sz="2800" spc="-145" dirty="0">
                <a:latin typeface="Times New Roman"/>
                <a:cs typeface="Times New Roman"/>
              </a:rPr>
              <a:t> </a:t>
            </a:r>
            <a:r>
              <a:rPr sz="2800" dirty="0">
                <a:latin typeface="Aptos"/>
                <a:cs typeface="Aptos"/>
              </a:rPr>
              <a:t>is</a:t>
            </a:r>
            <a:r>
              <a:rPr sz="2800" spc="-145" dirty="0">
                <a:latin typeface="Times New Roman"/>
                <a:cs typeface="Times New Roman"/>
              </a:rPr>
              <a:t> </a:t>
            </a:r>
            <a:r>
              <a:rPr sz="2800" dirty="0">
                <a:latin typeface="Aptos"/>
                <a:cs typeface="Aptos"/>
              </a:rPr>
              <a:t>a</a:t>
            </a:r>
            <a:r>
              <a:rPr sz="2800" spc="-150" dirty="0">
                <a:latin typeface="Times New Roman"/>
                <a:cs typeface="Times New Roman"/>
              </a:rPr>
              <a:t> </a:t>
            </a:r>
            <a:r>
              <a:rPr sz="2800" spc="-10" dirty="0">
                <a:latin typeface="Aptos"/>
                <a:cs typeface="Aptos"/>
              </a:rPr>
              <a:t>main</a:t>
            </a:r>
            <a:r>
              <a:rPr sz="2800" spc="-150" dirty="0">
                <a:latin typeface="Times New Roman"/>
                <a:cs typeface="Times New Roman"/>
              </a:rPr>
              <a:t> </a:t>
            </a:r>
            <a:r>
              <a:rPr sz="2800" spc="-25" dirty="0">
                <a:latin typeface="Aptos"/>
                <a:cs typeface="Aptos"/>
              </a:rPr>
              <a:t>central</a:t>
            </a:r>
            <a:r>
              <a:rPr sz="2800" spc="-140" dirty="0">
                <a:latin typeface="Times New Roman"/>
                <a:cs typeface="Times New Roman"/>
              </a:rPr>
              <a:t> </a:t>
            </a:r>
            <a:r>
              <a:rPr sz="2800" spc="-10" dirty="0">
                <a:latin typeface="Aptos"/>
                <a:cs typeface="Aptos"/>
              </a:rPr>
              <a:t>node</a:t>
            </a:r>
            <a:r>
              <a:rPr sz="2800" spc="-140" dirty="0">
                <a:latin typeface="Times New Roman"/>
                <a:cs typeface="Times New Roman"/>
              </a:rPr>
              <a:t> </a:t>
            </a:r>
            <a:r>
              <a:rPr sz="2800" dirty="0">
                <a:latin typeface="Aptos"/>
                <a:cs typeface="Aptos"/>
              </a:rPr>
              <a:t>and</a:t>
            </a:r>
            <a:r>
              <a:rPr sz="2800" spc="-130" dirty="0">
                <a:latin typeface="Times New Roman"/>
                <a:cs typeface="Times New Roman"/>
              </a:rPr>
              <a:t> </a:t>
            </a:r>
            <a:r>
              <a:rPr sz="2800" spc="-10" dirty="0">
                <a:latin typeface="Aptos"/>
                <a:cs typeface="Aptos"/>
              </a:rPr>
              <a:t>all</a:t>
            </a:r>
            <a:r>
              <a:rPr sz="2800" spc="-155" dirty="0">
                <a:latin typeface="Times New Roman"/>
                <a:cs typeface="Times New Roman"/>
              </a:rPr>
              <a:t> </a:t>
            </a:r>
            <a:r>
              <a:rPr sz="2800" spc="-10" dirty="0">
                <a:latin typeface="Aptos"/>
                <a:cs typeface="Aptos"/>
              </a:rPr>
              <a:t>other</a:t>
            </a:r>
            <a:r>
              <a:rPr sz="2800" spc="-10" dirty="0">
                <a:latin typeface="Times New Roman"/>
                <a:cs typeface="Times New Roman"/>
              </a:rPr>
              <a:t> </a:t>
            </a:r>
            <a:r>
              <a:rPr sz="2800" spc="-10" dirty="0">
                <a:latin typeface="Aptos"/>
                <a:cs typeface="Aptos"/>
              </a:rPr>
              <a:t>nodes</a:t>
            </a:r>
            <a:r>
              <a:rPr sz="2800" spc="-140" dirty="0">
                <a:latin typeface="Times New Roman"/>
                <a:cs typeface="Times New Roman"/>
              </a:rPr>
              <a:t> </a:t>
            </a:r>
            <a:r>
              <a:rPr sz="2800" spc="-20" dirty="0">
                <a:latin typeface="Aptos"/>
                <a:cs typeface="Aptos"/>
              </a:rPr>
              <a:t>are</a:t>
            </a:r>
            <a:r>
              <a:rPr sz="2800" spc="-150" dirty="0">
                <a:latin typeface="Times New Roman"/>
                <a:cs typeface="Times New Roman"/>
              </a:rPr>
              <a:t> </a:t>
            </a:r>
            <a:r>
              <a:rPr sz="2800" spc="-20" dirty="0">
                <a:latin typeface="Aptos"/>
                <a:cs typeface="Aptos"/>
              </a:rPr>
              <a:t>connected</a:t>
            </a:r>
            <a:r>
              <a:rPr sz="2800" spc="-120" dirty="0">
                <a:latin typeface="Times New Roman"/>
                <a:cs typeface="Times New Roman"/>
              </a:rPr>
              <a:t> </a:t>
            </a:r>
            <a:r>
              <a:rPr sz="2800" dirty="0">
                <a:latin typeface="Aptos"/>
                <a:cs typeface="Aptos"/>
              </a:rPr>
              <a:t>to</a:t>
            </a:r>
            <a:r>
              <a:rPr sz="2800" spc="-145" dirty="0">
                <a:latin typeface="Times New Roman"/>
                <a:cs typeface="Times New Roman"/>
              </a:rPr>
              <a:t> </a:t>
            </a:r>
            <a:r>
              <a:rPr sz="2800" spc="-10" dirty="0">
                <a:latin typeface="Aptos"/>
                <a:cs typeface="Aptos"/>
              </a:rPr>
              <a:t>the</a:t>
            </a:r>
            <a:r>
              <a:rPr sz="2800" spc="-145" dirty="0">
                <a:latin typeface="Times New Roman"/>
                <a:cs typeface="Times New Roman"/>
              </a:rPr>
              <a:t> </a:t>
            </a:r>
            <a:r>
              <a:rPr sz="2800" spc="-30" dirty="0">
                <a:latin typeface="Aptos"/>
                <a:cs typeface="Aptos"/>
              </a:rPr>
              <a:t>central</a:t>
            </a:r>
            <a:r>
              <a:rPr sz="2800" spc="-145" dirty="0">
                <a:latin typeface="Times New Roman"/>
                <a:cs typeface="Times New Roman"/>
              </a:rPr>
              <a:t> </a:t>
            </a:r>
            <a:r>
              <a:rPr sz="2800" spc="-20" dirty="0">
                <a:latin typeface="Aptos"/>
                <a:cs typeface="Aptos"/>
              </a:rPr>
              <a:t>one.</a:t>
            </a:r>
            <a:endParaRPr sz="2800">
              <a:latin typeface="Aptos"/>
              <a:cs typeface="Aptos"/>
            </a:endParaRPr>
          </a:p>
        </p:txBody>
      </p:sp>
      <p:pic>
        <p:nvPicPr>
          <p:cNvPr id="3" name="object 3"/>
          <p:cNvPicPr/>
          <p:nvPr/>
        </p:nvPicPr>
        <p:blipFill>
          <a:blip r:embed="rId2" cstate="print"/>
          <a:stretch>
            <a:fillRect/>
          </a:stretch>
        </p:blipFill>
        <p:spPr>
          <a:xfrm>
            <a:off x="2177163" y="1851027"/>
            <a:ext cx="5856472" cy="315594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8" y="284869"/>
            <a:ext cx="10200640" cy="4755515"/>
          </a:xfrm>
          <a:prstGeom prst="rect">
            <a:avLst/>
          </a:prstGeom>
        </p:spPr>
        <p:txBody>
          <a:bodyPr vert="horz" wrap="square" lIns="0" tIns="95885" rIns="0" bIns="0" rtlCol="0">
            <a:spAutoFit/>
          </a:bodyPr>
          <a:lstStyle/>
          <a:p>
            <a:pPr marL="329565" indent="-317500">
              <a:lnSpc>
                <a:spcPct val="100000"/>
              </a:lnSpc>
              <a:spcBef>
                <a:spcPts val="755"/>
              </a:spcBef>
              <a:buSzPct val="96428"/>
              <a:buFont typeface="Wingdings"/>
              <a:buChar char=""/>
              <a:tabLst>
                <a:tab pos="330200" algn="l"/>
              </a:tabLst>
            </a:pPr>
            <a:r>
              <a:rPr sz="2800" b="1" spc="-10" dirty="0">
                <a:latin typeface="Aptos"/>
                <a:cs typeface="Aptos"/>
              </a:rPr>
              <a:t>Advantages</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spc="-20" dirty="0">
                <a:latin typeface="Aptos"/>
                <a:cs typeface="Aptos"/>
              </a:rPr>
              <a:t>Adding</a:t>
            </a:r>
            <a:r>
              <a:rPr sz="2800" spc="-135" dirty="0">
                <a:latin typeface="Times New Roman"/>
                <a:cs typeface="Times New Roman"/>
              </a:rPr>
              <a:t> </a:t>
            </a:r>
            <a:r>
              <a:rPr sz="2800" spc="-10" dirty="0">
                <a:latin typeface="Aptos"/>
                <a:cs typeface="Aptos"/>
              </a:rPr>
              <a:t>and</a:t>
            </a:r>
            <a:r>
              <a:rPr sz="2800" spc="-145" dirty="0">
                <a:latin typeface="Times New Roman"/>
                <a:cs typeface="Times New Roman"/>
              </a:rPr>
              <a:t> </a:t>
            </a:r>
            <a:r>
              <a:rPr sz="2800" spc="-25" dirty="0">
                <a:latin typeface="Aptos"/>
                <a:cs typeface="Aptos"/>
              </a:rPr>
              <a:t>removing</a:t>
            </a:r>
            <a:r>
              <a:rPr sz="2800" spc="-145" dirty="0">
                <a:latin typeface="Times New Roman"/>
                <a:cs typeface="Times New Roman"/>
              </a:rPr>
              <a:t> </a:t>
            </a:r>
            <a:r>
              <a:rPr sz="2800" spc="-20" dirty="0">
                <a:latin typeface="Aptos"/>
                <a:cs typeface="Aptos"/>
              </a:rPr>
              <a:t>computers</a:t>
            </a:r>
            <a:r>
              <a:rPr sz="2800" spc="-135" dirty="0">
                <a:latin typeface="Times New Roman"/>
                <a:cs typeface="Times New Roman"/>
              </a:rPr>
              <a:t> </a:t>
            </a:r>
            <a:r>
              <a:rPr sz="2800" spc="-10" dirty="0">
                <a:latin typeface="Aptos"/>
                <a:cs typeface="Aptos"/>
              </a:rPr>
              <a:t>and</a:t>
            </a:r>
            <a:r>
              <a:rPr sz="2800" spc="-130" dirty="0">
                <a:latin typeface="Times New Roman"/>
                <a:cs typeface="Times New Roman"/>
              </a:rPr>
              <a:t> </a:t>
            </a:r>
            <a:r>
              <a:rPr sz="2800" spc="-10" dirty="0">
                <a:latin typeface="Aptos"/>
                <a:cs typeface="Aptos"/>
              </a:rPr>
              <a:t>devices</a:t>
            </a:r>
            <a:r>
              <a:rPr sz="2800" spc="-140" dirty="0">
                <a:latin typeface="Times New Roman"/>
                <a:cs typeface="Times New Roman"/>
              </a:rPr>
              <a:t> </a:t>
            </a:r>
            <a:r>
              <a:rPr sz="2800" dirty="0">
                <a:latin typeface="Aptos"/>
                <a:cs typeface="Aptos"/>
              </a:rPr>
              <a:t>is</a:t>
            </a:r>
            <a:r>
              <a:rPr sz="2800" spc="-140" dirty="0">
                <a:latin typeface="Times New Roman"/>
                <a:cs typeface="Times New Roman"/>
              </a:rPr>
              <a:t> </a:t>
            </a:r>
            <a:r>
              <a:rPr sz="2800" dirty="0">
                <a:latin typeface="Aptos"/>
                <a:cs typeface="Aptos"/>
              </a:rPr>
              <a:t>very</a:t>
            </a:r>
            <a:r>
              <a:rPr sz="2800" spc="-145" dirty="0">
                <a:latin typeface="Times New Roman"/>
                <a:cs typeface="Times New Roman"/>
              </a:rPr>
              <a:t> </a:t>
            </a:r>
            <a:r>
              <a:rPr sz="2800" spc="-10" dirty="0">
                <a:latin typeface="Aptos"/>
                <a:cs typeface="Aptos"/>
              </a:rPr>
              <a:t>easy.</a:t>
            </a:r>
            <a:endParaRPr sz="2800">
              <a:latin typeface="Aptos"/>
              <a:cs typeface="Aptos"/>
            </a:endParaRPr>
          </a:p>
          <a:p>
            <a:pPr marL="527685" indent="-515620">
              <a:lnSpc>
                <a:spcPts val="3190"/>
              </a:lnSpc>
              <a:spcBef>
                <a:spcPts val="675"/>
              </a:spcBef>
              <a:buAutoNum type="arabicPeriod"/>
              <a:tabLst>
                <a:tab pos="527685" algn="l"/>
                <a:tab pos="528320" algn="l"/>
                <a:tab pos="4196080" algn="l"/>
              </a:tabLst>
            </a:pPr>
            <a:r>
              <a:rPr sz="2800" dirty="0">
                <a:latin typeface="Aptos"/>
                <a:cs typeface="Aptos"/>
              </a:rPr>
              <a:t>If</a:t>
            </a:r>
            <a:r>
              <a:rPr sz="2800" spc="-175" dirty="0">
                <a:latin typeface="Times New Roman"/>
                <a:cs typeface="Times New Roman"/>
              </a:rPr>
              <a:t> </a:t>
            </a:r>
            <a:r>
              <a:rPr sz="2800" dirty="0">
                <a:latin typeface="Aptos"/>
                <a:cs typeface="Aptos"/>
              </a:rPr>
              <a:t>one</a:t>
            </a:r>
            <a:r>
              <a:rPr sz="2800" spc="-165" dirty="0">
                <a:latin typeface="Times New Roman"/>
                <a:cs typeface="Times New Roman"/>
              </a:rPr>
              <a:t> </a:t>
            </a:r>
            <a:r>
              <a:rPr sz="2800" spc="-10" dirty="0">
                <a:latin typeface="Aptos"/>
                <a:cs typeface="Aptos"/>
              </a:rPr>
              <a:t>computer</a:t>
            </a:r>
            <a:r>
              <a:rPr sz="2800" spc="-130" dirty="0">
                <a:latin typeface="Times New Roman"/>
                <a:cs typeface="Times New Roman"/>
              </a:rPr>
              <a:t> </a:t>
            </a:r>
            <a:r>
              <a:rPr sz="2800" spc="-25" dirty="0">
                <a:latin typeface="Aptos"/>
                <a:cs typeface="Aptos"/>
              </a:rPr>
              <a:t>fails</a:t>
            </a:r>
            <a:r>
              <a:rPr sz="2800" spc="-155" dirty="0">
                <a:latin typeface="Times New Roman"/>
                <a:cs typeface="Times New Roman"/>
              </a:rPr>
              <a:t> </a:t>
            </a:r>
            <a:r>
              <a:rPr sz="2800" spc="-25" dirty="0">
                <a:latin typeface="Aptos"/>
                <a:cs typeface="Aptos"/>
              </a:rPr>
              <a:t>to</a:t>
            </a:r>
            <a:r>
              <a:rPr sz="2800" dirty="0">
                <a:latin typeface="Times New Roman"/>
                <a:cs typeface="Times New Roman"/>
              </a:rPr>
              <a:t>	</a:t>
            </a:r>
            <a:r>
              <a:rPr sz="2800" dirty="0">
                <a:latin typeface="Aptos"/>
                <a:cs typeface="Aptos"/>
              </a:rPr>
              <a:t>works</a:t>
            </a:r>
            <a:r>
              <a:rPr sz="2800" spc="-95" dirty="0">
                <a:latin typeface="Aptos"/>
                <a:cs typeface="Aptos"/>
              </a:rPr>
              <a:t> </a:t>
            </a:r>
            <a:r>
              <a:rPr sz="2800" dirty="0">
                <a:latin typeface="Aptos"/>
                <a:cs typeface="Aptos"/>
              </a:rPr>
              <a:t>its</a:t>
            </a:r>
            <a:r>
              <a:rPr sz="2800" spc="-90" dirty="0">
                <a:latin typeface="Aptos"/>
                <a:cs typeface="Aptos"/>
              </a:rPr>
              <a:t> </a:t>
            </a:r>
            <a:r>
              <a:rPr sz="2800" spc="-10" dirty="0">
                <a:latin typeface="Aptos"/>
                <a:cs typeface="Aptos"/>
              </a:rPr>
              <a:t>doesn’t</a:t>
            </a:r>
            <a:r>
              <a:rPr sz="2800" spc="-90" dirty="0">
                <a:latin typeface="Aptos"/>
                <a:cs typeface="Aptos"/>
              </a:rPr>
              <a:t> </a:t>
            </a:r>
            <a:r>
              <a:rPr sz="2800" dirty="0">
                <a:latin typeface="Aptos"/>
                <a:cs typeface="Aptos"/>
              </a:rPr>
              <a:t>affect</a:t>
            </a:r>
            <a:r>
              <a:rPr sz="2800" spc="-95" dirty="0">
                <a:latin typeface="Aptos"/>
                <a:cs typeface="Aptos"/>
              </a:rPr>
              <a:t> </a:t>
            </a:r>
            <a:r>
              <a:rPr sz="2800" dirty="0">
                <a:latin typeface="Aptos"/>
                <a:cs typeface="Aptos"/>
              </a:rPr>
              <a:t>the</a:t>
            </a:r>
            <a:r>
              <a:rPr sz="2800" spc="-90" dirty="0">
                <a:latin typeface="Aptos"/>
                <a:cs typeface="Aptos"/>
              </a:rPr>
              <a:t> </a:t>
            </a:r>
            <a:r>
              <a:rPr sz="2800" spc="-10" dirty="0">
                <a:latin typeface="Aptos"/>
                <a:cs typeface="Aptos"/>
              </a:rPr>
              <a:t>entire</a:t>
            </a:r>
            <a:endParaRPr sz="2800">
              <a:latin typeface="Aptos"/>
              <a:cs typeface="Aptos"/>
            </a:endParaRPr>
          </a:p>
          <a:p>
            <a:pPr marL="527685">
              <a:lnSpc>
                <a:spcPts val="3190"/>
              </a:lnSpc>
            </a:pPr>
            <a:r>
              <a:rPr sz="2800" spc="-10" dirty="0">
                <a:latin typeface="Aptos"/>
                <a:cs typeface="Aptos"/>
              </a:rPr>
              <a:t>network.</a:t>
            </a:r>
            <a:endParaRPr sz="2800">
              <a:latin typeface="Aptos"/>
              <a:cs typeface="Aptos"/>
            </a:endParaRPr>
          </a:p>
          <a:p>
            <a:pPr marL="527685" indent="-515620">
              <a:lnSpc>
                <a:spcPct val="100000"/>
              </a:lnSpc>
              <a:spcBef>
                <a:spcPts val="660"/>
              </a:spcBef>
              <a:buAutoNum type="arabicPeriod" startAt="3"/>
              <a:tabLst>
                <a:tab pos="527685" algn="l"/>
                <a:tab pos="528320" algn="l"/>
              </a:tabLst>
            </a:pPr>
            <a:r>
              <a:rPr sz="2800" dirty="0">
                <a:latin typeface="Aptos"/>
                <a:cs typeface="Aptos"/>
              </a:rPr>
              <a:t>It</a:t>
            </a:r>
            <a:r>
              <a:rPr sz="2800" spc="-155" dirty="0">
                <a:latin typeface="Times New Roman"/>
                <a:cs typeface="Times New Roman"/>
              </a:rPr>
              <a:t> </a:t>
            </a:r>
            <a:r>
              <a:rPr sz="2800" dirty="0">
                <a:latin typeface="Aptos"/>
                <a:cs typeface="Aptos"/>
              </a:rPr>
              <a:t>is</a:t>
            </a:r>
            <a:r>
              <a:rPr sz="2800" spc="-150" dirty="0">
                <a:latin typeface="Times New Roman"/>
                <a:cs typeface="Times New Roman"/>
              </a:rPr>
              <a:t> </a:t>
            </a:r>
            <a:r>
              <a:rPr sz="2800" dirty="0">
                <a:latin typeface="Aptos"/>
                <a:cs typeface="Aptos"/>
              </a:rPr>
              <a:t>one</a:t>
            </a:r>
            <a:r>
              <a:rPr sz="2800" spc="-135" dirty="0">
                <a:latin typeface="Times New Roman"/>
                <a:cs typeface="Times New Roman"/>
              </a:rPr>
              <a:t> </a:t>
            </a:r>
            <a:r>
              <a:rPr sz="2800" dirty="0">
                <a:latin typeface="Aptos"/>
                <a:cs typeface="Aptos"/>
              </a:rPr>
              <a:t>of</a:t>
            </a:r>
            <a:r>
              <a:rPr sz="2800" spc="-135" dirty="0">
                <a:latin typeface="Times New Roman"/>
                <a:cs typeface="Times New Roman"/>
              </a:rPr>
              <a:t> </a:t>
            </a:r>
            <a:r>
              <a:rPr sz="2800" spc="-10" dirty="0">
                <a:latin typeface="Aptos"/>
                <a:cs typeface="Aptos"/>
              </a:rPr>
              <a:t>the</a:t>
            </a:r>
            <a:r>
              <a:rPr sz="2800" spc="-145" dirty="0">
                <a:latin typeface="Times New Roman"/>
                <a:cs typeface="Times New Roman"/>
              </a:rPr>
              <a:t> </a:t>
            </a:r>
            <a:r>
              <a:rPr sz="2800" spc="-20" dirty="0">
                <a:latin typeface="Aptos"/>
                <a:cs typeface="Aptos"/>
              </a:rPr>
              <a:t>most</a:t>
            </a:r>
            <a:r>
              <a:rPr sz="2800" spc="-145" dirty="0">
                <a:latin typeface="Times New Roman"/>
                <a:cs typeface="Times New Roman"/>
              </a:rPr>
              <a:t> </a:t>
            </a:r>
            <a:r>
              <a:rPr sz="2800" spc="-20" dirty="0">
                <a:latin typeface="Aptos"/>
                <a:cs typeface="Aptos"/>
              </a:rPr>
              <a:t>reliable</a:t>
            </a:r>
            <a:r>
              <a:rPr sz="2800" spc="-155" dirty="0">
                <a:latin typeface="Times New Roman"/>
                <a:cs typeface="Times New Roman"/>
              </a:rPr>
              <a:t> </a:t>
            </a:r>
            <a:r>
              <a:rPr sz="2800" spc="-10" dirty="0">
                <a:latin typeface="Aptos"/>
                <a:cs typeface="Aptos"/>
              </a:rPr>
              <a:t>and</a:t>
            </a:r>
            <a:r>
              <a:rPr sz="2800" spc="-150" dirty="0">
                <a:latin typeface="Times New Roman"/>
                <a:cs typeface="Times New Roman"/>
              </a:rPr>
              <a:t> </a:t>
            </a:r>
            <a:r>
              <a:rPr sz="2800" spc="-30" dirty="0">
                <a:latin typeface="Aptos"/>
                <a:cs typeface="Aptos"/>
              </a:rPr>
              <a:t>practical</a:t>
            </a:r>
            <a:r>
              <a:rPr sz="2800" spc="-125" dirty="0">
                <a:latin typeface="Times New Roman"/>
                <a:cs typeface="Times New Roman"/>
              </a:rPr>
              <a:t> </a:t>
            </a:r>
            <a:r>
              <a:rPr sz="2800" spc="-20" dirty="0">
                <a:latin typeface="Aptos"/>
                <a:cs typeface="Aptos"/>
              </a:rPr>
              <a:t>network</a:t>
            </a:r>
            <a:r>
              <a:rPr sz="2800" spc="-145" dirty="0">
                <a:latin typeface="Times New Roman"/>
                <a:cs typeface="Times New Roman"/>
              </a:rPr>
              <a:t> </a:t>
            </a:r>
            <a:r>
              <a:rPr sz="2800" spc="-10" dirty="0">
                <a:latin typeface="Aptos"/>
                <a:cs typeface="Aptos"/>
              </a:rPr>
              <a:t>topology.</a:t>
            </a:r>
            <a:endParaRPr sz="2800">
              <a:latin typeface="Aptos"/>
              <a:cs typeface="Aptos"/>
            </a:endParaRPr>
          </a:p>
          <a:p>
            <a:pPr marL="329565" indent="-317500">
              <a:lnSpc>
                <a:spcPct val="100000"/>
              </a:lnSpc>
              <a:spcBef>
                <a:spcPts val="665"/>
              </a:spcBef>
              <a:buSzPct val="96428"/>
              <a:buFont typeface="Wingdings"/>
              <a:buChar char=""/>
              <a:tabLst>
                <a:tab pos="330200" algn="l"/>
              </a:tabLst>
            </a:pPr>
            <a:r>
              <a:rPr sz="2800" b="1" spc="-10" dirty="0">
                <a:latin typeface="Aptos"/>
                <a:cs typeface="Aptos"/>
              </a:rPr>
              <a:t>Disadvantage</a:t>
            </a:r>
            <a:endParaRPr sz="2800">
              <a:latin typeface="Aptos"/>
              <a:cs typeface="Aptos"/>
            </a:endParaRPr>
          </a:p>
          <a:p>
            <a:pPr marL="527685" marR="5080" indent="-515620">
              <a:lnSpc>
                <a:spcPts val="3020"/>
              </a:lnSpc>
              <a:spcBef>
                <a:spcPts val="1055"/>
              </a:spcBef>
              <a:buAutoNum type="arabicPeriod"/>
              <a:tabLst>
                <a:tab pos="527685" algn="l"/>
                <a:tab pos="528320" algn="l"/>
              </a:tabLst>
            </a:pPr>
            <a:r>
              <a:rPr sz="2800" dirty="0">
                <a:latin typeface="Aptos"/>
                <a:cs typeface="Aptos"/>
              </a:rPr>
              <a:t>It</a:t>
            </a:r>
            <a:r>
              <a:rPr sz="2800" spc="-155" dirty="0">
                <a:latin typeface="Times New Roman"/>
                <a:cs typeface="Times New Roman"/>
              </a:rPr>
              <a:t> </a:t>
            </a:r>
            <a:r>
              <a:rPr sz="2800" spc="-10" dirty="0">
                <a:latin typeface="Aptos"/>
                <a:cs typeface="Aptos"/>
              </a:rPr>
              <a:t>depends</a:t>
            </a:r>
            <a:r>
              <a:rPr sz="2800" spc="-130" dirty="0">
                <a:latin typeface="Times New Roman"/>
                <a:cs typeface="Times New Roman"/>
              </a:rPr>
              <a:t> </a:t>
            </a:r>
            <a:r>
              <a:rPr sz="2800" spc="-10" dirty="0">
                <a:latin typeface="Aptos"/>
                <a:cs typeface="Aptos"/>
              </a:rPr>
              <a:t>upon</a:t>
            </a:r>
            <a:r>
              <a:rPr sz="2800" spc="-145" dirty="0">
                <a:latin typeface="Times New Roman"/>
                <a:cs typeface="Times New Roman"/>
              </a:rPr>
              <a:t> </a:t>
            </a:r>
            <a:r>
              <a:rPr sz="2800" dirty="0">
                <a:latin typeface="Aptos"/>
                <a:cs typeface="Aptos"/>
              </a:rPr>
              <a:t>a</a:t>
            </a:r>
            <a:r>
              <a:rPr sz="2800" spc="-150" dirty="0">
                <a:latin typeface="Times New Roman"/>
                <a:cs typeface="Times New Roman"/>
              </a:rPr>
              <a:t> </a:t>
            </a:r>
            <a:r>
              <a:rPr sz="2800" spc="-25" dirty="0">
                <a:latin typeface="Aptos"/>
                <a:cs typeface="Aptos"/>
              </a:rPr>
              <a:t>central</a:t>
            </a:r>
            <a:r>
              <a:rPr sz="2800" spc="-140" dirty="0">
                <a:latin typeface="Times New Roman"/>
                <a:cs typeface="Times New Roman"/>
              </a:rPr>
              <a:t> </a:t>
            </a:r>
            <a:r>
              <a:rPr sz="2800" spc="-10" dirty="0">
                <a:latin typeface="Aptos"/>
                <a:cs typeface="Aptos"/>
              </a:rPr>
              <a:t>device</a:t>
            </a:r>
            <a:r>
              <a:rPr sz="2800" spc="-130" dirty="0">
                <a:latin typeface="Times New Roman"/>
                <a:cs typeface="Times New Roman"/>
              </a:rPr>
              <a:t> </a:t>
            </a:r>
            <a:r>
              <a:rPr sz="2800" dirty="0">
                <a:latin typeface="Aptos"/>
                <a:cs typeface="Aptos"/>
              </a:rPr>
              <a:t>so</a:t>
            </a:r>
            <a:r>
              <a:rPr sz="2800" spc="-145" dirty="0">
                <a:latin typeface="Times New Roman"/>
                <a:cs typeface="Times New Roman"/>
              </a:rPr>
              <a:t> </a:t>
            </a:r>
            <a:r>
              <a:rPr sz="2800" dirty="0">
                <a:latin typeface="Aptos"/>
                <a:cs typeface="Aptos"/>
              </a:rPr>
              <a:t>if</a:t>
            </a:r>
            <a:r>
              <a:rPr sz="2800" spc="-150" dirty="0">
                <a:latin typeface="Times New Roman"/>
                <a:cs typeface="Times New Roman"/>
              </a:rPr>
              <a:t> </a:t>
            </a:r>
            <a:r>
              <a:rPr sz="2800" dirty="0">
                <a:latin typeface="Aptos"/>
                <a:cs typeface="Aptos"/>
              </a:rPr>
              <a:t>it</a:t>
            </a:r>
            <a:r>
              <a:rPr sz="2800" spc="-155" dirty="0">
                <a:latin typeface="Times New Roman"/>
                <a:cs typeface="Times New Roman"/>
              </a:rPr>
              <a:t> </a:t>
            </a:r>
            <a:r>
              <a:rPr sz="2800" spc="-20" dirty="0">
                <a:latin typeface="Aptos"/>
                <a:cs typeface="Aptos"/>
              </a:rPr>
              <a:t>fails</a:t>
            </a:r>
            <a:r>
              <a:rPr sz="2800" spc="-155" dirty="0">
                <a:latin typeface="Times New Roman"/>
                <a:cs typeface="Times New Roman"/>
              </a:rPr>
              <a:t> </a:t>
            </a:r>
            <a:r>
              <a:rPr sz="2800" dirty="0">
                <a:latin typeface="Aptos"/>
                <a:cs typeface="Aptos"/>
              </a:rPr>
              <a:t>to</a:t>
            </a:r>
            <a:r>
              <a:rPr sz="2800" spc="-140" dirty="0">
                <a:latin typeface="Times New Roman"/>
                <a:cs typeface="Times New Roman"/>
              </a:rPr>
              <a:t> </a:t>
            </a:r>
            <a:r>
              <a:rPr sz="2800" spc="-20" dirty="0">
                <a:latin typeface="Aptos"/>
                <a:cs typeface="Aptos"/>
              </a:rPr>
              <a:t>work</a:t>
            </a:r>
            <a:r>
              <a:rPr sz="2800" spc="-150" dirty="0">
                <a:latin typeface="Times New Roman"/>
                <a:cs typeface="Times New Roman"/>
              </a:rPr>
              <a:t> </a:t>
            </a:r>
            <a:r>
              <a:rPr sz="2800" dirty="0">
                <a:latin typeface="Aptos"/>
                <a:cs typeface="Aptos"/>
              </a:rPr>
              <a:t>it</a:t>
            </a:r>
            <a:r>
              <a:rPr sz="2800" spc="-150" dirty="0">
                <a:latin typeface="Times New Roman"/>
                <a:cs typeface="Times New Roman"/>
              </a:rPr>
              <a:t> </a:t>
            </a:r>
            <a:r>
              <a:rPr sz="2800" spc="-20" dirty="0">
                <a:latin typeface="Aptos"/>
                <a:cs typeface="Aptos"/>
              </a:rPr>
              <a:t>affect</a:t>
            </a:r>
            <a:r>
              <a:rPr sz="2800" spc="-155" dirty="0">
                <a:latin typeface="Times New Roman"/>
                <a:cs typeface="Times New Roman"/>
              </a:rPr>
              <a:t> </a:t>
            </a:r>
            <a:r>
              <a:rPr sz="2800" spc="-25" dirty="0">
                <a:latin typeface="Aptos"/>
                <a:cs typeface="Aptos"/>
              </a:rPr>
              <a:t>the</a:t>
            </a:r>
            <a:r>
              <a:rPr sz="2800" spc="-25" dirty="0">
                <a:latin typeface="Times New Roman"/>
                <a:cs typeface="Times New Roman"/>
              </a:rPr>
              <a:t> </a:t>
            </a:r>
            <a:r>
              <a:rPr sz="2800" spc="-10" dirty="0">
                <a:latin typeface="Aptos"/>
                <a:cs typeface="Aptos"/>
              </a:rPr>
              <a:t>whole</a:t>
            </a:r>
            <a:r>
              <a:rPr sz="2800" spc="-160" dirty="0">
                <a:latin typeface="Times New Roman"/>
                <a:cs typeface="Times New Roman"/>
              </a:rPr>
              <a:t> </a:t>
            </a:r>
            <a:r>
              <a:rPr sz="2800" spc="-10" dirty="0">
                <a:latin typeface="Aptos"/>
                <a:cs typeface="Aptos"/>
              </a:rPr>
              <a:t>network.</a:t>
            </a:r>
            <a:endParaRPr sz="2800">
              <a:latin typeface="Aptos"/>
              <a:cs typeface="Aptos"/>
            </a:endParaRPr>
          </a:p>
          <a:p>
            <a:pPr marL="527685" marR="285750" indent="-515620">
              <a:lnSpc>
                <a:spcPts val="3020"/>
              </a:lnSpc>
              <a:spcBef>
                <a:spcPts val="1005"/>
              </a:spcBef>
              <a:buAutoNum type="arabicPeriod"/>
              <a:tabLst>
                <a:tab pos="527685" algn="l"/>
                <a:tab pos="528320" algn="l"/>
              </a:tabLst>
            </a:pPr>
            <a:r>
              <a:rPr sz="2800" dirty="0">
                <a:latin typeface="Aptos"/>
                <a:cs typeface="Aptos"/>
              </a:rPr>
              <a:t>It</a:t>
            </a:r>
            <a:r>
              <a:rPr sz="2800" spc="-150" dirty="0">
                <a:latin typeface="Times New Roman"/>
                <a:cs typeface="Times New Roman"/>
              </a:rPr>
              <a:t> </a:t>
            </a:r>
            <a:r>
              <a:rPr sz="2800" spc="-20" dirty="0">
                <a:latin typeface="Aptos"/>
                <a:cs typeface="Aptos"/>
              </a:rPr>
              <a:t>maybe</a:t>
            </a:r>
            <a:r>
              <a:rPr sz="2800" spc="-140" dirty="0">
                <a:latin typeface="Times New Roman"/>
                <a:cs typeface="Times New Roman"/>
              </a:rPr>
              <a:t> </a:t>
            </a:r>
            <a:r>
              <a:rPr sz="2800" spc="-25" dirty="0">
                <a:latin typeface="Aptos"/>
                <a:cs typeface="Aptos"/>
              </a:rPr>
              <a:t>expensive</a:t>
            </a:r>
            <a:r>
              <a:rPr sz="2800" spc="-125" dirty="0">
                <a:latin typeface="Times New Roman"/>
                <a:cs typeface="Times New Roman"/>
              </a:rPr>
              <a:t> </a:t>
            </a:r>
            <a:r>
              <a:rPr sz="2800" dirty="0">
                <a:latin typeface="Aptos"/>
                <a:cs typeface="Aptos"/>
              </a:rPr>
              <a:t>as</a:t>
            </a:r>
            <a:r>
              <a:rPr sz="2800" spc="-145" dirty="0">
                <a:latin typeface="Times New Roman"/>
                <a:cs typeface="Times New Roman"/>
              </a:rPr>
              <a:t> </a:t>
            </a:r>
            <a:r>
              <a:rPr sz="2800" spc="-20" dirty="0">
                <a:latin typeface="Aptos"/>
                <a:cs typeface="Aptos"/>
              </a:rPr>
              <a:t>we</a:t>
            </a:r>
            <a:r>
              <a:rPr sz="2800" spc="-145" dirty="0">
                <a:latin typeface="Times New Roman"/>
                <a:cs typeface="Times New Roman"/>
              </a:rPr>
              <a:t> </a:t>
            </a:r>
            <a:r>
              <a:rPr sz="2800" spc="-20" dirty="0">
                <a:latin typeface="Aptos"/>
                <a:cs typeface="Aptos"/>
              </a:rPr>
              <a:t>require</a:t>
            </a:r>
            <a:r>
              <a:rPr sz="2800" spc="-140" dirty="0">
                <a:latin typeface="Times New Roman"/>
                <a:cs typeface="Times New Roman"/>
              </a:rPr>
              <a:t> </a:t>
            </a:r>
            <a:r>
              <a:rPr sz="2800" spc="-20" dirty="0">
                <a:latin typeface="Aptos"/>
                <a:cs typeface="Aptos"/>
              </a:rPr>
              <a:t>maximum</a:t>
            </a:r>
            <a:r>
              <a:rPr sz="2800" spc="-145" dirty="0">
                <a:latin typeface="Times New Roman"/>
                <a:cs typeface="Times New Roman"/>
              </a:rPr>
              <a:t> </a:t>
            </a:r>
            <a:r>
              <a:rPr sz="2800" spc="-20" dirty="0">
                <a:latin typeface="Aptos"/>
                <a:cs typeface="Aptos"/>
              </a:rPr>
              <a:t>number</a:t>
            </a:r>
            <a:r>
              <a:rPr sz="2800" spc="-145" dirty="0">
                <a:latin typeface="Times New Roman"/>
                <a:cs typeface="Times New Roman"/>
              </a:rPr>
              <a:t> </a:t>
            </a:r>
            <a:r>
              <a:rPr sz="2800" dirty="0">
                <a:latin typeface="Aptos"/>
                <a:cs typeface="Aptos"/>
              </a:rPr>
              <a:t>of</a:t>
            </a:r>
            <a:r>
              <a:rPr sz="2800" spc="-135" dirty="0">
                <a:latin typeface="Times New Roman"/>
                <a:cs typeface="Times New Roman"/>
              </a:rPr>
              <a:t> </a:t>
            </a:r>
            <a:r>
              <a:rPr sz="2800" spc="-10" dirty="0">
                <a:latin typeface="Aptos"/>
                <a:cs typeface="Aptos"/>
              </a:rPr>
              <a:t>cables</a:t>
            </a:r>
            <a:r>
              <a:rPr sz="2800" spc="-10" dirty="0">
                <a:latin typeface="Times New Roman"/>
                <a:cs typeface="Times New Roman"/>
              </a:rPr>
              <a:t> </a:t>
            </a:r>
            <a:r>
              <a:rPr sz="2800" spc="-10" dirty="0">
                <a:latin typeface="Aptos"/>
                <a:cs typeface="Aptos"/>
              </a:rPr>
              <a:t>and</a:t>
            </a:r>
            <a:r>
              <a:rPr sz="2800" spc="-160" dirty="0">
                <a:latin typeface="Times New Roman"/>
                <a:cs typeface="Times New Roman"/>
              </a:rPr>
              <a:t> </a:t>
            </a:r>
            <a:r>
              <a:rPr sz="2800" spc="-10" dirty="0">
                <a:latin typeface="Aptos"/>
                <a:cs typeface="Aptos"/>
              </a:rPr>
              <a:t>devices.</a:t>
            </a:r>
            <a:endParaRPr sz="2800">
              <a:latin typeface="Aptos"/>
              <a:cs typeface="Apto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1" y="499605"/>
            <a:ext cx="10233025" cy="1219835"/>
          </a:xfrm>
          <a:prstGeom prst="rect">
            <a:avLst/>
          </a:prstGeom>
        </p:spPr>
        <p:txBody>
          <a:bodyPr vert="horz" wrap="square" lIns="0" tIns="60960" rIns="0" bIns="0" rtlCol="0">
            <a:spAutoFit/>
          </a:bodyPr>
          <a:lstStyle/>
          <a:p>
            <a:pPr marL="12700" marR="5080">
              <a:lnSpc>
                <a:spcPts val="3020"/>
              </a:lnSpc>
              <a:spcBef>
                <a:spcPts val="480"/>
              </a:spcBef>
            </a:pPr>
            <a:r>
              <a:rPr sz="2800" b="1" dirty="0">
                <a:latin typeface="Aptos"/>
                <a:cs typeface="Aptos"/>
              </a:rPr>
              <a:t>3</a:t>
            </a:r>
            <a:r>
              <a:rPr sz="2800" spc="-140" dirty="0">
                <a:latin typeface="Times New Roman"/>
                <a:cs typeface="Times New Roman"/>
              </a:rPr>
              <a:t> </a:t>
            </a:r>
            <a:r>
              <a:rPr sz="2800" b="1" dirty="0">
                <a:latin typeface="Aptos"/>
                <a:cs typeface="Aptos"/>
              </a:rPr>
              <a:t>)</a:t>
            </a:r>
            <a:r>
              <a:rPr sz="2800" spc="-135" dirty="0">
                <a:latin typeface="Times New Roman"/>
                <a:cs typeface="Times New Roman"/>
              </a:rPr>
              <a:t> </a:t>
            </a:r>
            <a:r>
              <a:rPr sz="2800" b="1" spc="-10" dirty="0">
                <a:latin typeface="Aptos"/>
                <a:cs typeface="Aptos"/>
              </a:rPr>
              <a:t>Ring</a:t>
            </a:r>
            <a:r>
              <a:rPr sz="2800" spc="-150" dirty="0">
                <a:latin typeface="Times New Roman"/>
                <a:cs typeface="Times New Roman"/>
              </a:rPr>
              <a:t> </a:t>
            </a:r>
            <a:r>
              <a:rPr sz="2800" b="1" spc="-35" dirty="0">
                <a:latin typeface="Aptos"/>
                <a:cs typeface="Aptos"/>
              </a:rPr>
              <a:t>Topology:</a:t>
            </a:r>
            <a:r>
              <a:rPr sz="2800" spc="-135" dirty="0">
                <a:latin typeface="Times New Roman"/>
                <a:cs typeface="Times New Roman"/>
              </a:rPr>
              <a:t> </a:t>
            </a:r>
            <a:r>
              <a:rPr sz="2800" dirty="0">
                <a:latin typeface="Aptos"/>
                <a:cs typeface="Aptos"/>
              </a:rPr>
              <a:t>-</a:t>
            </a:r>
            <a:r>
              <a:rPr sz="2800" spc="-140" dirty="0">
                <a:latin typeface="Times New Roman"/>
                <a:cs typeface="Times New Roman"/>
              </a:rPr>
              <a:t> </a:t>
            </a:r>
            <a:r>
              <a:rPr sz="2800" spc="-10" dirty="0">
                <a:latin typeface="Aptos"/>
                <a:cs typeface="Aptos"/>
              </a:rPr>
              <a:t>Ring</a:t>
            </a:r>
            <a:r>
              <a:rPr sz="2800" spc="-145" dirty="0">
                <a:latin typeface="Times New Roman"/>
                <a:cs typeface="Times New Roman"/>
              </a:rPr>
              <a:t> </a:t>
            </a:r>
            <a:r>
              <a:rPr sz="2800" spc="-10" dirty="0">
                <a:latin typeface="Aptos"/>
                <a:cs typeface="Aptos"/>
              </a:rPr>
              <a:t>topology</a:t>
            </a:r>
            <a:r>
              <a:rPr sz="2800" spc="-135" dirty="0">
                <a:latin typeface="Times New Roman"/>
                <a:cs typeface="Times New Roman"/>
              </a:rPr>
              <a:t> </a:t>
            </a:r>
            <a:r>
              <a:rPr sz="2800" dirty="0">
                <a:latin typeface="Aptos"/>
                <a:cs typeface="Aptos"/>
              </a:rPr>
              <a:t>is</a:t>
            </a:r>
            <a:r>
              <a:rPr sz="2800" spc="-140" dirty="0">
                <a:latin typeface="Times New Roman"/>
                <a:cs typeface="Times New Roman"/>
              </a:rPr>
              <a:t> </a:t>
            </a:r>
            <a:r>
              <a:rPr sz="2800" dirty="0">
                <a:latin typeface="Aptos"/>
                <a:cs typeface="Aptos"/>
              </a:rPr>
              <a:t>a</a:t>
            </a:r>
            <a:r>
              <a:rPr sz="2800" spc="-145" dirty="0">
                <a:latin typeface="Times New Roman"/>
                <a:cs typeface="Times New Roman"/>
              </a:rPr>
              <a:t> </a:t>
            </a:r>
            <a:r>
              <a:rPr sz="2800" spc="-10" dirty="0">
                <a:latin typeface="Aptos"/>
                <a:cs typeface="Aptos"/>
              </a:rPr>
              <a:t>type</a:t>
            </a:r>
            <a:r>
              <a:rPr sz="2800" spc="-145" dirty="0">
                <a:latin typeface="Times New Roman"/>
                <a:cs typeface="Times New Roman"/>
              </a:rPr>
              <a:t> </a:t>
            </a:r>
            <a:r>
              <a:rPr sz="2800" dirty="0">
                <a:latin typeface="Aptos"/>
                <a:cs typeface="Aptos"/>
              </a:rPr>
              <a:t>of</a:t>
            </a:r>
            <a:r>
              <a:rPr sz="2800" spc="-150" dirty="0">
                <a:latin typeface="Times New Roman"/>
                <a:cs typeface="Times New Roman"/>
              </a:rPr>
              <a:t> </a:t>
            </a:r>
            <a:r>
              <a:rPr sz="2800" spc="-10" dirty="0">
                <a:latin typeface="Aptos"/>
                <a:cs typeface="Aptos"/>
              </a:rPr>
              <a:t>topology</a:t>
            </a:r>
            <a:r>
              <a:rPr sz="2800" spc="-130" dirty="0">
                <a:latin typeface="Times New Roman"/>
                <a:cs typeface="Times New Roman"/>
              </a:rPr>
              <a:t> </a:t>
            </a:r>
            <a:r>
              <a:rPr sz="2800" spc="-10" dirty="0">
                <a:latin typeface="Aptos"/>
                <a:cs typeface="Aptos"/>
              </a:rPr>
              <a:t>which</a:t>
            </a:r>
            <a:r>
              <a:rPr sz="2800" spc="-150" dirty="0">
                <a:latin typeface="Times New Roman"/>
                <a:cs typeface="Times New Roman"/>
              </a:rPr>
              <a:t> </a:t>
            </a:r>
            <a:r>
              <a:rPr sz="2800" dirty="0">
                <a:latin typeface="Aptos"/>
                <a:cs typeface="Aptos"/>
              </a:rPr>
              <a:t>is</a:t>
            </a:r>
            <a:r>
              <a:rPr sz="2800" spc="-140" dirty="0">
                <a:latin typeface="Times New Roman"/>
                <a:cs typeface="Times New Roman"/>
              </a:rPr>
              <a:t> </a:t>
            </a:r>
            <a:r>
              <a:rPr sz="2800" spc="-25" dirty="0">
                <a:latin typeface="Aptos"/>
                <a:cs typeface="Aptos"/>
              </a:rPr>
              <a:t>in</a:t>
            </a:r>
            <a:r>
              <a:rPr sz="2800" spc="-25" dirty="0">
                <a:latin typeface="Times New Roman"/>
                <a:cs typeface="Times New Roman"/>
              </a:rPr>
              <a:t> </a:t>
            </a:r>
            <a:r>
              <a:rPr sz="2800" spc="-10" dirty="0">
                <a:latin typeface="Aptos"/>
                <a:cs typeface="Aptos"/>
              </a:rPr>
              <a:t>ring</a:t>
            </a:r>
            <a:r>
              <a:rPr sz="2800" spc="-150" dirty="0">
                <a:latin typeface="Times New Roman"/>
                <a:cs typeface="Times New Roman"/>
              </a:rPr>
              <a:t> </a:t>
            </a:r>
            <a:r>
              <a:rPr sz="2800" spc="-10" dirty="0">
                <a:latin typeface="Aptos"/>
                <a:cs typeface="Aptos"/>
              </a:rPr>
              <a:t>shape</a:t>
            </a:r>
            <a:r>
              <a:rPr sz="2800" spc="-130" dirty="0">
                <a:latin typeface="Times New Roman"/>
                <a:cs typeface="Times New Roman"/>
              </a:rPr>
              <a:t> </a:t>
            </a:r>
            <a:r>
              <a:rPr sz="2800" spc="-10" dirty="0">
                <a:latin typeface="Aptos"/>
                <a:cs typeface="Aptos"/>
              </a:rPr>
              <a:t>and</a:t>
            </a:r>
            <a:r>
              <a:rPr sz="2800" spc="-150" dirty="0">
                <a:latin typeface="Times New Roman"/>
                <a:cs typeface="Times New Roman"/>
              </a:rPr>
              <a:t> </a:t>
            </a:r>
            <a:r>
              <a:rPr sz="2800" spc="-10" dirty="0">
                <a:latin typeface="Aptos"/>
                <a:cs typeface="Aptos"/>
              </a:rPr>
              <a:t>each</a:t>
            </a:r>
            <a:r>
              <a:rPr sz="2800" spc="-135" dirty="0">
                <a:latin typeface="Times New Roman"/>
                <a:cs typeface="Times New Roman"/>
              </a:rPr>
              <a:t> </a:t>
            </a:r>
            <a:r>
              <a:rPr sz="2800" spc="-10" dirty="0">
                <a:latin typeface="Aptos"/>
                <a:cs typeface="Aptos"/>
              </a:rPr>
              <a:t>node</a:t>
            </a:r>
            <a:r>
              <a:rPr sz="2800" spc="-140" dirty="0">
                <a:latin typeface="Times New Roman"/>
                <a:cs typeface="Times New Roman"/>
              </a:rPr>
              <a:t> </a:t>
            </a:r>
            <a:r>
              <a:rPr sz="2800" dirty="0">
                <a:latin typeface="Aptos"/>
                <a:cs typeface="Aptos"/>
              </a:rPr>
              <a:t>is</a:t>
            </a:r>
            <a:r>
              <a:rPr sz="2800" spc="-150" dirty="0">
                <a:latin typeface="Times New Roman"/>
                <a:cs typeface="Times New Roman"/>
              </a:rPr>
              <a:t> </a:t>
            </a:r>
            <a:r>
              <a:rPr sz="2800" spc="-20" dirty="0">
                <a:latin typeface="Aptos"/>
                <a:cs typeface="Aptos"/>
              </a:rPr>
              <a:t>connected</a:t>
            </a:r>
            <a:r>
              <a:rPr sz="2800" spc="-114" dirty="0">
                <a:latin typeface="Times New Roman"/>
                <a:cs typeface="Times New Roman"/>
              </a:rPr>
              <a:t> </a:t>
            </a:r>
            <a:r>
              <a:rPr sz="2800" dirty="0">
                <a:latin typeface="Aptos"/>
                <a:cs typeface="Aptos"/>
              </a:rPr>
              <a:t>t</a:t>
            </a:r>
            <a:r>
              <a:rPr sz="2800" spc="-155" dirty="0">
                <a:latin typeface="Times New Roman"/>
                <a:cs typeface="Times New Roman"/>
              </a:rPr>
              <a:t> </a:t>
            </a:r>
            <a:r>
              <a:rPr sz="2800" dirty="0">
                <a:latin typeface="Aptos"/>
                <a:cs typeface="Aptos"/>
              </a:rPr>
              <a:t>o</a:t>
            </a:r>
            <a:r>
              <a:rPr sz="2800" spc="-135" dirty="0">
                <a:latin typeface="Times New Roman"/>
                <a:cs typeface="Times New Roman"/>
              </a:rPr>
              <a:t> </a:t>
            </a:r>
            <a:r>
              <a:rPr sz="2800" dirty="0">
                <a:latin typeface="Aptos"/>
                <a:cs typeface="Aptos"/>
              </a:rPr>
              <a:t>one</a:t>
            </a:r>
            <a:r>
              <a:rPr sz="2800" spc="-140" dirty="0">
                <a:latin typeface="Times New Roman"/>
                <a:cs typeface="Times New Roman"/>
              </a:rPr>
              <a:t> </a:t>
            </a:r>
            <a:r>
              <a:rPr sz="2800" spc="-20" dirty="0">
                <a:latin typeface="Aptos"/>
                <a:cs typeface="Aptos"/>
              </a:rPr>
              <a:t>another</a:t>
            </a:r>
            <a:r>
              <a:rPr sz="2800" spc="-150" dirty="0">
                <a:latin typeface="Times New Roman"/>
                <a:cs typeface="Times New Roman"/>
              </a:rPr>
              <a:t> </a:t>
            </a:r>
            <a:r>
              <a:rPr sz="2800" spc="-10" dirty="0">
                <a:latin typeface="Aptos"/>
                <a:cs typeface="Aptos"/>
              </a:rPr>
              <a:t>without</a:t>
            </a:r>
            <a:r>
              <a:rPr sz="2800" spc="-150" dirty="0">
                <a:latin typeface="Times New Roman"/>
                <a:cs typeface="Times New Roman"/>
              </a:rPr>
              <a:t> </a:t>
            </a:r>
            <a:r>
              <a:rPr sz="2800" spc="-25" dirty="0">
                <a:latin typeface="Aptos"/>
                <a:cs typeface="Aptos"/>
              </a:rPr>
              <a:t>any</a:t>
            </a:r>
            <a:r>
              <a:rPr sz="2800" spc="-25" dirty="0">
                <a:latin typeface="Times New Roman"/>
                <a:cs typeface="Times New Roman"/>
              </a:rPr>
              <a:t> </a:t>
            </a:r>
            <a:r>
              <a:rPr sz="2800" spc="-30" dirty="0">
                <a:latin typeface="Aptos"/>
                <a:cs typeface="Aptos"/>
              </a:rPr>
              <a:t>centralized</a:t>
            </a:r>
            <a:r>
              <a:rPr sz="2800" spc="-80" dirty="0">
                <a:latin typeface="Times New Roman"/>
                <a:cs typeface="Times New Roman"/>
              </a:rPr>
              <a:t> </a:t>
            </a:r>
            <a:r>
              <a:rPr sz="2800" spc="-10" dirty="0">
                <a:latin typeface="Aptos"/>
                <a:cs typeface="Aptos"/>
              </a:rPr>
              <a:t>control.</a:t>
            </a:r>
            <a:endParaRPr sz="2800">
              <a:latin typeface="Aptos"/>
              <a:cs typeface="Aptos"/>
            </a:endParaRPr>
          </a:p>
        </p:txBody>
      </p:sp>
      <p:pic>
        <p:nvPicPr>
          <p:cNvPr id="3" name="object 3"/>
          <p:cNvPicPr/>
          <p:nvPr/>
        </p:nvPicPr>
        <p:blipFill>
          <a:blip r:embed="rId2" cstate="print"/>
          <a:stretch>
            <a:fillRect/>
          </a:stretch>
        </p:blipFill>
        <p:spPr>
          <a:xfrm>
            <a:off x="3448493" y="2372648"/>
            <a:ext cx="4158237" cy="288507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8" y="393078"/>
            <a:ext cx="10342245" cy="5650865"/>
          </a:xfrm>
          <a:prstGeom prst="rect">
            <a:avLst/>
          </a:prstGeom>
        </p:spPr>
        <p:txBody>
          <a:bodyPr vert="horz" wrap="square" lIns="0" tIns="96520" rIns="0" bIns="0" rtlCol="0">
            <a:spAutoFit/>
          </a:bodyPr>
          <a:lstStyle/>
          <a:p>
            <a:pPr marL="329565" indent="-317500">
              <a:lnSpc>
                <a:spcPct val="100000"/>
              </a:lnSpc>
              <a:spcBef>
                <a:spcPts val="760"/>
              </a:spcBef>
              <a:buSzPct val="96428"/>
              <a:buFont typeface="Wingdings"/>
              <a:buChar char=""/>
              <a:tabLst>
                <a:tab pos="330200" algn="l"/>
              </a:tabLst>
            </a:pPr>
            <a:r>
              <a:rPr sz="2800" b="1" spc="-10" dirty="0">
                <a:latin typeface="Aptos"/>
                <a:cs typeface="Aptos"/>
              </a:rPr>
              <a:t>Advantages</a:t>
            </a:r>
            <a:endParaRPr sz="2800">
              <a:latin typeface="Aptos"/>
              <a:cs typeface="Aptos"/>
            </a:endParaRPr>
          </a:p>
          <a:p>
            <a:pPr marL="527685" indent="-515620">
              <a:lnSpc>
                <a:spcPct val="100000"/>
              </a:lnSpc>
              <a:spcBef>
                <a:spcPts val="665"/>
              </a:spcBef>
              <a:buAutoNum type="arabicPeriod"/>
              <a:tabLst>
                <a:tab pos="527685" algn="l"/>
                <a:tab pos="528320" algn="l"/>
              </a:tabLst>
            </a:pPr>
            <a:r>
              <a:rPr sz="2800" spc="-10" dirty="0">
                <a:latin typeface="Aptos"/>
                <a:cs typeface="Aptos"/>
              </a:rPr>
              <a:t>All</a:t>
            </a:r>
            <a:r>
              <a:rPr sz="2800" spc="-145" dirty="0">
                <a:latin typeface="Times New Roman"/>
                <a:cs typeface="Times New Roman"/>
              </a:rPr>
              <a:t> </a:t>
            </a:r>
            <a:r>
              <a:rPr sz="2800" spc="-25" dirty="0">
                <a:latin typeface="Aptos"/>
                <a:cs typeface="Aptos"/>
              </a:rPr>
              <a:t>station</a:t>
            </a:r>
            <a:r>
              <a:rPr sz="2800" spc="-140" dirty="0">
                <a:latin typeface="Times New Roman"/>
                <a:cs typeface="Times New Roman"/>
              </a:rPr>
              <a:t> </a:t>
            </a:r>
            <a:r>
              <a:rPr sz="2800" spc="-10" dirty="0">
                <a:latin typeface="Aptos"/>
                <a:cs typeface="Aptos"/>
              </a:rPr>
              <a:t>(nodes)</a:t>
            </a:r>
            <a:r>
              <a:rPr sz="2800" spc="-120" dirty="0">
                <a:latin typeface="Times New Roman"/>
                <a:cs typeface="Times New Roman"/>
              </a:rPr>
              <a:t> </a:t>
            </a:r>
            <a:r>
              <a:rPr sz="2800" spc="-20" dirty="0">
                <a:latin typeface="Aptos"/>
                <a:cs typeface="Aptos"/>
              </a:rPr>
              <a:t>have</a:t>
            </a:r>
            <a:r>
              <a:rPr sz="2800" spc="-135" dirty="0">
                <a:latin typeface="Times New Roman"/>
                <a:cs typeface="Times New Roman"/>
              </a:rPr>
              <a:t> </a:t>
            </a:r>
            <a:r>
              <a:rPr sz="2800" spc="-10" dirty="0">
                <a:latin typeface="Aptos"/>
                <a:cs typeface="Aptos"/>
              </a:rPr>
              <a:t>equal</a:t>
            </a:r>
            <a:r>
              <a:rPr sz="2800" spc="-130" dirty="0">
                <a:latin typeface="Times New Roman"/>
                <a:cs typeface="Times New Roman"/>
              </a:rPr>
              <a:t> </a:t>
            </a:r>
            <a:r>
              <a:rPr sz="2800" spc="-10" dirty="0">
                <a:latin typeface="Aptos"/>
                <a:cs typeface="Aptos"/>
              </a:rPr>
              <a:t>access.</a:t>
            </a:r>
            <a:endParaRPr sz="2800">
              <a:latin typeface="Aptos"/>
              <a:cs typeface="Aptos"/>
            </a:endParaRPr>
          </a:p>
          <a:p>
            <a:pPr marL="527685" indent="-515620">
              <a:lnSpc>
                <a:spcPct val="100000"/>
              </a:lnSpc>
              <a:spcBef>
                <a:spcPts val="670"/>
              </a:spcBef>
              <a:buAutoNum type="arabicPeriod"/>
              <a:tabLst>
                <a:tab pos="527685" algn="l"/>
                <a:tab pos="528320" algn="l"/>
              </a:tabLst>
            </a:pPr>
            <a:r>
              <a:rPr sz="2800" dirty="0">
                <a:latin typeface="Aptos"/>
                <a:cs typeface="Aptos"/>
              </a:rPr>
              <a:t>As</a:t>
            </a:r>
            <a:r>
              <a:rPr sz="2800" spc="-135" dirty="0">
                <a:latin typeface="Times New Roman"/>
                <a:cs typeface="Times New Roman"/>
              </a:rPr>
              <a:t> </a:t>
            </a:r>
            <a:r>
              <a:rPr sz="2800" spc="-20" dirty="0">
                <a:latin typeface="Aptos"/>
                <a:cs typeface="Aptos"/>
              </a:rPr>
              <a:t>data</a:t>
            </a:r>
            <a:r>
              <a:rPr sz="2800" spc="-140" dirty="0">
                <a:latin typeface="Times New Roman"/>
                <a:cs typeface="Times New Roman"/>
              </a:rPr>
              <a:t> </a:t>
            </a:r>
            <a:r>
              <a:rPr sz="2800" spc="-30" dirty="0">
                <a:latin typeface="Aptos"/>
                <a:cs typeface="Aptos"/>
              </a:rPr>
              <a:t>travels</a:t>
            </a:r>
            <a:r>
              <a:rPr sz="2800" spc="-135" dirty="0">
                <a:latin typeface="Times New Roman"/>
                <a:cs typeface="Times New Roman"/>
              </a:rPr>
              <a:t> </a:t>
            </a:r>
            <a:r>
              <a:rPr sz="2800" dirty="0">
                <a:latin typeface="Aptos"/>
                <a:cs typeface="Aptos"/>
              </a:rPr>
              <a:t>in</a:t>
            </a:r>
            <a:r>
              <a:rPr sz="2800" spc="-145" dirty="0">
                <a:latin typeface="Times New Roman"/>
                <a:cs typeface="Times New Roman"/>
              </a:rPr>
              <a:t> </a:t>
            </a:r>
            <a:r>
              <a:rPr sz="2800" spc="-10" dirty="0">
                <a:latin typeface="Aptos"/>
                <a:cs typeface="Aptos"/>
              </a:rPr>
              <a:t>only</a:t>
            </a:r>
            <a:r>
              <a:rPr sz="2800" spc="-140" dirty="0">
                <a:latin typeface="Times New Roman"/>
                <a:cs typeface="Times New Roman"/>
              </a:rPr>
              <a:t> </a:t>
            </a:r>
            <a:r>
              <a:rPr sz="2800" b="1" dirty="0">
                <a:latin typeface="Aptos"/>
                <a:cs typeface="Aptos"/>
              </a:rPr>
              <a:t>one</a:t>
            </a:r>
            <a:r>
              <a:rPr sz="2800" spc="-140" dirty="0">
                <a:latin typeface="Times New Roman"/>
                <a:cs typeface="Times New Roman"/>
              </a:rPr>
              <a:t> </a:t>
            </a:r>
            <a:r>
              <a:rPr sz="2800" b="1" spc="-10" dirty="0">
                <a:latin typeface="Aptos"/>
                <a:cs typeface="Aptos"/>
              </a:rPr>
              <a:t>direction</a:t>
            </a:r>
            <a:r>
              <a:rPr sz="2800" spc="-10" dirty="0">
                <a:latin typeface="Aptos"/>
                <a:cs typeface="Aptos"/>
              </a:rPr>
              <a:t>,</a:t>
            </a:r>
            <a:r>
              <a:rPr sz="2800" spc="-165" dirty="0">
                <a:latin typeface="Times New Roman"/>
                <a:cs typeface="Times New Roman"/>
              </a:rPr>
              <a:t> </a:t>
            </a:r>
            <a:r>
              <a:rPr sz="2800" spc="-10" dirty="0">
                <a:latin typeface="Aptos"/>
                <a:cs typeface="Aptos"/>
              </a:rPr>
              <a:t>speed</a:t>
            </a:r>
            <a:r>
              <a:rPr sz="2800" spc="-135" dirty="0">
                <a:latin typeface="Times New Roman"/>
                <a:cs typeface="Times New Roman"/>
              </a:rPr>
              <a:t> </a:t>
            </a:r>
            <a:r>
              <a:rPr sz="2800" dirty="0">
                <a:latin typeface="Aptos"/>
                <a:cs typeface="Aptos"/>
              </a:rPr>
              <a:t>is</a:t>
            </a:r>
            <a:r>
              <a:rPr sz="2800" spc="-140" dirty="0">
                <a:latin typeface="Times New Roman"/>
                <a:cs typeface="Times New Roman"/>
              </a:rPr>
              <a:t> </a:t>
            </a:r>
            <a:r>
              <a:rPr sz="2800" spc="-10" dirty="0">
                <a:latin typeface="Aptos"/>
                <a:cs typeface="Aptos"/>
              </a:rPr>
              <a:t>high.</a:t>
            </a:r>
            <a:endParaRPr sz="2800">
              <a:latin typeface="Aptos"/>
              <a:cs typeface="Aptos"/>
            </a:endParaRPr>
          </a:p>
          <a:p>
            <a:pPr marL="527685" marR="401320" indent="-515620">
              <a:lnSpc>
                <a:spcPts val="3030"/>
              </a:lnSpc>
              <a:spcBef>
                <a:spcPts val="1035"/>
              </a:spcBef>
              <a:buAutoNum type="arabicPeriod"/>
              <a:tabLst>
                <a:tab pos="527685" algn="l"/>
                <a:tab pos="528320" algn="l"/>
              </a:tabLst>
            </a:pPr>
            <a:r>
              <a:rPr sz="2800" spc="-10" dirty="0">
                <a:latin typeface="Aptos"/>
                <a:cs typeface="Aptos"/>
              </a:rPr>
              <a:t>Since</a:t>
            </a:r>
            <a:r>
              <a:rPr sz="2800" spc="-160" dirty="0">
                <a:latin typeface="Times New Roman"/>
                <a:cs typeface="Times New Roman"/>
              </a:rPr>
              <a:t> </a:t>
            </a:r>
            <a:r>
              <a:rPr sz="2800" spc="-10" dirty="0">
                <a:latin typeface="Aptos"/>
                <a:cs typeface="Aptos"/>
              </a:rPr>
              <a:t>each</a:t>
            </a:r>
            <a:r>
              <a:rPr sz="2800" spc="-140" dirty="0">
                <a:latin typeface="Times New Roman"/>
                <a:cs typeface="Times New Roman"/>
              </a:rPr>
              <a:t> </a:t>
            </a:r>
            <a:r>
              <a:rPr sz="2800" spc="-10" dirty="0">
                <a:latin typeface="Aptos"/>
                <a:cs typeface="Aptos"/>
              </a:rPr>
              <a:t>computer</a:t>
            </a:r>
            <a:r>
              <a:rPr sz="2800" spc="-125" dirty="0">
                <a:latin typeface="Times New Roman"/>
                <a:cs typeface="Times New Roman"/>
              </a:rPr>
              <a:t> </a:t>
            </a:r>
            <a:r>
              <a:rPr sz="2800" spc="-10" dirty="0">
                <a:latin typeface="Aptos"/>
                <a:cs typeface="Aptos"/>
              </a:rPr>
              <a:t>act</a:t>
            </a:r>
            <a:r>
              <a:rPr sz="2800" spc="-155" dirty="0">
                <a:latin typeface="Times New Roman"/>
                <a:cs typeface="Times New Roman"/>
              </a:rPr>
              <a:t> </a:t>
            </a:r>
            <a:r>
              <a:rPr sz="2800" dirty="0">
                <a:latin typeface="Aptos"/>
                <a:cs typeface="Aptos"/>
              </a:rPr>
              <a:t>as</a:t>
            </a:r>
            <a:r>
              <a:rPr sz="2800" spc="-135" dirty="0">
                <a:latin typeface="Times New Roman"/>
                <a:cs typeface="Times New Roman"/>
              </a:rPr>
              <a:t> </a:t>
            </a:r>
            <a:r>
              <a:rPr sz="2800" dirty="0">
                <a:latin typeface="Aptos"/>
                <a:cs typeface="Aptos"/>
              </a:rPr>
              <a:t>a</a:t>
            </a:r>
            <a:r>
              <a:rPr sz="2800" spc="-145" dirty="0">
                <a:latin typeface="Times New Roman"/>
                <a:cs typeface="Times New Roman"/>
              </a:rPr>
              <a:t> </a:t>
            </a:r>
            <a:r>
              <a:rPr sz="2800" spc="-25" dirty="0">
                <a:latin typeface="Aptos"/>
                <a:cs typeface="Aptos"/>
              </a:rPr>
              <a:t>repeater</a:t>
            </a:r>
            <a:r>
              <a:rPr sz="2800" spc="-150" dirty="0">
                <a:latin typeface="Times New Roman"/>
                <a:cs typeface="Times New Roman"/>
              </a:rPr>
              <a:t> </a:t>
            </a:r>
            <a:r>
              <a:rPr sz="2800" dirty="0">
                <a:latin typeface="Aptos"/>
                <a:cs typeface="Aptos"/>
              </a:rPr>
              <a:t>it</a:t>
            </a:r>
            <a:r>
              <a:rPr sz="2800" spc="-155" dirty="0">
                <a:latin typeface="Times New Roman"/>
                <a:cs typeface="Times New Roman"/>
              </a:rPr>
              <a:t> </a:t>
            </a:r>
            <a:r>
              <a:rPr sz="2800" spc="-20" dirty="0">
                <a:latin typeface="Aptos"/>
                <a:cs typeface="Aptos"/>
              </a:rPr>
              <a:t>can</a:t>
            </a:r>
            <a:r>
              <a:rPr sz="2800" spc="-155" dirty="0">
                <a:latin typeface="Times New Roman"/>
                <a:cs typeface="Times New Roman"/>
              </a:rPr>
              <a:t> </a:t>
            </a:r>
            <a:r>
              <a:rPr sz="2800" dirty="0">
                <a:latin typeface="Aptos"/>
                <a:cs typeface="Aptos"/>
              </a:rPr>
              <a:t>be</a:t>
            </a:r>
            <a:r>
              <a:rPr sz="2800" spc="-145" dirty="0">
                <a:latin typeface="Times New Roman"/>
                <a:cs typeface="Times New Roman"/>
              </a:rPr>
              <a:t> </a:t>
            </a:r>
            <a:r>
              <a:rPr sz="2800" spc="-25" dirty="0">
                <a:latin typeface="Aptos"/>
                <a:cs typeface="Aptos"/>
              </a:rPr>
              <a:t>extended</a:t>
            </a:r>
            <a:r>
              <a:rPr sz="2800" spc="-130" dirty="0">
                <a:latin typeface="Times New Roman"/>
                <a:cs typeface="Times New Roman"/>
              </a:rPr>
              <a:t> </a:t>
            </a:r>
            <a:r>
              <a:rPr sz="2800" dirty="0">
                <a:latin typeface="Aptos"/>
                <a:cs typeface="Aptos"/>
              </a:rPr>
              <a:t>to</a:t>
            </a:r>
            <a:r>
              <a:rPr sz="2800" spc="-145" dirty="0">
                <a:latin typeface="Times New Roman"/>
                <a:cs typeface="Times New Roman"/>
              </a:rPr>
              <a:t> </a:t>
            </a:r>
            <a:r>
              <a:rPr sz="2800" spc="-50" dirty="0">
                <a:latin typeface="Aptos"/>
                <a:cs typeface="Aptos"/>
              </a:rPr>
              <a:t>a</a:t>
            </a:r>
            <a:r>
              <a:rPr sz="2800" spc="-50" dirty="0">
                <a:latin typeface="Times New Roman"/>
                <a:cs typeface="Times New Roman"/>
              </a:rPr>
              <a:t> </a:t>
            </a:r>
            <a:r>
              <a:rPr sz="2800" spc="-25" dirty="0">
                <a:latin typeface="Aptos"/>
                <a:cs typeface="Aptos"/>
              </a:rPr>
              <a:t>greater</a:t>
            </a:r>
            <a:r>
              <a:rPr sz="2800" spc="-114" dirty="0">
                <a:latin typeface="Times New Roman"/>
                <a:cs typeface="Times New Roman"/>
              </a:rPr>
              <a:t> </a:t>
            </a:r>
            <a:r>
              <a:rPr sz="2800" spc="-10" dirty="0">
                <a:latin typeface="Aptos"/>
                <a:cs typeface="Aptos"/>
              </a:rPr>
              <a:t>distance.</a:t>
            </a:r>
            <a:endParaRPr sz="2800">
              <a:latin typeface="Aptos"/>
              <a:cs typeface="Aptos"/>
            </a:endParaRPr>
          </a:p>
          <a:p>
            <a:pPr marL="527685" marR="640715" indent="-515620">
              <a:lnSpc>
                <a:spcPts val="3020"/>
              </a:lnSpc>
              <a:spcBef>
                <a:spcPts val="994"/>
              </a:spcBef>
              <a:buAutoNum type="arabicPeriod"/>
              <a:tabLst>
                <a:tab pos="527685" algn="l"/>
                <a:tab pos="528320" algn="l"/>
              </a:tabLst>
            </a:pPr>
            <a:r>
              <a:rPr sz="2800" spc="-20" dirty="0">
                <a:latin typeface="Aptos"/>
                <a:cs typeface="Aptos"/>
              </a:rPr>
              <a:t>Increase</a:t>
            </a:r>
            <a:r>
              <a:rPr sz="2800" spc="-145" dirty="0">
                <a:latin typeface="Times New Roman"/>
                <a:cs typeface="Times New Roman"/>
              </a:rPr>
              <a:t> </a:t>
            </a:r>
            <a:r>
              <a:rPr sz="2800" dirty="0">
                <a:latin typeface="Aptos"/>
                <a:cs typeface="Aptos"/>
              </a:rPr>
              <a:t>in</a:t>
            </a:r>
            <a:r>
              <a:rPr sz="2800" spc="-150" dirty="0">
                <a:latin typeface="Times New Roman"/>
                <a:cs typeface="Times New Roman"/>
              </a:rPr>
              <a:t> </a:t>
            </a:r>
            <a:r>
              <a:rPr sz="2800" spc="-10" dirty="0">
                <a:latin typeface="Aptos"/>
                <a:cs typeface="Aptos"/>
              </a:rPr>
              <a:t>number</a:t>
            </a:r>
            <a:r>
              <a:rPr sz="2800" spc="-140" dirty="0">
                <a:latin typeface="Times New Roman"/>
                <a:cs typeface="Times New Roman"/>
              </a:rPr>
              <a:t> </a:t>
            </a:r>
            <a:r>
              <a:rPr sz="2800" dirty="0">
                <a:latin typeface="Aptos"/>
                <a:cs typeface="Aptos"/>
              </a:rPr>
              <a:t>of</a:t>
            </a:r>
            <a:r>
              <a:rPr sz="2800" spc="-140" dirty="0">
                <a:latin typeface="Times New Roman"/>
                <a:cs typeface="Times New Roman"/>
              </a:rPr>
              <a:t> </a:t>
            </a:r>
            <a:r>
              <a:rPr sz="2800" spc="-10" dirty="0">
                <a:latin typeface="Aptos"/>
                <a:cs typeface="Aptos"/>
              </a:rPr>
              <a:t>computer</a:t>
            </a:r>
            <a:r>
              <a:rPr sz="2800" spc="-120" dirty="0">
                <a:latin typeface="Times New Roman"/>
                <a:cs typeface="Times New Roman"/>
              </a:rPr>
              <a:t> </a:t>
            </a:r>
            <a:r>
              <a:rPr sz="2800" spc="-10" dirty="0">
                <a:latin typeface="Aptos"/>
                <a:cs typeface="Aptos"/>
              </a:rPr>
              <a:t>will</a:t>
            </a:r>
            <a:r>
              <a:rPr sz="2800" spc="-165" dirty="0">
                <a:latin typeface="Times New Roman"/>
                <a:cs typeface="Times New Roman"/>
              </a:rPr>
              <a:t> </a:t>
            </a:r>
            <a:r>
              <a:rPr sz="2800" spc="-20" dirty="0">
                <a:latin typeface="Aptos"/>
                <a:cs typeface="Aptos"/>
              </a:rPr>
              <a:t>have</a:t>
            </a:r>
            <a:r>
              <a:rPr sz="2800" spc="-145" dirty="0">
                <a:latin typeface="Times New Roman"/>
                <a:cs typeface="Times New Roman"/>
              </a:rPr>
              <a:t> </a:t>
            </a:r>
            <a:r>
              <a:rPr sz="2800" spc="-20" dirty="0">
                <a:latin typeface="Aptos"/>
                <a:cs typeface="Aptos"/>
              </a:rPr>
              <a:t>minimal</a:t>
            </a:r>
            <a:r>
              <a:rPr sz="2800" spc="-150" dirty="0">
                <a:latin typeface="Times New Roman"/>
                <a:cs typeface="Times New Roman"/>
              </a:rPr>
              <a:t> </a:t>
            </a:r>
            <a:r>
              <a:rPr sz="2800" spc="-10" dirty="0">
                <a:latin typeface="Aptos"/>
                <a:cs typeface="Aptos"/>
              </a:rPr>
              <a:t>impact</a:t>
            </a:r>
            <a:r>
              <a:rPr sz="2800" spc="-155" dirty="0">
                <a:latin typeface="Times New Roman"/>
                <a:cs typeface="Times New Roman"/>
              </a:rPr>
              <a:t> </a:t>
            </a:r>
            <a:r>
              <a:rPr sz="2800" spc="-25" dirty="0">
                <a:latin typeface="Aptos"/>
                <a:cs typeface="Aptos"/>
              </a:rPr>
              <a:t>to</a:t>
            </a:r>
            <a:r>
              <a:rPr sz="2800" spc="-25" dirty="0">
                <a:latin typeface="Times New Roman"/>
                <a:cs typeface="Times New Roman"/>
              </a:rPr>
              <a:t> </a:t>
            </a:r>
            <a:r>
              <a:rPr sz="2800" spc="-35" dirty="0">
                <a:latin typeface="Aptos"/>
                <a:cs typeface="Aptos"/>
              </a:rPr>
              <a:t>overall</a:t>
            </a:r>
            <a:r>
              <a:rPr sz="2800" spc="-120" dirty="0">
                <a:latin typeface="Times New Roman"/>
                <a:cs typeface="Times New Roman"/>
              </a:rPr>
              <a:t> </a:t>
            </a:r>
            <a:r>
              <a:rPr sz="2800" spc="-20" dirty="0">
                <a:latin typeface="Aptos"/>
                <a:cs typeface="Aptos"/>
              </a:rPr>
              <a:t>network</a:t>
            </a:r>
            <a:r>
              <a:rPr sz="2800" spc="-125" dirty="0">
                <a:latin typeface="Times New Roman"/>
                <a:cs typeface="Times New Roman"/>
              </a:rPr>
              <a:t> </a:t>
            </a:r>
            <a:r>
              <a:rPr sz="2800" spc="-10" dirty="0">
                <a:latin typeface="Aptos"/>
                <a:cs typeface="Aptos"/>
              </a:rPr>
              <a:t>performance.</a:t>
            </a:r>
            <a:endParaRPr sz="2800">
              <a:latin typeface="Aptos"/>
              <a:cs typeface="Aptos"/>
            </a:endParaRPr>
          </a:p>
          <a:p>
            <a:pPr marL="329565" indent="-317500">
              <a:lnSpc>
                <a:spcPct val="100000"/>
              </a:lnSpc>
              <a:spcBef>
                <a:spcPts val="635"/>
              </a:spcBef>
              <a:buSzPct val="96428"/>
              <a:buFont typeface="Wingdings"/>
              <a:buChar char=""/>
              <a:tabLst>
                <a:tab pos="330200" algn="l"/>
              </a:tabLst>
            </a:pPr>
            <a:r>
              <a:rPr sz="2800" b="1" spc="-10" dirty="0">
                <a:latin typeface="Aptos"/>
                <a:cs typeface="Aptos"/>
              </a:rPr>
              <a:t>Disadvantages</a:t>
            </a:r>
            <a:endParaRPr sz="2800">
              <a:latin typeface="Aptos"/>
              <a:cs typeface="Aptos"/>
            </a:endParaRPr>
          </a:p>
          <a:p>
            <a:pPr marL="527685" marR="645160" indent="-515620">
              <a:lnSpc>
                <a:spcPts val="3020"/>
              </a:lnSpc>
              <a:spcBef>
                <a:spcPts val="1045"/>
              </a:spcBef>
              <a:buAutoNum type="arabicPeriod"/>
              <a:tabLst>
                <a:tab pos="527685" algn="l"/>
                <a:tab pos="528320" algn="l"/>
              </a:tabLst>
            </a:pPr>
            <a:r>
              <a:rPr sz="2800" spc="-10" dirty="0">
                <a:latin typeface="Aptos"/>
                <a:cs typeface="Aptos"/>
              </a:rPr>
              <a:t>Since</a:t>
            </a:r>
            <a:r>
              <a:rPr sz="2800" spc="-155" dirty="0">
                <a:latin typeface="Times New Roman"/>
                <a:cs typeface="Times New Roman"/>
              </a:rPr>
              <a:t> </a:t>
            </a:r>
            <a:r>
              <a:rPr sz="2800" dirty="0">
                <a:latin typeface="Aptos"/>
                <a:cs typeface="Aptos"/>
              </a:rPr>
              <a:t>every</a:t>
            </a:r>
            <a:r>
              <a:rPr sz="2800" spc="-155" dirty="0">
                <a:latin typeface="Times New Roman"/>
                <a:cs typeface="Times New Roman"/>
              </a:rPr>
              <a:t> </a:t>
            </a:r>
            <a:r>
              <a:rPr sz="2800" spc="-10" dirty="0">
                <a:latin typeface="Aptos"/>
                <a:cs typeface="Aptos"/>
              </a:rPr>
              <a:t>computer</a:t>
            </a:r>
            <a:r>
              <a:rPr sz="2800" spc="-125" dirty="0">
                <a:latin typeface="Times New Roman"/>
                <a:cs typeface="Times New Roman"/>
              </a:rPr>
              <a:t> </a:t>
            </a:r>
            <a:r>
              <a:rPr sz="2800" spc="-20" dirty="0">
                <a:latin typeface="Aptos"/>
                <a:cs typeface="Aptos"/>
              </a:rPr>
              <a:t>are</a:t>
            </a:r>
            <a:r>
              <a:rPr sz="2800" spc="-145" dirty="0">
                <a:latin typeface="Times New Roman"/>
                <a:cs typeface="Times New Roman"/>
              </a:rPr>
              <a:t> </a:t>
            </a:r>
            <a:r>
              <a:rPr sz="2800" spc="-20" dirty="0">
                <a:latin typeface="Aptos"/>
                <a:cs typeface="Aptos"/>
              </a:rPr>
              <a:t>connected</a:t>
            </a:r>
            <a:r>
              <a:rPr sz="2800" spc="-120" dirty="0">
                <a:latin typeface="Times New Roman"/>
                <a:cs typeface="Times New Roman"/>
              </a:rPr>
              <a:t> </a:t>
            </a:r>
            <a:r>
              <a:rPr sz="2800" spc="-10" dirty="0">
                <a:latin typeface="Aptos"/>
                <a:cs typeface="Aptos"/>
              </a:rPr>
              <a:t>with</a:t>
            </a:r>
            <a:r>
              <a:rPr sz="2800" spc="-150" dirty="0">
                <a:latin typeface="Times New Roman"/>
                <a:cs typeface="Times New Roman"/>
              </a:rPr>
              <a:t> </a:t>
            </a:r>
            <a:r>
              <a:rPr sz="2800" spc="-10" dirty="0">
                <a:latin typeface="Aptos"/>
                <a:cs typeface="Aptos"/>
              </a:rPr>
              <a:t>the</a:t>
            </a:r>
            <a:r>
              <a:rPr sz="2800" spc="-155" dirty="0">
                <a:latin typeface="Times New Roman"/>
                <a:cs typeface="Times New Roman"/>
              </a:rPr>
              <a:t> </a:t>
            </a:r>
            <a:r>
              <a:rPr sz="2800" spc="-10" dirty="0">
                <a:latin typeface="Aptos"/>
                <a:cs typeface="Aptos"/>
              </a:rPr>
              <a:t>single</a:t>
            </a:r>
            <a:r>
              <a:rPr sz="2800" spc="-150" dirty="0">
                <a:latin typeface="Times New Roman"/>
                <a:cs typeface="Times New Roman"/>
              </a:rPr>
              <a:t> </a:t>
            </a:r>
            <a:r>
              <a:rPr sz="2800" spc="-30" dirty="0">
                <a:latin typeface="Aptos"/>
                <a:cs typeface="Aptos"/>
              </a:rPr>
              <a:t>cable,</a:t>
            </a:r>
            <a:r>
              <a:rPr sz="2800" spc="-140" dirty="0">
                <a:latin typeface="Times New Roman"/>
                <a:cs typeface="Times New Roman"/>
              </a:rPr>
              <a:t> </a:t>
            </a:r>
            <a:r>
              <a:rPr sz="2800" spc="-25" dirty="0">
                <a:latin typeface="Aptos"/>
                <a:cs typeface="Aptos"/>
              </a:rPr>
              <a:t>if</a:t>
            </a:r>
            <a:r>
              <a:rPr sz="2800" spc="-25" dirty="0">
                <a:latin typeface="Times New Roman"/>
                <a:cs typeface="Times New Roman"/>
              </a:rPr>
              <a:t> </a:t>
            </a:r>
            <a:r>
              <a:rPr sz="2800" spc="-20" dirty="0">
                <a:latin typeface="Aptos"/>
                <a:cs typeface="Aptos"/>
              </a:rPr>
              <a:t>that</a:t>
            </a:r>
            <a:r>
              <a:rPr sz="2800" spc="-155" dirty="0">
                <a:latin typeface="Times New Roman"/>
                <a:cs typeface="Times New Roman"/>
              </a:rPr>
              <a:t> </a:t>
            </a:r>
            <a:r>
              <a:rPr sz="2800" spc="-10" dirty="0">
                <a:latin typeface="Aptos"/>
                <a:cs typeface="Aptos"/>
              </a:rPr>
              <a:t>single</a:t>
            </a:r>
            <a:r>
              <a:rPr sz="2800" spc="-145" dirty="0">
                <a:latin typeface="Times New Roman"/>
                <a:cs typeface="Times New Roman"/>
              </a:rPr>
              <a:t> </a:t>
            </a:r>
            <a:r>
              <a:rPr sz="2800" spc="-20" dirty="0">
                <a:latin typeface="Aptos"/>
                <a:cs typeface="Aptos"/>
              </a:rPr>
              <a:t>cable</a:t>
            </a:r>
            <a:r>
              <a:rPr sz="2800" spc="-140" dirty="0">
                <a:latin typeface="Times New Roman"/>
                <a:cs typeface="Times New Roman"/>
              </a:rPr>
              <a:t> </a:t>
            </a:r>
            <a:r>
              <a:rPr sz="2800" spc="-25" dirty="0">
                <a:latin typeface="Aptos"/>
                <a:cs typeface="Aptos"/>
              </a:rPr>
              <a:t>fails</a:t>
            </a:r>
            <a:r>
              <a:rPr sz="2800" spc="-155" dirty="0">
                <a:latin typeface="Times New Roman"/>
                <a:cs typeface="Times New Roman"/>
              </a:rPr>
              <a:t> </a:t>
            </a:r>
            <a:r>
              <a:rPr sz="2800" dirty="0">
                <a:latin typeface="Aptos"/>
                <a:cs typeface="Aptos"/>
              </a:rPr>
              <a:t>to</a:t>
            </a:r>
            <a:r>
              <a:rPr sz="2800" spc="-140" dirty="0">
                <a:latin typeface="Times New Roman"/>
                <a:cs typeface="Times New Roman"/>
              </a:rPr>
              <a:t> </a:t>
            </a:r>
            <a:r>
              <a:rPr sz="2800" spc="-20" dirty="0">
                <a:latin typeface="Aptos"/>
                <a:cs typeface="Aptos"/>
              </a:rPr>
              <a:t>work</a:t>
            </a:r>
            <a:r>
              <a:rPr sz="2800" spc="-145" dirty="0">
                <a:latin typeface="Times New Roman"/>
                <a:cs typeface="Times New Roman"/>
              </a:rPr>
              <a:t> </a:t>
            </a:r>
            <a:r>
              <a:rPr sz="2800" spc="-10" dirty="0">
                <a:latin typeface="Aptos"/>
                <a:cs typeface="Aptos"/>
              </a:rPr>
              <a:t>whole</a:t>
            </a:r>
            <a:r>
              <a:rPr sz="2800" spc="-150" dirty="0">
                <a:latin typeface="Times New Roman"/>
                <a:cs typeface="Times New Roman"/>
              </a:rPr>
              <a:t> </a:t>
            </a:r>
            <a:r>
              <a:rPr sz="2800" spc="-20" dirty="0">
                <a:latin typeface="Aptos"/>
                <a:cs typeface="Aptos"/>
              </a:rPr>
              <a:t>network</a:t>
            </a:r>
            <a:r>
              <a:rPr sz="2800" spc="-130" dirty="0">
                <a:latin typeface="Times New Roman"/>
                <a:cs typeface="Times New Roman"/>
              </a:rPr>
              <a:t> </a:t>
            </a:r>
            <a:r>
              <a:rPr sz="2800" dirty="0">
                <a:latin typeface="Aptos"/>
                <a:cs typeface="Aptos"/>
              </a:rPr>
              <a:t>is</a:t>
            </a:r>
            <a:r>
              <a:rPr sz="2800" spc="-150" dirty="0">
                <a:latin typeface="Times New Roman"/>
                <a:cs typeface="Times New Roman"/>
              </a:rPr>
              <a:t> </a:t>
            </a:r>
            <a:r>
              <a:rPr sz="2800" spc="-10" dirty="0">
                <a:latin typeface="Aptos"/>
                <a:cs typeface="Aptos"/>
              </a:rPr>
              <a:t>affected.</a:t>
            </a:r>
            <a:endParaRPr sz="2800">
              <a:latin typeface="Aptos"/>
              <a:cs typeface="Aptos"/>
            </a:endParaRPr>
          </a:p>
          <a:p>
            <a:pPr marL="527685" marR="5080" indent="-515620">
              <a:lnSpc>
                <a:spcPts val="3020"/>
              </a:lnSpc>
              <a:spcBef>
                <a:spcPts val="1005"/>
              </a:spcBef>
              <a:buAutoNum type="arabicPeriod"/>
              <a:tabLst>
                <a:tab pos="527685" algn="l"/>
                <a:tab pos="528320" algn="l"/>
              </a:tabLst>
            </a:pPr>
            <a:r>
              <a:rPr sz="2800" spc="-10" dirty="0">
                <a:latin typeface="Aptos"/>
                <a:cs typeface="Aptos"/>
              </a:rPr>
              <a:t>Adding</a:t>
            </a:r>
            <a:r>
              <a:rPr sz="2800" spc="-140" dirty="0">
                <a:latin typeface="Times New Roman"/>
                <a:cs typeface="Times New Roman"/>
              </a:rPr>
              <a:t> </a:t>
            </a:r>
            <a:r>
              <a:rPr sz="2800" spc="-10" dirty="0">
                <a:latin typeface="Aptos"/>
                <a:cs typeface="Aptos"/>
              </a:rPr>
              <a:t>computer</a:t>
            </a:r>
            <a:r>
              <a:rPr sz="2800" spc="-135" dirty="0">
                <a:latin typeface="Times New Roman"/>
                <a:cs typeface="Times New Roman"/>
              </a:rPr>
              <a:t> </a:t>
            </a:r>
            <a:r>
              <a:rPr sz="2800" dirty="0">
                <a:latin typeface="Aptos"/>
                <a:cs typeface="Aptos"/>
              </a:rPr>
              <a:t>in</a:t>
            </a:r>
            <a:r>
              <a:rPr sz="2800" spc="-160" dirty="0">
                <a:latin typeface="Times New Roman"/>
                <a:cs typeface="Times New Roman"/>
              </a:rPr>
              <a:t> </a:t>
            </a:r>
            <a:r>
              <a:rPr sz="2800" spc="-10" dirty="0">
                <a:latin typeface="Aptos"/>
                <a:cs typeface="Aptos"/>
              </a:rPr>
              <a:t>this</a:t>
            </a:r>
            <a:r>
              <a:rPr sz="2800" spc="-150" dirty="0">
                <a:latin typeface="Times New Roman"/>
                <a:cs typeface="Times New Roman"/>
              </a:rPr>
              <a:t> </a:t>
            </a:r>
            <a:r>
              <a:rPr sz="2800" spc="-10" dirty="0">
                <a:latin typeface="Aptos"/>
                <a:cs typeface="Aptos"/>
              </a:rPr>
              <a:t>type</a:t>
            </a:r>
            <a:r>
              <a:rPr sz="2800" spc="-160" dirty="0">
                <a:latin typeface="Times New Roman"/>
                <a:cs typeface="Times New Roman"/>
              </a:rPr>
              <a:t> </a:t>
            </a:r>
            <a:r>
              <a:rPr sz="2800" dirty="0">
                <a:latin typeface="Aptos"/>
                <a:cs typeface="Aptos"/>
              </a:rPr>
              <a:t>of</a:t>
            </a:r>
            <a:r>
              <a:rPr sz="2800" spc="-160" dirty="0">
                <a:latin typeface="Times New Roman"/>
                <a:cs typeface="Times New Roman"/>
              </a:rPr>
              <a:t> </a:t>
            </a:r>
            <a:r>
              <a:rPr sz="2800" spc="-20" dirty="0">
                <a:latin typeface="Aptos"/>
                <a:cs typeface="Aptos"/>
              </a:rPr>
              <a:t>network</a:t>
            </a:r>
            <a:r>
              <a:rPr sz="2800" spc="-135" dirty="0">
                <a:latin typeface="Times New Roman"/>
                <a:cs typeface="Times New Roman"/>
              </a:rPr>
              <a:t> </a:t>
            </a:r>
            <a:r>
              <a:rPr sz="2800" dirty="0">
                <a:latin typeface="Aptos"/>
                <a:cs typeface="Aptos"/>
              </a:rPr>
              <a:t>is</a:t>
            </a:r>
            <a:r>
              <a:rPr sz="2800" spc="-160" dirty="0">
                <a:latin typeface="Times New Roman"/>
                <a:cs typeface="Times New Roman"/>
              </a:rPr>
              <a:t> </a:t>
            </a:r>
            <a:r>
              <a:rPr sz="2800" spc="-10" dirty="0">
                <a:latin typeface="Aptos"/>
                <a:cs typeface="Aptos"/>
              </a:rPr>
              <a:t>difficult</a:t>
            </a:r>
            <a:r>
              <a:rPr sz="2800" spc="-155" dirty="0">
                <a:latin typeface="Times New Roman"/>
                <a:cs typeface="Times New Roman"/>
              </a:rPr>
              <a:t> </a:t>
            </a:r>
            <a:r>
              <a:rPr sz="2800" dirty="0">
                <a:latin typeface="Aptos"/>
                <a:cs typeface="Aptos"/>
              </a:rPr>
              <a:t>as</a:t>
            </a:r>
            <a:r>
              <a:rPr sz="2800" spc="-155" dirty="0">
                <a:latin typeface="Times New Roman"/>
                <a:cs typeface="Times New Roman"/>
              </a:rPr>
              <a:t> </a:t>
            </a:r>
            <a:r>
              <a:rPr sz="2800" spc="-10" dirty="0">
                <a:latin typeface="Aptos"/>
                <a:cs typeface="Aptos"/>
              </a:rPr>
              <a:t>we</a:t>
            </a:r>
            <a:r>
              <a:rPr sz="2800" spc="-150" dirty="0">
                <a:latin typeface="Times New Roman"/>
                <a:cs typeface="Times New Roman"/>
              </a:rPr>
              <a:t> </a:t>
            </a:r>
            <a:r>
              <a:rPr sz="2800" spc="-20" dirty="0">
                <a:latin typeface="Aptos"/>
                <a:cs typeface="Aptos"/>
              </a:rPr>
              <a:t>need</a:t>
            </a:r>
            <a:r>
              <a:rPr sz="2800" spc="-150" dirty="0">
                <a:latin typeface="Times New Roman"/>
                <a:cs typeface="Times New Roman"/>
              </a:rPr>
              <a:t> </a:t>
            </a:r>
            <a:r>
              <a:rPr sz="2800" spc="-25" dirty="0">
                <a:latin typeface="Aptos"/>
                <a:cs typeface="Aptos"/>
              </a:rPr>
              <a:t>to</a:t>
            </a:r>
            <a:r>
              <a:rPr sz="2800" spc="-25" dirty="0">
                <a:latin typeface="Times New Roman"/>
                <a:cs typeface="Times New Roman"/>
              </a:rPr>
              <a:t> </a:t>
            </a:r>
            <a:r>
              <a:rPr sz="2800" spc="-20" dirty="0">
                <a:latin typeface="Aptos"/>
                <a:cs typeface="Aptos"/>
              </a:rPr>
              <a:t>rewrite</a:t>
            </a:r>
            <a:r>
              <a:rPr sz="2800" spc="-155" dirty="0">
                <a:latin typeface="Times New Roman"/>
                <a:cs typeface="Times New Roman"/>
              </a:rPr>
              <a:t> </a:t>
            </a:r>
            <a:r>
              <a:rPr sz="2800" spc="-10" dirty="0">
                <a:latin typeface="Aptos"/>
                <a:cs typeface="Aptos"/>
              </a:rPr>
              <a:t>the</a:t>
            </a:r>
            <a:r>
              <a:rPr sz="2800" spc="-140" dirty="0">
                <a:latin typeface="Times New Roman"/>
                <a:cs typeface="Times New Roman"/>
              </a:rPr>
              <a:t> </a:t>
            </a:r>
            <a:r>
              <a:rPr sz="2800" spc="-10" dirty="0">
                <a:latin typeface="Aptos"/>
                <a:cs typeface="Aptos"/>
              </a:rPr>
              <a:t>program.</a:t>
            </a:r>
            <a:endParaRPr sz="2800">
              <a:latin typeface="Aptos"/>
              <a:cs typeface="Apto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393078"/>
            <a:ext cx="9923145" cy="1815464"/>
          </a:xfrm>
          <a:prstGeom prst="rect">
            <a:avLst/>
          </a:prstGeom>
        </p:spPr>
        <p:txBody>
          <a:bodyPr vert="horz" wrap="square" lIns="0" tIns="96520" rIns="0" bIns="0" rtlCol="0">
            <a:spAutoFit/>
          </a:bodyPr>
          <a:lstStyle/>
          <a:p>
            <a:pPr marL="12700">
              <a:lnSpc>
                <a:spcPct val="100000"/>
              </a:lnSpc>
              <a:spcBef>
                <a:spcPts val="760"/>
              </a:spcBef>
            </a:pPr>
            <a:r>
              <a:rPr sz="2800" b="1" dirty="0">
                <a:latin typeface="Aptos"/>
                <a:cs typeface="Aptos"/>
              </a:rPr>
              <a:t>4</a:t>
            </a:r>
            <a:r>
              <a:rPr sz="2800" spc="-135" dirty="0">
                <a:latin typeface="Times New Roman"/>
                <a:cs typeface="Times New Roman"/>
              </a:rPr>
              <a:t> </a:t>
            </a:r>
            <a:r>
              <a:rPr sz="2800" b="1" dirty="0">
                <a:latin typeface="Aptos"/>
                <a:cs typeface="Aptos"/>
              </a:rPr>
              <a:t>)</a:t>
            </a:r>
            <a:r>
              <a:rPr sz="2800" spc="-135" dirty="0">
                <a:latin typeface="Times New Roman"/>
                <a:cs typeface="Times New Roman"/>
              </a:rPr>
              <a:t> </a:t>
            </a:r>
            <a:r>
              <a:rPr sz="2800" b="1" spc="-10" dirty="0">
                <a:latin typeface="Aptos"/>
                <a:cs typeface="Aptos"/>
              </a:rPr>
              <a:t>Mesh</a:t>
            </a:r>
            <a:r>
              <a:rPr sz="2800" spc="-160" dirty="0">
                <a:latin typeface="Times New Roman"/>
                <a:cs typeface="Times New Roman"/>
              </a:rPr>
              <a:t> </a:t>
            </a:r>
            <a:r>
              <a:rPr sz="2800" b="1" spc="-10" dirty="0">
                <a:latin typeface="Aptos"/>
                <a:cs typeface="Aptos"/>
              </a:rPr>
              <a:t>Topology</a:t>
            </a:r>
            <a:endParaRPr sz="2800">
              <a:latin typeface="Aptos"/>
              <a:cs typeface="Aptos"/>
            </a:endParaRPr>
          </a:p>
          <a:p>
            <a:pPr marL="12700" marR="5080">
              <a:lnSpc>
                <a:spcPts val="3020"/>
              </a:lnSpc>
              <a:spcBef>
                <a:spcPts val="1045"/>
              </a:spcBef>
            </a:pPr>
            <a:r>
              <a:rPr sz="2800" dirty="0">
                <a:latin typeface="Aptos"/>
                <a:cs typeface="Aptos"/>
              </a:rPr>
              <a:t>In</a:t>
            </a:r>
            <a:r>
              <a:rPr sz="2800" spc="-150" dirty="0">
                <a:latin typeface="Times New Roman"/>
                <a:cs typeface="Times New Roman"/>
              </a:rPr>
              <a:t> </a:t>
            </a:r>
            <a:r>
              <a:rPr sz="2800" spc="-10" dirty="0">
                <a:latin typeface="Aptos"/>
                <a:cs typeface="Aptos"/>
              </a:rPr>
              <a:t>this</a:t>
            </a:r>
            <a:r>
              <a:rPr sz="2800" spc="-145" dirty="0">
                <a:latin typeface="Times New Roman"/>
                <a:cs typeface="Times New Roman"/>
              </a:rPr>
              <a:t> </a:t>
            </a:r>
            <a:r>
              <a:rPr sz="2800" spc="-35" dirty="0">
                <a:latin typeface="Aptos"/>
                <a:cs typeface="Aptos"/>
              </a:rPr>
              <a:t>topology,</a:t>
            </a:r>
            <a:r>
              <a:rPr sz="2800" spc="-125" dirty="0">
                <a:latin typeface="Times New Roman"/>
                <a:cs typeface="Times New Roman"/>
              </a:rPr>
              <a:t> </a:t>
            </a:r>
            <a:r>
              <a:rPr sz="2800" dirty="0">
                <a:latin typeface="Aptos"/>
                <a:cs typeface="Aptos"/>
              </a:rPr>
              <a:t>all</a:t>
            </a:r>
            <a:r>
              <a:rPr sz="2800" spc="-135" dirty="0">
                <a:latin typeface="Times New Roman"/>
                <a:cs typeface="Times New Roman"/>
              </a:rPr>
              <a:t> </a:t>
            </a:r>
            <a:r>
              <a:rPr sz="2800" spc="-10" dirty="0">
                <a:latin typeface="Aptos"/>
                <a:cs typeface="Aptos"/>
              </a:rPr>
              <a:t>the</a:t>
            </a:r>
            <a:r>
              <a:rPr sz="2800" spc="-140" dirty="0">
                <a:latin typeface="Times New Roman"/>
                <a:cs typeface="Times New Roman"/>
              </a:rPr>
              <a:t> </a:t>
            </a:r>
            <a:r>
              <a:rPr sz="2800" spc="-20" dirty="0">
                <a:latin typeface="Aptos"/>
                <a:cs typeface="Aptos"/>
              </a:rPr>
              <a:t>computers</a:t>
            </a:r>
            <a:r>
              <a:rPr sz="2800" spc="-135" dirty="0">
                <a:latin typeface="Times New Roman"/>
                <a:cs typeface="Times New Roman"/>
              </a:rPr>
              <a:t> </a:t>
            </a:r>
            <a:r>
              <a:rPr sz="2800" spc="-20" dirty="0">
                <a:latin typeface="Aptos"/>
                <a:cs typeface="Aptos"/>
              </a:rPr>
              <a:t>are</a:t>
            </a:r>
            <a:r>
              <a:rPr sz="2800" spc="-135" dirty="0">
                <a:latin typeface="Times New Roman"/>
                <a:cs typeface="Times New Roman"/>
              </a:rPr>
              <a:t> </a:t>
            </a:r>
            <a:r>
              <a:rPr sz="2800" spc="-20" dirty="0">
                <a:latin typeface="Aptos"/>
                <a:cs typeface="Aptos"/>
              </a:rPr>
              <a:t>connected</a:t>
            </a:r>
            <a:r>
              <a:rPr sz="2800" spc="-114" dirty="0">
                <a:latin typeface="Times New Roman"/>
                <a:cs typeface="Times New Roman"/>
              </a:rPr>
              <a:t> </a:t>
            </a:r>
            <a:r>
              <a:rPr sz="2800" spc="-10" dirty="0">
                <a:latin typeface="Aptos"/>
                <a:cs typeface="Aptos"/>
              </a:rPr>
              <a:t>with</a:t>
            </a:r>
            <a:r>
              <a:rPr sz="2800" spc="-150" dirty="0">
                <a:latin typeface="Times New Roman"/>
                <a:cs typeface="Times New Roman"/>
              </a:rPr>
              <a:t> </a:t>
            </a:r>
            <a:r>
              <a:rPr sz="2800" spc="-10" dirty="0">
                <a:latin typeface="Aptos"/>
                <a:cs typeface="Aptos"/>
              </a:rPr>
              <a:t>each</a:t>
            </a:r>
            <a:r>
              <a:rPr sz="2800" spc="-140" dirty="0">
                <a:latin typeface="Times New Roman"/>
                <a:cs typeface="Times New Roman"/>
              </a:rPr>
              <a:t> </a:t>
            </a:r>
            <a:r>
              <a:rPr sz="2800" spc="-10" dirty="0">
                <a:latin typeface="Aptos"/>
                <a:cs typeface="Aptos"/>
              </a:rPr>
              <a:t>other</a:t>
            </a:r>
            <a:r>
              <a:rPr sz="2800" spc="-10" dirty="0">
                <a:latin typeface="Times New Roman"/>
                <a:cs typeface="Times New Roman"/>
              </a:rPr>
              <a:t> </a:t>
            </a:r>
            <a:r>
              <a:rPr sz="2800" spc="-10" dirty="0">
                <a:latin typeface="Aptos"/>
                <a:cs typeface="Aptos"/>
              </a:rPr>
              <a:t>via</a:t>
            </a:r>
            <a:r>
              <a:rPr sz="2800" spc="-155" dirty="0">
                <a:latin typeface="Times New Roman"/>
                <a:cs typeface="Times New Roman"/>
              </a:rPr>
              <a:t> </a:t>
            </a:r>
            <a:r>
              <a:rPr sz="2800" spc="-20" dirty="0">
                <a:latin typeface="Aptos"/>
                <a:cs typeface="Aptos"/>
              </a:rPr>
              <a:t>multiple</a:t>
            </a:r>
            <a:r>
              <a:rPr sz="2800" spc="-145" dirty="0">
                <a:latin typeface="Times New Roman"/>
                <a:cs typeface="Times New Roman"/>
              </a:rPr>
              <a:t> </a:t>
            </a:r>
            <a:r>
              <a:rPr sz="2800" spc="-10" dirty="0">
                <a:latin typeface="Aptos"/>
                <a:cs typeface="Aptos"/>
              </a:rPr>
              <a:t>channels</a:t>
            </a:r>
            <a:r>
              <a:rPr sz="2800" spc="-120" dirty="0">
                <a:latin typeface="Times New Roman"/>
                <a:cs typeface="Times New Roman"/>
              </a:rPr>
              <a:t> </a:t>
            </a:r>
            <a:r>
              <a:rPr sz="2800" spc="-50" dirty="0">
                <a:latin typeface="Aptos"/>
                <a:cs typeface="Aptos"/>
              </a:rPr>
              <a:t>i.e.</a:t>
            </a:r>
            <a:r>
              <a:rPr sz="2800" spc="-145" dirty="0">
                <a:latin typeface="Times New Roman"/>
                <a:cs typeface="Times New Roman"/>
              </a:rPr>
              <a:t> </a:t>
            </a:r>
            <a:r>
              <a:rPr sz="2800" dirty="0">
                <a:latin typeface="Aptos"/>
                <a:cs typeface="Aptos"/>
              </a:rPr>
              <a:t>all</a:t>
            </a:r>
            <a:r>
              <a:rPr sz="2800" spc="-130" dirty="0">
                <a:latin typeface="Times New Roman"/>
                <a:cs typeface="Times New Roman"/>
              </a:rPr>
              <a:t> </a:t>
            </a:r>
            <a:r>
              <a:rPr sz="2800" spc="-10" dirty="0">
                <a:latin typeface="Aptos"/>
                <a:cs typeface="Aptos"/>
              </a:rPr>
              <a:t>the</a:t>
            </a:r>
            <a:r>
              <a:rPr sz="2800" spc="-135" dirty="0">
                <a:latin typeface="Times New Roman"/>
                <a:cs typeface="Times New Roman"/>
              </a:rPr>
              <a:t> </a:t>
            </a:r>
            <a:r>
              <a:rPr sz="2800" spc="-20" dirty="0">
                <a:latin typeface="Aptos"/>
                <a:cs typeface="Aptos"/>
              </a:rPr>
              <a:t>computers</a:t>
            </a:r>
            <a:r>
              <a:rPr sz="2800" spc="-130" dirty="0">
                <a:latin typeface="Times New Roman"/>
                <a:cs typeface="Times New Roman"/>
              </a:rPr>
              <a:t> </a:t>
            </a:r>
            <a:r>
              <a:rPr sz="2800" dirty="0">
                <a:latin typeface="Aptos"/>
                <a:cs typeface="Aptos"/>
              </a:rPr>
              <a:t>a</a:t>
            </a:r>
            <a:r>
              <a:rPr sz="2800" spc="-140" dirty="0">
                <a:latin typeface="Times New Roman"/>
                <a:cs typeface="Times New Roman"/>
              </a:rPr>
              <a:t> </a:t>
            </a:r>
            <a:r>
              <a:rPr sz="2800" dirty="0">
                <a:latin typeface="Aptos"/>
                <a:cs typeface="Aptos"/>
              </a:rPr>
              <a:t>r</a:t>
            </a:r>
            <a:r>
              <a:rPr sz="2800" spc="-135" dirty="0">
                <a:latin typeface="Times New Roman"/>
                <a:cs typeface="Times New Roman"/>
              </a:rPr>
              <a:t> </a:t>
            </a:r>
            <a:r>
              <a:rPr sz="2800" dirty="0">
                <a:latin typeface="Aptos"/>
                <a:cs typeface="Aptos"/>
              </a:rPr>
              <a:t>e</a:t>
            </a:r>
            <a:r>
              <a:rPr sz="2800" spc="-135" dirty="0">
                <a:latin typeface="Times New Roman"/>
                <a:cs typeface="Times New Roman"/>
              </a:rPr>
              <a:t> </a:t>
            </a:r>
            <a:r>
              <a:rPr sz="2800" spc="-20" dirty="0">
                <a:latin typeface="Aptos"/>
                <a:cs typeface="Aptos"/>
              </a:rPr>
              <a:t>connected</a:t>
            </a:r>
            <a:r>
              <a:rPr sz="2800" spc="-110" dirty="0">
                <a:latin typeface="Times New Roman"/>
                <a:cs typeface="Times New Roman"/>
              </a:rPr>
              <a:t> </a:t>
            </a:r>
            <a:r>
              <a:rPr sz="2800" spc="-20" dirty="0">
                <a:latin typeface="Aptos"/>
                <a:cs typeface="Aptos"/>
              </a:rPr>
              <a:t>with</a:t>
            </a:r>
            <a:r>
              <a:rPr sz="2800" spc="-20" dirty="0">
                <a:latin typeface="Times New Roman"/>
                <a:cs typeface="Times New Roman"/>
              </a:rPr>
              <a:t> </a:t>
            </a:r>
            <a:r>
              <a:rPr sz="2800" spc="-20" dirty="0">
                <a:latin typeface="Aptos"/>
                <a:cs typeface="Aptos"/>
              </a:rPr>
              <a:t>direct</a:t>
            </a:r>
            <a:r>
              <a:rPr sz="2800" spc="-95" dirty="0">
                <a:latin typeface="Times New Roman"/>
                <a:cs typeface="Times New Roman"/>
              </a:rPr>
              <a:t> </a:t>
            </a:r>
            <a:r>
              <a:rPr sz="2800" spc="-25" dirty="0">
                <a:latin typeface="Aptos"/>
                <a:cs typeface="Aptos"/>
              </a:rPr>
              <a:t>communication</a:t>
            </a:r>
            <a:r>
              <a:rPr sz="2800" spc="-75" dirty="0">
                <a:latin typeface="Times New Roman"/>
                <a:cs typeface="Times New Roman"/>
              </a:rPr>
              <a:t> </a:t>
            </a:r>
            <a:r>
              <a:rPr sz="2800" spc="-10" dirty="0">
                <a:latin typeface="Aptos"/>
                <a:cs typeface="Aptos"/>
              </a:rPr>
              <a:t>link.</a:t>
            </a:r>
            <a:endParaRPr sz="2800">
              <a:latin typeface="Aptos"/>
              <a:cs typeface="Aptos"/>
            </a:endParaRPr>
          </a:p>
        </p:txBody>
      </p:sp>
      <p:pic>
        <p:nvPicPr>
          <p:cNvPr id="3" name="object 3"/>
          <p:cNvPicPr/>
          <p:nvPr/>
        </p:nvPicPr>
        <p:blipFill>
          <a:blip r:embed="rId2" cstate="print"/>
          <a:stretch>
            <a:fillRect/>
          </a:stretch>
        </p:blipFill>
        <p:spPr>
          <a:xfrm>
            <a:off x="2575430" y="2568069"/>
            <a:ext cx="6325232" cy="299453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8" y="208669"/>
            <a:ext cx="9417050" cy="4371340"/>
          </a:xfrm>
          <a:prstGeom prst="rect">
            <a:avLst/>
          </a:prstGeom>
        </p:spPr>
        <p:txBody>
          <a:bodyPr vert="horz" wrap="square" lIns="0" tIns="95885" rIns="0" bIns="0" rtlCol="0">
            <a:spAutoFit/>
          </a:bodyPr>
          <a:lstStyle/>
          <a:p>
            <a:pPr marL="329565" indent="-317500">
              <a:lnSpc>
                <a:spcPct val="100000"/>
              </a:lnSpc>
              <a:spcBef>
                <a:spcPts val="755"/>
              </a:spcBef>
              <a:buSzPct val="96428"/>
              <a:buFont typeface="Wingdings"/>
              <a:buChar char=""/>
              <a:tabLst>
                <a:tab pos="330200" algn="l"/>
              </a:tabLst>
            </a:pPr>
            <a:r>
              <a:rPr sz="2800" b="1" spc="-10" dirty="0">
                <a:latin typeface="Aptos"/>
                <a:cs typeface="Aptos"/>
              </a:rPr>
              <a:t>Advantages</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spc="-20" dirty="0">
                <a:latin typeface="Aptos"/>
                <a:cs typeface="Aptos"/>
              </a:rPr>
              <a:t>Data</a:t>
            </a:r>
            <a:r>
              <a:rPr sz="2800" spc="-145" dirty="0">
                <a:latin typeface="Times New Roman"/>
                <a:cs typeface="Times New Roman"/>
              </a:rPr>
              <a:t> </a:t>
            </a:r>
            <a:r>
              <a:rPr sz="2800" spc="-25" dirty="0">
                <a:latin typeface="Aptos"/>
                <a:cs typeface="Aptos"/>
              </a:rPr>
              <a:t>transmission</a:t>
            </a:r>
            <a:r>
              <a:rPr sz="2800" spc="-135" dirty="0">
                <a:latin typeface="Times New Roman"/>
                <a:cs typeface="Times New Roman"/>
              </a:rPr>
              <a:t> </a:t>
            </a:r>
            <a:r>
              <a:rPr sz="2800" dirty="0">
                <a:latin typeface="Aptos"/>
                <a:cs typeface="Aptos"/>
              </a:rPr>
              <a:t>is</a:t>
            </a:r>
            <a:r>
              <a:rPr sz="2800" spc="-150" dirty="0">
                <a:latin typeface="Times New Roman"/>
                <a:cs typeface="Times New Roman"/>
              </a:rPr>
              <a:t> </a:t>
            </a:r>
            <a:r>
              <a:rPr sz="2800" spc="-30" dirty="0">
                <a:latin typeface="Aptos"/>
                <a:cs typeface="Aptos"/>
              </a:rPr>
              <a:t>faster</a:t>
            </a:r>
            <a:r>
              <a:rPr sz="2800" spc="-140" dirty="0">
                <a:latin typeface="Times New Roman"/>
                <a:cs typeface="Times New Roman"/>
              </a:rPr>
              <a:t> </a:t>
            </a:r>
            <a:r>
              <a:rPr sz="2800" dirty="0">
                <a:latin typeface="Aptos"/>
                <a:cs typeface="Aptos"/>
              </a:rPr>
              <a:t>in</a:t>
            </a:r>
            <a:r>
              <a:rPr sz="2800" spc="-155" dirty="0">
                <a:latin typeface="Times New Roman"/>
                <a:cs typeface="Times New Roman"/>
              </a:rPr>
              <a:t> </a:t>
            </a:r>
            <a:r>
              <a:rPr sz="2800" spc="-10" dirty="0">
                <a:latin typeface="Aptos"/>
                <a:cs typeface="Aptos"/>
              </a:rPr>
              <a:t>this</a:t>
            </a:r>
            <a:r>
              <a:rPr sz="2800" spc="-150" dirty="0">
                <a:latin typeface="Times New Roman"/>
                <a:cs typeface="Times New Roman"/>
              </a:rPr>
              <a:t> </a:t>
            </a:r>
            <a:r>
              <a:rPr sz="2800" spc="-10" dirty="0">
                <a:latin typeface="Aptos"/>
                <a:cs typeface="Aptos"/>
              </a:rPr>
              <a:t>type</a:t>
            </a:r>
            <a:r>
              <a:rPr sz="2800" spc="-155" dirty="0">
                <a:latin typeface="Times New Roman"/>
                <a:cs typeface="Times New Roman"/>
              </a:rPr>
              <a:t> </a:t>
            </a:r>
            <a:r>
              <a:rPr sz="2800" dirty="0">
                <a:latin typeface="Aptos"/>
                <a:cs typeface="Aptos"/>
              </a:rPr>
              <a:t>of</a:t>
            </a:r>
            <a:r>
              <a:rPr sz="2800" spc="-140" dirty="0">
                <a:latin typeface="Times New Roman"/>
                <a:cs typeface="Times New Roman"/>
              </a:rPr>
              <a:t> </a:t>
            </a:r>
            <a:r>
              <a:rPr sz="2800" spc="-10" dirty="0">
                <a:latin typeface="Aptos"/>
                <a:cs typeface="Aptos"/>
              </a:rPr>
              <a:t>topology.</a:t>
            </a:r>
            <a:endParaRPr sz="2800">
              <a:latin typeface="Aptos"/>
              <a:cs typeface="Aptos"/>
            </a:endParaRPr>
          </a:p>
          <a:p>
            <a:pPr marL="527685" marR="5080" indent="-515620">
              <a:lnSpc>
                <a:spcPts val="3020"/>
              </a:lnSpc>
              <a:spcBef>
                <a:spcPts val="1060"/>
              </a:spcBef>
              <a:buAutoNum type="arabicPeriod"/>
              <a:tabLst>
                <a:tab pos="527685" algn="l"/>
                <a:tab pos="528320" algn="l"/>
              </a:tabLst>
            </a:pPr>
            <a:r>
              <a:rPr sz="2800" spc="-10" dirty="0">
                <a:latin typeface="Aptos"/>
                <a:cs typeface="Aptos"/>
              </a:rPr>
              <a:t>Since</a:t>
            </a:r>
            <a:r>
              <a:rPr sz="2800" spc="-155" dirty="0">
                <a:latin typeface="Times New Roman"/>
                <a:cs typeface="Times New Roman"/>
              </a:rPr>
              <a:t> </a:t>
            </a:r>
            <a:r>
              <a:rPr sz="2800" spc="-10" dirty="0">
                <a:latin typeface="Aptos"/>
                <a:cs typeface="Aptos"/>
              </a:rPr>
              <a:t>devices</a:t>
            </a:r>
            <a:r>
              <a:rPr sz="2800" spc="-130" dirty="0">
                <a:latin typeface="Times New Roman"/>
                <a:cs typeface="Times New Roman"/>
              </a:rPr>
              <a:t> </a:t>
            </a:r>
            <a:r>
              <a:rPr sz="2800" spc="-20" dirty="0">
                <a:latin typeface="Aptos"/>
                <a:cs typeface="Aptos"/>
              </a:rPr>
              <a:t>are</a:t>
            </a:r>
            <a:r>
              <a:rPr sz="2800" spc="-135" dirty="0">
                <a:latin typeface="Times New Roman"/>
                <a:cs typeface="Times New Roman"/>
              </a:rPr>
              <a:t> </a:t>
            </a:r>
            <a:r>
              <a:rPr sz="2800" spc="-20" dirty="0">
                <a:latin typeface="Aptos"/>
                <a:cs typeface="Aptos"/>
              </a:rPr>
              <a:t>connected</a:t>
            </a:r>
            <a:r>
              <a:rPr sz="2800" spc="-114" dirty="0">
                <a:latin typeface="Times New Roman"/>
                <a:cs typeface="Times New Roman"/>
              </a:rPr>
              <a:t> </a:t>
            </a:r>
            <a:r>
              <a:rPr sz="2800" spc="-10" dirty="0">
                <a:latin typeface="Aptos"/>
                <a:cs typeface="Aptos"/>
              </a:rPr>
              <a:t>point</a:t>
            </a:r>
            <a:r>
              <a:rPr sz="2800" spc="-145" dirty="0">
                <a:latin typeface="Times New Roman"/>
                <a:cs typeface="Times New Roman"/>
              </a:rPr>
              <a:t> </a:t>
            </a:r>
            <a:r>
              <a:rPr sz="2800" dirty="0">
                <a:latin typeface="Aptos"/>
                <a:cs typeface="Aptos"/>
              </a:rPr>
              <a:t>to</a:t>
            </a:r>
            <a:r>
              <a:rPr sz="2800" spc="-135" dirty="0">
                <a:latin typeface="Times New Roman"/>
                <a:cs typeface="Times New Roman"/>
              </a:rPr>
              <a:t> </a:t>
            </a:r>
            <a:r>
              <a:rPr sz="2800" spc="-20" dirty="0">
                <a:latin typeface="Aptos"/>
                <a:cs typeface="Aptos"/>
              </a:rPr>
              <a:t>point</a:t>
            </a:r>
            <a:r>
              <a:rPr sz="2800" spc="-155" dirty="0">
                <a:latin typeface="Times New Roman"/>
                <a:cs typeface="Times New Roman"/>
              </a:rPr>
              <a:t> </a:t>
            </a:r>
            <a:r>
              <a:rPr sz="2800" dirty="0">
                <a:latin typeface="Aptos"/>
                <a:cs typeface="Aptos"/>
              </a:rPr>
              <a:t>,</a:t>
            </a:r>
            <a:r>
              <a:rPr sz="2800" spc="-130" dirty="0">
                <a:latin typeface="Times New Roman"/>
                <a:cs typeface="Times New Roman"/>
              </a:rPr>
              <a:t> </a:t>
            </a:r>
            <a:r>
              <a:rPr sz="2800" dirty="0">
                <a:latin typeface="Aptos"/>
                <a:cs typeface="Aptos"/>
              </a:rPr>
              <a:t>it</a:t>
            </a:r>
            <a:r>
              <a:rPr sz="2800" spc="-150" dirty="0">
                <a:latin typeface="Times New Roman"/>
                <a:cs typeface="Times New Roman"/>
              </a:rPr>
              <a:t> </a:t>
            </a:r>
            <a:r>
              <a:rPr sz="2800" dirty="0">
                <a:latin typeface="Aptos"/>
                <a:cs typeface="Aptos"/>
              </a:rPr>
              <a:t>is</a:t>
            </a:r>
            <a:r>
              <a:rPr sz="2800" spc="-145" dirty="0">
                <a:latin typeface="Times New Roman"/>
                <a:cs typeface="Times New Roman"/>
              </a:rPr>
              <a:t> </a:t>
            </a:r>
            <a:r>
              <a:rPr sz="2800" spc="-10" dirty="0">
                <a:latin typeface="Aptos"/>
                <a:cs typeface="Aptos"/>
              </a:rPr>
              <a:t>one</a:t>
            </a:r>
            <a:r>
              <a:rPr sz="2800" spc="-145" dirty="0">
                <a:latin typeface="Times New Roman"/>
                <a:cs typeface="Times New Roman"/>
              </a:rPr>
              <a:t> </a:t>
            </a:r>
            <a:r>
              <a:rPr sz="2800" dirty="0">
                <a:latin typeface="Aptos"/>
                <a:cs typeface="Aptos"/>
              </a:rPr>
              <a:t>of</a:t>
            </a:r>
            <a:r>
              <a:rPr sz="2800" spc="-150" dirty="0">
                <a:latin typeface="Times New Roman"/>
                <a:cs typeface="Times New Roman"/>
              </a:rPr>
              <a:t> </a:t>
            </a:r>
            <a:r>
              <a:rPr sz="2800" spc="-25" dirty="0">
                <a:latin typeface="Aptos"/>
                <a:cs typeface="Aptos"/>
              </a:rPr>
              <a:t>the</a:t>
            </a:r>
            <a:r>
              <a:rPr sz="2800" spc="-25" dirty="0">
                <a:latin typeface="Times New Roman"/>
                <a:cs typeface="Times New Roman"/>
              </a:rPr>
              <a:t> </a:t>
            </a:r>
            <a:r>
              <a:rPr sz="2800" spc="-20" dirty="0">
                <a:latin typeface="Aptos"/>
                <a:cs typeface="Aptos"/>
              </a:rPr>
              <a:t>reliable</a:t>
            </a:r>
            <a:r>
              <a:rPr sz="2800" spc="-135" dirty="0">
                <a:latin typeface="Times New Roman"/>
                <a:cs typeface="Times New Roman"/>
              </a:rPr>
              <a:t> </a:t>
            </a:r>
            <a:r>
              <a:rPr sz="2800" spc="-20" dirty="0">
                <a:latin typeface="Aptos"/>
                <a:cs typeface="Aptos"/>
              </a:rPr>
              <a:t>network</a:t>
            </a:r>
            <a:r>
              <a:rPr sz="2800" spc="-114" dirty="0">
                <a:latin typeface="Times New Roman"/>
                <a:cs typeface="Times New Roman"/>
              </a:rPr>
              <a:t> </a:t>
            </a:r>
            <a:r>
              <a:rPr sz="2800" spc="-10" dirty="0">
                <a:latin typeface="Aptos"/>
                <a:cs typeface="Aptos"/>
              </a:rPr>
              <a:t>topology.</a:t>
            </a:r>
            <a:endParaRPr sz="2800">
              <a:latin typeface="Aptos"/>
              <a:cs typeface="Aptos"/>
            </a:endParaRPr>
          </a:p>
          <a:p>
            <a:pPr marL="527685" indent="-515620">
              <a:lnSpc>
                <a:spcPct val="100000"/>
              </a:lnSpc>
              <a:spcBef>
                <a:spcPts val="620"/>
              </a:spcBef>
              <a:buAutoNum type="arabicPeriod"/>
              <a:tabLst>
                <a:tab pos="527685" algn="l"/>
                <a:tab pos="528320" algn="l"/>
              </a:tabLst>
            </a:pPr>
            <a:r>
              <a:rPr sz="2800" spc="-20" dirty="0">
                <a:latin typeface="Aptos"/>
                <a:cs typeface="Aptos"/>
              </a:rPr>
              <a:t>Identifying</a:t>
            </a:r>
            <a:r>
              <a:rPr sz="2800" spc="-150" dirty="0">
                <a:latin typeface="Times New Roman"/>
                <a:cs typeface="Times New Roman"/>
              </a:rPr>
              <a:t> </a:t>
            </a:r>
            <a:r>
              <a:rPr sz="2800" spc="-25" dirty="0">
                <a:latin typeface="Aptos"/>
                <a:cs typeface="Aptos"/>
              </a:rPr>
              <a:t>faults</a:t>
            </a:r>
            <a:r>
              <a:rPr sz="2800" spc="-120" dirty="0">
                <a:latin typeface="Times New Roman"/>
                <a:cs typeface="Times New Roman"/>
              </a:rPr>
              <a:t> </a:t>
            </a:r>
            <a:r>
              <a:rPr sz="2800" spc="-10" dirty="0">
                <a:latin typeface="Aptos"/>
                <a:cs typeface="Aptos"/>
              </a:rPr>
              <a:t>and</a:t>
            </a:r>
            <a:r>
              <a:rPr sz="2800" spc="-110" dirty="0">
                <a:latin typeface="Times New Roman"/>
                <a:cs typeface="Times New Roman"/>
              </a:rPr>
              <a:t> </a:t>
            </a:r>
            <a:r>
              <a:rPr sz="2800" spc="-20" dirty="0">
                <a:latin typeface="Aptos"/>
                <a:cs typeface="Aptos"/>
              </a:rPr>
              <a:t>isolating</a:t>
            </a:r>
            <a:r>
              <a:rPr sz="2800" spc="-130" dirty="0">
                <a:latin typeface="Times New Roman"/>
                <a:cs typeface="Times New Roman"/>
              </a:rPr>
              <a:t> </a:t>
            </a:r>
            <a:r>
              <a:rPr sz="2800" spc="-20" dirty="0">
                <a:latin typeface="Aptos"/>
                <a:cs typeface="Aptos"/>
              </a:rPr>
              <a:t>them</a:t>
            </a:r>
            <a:r>
              <a:rPr sz="2800" spc="-114" dirty="0">
                <a:latin typeface="Times New Roman"/>
                <a:cs typeface="Times New Roman"/>
              </a:rPr>
              <a:t> </a:t>
            </a:r>
            <a:r>
              <a:rPr sz="2800" dirty="0">
                <a:latin typeface="Aptos"/>
                <a:cs typeface="Aptos"/>
              </a:rPr>
              <a:t>is</a:t>
            </a:r>
            <a:r>
              <a:rPr sz="2800" spc="-120" dirty="0">
                <a:latin typeface="Times New Roman"/>
                <a:cs typeface="Times New Roman"/>
              </a:rPr>
              <a:t> </a:t>
            </a:r>
            <a:r>
              <a:rPr sz="2800" spc="-10" dirty="0">
                <a:latin typeface="Aptos"/>
                <a:cs typeface="Aptos"/>
              </a:rPr>
              <a:t>easier.</a:t>
            </a:r>
            <a:endParaRPr sz="2800">
              <a:latin typeface="Aptos"/>
              <a:cs typeface="Aptos"/>
            </a:endParaRPr>
          </a:p>
          <a:p>
            <a:pPr marL="329565" indent="-317500">
              <a:lnSpc>
                <a:spcPct val="100000"/>
              </a:lnSpc>
              <a:spcBef>
                <a:spcPts val="660"/>
              </a:spcBef>
              <a:buSzPct val="96428"/>
              <a:buFont typeface="Wingdings"/>
              <a:buChar char=""/>
              <a:tabLst>
                <a:tab pos="330200" algn="l"/>
              </a:tabLst>
            </a:pPr>
            <a:r>
              <a:rPr sz="2800" b="1" spc="-10" dirty="0">
                <a:latin typeface="Aptos"/>
                <a:cs typeface="Aptos"/>
              </a:rPr>
              <a:t>Disadvantages</a:t>
            </a:r>
            <a:endParaRPr sz="2800">
              <a:latin typeface="Aptos"/>
              <a:cs typeface="Aptos"/>
            </a:endParaRPr>
          </a:p>
          <a:p>
            <a:pPr marL="527685" indent="-515620">
              <a:lnSpc>
                <a:spcPct val="100000"/>
              </a:lnSpc>
              <a:spcBef>
                <a:spcPts val="675"/>
              </a:spcBef>
              <a:buAutoNum type="arabicPeriod"/>
              <a:tabLst>
                <a:tab pos="527685" algn="l"/>
                <a:tab pos="528320" algn="l"/>
              </a:tabLst>
            </a:pPr>
            <a:r>
              <a:rPr sz="2800" dirty="0">
                <a:latin typeface="Aptos"/>
                <a:cs typeface="Aptos"/>
              </a:rPr>
              <a:t>It</a:t>
            </a:r>
            <a:r>
              <a:rPr sz="2800" spc="-150" dirty="0">
                <a:latin typeface="Times New Roman"/>
                <a:cs typeface="Times New Roman"/>
              </a:rPr>
              <a:t> </a:t>
            </a:r>
            <a:r>
              <a:rPr sz="2800" dirty="0">
                <a:latin typeface="Aptos"/>
                <a:cs typeface="Aptos"/>
              </a:rPr>
              <a:t>is</a:t>
            </a:r>
            <a:r>
              <a:rPr sz="2800" spc="-150" dirty="0">
                <a:latin typeface="Times New Roman"/>
                <a:cs typeface="Times New Roman"/>
              </a:rPr>
              <a:t> </a:t>
            </a:r>
            <a:r>
              <a:rPr sz="2800" spc="-25" dirty="0">
                <a:latin typeface="Aptos"/>
                <a:cs typeface="Aptos"/>
              </a:rPr>
              <a:t>expensive</a:t>
            </a:r>
            <a:r>
              <a:rPr sz="2800" spc="-140" dirty="0">
                <a:latin typeface="Times New Roman"/>
                <a:cs typeface="Times New Roman"/>
              </a:rPr>
              <a:t> </a:t>
            </a:r>
            <a:r>
              <a:rPr sz="2800" dirty="0">
                <a:latin typeface="Aptos"/>
                <a:cs typeface="Aptos"/>
              </a:rPr>
              <a:t>as</a:t>
            </a:r>
            <a:r>
              <a:rPr sz="2800" spc="-140" dirty="0">
                <a:latin typeface="Times New Roman"/>
                <a:cs typeface="Times New Roman"/>
              </a:rPr>
              <a:t> </a:t>
            </a:r>
            <a:r>
              <a:rPr sz="2800" dirty="0">
                <a:latin typeface="Aptos"/>
                <a:cs typeface="Aptos"/>
              </a:rPr>
              <a:t>it</a:t>
            </a:r>
            <a:r>
              <a:rPr sz="2800" spc="-150" dirty="0">
                <a:latin typeface="Times New Roman"/>
                <a:cs typeface="Times New Roman"/>
              </a:rPr>
              <a:t> </a:t>
            </a:r>
            <a:r>
              <a:rPr sz="2800" spc="-10" dirty="0">
                <a:latin typeface="Aptos"/>
                <a:cs typeface="Aptos"/>
              </a:rPr>
              <a:t>use</a:t>
            </a:r>
            <a:r>
              <a:rPr sz="2800" spc="-140" dirty="0">
                <a:latin typeface="Times New Roman"/>
                <a:cs typeface="Times New Roman"/>
              </a:rPr>
              <a:t> </a:t>
            </a:r>
            <a:r>
              <a:rPr sz="2800" spc="-20" dirty="0">
                <a:latin typeface="Aptos"/>
                <a:cs typeface="Aptos"/>
              </a:rPr>
              <a:t>maximum</a:t>
            </a:r>
            <a:r>
              <a:rPr sz="2800" spc="-140" dirty="0">
                <a:latin typeface="Times New Roman"/>
                <a:cs typeface="Times New Roman"/>
              </a:rPr>
              <a:t> </a:t>
            </a:r>
            <a:r>
              <a:rPr sz="2800" spc="-20" dirty="0">
                <a:latin typeface="Aptos"/>
                <a:cs typeface="Aptos"/>
              </a:rPr>
              <a:t>number</a:t>
            </a:r>
            <a:r>
              <a:rPr sz="2800" spc="-145" dirty="0">
                <a:latin typeface="Times New Roman"/>
                <a:cs typeface="Times New Roman"/>
              </a:rPr>
              <a:t> </a:t>
            </a:r>
            <a:r>
              <a:rPr sz="2800" dirty="0">
                <a:latin typeface="Aptos"/>
                <a:cs typeface="Aptos"/>
              </a:rPr>
              <a:t>of</a:t>
            </a:r>
            <a:r>
              <a:rPr sz="2800" spc="-140" dirty="0">
                <a:latin typeface="Times New Roman"/>
                <a:cs typeface="Times New Roman"/>
              </a:rPr>
              <a:t> </a:t>
            </a:r>
            <a:r>
              <a:rPr sz="2800" spc="-10" dirty="0">
                <a:latin typeface="Aptos"/>
                <a:cs typeface="Aptos"/>
              </a:rPr>
              <a:t>cables.</a:t>
            </a:r>
            <a:endParaRPr sz="2800">
              <a:latin typeface="Aptos"/>
              <a:cs typeface="Aptos"/>
            </a:endParaRPr>
          </a:p>
          <a:p>
            <a:pPr marL="527685" marR="452755" indent="-515620">
              <a:lnSpc>
                <a:spcPts val="3020"/>
              </a:lnSpc>
              <a:spcBef>
                <a:spcPts val="1045"/>
              </a:spcBef>
              <a:buAutoNum type="arabicPeriod"/>
              <a:tabLst>
                <a:tab pos="527685" algn="l"/>
                <a:tab pos="528320" algn="l"/>
              </a:tabLst>
            </a:pPr>
            <a:r>
              <a:rPr sz="2800" spc="-10" dirty="0">
                <a:latin typeface="Aptos"/>
                <a:cs typeface="Aptos"/>
              </a:rPr>
              <a:t>This</a:t>
            </a:r>
            <a:r>
              <a:rPr sz="2800" spc="-150" dirty="0">
                <a:latin typeface="Times New Roman"/>
                <a:cs typeface="Times New Roman"/>
              </a:rPr>
              <a:t> </a:t>
            </a:r>
            <a:r>
              <a:rPr sz="2800" spc="-10" dirty="0">
                <a:latin typeface="Aptos"/>
                <a:cs typeface="Aptos"/>
              </a:rPr>
              <a:t>type</a:t>
            </a:r>
            <a:r>
              <a:rPr sz="2800" spc="-135" dirty="0">
                <a:latin typeface="Times New Roman"/>
                <a:cs typeface="Times New Roman"/>
              </a:rPr>
              <a:t> </a:t>
            </a:r>
            <a:r>
              <a:rPr sz="2800" dirty="0">
                <a:latin typeface="Aptos"/>
                <a:cs typeface="Aptos"/>
              </a:rPr>
              <a:t>of</a:t>
            </a:r>
            <a:r>
              <a:rPr sz="2800" spc="-150" dirty="0">
                <a:latin typeface="Times New Roman"/>
                <a:cs typeface="Times New Roman"/>
              </a:rPr>
              <a:t> </a:t>
            </a:r>
            <a:r>
              <a:rPr sz="2800" spc="-20" dirty="0">
                <a:latin typeface="Aptos"/>
                <a:cs typeface="Aptos"/>
              </a:rPr>
              <a:t>network</a:t>
            </a:r>
            <a:r>
              <a:rPr sz="2800" spc="-130" dirty="0">
                <a:latin typeface="Times New Roman"/>
                <a:cs typeface="Times New Roman"/>
              </a:rPr>
              <a:t> </a:t>
            </a:r>
            <a:r>
              <a:rPr sz="2800" spc="-10" dirty="0">
                <a:latin typeface="Aptos"/>
                <a:cs typeface="Aptos"/>
              </a:rPr>
              <a:t>topology</a:t>
            </a:r>
            <a:r>
              <a:rPr sz="2800" spc="-140" dirty="0">
                <a:latin typeface="Times New Roman"/>
                <a:cs typeface="Times New Roman"/>
              </a:rPr>
              <a:t> </a:t>
            </a:r>
            <a:r>
              <a:rPr sz="2800" dirty="0">
                <a:latin typeface="Aptos"/>
                <a:cs typeface="Aptos"/>
              </a:rPr>
              <a:t>is</a:t>
            </a:r>
            <a:r>
              <a:rPr sz="2800" spc="-150" dirty="0">
                <a:latin typeface="Times New Roman"/>
                <a:cs typeface="Times New Roman"/>
              </a:rPr>
              <a:t> </a:t>
            </a:r>
            <a:r>
              <a:rPr sz="2800" spc="-10" dirty="0">
                <a:latin typeface="Aptos"/>
                <a:cs typeface="Aptos"/>
              </a:rPr>
              <a:t>difficult</a:t>
            </a:r>
            <a:r>
              <a:rPr sz="2800" spc="-145" dirty="0">
                <a:latin typeface="Times New Roman"/>
                <a:cs typeface="Times New Roman"/>
              </a:rPr>
              <a:t> </a:t>
            </a:r>
            <a:r>
              <a:rPr sz="2800" spc="-10" dirty="0">
                <a:latin typeface="Aptos"/>
                <a:cs typeface="Aptos"/>
              </a:rPr>
              <a:t>and</a:t>
            </a:r>
            <a:r>
              <a:rPr sz="2800" spc="-150" dirty="0">
                <a:latin typeface="Times New Roman"/>
                <a:cs typeface="Times New Roman"/>
              </a:rPr>
              <a:t> </a:t>
            </a:r>
            <a:r>
              <a:rPr sz="2800" spc="-20" dirty="0">
                <a:latin typeface="Aptos"/>
                <a:cs typeface="Aptos"/>
              </a:rPr>
              <a:t>complex</a:t>
            </a:r>
            <a:r>
              <a:rPr sz="2800" spc="-140" dirty="0">
                <a:latin typeface="Times New Roman"/>
                <a:cs typeface="Times New Roman"/>
              </a:rPr>
              <a:t> </a:t>
            </a:r>
            <a:r>
              <a:rPr sz="2800" spc="-25" dirty="0">
                <a:latin typeface="Aptos"/>
                <a:cs typeface="Aptos"/>
              </a:rPr>
              <a:t>in</a:t>
            </a:r>
            <a:r>
              <a:rPr sz="2800" spc="-25" dirty="0">
                <a:latin typeface="Times New Roman"/>
                <a:cs typeface="Times New Roman"/>
              </a:rPr>
              <a:t> </a:t>
            </a:r>
            <a:r>
              <a:rPr sz="2800" spc="-10" dirty="0">
                <a:latin typeface="Aptos"/>
                <a:cs typeface="Aptos"/>
              </a:rPr>
              <a:t>structure.</a:t>
            </a:r>
            <a:endParaRPr sz="2800">
              <a:latin typeface="Aptos"/>
              <a:cs typeface="Apto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64573" y="578700"/>
            <a:ext cx="10096669" cy="4954528"/>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94499" y="251853"/>
            <a:ext cx="10880725" cy="2583180"/>
          </a:xfrm>
          <a:prstGeom prst="rect">
            <a:avLst/>
          </a:prstGeom>
        </p:spPr>
        <p:txBody>
          <a:bodyPr vert="horz" wrap="square" lIns="0" tIns="96520" rIns="0" bIns="0" rtlCol="0">
            <a:spAutoFit/>
          </a:bodyPr>
          <a:lstStyle/>
          <a:p>
            <a:pPr marL="12700" algn="just">
              <a:lnSpc>
                <a:spcPct val="100000"/>
              </a:lnSpc>
              <a:spcBef>
                <a:spcPts val="760"/>
              </a:spcBef>
            </a:pPr>
            <a:r>
              <a:rPr sz="2800" b="1" dirty="0">
                <a:latin typeface="Aptos"/>
                <a:cs typeface="Aptos"/>
              </a:rPr>
              <a:t>OSI</a:t>
            </a:r>
            <a:r>
              <a:rPr sz="2800" spc="-150" dirty="0">
                <a:latin typeface="Times New Roman"/>
                <a:cs typeface="Times New Roman"/>
              </a:rPr>
              <a:t> </a:t>
            </a:r>
            <a:r>
              <a:rPr sz="2800" b="1" spc="-20" dirty="0">
                <a:latin typeface="Aptos"/>
                <a:cs typeface="Aptos"/>
              </a:rPr>
              <a:t>Reference</a:t>
            </a:r>
            <a:r>
              <a:rPr sz="2800" spc="-130" dirty="0">
                <a:latin typeface="Times New Roman"/>
                <a:cs typeface="Times New Roman"/>
              </a:rPr>
              <a:t> </a:t>
            </a:r>
            <a:r>
              <a:rPr sz="2800" b="1" spc="-20" dirty="0">
                <a:latin typeface="Aptos"/>
                <a:cs typeface="Aptos"/>
              </a:rPr>
              <a:t>Model</a:t>
            </a:r>
            <a:endParaRPr sz="2800">
              <a:latin typeface="Aptos"/>
              <a:cs typeface="Aptos"/>
            </a:endParaRPr>
          </a:p>
          <a:p>
            <a:pPr marL="12700" marR="5080" algn="just">
              <a:lnSpc>
                <a:spcPct val="90000"/>
              </a:lnSpc>
              <a:spcBef>
                <a:spcPts val="994"/>
              </a:spcBef>
            </a:pPr>
            <a:r>
              <a:rPr sz="2800" dirty="0">
                <a:latin typeface="Aptos"/>
                <a:cs typeface="Aptos"/>
              </a:rPr>
              <a:t>OSI</a:t>
            </a:r>
            <a:r>
              <a:rPr sz="2800" spc="170" dirty="0">
                <a:latin typeface="Times New Roman"/>
                <a:cs typeface="Times New Roman"/>
              </a:rPr>
              <a:t> </a:t>
            </a:r>
            <a:r>
              <a:rPr sz="2800" dirty="0">
                <a:latin typeface="Aptos"/>
                <a:cs typeface="Aptos"/>
              </a:rPr>
              <a:t>(Open</a:t>
            </a:r>
            <a:r>
              <a:rPr sz="2800" spc="165" dirty="0">
                <a:latin typeface="Times New Roman"/>
                <a:cs typeface="Times New Roman"/>
              </a:rPr>
              <a:t> </a:t>
            </a:r>
            <a:r>
              <a:rPr sz="2800" dirty="0">
                <a:latin typeface="Aptos"/>
                <a:cs typeface="Aptos"/>
              </a:rPr>
              <a:t>System</a:t>
            </a:r>
            <a:r>
              <a:rPr sz="2800" spc="175" dirty="0">
                <a:latin typeface="Times New Roman"/>
                <a:cs typeface="Times New Roman"/>
              </a:rPr>
              <a:t> </a:t>
            </a:r>
            <a:r>
              <a:rPr sz="2800" dirty="0">
                <a:latin typeface="Aptos"/>
                <a:cs typeface="Aptos"/>
              </a:rPr>
              <a:t>Interconnection)</a:t>
            </a:r>
            <a:r>
              <a:rPr sz="2800" spc="175" dirty="0">
                <a:latin typeface="Times New Roman"/>
                <a:cs typeface="Times New Roman"/>
              </a:rPr>
              <a:t> </a:t>
            </a:r>
            <a:r>
              <a:rPr sz="2800" dirty="0">
                <a:latin typeface="Aptos"/>
                <a:cs typeface="Aptos"/>
              </a:rPr>
              <a:t>reference</a:t>
            </a:r>
            <a:r>
              <a:rPr sz="2800" spc="185" dirty="0">
                <a:latin typeface="Times New Roman"/>
                <a:cs typeface="Times New Roman"/>
              </a:rPr>
              <a:t> </a:t>
            </a:r>
            <a:r>
              <a:rPr sz="2800" dirty="0">
                <a:latin typeface="Aptos"/>
                <a:cs typeface="Aptos"/>
              </a:rPr>
              <a:t>model</a:t>
            </a:r>
            <a:r>
              <a:rPr sz="2800" spc="175" dirty="0">
                <a:latin typeface="Times New Roman"/>
                <a:cs typeface="Times New Roman"/>
              </a:rPr>
              <a:t> </a:t>
            </a:r>
            <a:r>
              <a:rPr sz="2800" dirty="0">
                <a:latin typeface="Aptos"/>
                <a:cs typeface="Aptos"/>
              </a:rPr>
              <a:t>It</a:t>
            </a:r>
            <a:r>
              <a:rPr sz="2800" spc="160" dirty="0">
                <a:latin typeface="Times New Roman"/>
                <a:cs typeface="Times New Roman"/>
              </a:rPr>
              <a:t> </a:t>
            </a:r>
            <a:r>
              <a:rPr sz="2800" dirty="0">
                <a:latin typeface="Aptos"/>
                <a:cs typeface="Aptos"/>
              </a:rPr>
              <a:t>is</a:t>
            </a:r>
            <a:r>
              <a:rPr sz="2800" spc="170" dirty="0">
                <a:latin typeface="Times New Roman"/>
                <a:cs typeface="Times New Roman"/>
              </a:rPr>
              <a:t> </a:t>
            </a:r>
            <a:r>
              <a:rPr sz="2800" dirty="0">
                <a:latin typeface="Aptos"/>
                <a:cs typeface="Aptos"/>
              </a:rPr>
              <a:t>based</a:t>
            </a:r>
            <a:r>
              <a:rPr sz="2800" spc="195" dirty="0">
                <a:latin typeface="Times New Roman"/>
                <a:cs typeface="Times New Roman"/>
              </a:rPr>
              <a:t> </a:t>
            </a:r>
            <a:r>
              <a:rPr sz="2800" dirty="0">
                <a:latin typeface="Aptos"/>
                <a:cs typeface="Aptos"/>
              </a:rPr>
              <a:t>on</a:t>
            </a:r>
            <a:r>
              <a:rPr sz="2800" spc="155" dirty="0">
                <a:latin typeface="Times New Roman"/>
                <a:cs typeface="Times New Roman"/>
              </a:rPr>
              <a:t> </a:t>
            </a:r>
            <a:r>
              <a:rPr sz="2800" spc="-50" dirty="0">
                <a:latin typeface="Aptos"/>
                <a:cs typeface="Aptos"/>
              </a:rPr>
              <a:t>a</a:t>
            </a:r>
            <a:r>
              <a:rPr sz="2800" spc="-50" dirty="0">
                <a:latin typeface="Times New Roman"/>
                <a:cs typeface="Times New Roman"/>
              </a:rPr>
              <a:t> </a:t>
            </a:r>
            <a:r>
              <a:rPr sz="2800" dirty="0">
                <a:latin typeface="Aptos"/>
                <a:cs typeface="Aptos"/>
              </a:rPr>
              <a:t>proposal</a:t>
            </a:r>
            <a:r>
              <a:rPr sz="2800" spc="470" dirty="0">
                <a:latin typeface="Times New Roman"/>
                <a:cs typeface="Times New Roman"/>
              </a:rPr>
              <a:t>   </a:t>
            </a:r>
            <a:r>
              <a:rPr sz="2800" dirty="0">
                <a:latin typeface="Aptos"/>
                <a:cs typeface="Aptos"/>
              </a:rPr>
              <a:t>developed</a:t>
            </a:r>
            <a:r>
              <a:rPr sz="2800" spc="470" dirty="0">
                <a:latin typeface="Times New Roman"/>
                <a:cs typeface="Times New Roman"/>
              </a:rPr>
              <a:t>   </a:t>
            </a:r>
            <a:r>
              <a:rPr sz="2800" dirty="0">
                <a:latin typeface="Aptos"/>
                <a:cs typeface="Aptos"/>
              </a:rPr>
              <a:t>by</a:t>
            </a:r>
            <a:r>
              <a:rPr sz="2800" spc="465" dirty="0">
                <a:latin typeface="Times New Roman"/>
                <a:cs typeface="Times New Roman"/>
              </a:rPr>
              <a:t>   </a:t>
            </a:r>
            <a:r>
              <a:rPr sz="2800" dirty="0">
                <a:latin typeface="Aptos"/>
                <a:cs typeface="Aptos"/>
              </a:rPr>
              <a:t>the</a:t>
            </a:r>
            <a:r>
              <a:rPr sz="2800" spc="465" dirty="0">
                <a:latin typeface="Times New Roman"/>
                <a:cs typeface="Times New Roman"/>
              </a:rPr>
              <a:t>   </a:t>
            </a:r>
            <a:r>
              <a:rPr sz="2800" dirty="0">
                <a:latin typeface="Aptos"/>
                <a:cs typeface="Aptos"/>
              </a:rPr>
              <a:t>international</a:t>
            </a:r>
            <a:r>
              <a:rPr sz="2800" spc="465" dirty="0">
                <a:latin typeface="Times New Roman"/>
                <a:cs typeface="Times New Roman"/>
              </a:rPr>
              <a:t>   </a:t>
            </a:r>
            <a:r>
              <a:rPr sz="2800" dirty="0">
                <a:latin typeface="Aptos"/>
                <a:cs typeface="Aptos"/>
              </a:rPr>
              <a:t>organization</a:t>
            </a:r>
            <a:r>
              <a:rPr sz="2800" spc="465" dirty="0">
                <a:latin typeface="Times New Roman"/>
                <a:cs typeface="Times New Roman"/>
              </a:rPr>
              <a:t>   </a:t>
            </a:r>
            <a:r>
              <a:rPr sz="2800" spc="-25" dirty="0">
                <a:latin typeface="Aptos"/>
                <a:cs typeface="Aptos"/>
              </a:rPr>
              <a:t>for</a:t>
            </a:r>
            <a:r>
              <a:rPr sz="2800" spc="-25" dirty="0">
                <a:latin typeface="Times New Roman"/>
                <a:cs typeface="Times New Roman"/>
              </a:rPr>
              <a:t> </a:t>
            </a:r>
            <a:r>
              <a:rPr sz="2800" dirty="0">
                <a:latin typeface="Aptos"/>
                <a:cs typeface="Aptos"/>
              </a:rPr>
              <a:t>standardization</a:t>
            </a:r>
            <a:r>
              <a:rPr sz="2800" spc="250" dirty="0">
                <a:latin typeface="Times New Roman"/>
                <a:cs typeface="Times New Roman"/>
              </a:rPr>
              <a:t> </a:t>
            </a:r>
            <a:r>
              <a:rPr sz="2800" dirty="0">
                <a:latin typeface="Aptos"/>
                <a:cs typeface="Aptos"/>
              </a:rPr>
              <a:t>(ISO).</a:t>
            </a:r>
            <a:r>
              <a:rPr sz="2800" spc="260" dirty="0">
                <a:latin typeface="Times New Roman"/>
                <a:cs typeface="Times New Roman"/>
              </a:rPr>
              <a:t> </a:t>
            </a:r>
            <a:r>
              <a:rPr sz="2800" dirty="0">
                <a:latin typeface="Aptos"/>
                <a:cs typeface="Aptos"/>
              </a:rPr>
              <a:t>The</a:t>
            </a:r>
            <a:r>
              <a:rPr sz="2800" spc="265" dirty="0">
                <a:latin typeface="Times New Roman"/>
                <a:cs typeface="Times New Roman"/>
              </a:rPr>
              <a:t> </a:t>
            </a:r>
            <a:r>
              <a:rPr sz="2800" dirty="0">
                <a:latin typeface="Aptos"/>
                <a:cs typeface="Aptos"/>
              </a:rPr>
              <a:t>model</a:t>
            </a:r>
            <a:r>
              <a:rPr sz="2800" spc="260" dirty="0">
                <a:latin typeface="Times New Roman"/>
                <a:cs typeface="Times New Roman"/>
              </a:rPr>
              <a:t> </a:t>
            </a:r>
            <a:r>
              <a:rPr sz="2800" dirty="0">
                <a:latin typeface="Aptos"/>
                <a:cs typeface="Aptos"/>
              </a:rPr>
              <a:t>is</a:t>
            </a:r>
            <a:r>
              <a:rPr sz="2800" spc="265" dirty="0">
                <a:latin typeface="Times New Roman"/>
                <a:cs typeface="Times New Roman"/>
              </a:rPr>
              <a:t> </a:t>
            </a:r>
            <a:r>
              <a:rPr sz="2800" dirty="0">
                <a:latin typeface="Aptos"/>
                <a:cs typeface="Aptos"/>
              </a:rPr>
              <a:t>called</a:t>
            </a:r>
            <a:r>
              <a:rPr sz="2800" spc="260" dirty="0">
                <a:latin typeface="Times New Roman"/>
                <a:cs typeface="Times New Roman"/>
              </a:rPr>
              <a:t> </a:t>
            </a:r>
            <a:r>
              <a:rPr sz="2800" dirty="0">
                <a:latin typeface="Aptos"/>
                <a:cs typeface="Aptos"/>
              </a:rPr>
              <a:t>ISO</a:t>
            </a:r>
            <a:r>
              <a:rPr sz="2800" spc="260" dirty="0">
                <a:latin typeface="Times New Roman"/>
                <a:cs typeface="Times New Roman"/>
              </a:rPr>
              <a:t> </a:t>
            </a:r>
            <a:r>
              <a:rPr sz="2800" dirty="0">
                <a:latin typeface="Aptos"/>
                <a:cs typeface="Aptos"/>
              </a:rPr>
              <a:t>OSI</a:t>
            </a:r>
            <a:r>
              <a:rPr sz="2800" spc="265" dirty="0">
                <a:latin typeface="Times New Roman"/>
                <a:cs typeface="Times New Roman"/>
              </a:rPr>
              <a:t> </a:t>
            </a:r>
            <a:r>
              <a:rPr sz="2800" dirty="0">
                <a:latin typeface="Aptos"/>
                <a:cs typeface="Aptos"/>
              </a:rPr>
              <a:t>reference</a:t>
            </a:r>
            <a:r>
              <a:rPr sz="2800" spc="245" dirty="0">
                <a:latin typeface="Times New Roman"/>
                <a:cs typeface="Times New Roman"/>
              </a:rPr>
              <a:t> </a:t>
            </a:r>
            <a:r>
              <a:rPr sz="2800" spc="-10" dirty="0">
                <a:latin typeface="Aptos"/>
                <a:cs typeface="Aptos"/>
              </a:rPr>
              <a:t>model,</a:t>
            </a:r>
            <a:r>
              <a:rPr sz="2800" spc="-10" dirty="0">
                <a:latin typeface="Times New Roman"/>
                <a:cs typeface="Times New Roman"/>
              </a:rPr>
              <a:t> </a:t>
            </a:r>
            <a:r>
              <a:rPr sz="2800" dirty="0">
                <a:latin typeface="Aptos"/>
                <a:cs typeface="Aptos"/>
              </a:rPr>
              <a:t>because</a:t>
            </a:r>
            <a:r>
              <a:rPr sz="2800" spc="-25" dirty="0">
                <a:latin typeface="Times New Roman"/>
                <a:cs typeface="Times New Roman"/>
              </a:rPr>
              <a:t> </a:t>
            </a:r>
            <a:r>
              <a:rPr sz="2800" dirty="0">
                <a:latin typeface="Aptos"/>
                <a:cs typeface="Aptos"/>
              </a:rPr>
              <a:t>it</a:t>
            </a:r>
            <a:r>
              <a:rPr sz="2800" spc="-25" dirty="0">
                <a:latin typeface="Times New Roman"/>
                <a:cs typeface="Times New Roman"/>
              </a:rPr>
              <a:t> </a:t>
            </a:r>
            <a:r>
              <a:rPr sz="2800" dirty="0">
                <a:latin typeface="Aptos"/>
                <a:cs typeface="Aptos"/>
              </a:rPr>
              <a:t>deals</a:t>
            </a:r>
            <a:r>
              <a:rPr sz="2800" spc="-25" dirty="0">
                <a:latin typeface="Times New Roman"/>
                <a:cs typeface="Times New Roman"/>
              </a:rPr>
              <a:t> </a:t>
            </a:r>
            <a:r>
              <a:rPr sz="2800" dirty="0">
                <a:latin typeface="Aptos"/>
                <a:cs typeface="Aptos"/>
              </a:rPr>
              <a:t>with</a:t>
            </a:r>
            <a:r>
              <a:rPr sz="2800" spc="-25" dirty="0">
                <a:latin typeface="Times New Roman"/>
                <a:cs typeface="Times New Roman"/>
              </a:rPr>
              <a:t> </a:t>
            </a:r>
            <a:r>
              <a:rPr sz="2800" dirty="0">
                <a:latin typeface="Aptos"/>
                <a:cs typeface="Aptos"/>
              </a:rPr>
              <a:t>connecting</a:t>
            </a:r>
            <a:r>
              <a:rPr sz="2800" spc="-35" dirty="0">
                <a:latin typeface="Times New Roman"/>
                <a:cs typeface="Times New Roman"/>
              </a:rPr>
              <a:t> </a:t>
            </a:r>
            <a:r>
              <a:rPr sz="2800" dirty="0">
                <a:latin typeface="Aptos"/>
                <a:cs typeface="Aptos"/>
              </a:rPr>
              <a:t>open</a:t>
            </a:r>
            <a:r>
              <a:rPr sz="2800" spc="-15" dirty="0">
                <a:latin typeface="Times New Roman"/>
                <a:cs typeface="Times New Roman"/>
              </a:rPr>
              <a:t> </a:t>
            </a:r>
            <a:r>
              <a:rPr sz="2800" dirty="0">
                <a:latin typeface="Aptos"/>
                <a:cs typeface="Aptos"/>
              </a:rPr>
              <a:t>system</a:t>
            </a:r>
            <a:r>
              <a:rPr sz="2800" spc="-20" dirty="0">
                <a:latin typeface="Times New Roman"/>
                <a:cs typeface="Times New Roman"/>
              </a:rPr>
              <a:t> </a:t>
            </a:r>
            <a:r>
              <a:rPr sz="2800" dirty="0">
                <a:latin typeface="Aptos"/>
                <a:cs typeface="Aptos"/>
              </a:rPr>
              <a:t>i.e.</a:t>
            </a:r>
            <a:r>
              <a:rPr sz="2800" spc="-30" dirty="0">
                <a:latin typeface="Times New Roman"/>
                <a:cs typeface="Times New Roman"/>
              </a:rPr>
              <a:t> </a:t>
            </a:r>
            <a:r>
              <a:rPr sz="2800" dirty="0">
                <a:latin typeface="Aptos"/>
                <a:cs typeface="Aptos"/>
              </a:rPr>
              <a:t>the</a:t>
            </a:r>
            <a:r>
              <a:rPr sz="2800" spc="-20" dirty="0">
                <a:latin typeface="Times New Roman"/>
                <a:cs typeface="Times New Roman"/>
              </a:rPr>
              <a:t> </a:t>
            </a:r>
            <a:r>
              <a:rPr sz="2800" dirty="0">
                <a:latin typeface="Aptos"/>
                <a:cs typeface="Aptos"/>
              </a:rPr>
              <a:t>system</a:t>
            </a:r>
            <a:r>
              <a:rPr sz="2800" spc="-35" dirty="0">
                <a:latin typeface="Times New Roman"/>
                <a:cs typeface="Times New Roman"/>
              </a:rPr>
              <a:t> </a:t>
            </a:r>
            <a:r>
              <a:rPr sz="2800" dirty="0">
                <a:latin typeface="Aptos"/>
                <a:cs typeface="Aptos"/>
              </a:rPr>
              <a:t>that</a:t>
            </a:r>
            <a:r>
              <a:rPr sz="2800" spc="-20" dirty="0">
                <a:latin typeface="Times New Roman"/>
                <a:cs typeface="Times New Roman"/>
              </a:rPr>
              <a:t> </a:t>
            </a:r>
            <a:r>
              <a:rPr sz="2800" spc="-25" dirty="0">
                <a:latin typeface="Aptos"/>
                <a:cs typeface="Aptos"/>
              </a:rPr>
              <a:t>are</a:t>
            </a:r>
            <a:r>
              <a:rPr sz="2800" spc="-25" dirty="0">
                <a:latin typeface="Times New Roman"/>
                <a:cs typeface="Times New Roman"/>
              </a:rPr>
              <a:t> </a:t>
            </a:r>
            <a:r>
              <a:rPr sz="2800" spc="-10" dirty="0">
                <a:latin typeface="Aptos"/>
                <a:cs typeface="Aptos"/>
              </a:rPr>
              <a:t>open</a:t>
            </a:r>
            <a:r>
              <a:rPr sz="2800" spc="-130" dirty="0">
                <a:latin typeface="Times New Roman"/>
                <a:cs typeface="Times New Roman"/>
              </a:rPr>
              <a:t> </a:t>
            </a:r>
            <a:r>
              <a:rPr sz="2800" spc="-10" dirty="0">
                <a:latin typeface="Aptos"/>
                <a:cs typeface="Aptos"/>
              </a:rPr>
              <a:t>for</a:t>
            </a:r>
            <a:r>
              <a:rPr sz="2800" spc="-120" dirty="0">
                <a:latin typeface="Times New Roman"/>
                <a:cs typeface="Times New Roman"/>
              </a:rPr>
              <a:t> </a:t>
            </a:r>
            <a:r>
              <a:rPr sz="2800" spc="-25" dirty="0">
                <a:latin typeface="Aptos"/>
                <a:cs typeface="Aptos"/>
              </a:rPr>
              <a:t>communication</a:t>
            </a:r>
            <a:r>
              <a:rPr sz="2800" spc="-140" dirty="0">
                <a:latin typeface="Times New Roman"/>
                <a:cs typeface="Times New Roman"/>
              </a:rPr>
              <a:t> </a:t>
            </a:r>
            <a:r>
              <a:rPr sz="2800" spc="-10" dirty="0">
                <a:latin typeface="Aptos"/>
                <a:cs typeface="Aptos"/>
              </a:rPr>
              <a:t>with</a:t>
            </a:r>
            <a:r>
              <a:rPr sz="2800" spc="-145" dirty="0">
                <a:latin typeface="Times New Roman"/>
                <a:cs typeface="Times New Roman"/>
              </a:rPr>
              <a:t> </a:t>
            </a:r>
            <a:r>
              <a:rPr sz="2800" spc="-10" dirty="0">
                <a:latin typeface="Aptos"/>
                <a:cs typeface="Aptos"/>
              </a:rPr>
              <a:t>other</a:t>
            </a:r>
            <a:r>
              <a:rPr sz="2800" spc="-130" dirty="0">
                <a:latin typeface="Times New Roman"/>
                <a:cs typeface="Times New Roman"/>
              </a:rPr>
              <a:t> </a:t>
            </a:r>
            <a:r>
              <a:rPr sz="2800" spc="-10" dirty="0">
                <a:latin typeface="Aptos"/>
                <a:cs typeface="Aptos"/>
              </a:rPr>
              <a:t>system.</a:t>
            </a:r>
            <a:endParaRPr sz="2800">
              <a:latin typeface="Aptos"/>
              <a:cs typeface="Apto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587011" y="512229"/>
            <a:ext cx="4842487" cy="6029926"/>
          </a:xfrm>
          <a:prstGeom prst="rect">
            <a:avLst/>
          </a:prstGeom>
        </p:spPr>
      </p:pic>
      <p:sp>
        <p:nvSpPr>
          <p:cNvPr id="3" name="object 3"/>
          <p:cNvSpPr txBox="1"/>
          <p:nvPr/>
        </p:nvSpPr>
        <p:spPr>
          <a:xfrm>
            <a:off x="7634495" y="1626223"/>
            <a:ext cx="332740" cy="4448175"/>
          </a:xfrm>
          <a:prstGeom prst="rect">
            <a:avLst/>
          </a:prstGeom>
        </p:spPr>
        <p:txBody>
          <a:bodyPr vert="horz" wrap="square" lIns="0" tIns="12700" rIns="0" bIns="0" rtlCol="0">
            <a:spAutoFit/>
          </a:bodyPr>
          <a:lstStyle/>
          <a:p>
            <a:pPr marL="197485">
              <a:lnSpc>
                <a:spcPct val="100000"/>
              </a:lnSpc>
              <a:spcBef>
                <a:spcPts val="100"/>
              </a:spcBef>
            </a:pPr>
            <a:r>
              <a:rPr sz="1800" dirty="0">
                <a:latin typeface="Aptos"/>
                <a:cs typeface="Aptos"/>
              </a:rPr>
              <a:t>7</a:t>
            </a:r>
            <a:endParaRPr sz="1800">
              <a:latin typeface="Aptos"/>
              <a:cs typeface="Aptos"/>
            </a:endParaRPr>
          </a:p>
          <a:p>
            <a:pPr>
              <a:lnSpc>
                <a:spcPct val="100000"/>
              </a:lnSpc>
              <a:spcBef>
                <a:spcPts val="5"/>
              </a:spcBef>
            </a:pPr>
            <a:endParaRPr sz="2250">
              <a:latin typeface="Aptos"/>
              <a:cs typeface="Aptos"/>
            </a:endParaRPr>
          </a:p>
          <a:p>
            <a:pPr marL="153670">
              <a:lnSpc>
                <a:spcPct val="100000"/>
              </a:lnSpc>
            </a:pPr>
            <a:r>
              <a:rPr sz="1800" dirty="0">
                <a:latin typeface="Aptos"/>
                <a:cs typeface="Aptos"/>
              </a:rPr>
              <a:t>6</a:t>
            </a:r>
            <a:endParaRPr sz="1800">
              <a:latin typeface="Aptos"/>
              <a:cs typeface="Aptos"/>
            </a:endParaRPr>
          </a:p>
          <a:p>
            <a:pPr>
              <a:lnSpc>
                <a:spcPct val="100000"/>
              </a:lnSpc>
              <a:spcBef>
                <a:spcPts val="30"/>
              </a:spcBef>
            </a:pPr>
            <a:endParaRPr sz="2700">
              <a:latin typeface="Aptos"/>
              <a:cs typeface="Aptos"/>
            </a:endParaRPr>
          </a:p>
          <a:p>
            <a:pPr marL="121285">
              <a:lnSpc>
                <a:spcPct val="100000"/>
              </a:lnSpc>
            </a:pPr>
            <a:r>
              <a:rPr sz="1800" dirty="0">
                <a:latin typeface="Aptos"/>
                <a:cs typeface="Aptos"/>
              </a:rPr>
              <a:t>5</a:t>
            </a:r>
            <a:endParaRPr sz="1800">
              <a:latin typeface="Aptos"/>
              <a:cs typeface="Aptos"/>
            </a:endParaRPr>
          </a:p>
          <a:p>
            <a:pPr>
              <a:lnSpc>
                <a:spcPct val="100000"/>
              </a:lnSpc>
              <a:spcBef>
                <a:spcPts val="30"/>
              </a:spcBef>
            </a:pPr>
            <a:endParaRPr sz="2300">
              <a:latin typeface="Aptos"/>
              <a:cs typeface="Aptos"/>
            </a:endParaRPr>
          </a:p>
          <a:p>
            <a:pPr marL="12700">
              <a:lnSpc>
                <a:spcPct val="100000"/>
              </a:lnSpc>
            </a:pPr>
            <a:r>
              <a:rPr sz="1800" dirty="0">
                <a:latin typeface="Aptos"/>
                <a:cs typeface="Aptos"/>
              </a:rPr>
              <a:t>4</a:t>
            </a:r>
            <a:endParaRPr sz="1800">
              <a:latin typeface="Aptos"/>
              <a:cs typeface="Aptos"/>
            </a:endParaRPr>
          </a:p>
          <a:p>
            <a:pPr>
              <a:lnSpc>
                <a:spcPct val="100000"/>
              </a:lnSpc>
              <a:spcBef>
                <a:spcPts val="10"/>
              </a:spcBef>
            </a:pPr>
            <a:endParaRPr sz="3250">
              <a:latin typeface="Aptos"/>
              <a:cs typeface="Aptos"/>
            </a:endParaRPr>
          </a:p>
          <a:p>
            <a:pPr marL="55880">
              <a:lnSpc>
                <a:spcPct val="100000"/>
              </a:lnSpc>
            </a:pPr>
            <a:r>
              <a:rPr sz="1800" dirty="0">
                <a:latin typeface="Aptos"/>
                <a:cs typeface="Aptos"/>
              </a:rPr>
              <a:t>3</a:t>
            </a:r>
            <a:endParaRPr sz="1800">
              <a:latin typeface="Aptos"/>
              <a:cs typeface="Aptos"/>
            </a:endParaRPr>
          </a:p>
          <a:p>
            <a:pPr>
              <a:lnSpc>
                <a:spcPct val="100000"/>
              </a:lnSpc>
              <a:spcBef>
                <a:spcPts val="25"/>
              </a:spcBef>
            </a:pPr>
            <a:endParaRPr sz="2100">
              <a:latin typeface="Aptos"/>
              <a:cs typeface="Aptos"/>
            </a:endParaRPr>
          </a:p>
          <a:p>
            <a:pPr marL="88900">
              <a:lnSpc>
                <a:spcPct val="100000"/>
              </a:lnSpc>
              <a:spcBef>
                <a:spcPts val="5"/>
              </a:spcBef>
            </a:pPr>
            <a:r>
              <a:rPr sz="1800" dirty="0">
                <a:latin typeface="Aptos"/>
                <a:cs typeface="Aptos"/>
              </a:rPr>
              <a:t>2</a:t>
            </a:r>
            <a:endParaRPr sz="1800">
              <a:latin typeface="Aptos"/>
              <a:cs typeface="Aptos"/>
            </a:endParaRPr>
          </a:p>
          <a:p>
            <a:pPr>
              <a:lnSpc>
                <a:spcPct val="100000"/>
              </a:lnSpc>
              <a:spcBef>
                <a:spcPts val="5"/>
              </a:spcBef>
            </a:pPr>
            <a:endParaRPr sz="2650">
              <a:latin typeface="Aptos"/>
              <a:cs typeface="Aptos"/>
            </a:endParaRPr>
          </a:p>
          <a:p>
            <a:pPr marL="132080">
              <a:lnSpc>
                <a:spcPct val="100000"/>
              </a:lnSpc>
            </a:pPr>
            <a:r>
              <a:rPr sz="1800" dirty="0">
                <a:latin typeface="Aptos"/>
                <a:cs typeface="Aptos"/>
              </a:rPr>
              <a:t>1</a:t>
            </a:r>
            <a:endParaRPr sz="1800">
              <a:latin typeface="Aptos"/>
              <a:cs typeface="Apto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0" y="303643"/>
            <a:ext cx="10361295" cy="4416425"/>
          </a:xfrm>
          <a:prstGeom prst="rect">
            <a:avLst/>
          </a:prstGeom>
        </p:spPr>
        <p:txBody>
          <a:bodyPr vert="horz" wrap="square" lIns="0" tIns="54610" rIns="0" bIns="0" rtlCol="0">
            <a:spAutoFit/>
          </a:bodyPr>
          <a:lstStyle/>
          <a:p>
            <a:pPr marL="527685" marR="5080" indent="-515620" algn="just">
              <a:lnSpc>
                <a:spcPct val="90000"/>
              </a:lnSpc>
              <a:spcBef>
                <a:spcPts val="430"/>
              </a:spcBef>
              <a:buAutoNum type="arabicPeriod"/>
              <a:tabLst>
                <a:tab pos="528320" algn="l"/>
              </a:tabLst>
            </a:pPr>
            <a:r>
              <a:rPr sz="2800" dirty="0">
                <a:latin typeface="Aptos"/>
                <a:cs typeface="Aptos"/>
              </a:rPr>
              <a:t>Physical</a:t>
            </a:r>
            <a:r>
              <a:rPr sz="2800" spc="120" dirty="0">
                <a:latin typeface="Times New Roman"/>
                <a:cs typeface="Times New Roman"/>
              </a:rPr>
              <a:t> </a:t>
            </a:r>
            <a:r>
              <a:rPr sz="2800" dirty="0">
                <a:latin typeface="Aptos"/>
                <a:cs typeface="Aptos"/>
              </a:rPr>
              <a:t>Layer:</a:t>
            </a:r>
            <a:r>
              <a:rPr sz="2800" spc="105" dirty="0">
                <a:latin typeface="Times New Roman"/>
                <a:cs typeface="Times New Roman"/>
              </a:rPr>
              <a:t> </a:t>
            </a:r>
            <a:r>
              <a:rPr sz="2800" dirty="0">
                <a:latin typeface="Aptos"/>
                <a:cs typeface="Aptos"/>
              </a:rPr>
              <a:t>This</a:t>
            </a:r>
            <a:r>
              <a:rPr sz="2800" spc="105" dirty="0">
                <a:latin typeface="Times New Roman"/>
                <a:cs typeface="Times New Roman"/>
              </a:rPr>
              <a:t> </a:t>
            </a:r>
            <a:r>
              <a:rPr sz="2800" dirty="0">
                <a:latin typeface="Aptos"/>
                <a:cs typeface="Aptos"/>
              </a:rPr>
              <a:t>layer</a:t>
            </a:r>
            <a:r>
              <a:rPr sz="2800" spc="120" dirty="0">
                <a:latin typeface="Times New Roman"/>
                <a:cs typeface="Times New Roman"/>
              </a:rPr>
              <a:t> </a:t>
            </a:r>
            <a:r>
              <a:rPr sz="2800" dirty="0">
                <a:latin typeface="Aptos"/>
                <a:cs typeface="Aptos"/>
              </a:rPr>
              <a:t>concerned</a:t>
            </a:r>
            <a:r>
              <a:rPr sz="2800" spc="130" dirty="0">
                <a:latin typeface="Times New Roman"/>
                <a:cs typeface="Times New Roman"/>
              </a:rPr>
              <a:t> </a:t>
            </a:r>
            <a:r>
              <a:rPr sz="2800" dirty="0">
                <a:latin typeface="Aptos"/>
                <a:cs typeface="Aptos"/>
              </a:rPr>
              <a:t>with</a:t>
            </a:r>
            <a:r>
              <a:rPr sz="2800" spc="95" dirty="0">
                <a:latin typeface="Times New Roman"/>
                <a:cs typeface="Times New Roman"/>
              </a:rPr>
              <a:t> </a:t>
            </a:r>
            <a:r>
              <a:rPr sz="2800" dirty="0">
                <a:latin typeface="Aptos"/>
                <a:cs typeface="Aptos"/>
              </a:rPr>
              <a:t>transmission</a:t>
            </a:r>
            <a:r>
              <a:rPr sz="2800" spc="100" dirty="0">
                <a:latin typeface="Times New Roman"/>
                <a:cs typeface="Times New Roman"/>
              </a:rPr>
              <a:t> </a:t>
            </a:r>
            <a:r>
              <a:rPr sz="2800" dirty="0">
                <a:latin typeface="Aptos"/>
                <a:cs typeface="Aptos"/>
              </a:rPr>
              <a:t>of</a:t>
            </a:r>
            <a:r>
              <a:rPr sz="2800" spc="100" dirty="0">
                <a:latin typeface="Times New Roman"/>
                <a:cs typeface="Times New Roman"/>
              </a:rPr>
              <a:t> </a:t>
            </a:r>
            <a:r>
              <a:rPr sz="2800" dirty="0">
                <a:latin typeface="Aptos"/>
                <a:cs typeface="Aptos"/>
              </a:rPr>
              <a:t>bit</a:t>
            </a:r>
            <a:r>
              <a:rPr sz="2800" spc="100" dirty="0">
                <a:latin typeface="Times New Roman"/>
                <a:cs typeface="Times New Roman"/>
              </a:rPr>
              <a:t> </a:t>
            </a:r>
            <a:r>
              <a:rPr sz="2800" spc="-25" dirty="0">
                <a:latin typeface="Aptos"/>
                <a:cs typeface="Aptos"/>
              </a:rPr>
              <a:t>it</a:t>
            </a:r>
            <a:r>
              <a:rPr sz="2800" spc="-25" dirty="0">
                <a:latin typeface="Times New Roman"/>
                <a:cs typeface="Times New Roman"/>
              </a:rPr>
              <a:t> </a:t>
            </a:r>
            <a:r>
              <a:rPr sz="2800" dirty="0">
                <a:latin typeface="Aptos"/>
                <a:cs typeface="Aptos"/>
              </a:rPr>
              <a:t>determines</a:t>
            </a:r>
            <a:r>
              <a:rPr sz="2800" spc="175" dirty="0">
                <a:latin typeface="Times New Roman"/>
                <a:cs typeface="Times New Roman"/>
              </a:rPr>
              <a:t> </a:t>
            </a:r>
            <a:r>
              <a:rPr sz="2800" dirty="0">
                <a:latin typeface="Aptos"/>
                <a:cs typeface="Aptos"/>
              </a:rPr>
              <a:t>voltage</a:t>
            </a:r>
            <a:r>
              <a:rPr sz="2800" spc="160" dirty="0">
                <a:latin typeface="Times New Roman"/>
                <a:cs typeface="Times New Roman"/>
              </a:rPr>
              <a:t> </a:t>
            </a:r>
            <a:r>
              <a:rPr sz="2800" dirty="0">
                <a:latin typeface="Aptos"/>
                <a:cs typeface="Aptos"/>
              </a:rPr>
              <a:t>level</a:t>
            </a:r>
            <a:r>
              <a:rPr sz="2800" spc="170" dirty="0">
                <a:latin typeface="Times New Roman"/>
                <a:cs typeface="Times New Roman"/>
              </a:rPr>
              <a:t> </a:t>
            </a:r>
            <a:r>
              <a:rPr sz="2800" dirty="0">
                <a:latin typeface="Aptos"/>
                <a:cs typeface="Aptos"/>
              </a:rPr>
              <a:t>for</a:t>
            </a:r>
            <a:r>
              <a:rPr sz="2800" spc="175" dirty="0">
                <a:latin typeface="Times New Roman"/>
                <a:cs typeface="Times New Roman"/>
              </a:rPr>
              <a:t> </a:t>
            </a:r>
            <a:r>
              <a:rPr sz="2800" dirty="0">
                <a:latin typeface="Aptos"/>
                <a:cs typeface="Aptos"/>
              </a:rPr>
              <a:t>0</a:t>
            </a:r>
            <a:r>
              <a:rPr sz="2800" spc="170" dirty="0">
                <a:latin typeface="Times New Roman"/>
                <a:cs typeface="Times New Roman"/>
              </a:rPr>
              <a:t> </a:t>
            </a:r>
            <a:r>
              <a:rPr sz="2800" dirty="0">
                <a:latin typeface="Aptos"/>
                <a:cs typeface="Aptos"/>
              </a:rPr>
              <a:t>&amp;</a:t>
            </a:r>
            <a:r>
              <a:rPr sz="2800" spc="185" dirty="0">
                <a:latin typeface="Times New Roman"/>
                <a:cs typeface="Times New Roman"/>
              </a:rPr>
              <a:t> </a:t>
            </a:r>
            <a:r>
              <a:rPr sz="2800" dirty="0">
                <a:latin typeface="Aptos"/>
                <a:cs typeface="Aptos"/>
              </a:rPr>
              <a:t>1.</a:t>
            </a:r>
            <a:r>
              <a:rPr sz="2800" spc="170" dirty="0">
                <a:latin typeface="Times New Roman"/>
                <a:cs typeface="Times New Roman"/>
              </a:rPr>
              <a:t> </a:t>
            </a:r>
            <a:r>
              <a:rPr sz="2800" dirty="0">
                <a:latin typeface="Aptos"/>
                <a:cs typeface="Aptos"/>
              </a:rPr>
              <a:t>It</a:t>
            </a:r>
            <a:r>
              <a:rPr sz="2800" spc="170" dirty="0">
                <a:latin typeface="Times New Roman"/>
                <a:cs typeface="Times New Roman"/>
              </a:rPr>
              <a:t> </a:t>
            </a:r>
            <a:r>
              <a:rPr sz="2800" dirty="0">
                <a:latin typeface="Aptos"/>
                <a:cs typeface="Aptos"/>
              </a:rPr>
              <a:t>also</a:t>
            </a:r>
            <a:r>
              <a:rPr sz="2800" spc="190" dirty="0">
                <a:latin typeface="Times New Roman"/>
                <a:cs typeface="Times New Roman"/>
              </a:rPr>
              <a:t> </a:t>
            </a:r>
            <a:r>
              <a:rPr sz="2800" dirty="0">
                <a:latin typeface="Aptos"/>
                <a:cs typeface="Aptos"/>
              </a:rPr>
              <a:t>determines</a:t>
            </a:r>
            <a:r>
              <a:rPr sz="2800" spc="165" dirty="0">
                <a:latin typeface="Times New Roman"/>
                <a:cs typeface="Times New Roman"/>
              </a:rPr>
              <a:t> </a:t>
            </a:r>
            <a:r>
              <a:rPr sz="2800" dirty="0">
                <a:latin typeface="Aptos"/>
                <a:cs typeface="Aptos"/>
              </a:rPr>
              <a:t>the</a:t>
            </a:r>
            <a:r>
              <a:rPr sz="2800" spc="160" dirty="0">
                <a:latin typeface="Times New Roman"/>
                <a:cs typeface="Times New Roman"/>
              </a:rPr>
              <a:t> </a:t>
            </a:r>
            <a:r>
              <a:rPr sz="2800" spc="-20" dirty="0">
                <a:latin typeface="Aptos"/>
                <a:cs typeface="Aptos"/>
              </a:rPr>
              <a:t>data</a:t>
            </a:r>
            <a:r>
              <a:rPr sz="2800" spc="-20" dirty="0">
                <a:latin typeface="Times New Roman"/>
                <a:cs typeface="Times New Roman"/>
              </a:rPr>
              <a:t> </a:t>
            </a:r>
            <a:r>
              <a:rPr sz="2800" dirty="0">
                <a:latin typeface="Aptos"/>
                <a:cs typeface="Aptos"/>
              </a:rPr>
              <a:t>rate</a:t>
            </a:r>
            <a:r>
              <a:rPr sz="2800" spc="470" dirty="0">
                <a:latin typeface="Times New Roman"/>
                <a:cs typeface="Times New Roman"/>
              </a:rPr>
              <a:t> </a:t>
            </a:r>
            <a:r>
              <a:rPr sz="2800" dirty="0">
                <a:latin typeface="Aptos"/>
                <a:cs typeface="Aptos"/>
              </a:rPr>
              <a:t>of</a:t>
            </a:r>
            <a:r>
              <a:rPr sz="2800" spc="465" dirty="0">
                <a:latin typeface="Times New Roman"/>
                <a:cs typeface="Times New Roman"/>
              </a:rPr>
              <a:t> </a:t>
            </a:r>
            <a:r>
              <a:rPr sz="2800" dirty="0">
                <a:latin typeface="Aptos"/>
                <a:cs typeface="Aptos"/>
              </a:rPr>
              <a:t>the</a:t>
            </a:r>
            <a:r>
              <a:rPr sz="2800" spc="480" dirty="0">
                <a:latin typeface="Times New Roman"/>
                <a:cs typeface="Times New Roman"/>
              </a:rPr>
              <a:t> </a:t>
            </a:r>
            <a:r>
              <a:rPr sz="2800" dirty="0">
                <a:latin typeface="Aptos"/>
                <a:cs typeface="Aptos"/>
              </a:rPr>
              <a:t>system.</a:t>
            </a:r>
            <a:r>
              <a:rPr sz="2800" spc="484" dirty="0">
                <a:latin typeface="Times New Roman"/>
                <a:cs typeface="Times New Roman"/>
              </a:rPr>
              <a:t> </a:t>
            </a:r>
            <a:r>
              <a:rPr sz="2800" dirty="0">
                <a:latin typeface="Aptos"/>
                <a:cs typeface="Aptos"/>
              </a:rPr>
              <a:t>This</a:t>
            </a:r>
            <a:r>
              <a:rPr sz="2800" spc="470" dirty="0">
                <a:latin typeface="Times New Roman"/>
                <a:cs typeface="Times New Roman"/>
              </a:rPr>
              <a:t> </a:t>
            </a:r>
            <a:r>
              <a:rPr sz="2800" dirty="0">
                <a:latin typeface="Aptos"/>
                <a:cs typeface="Aptos"/>
              </a:rPr>
              <a:t>layer</a:t>
            </a:r>
            <a:r>
              <a:rPr sz="2800" spc="470" dirty="0">
                <a:latin typeface="Times New Roman"/>
                <a:cs typeface="Times New Roman"/>
              </a:rPr>
              <a:t> </a:t>
            </a:r>
            <a:r>
              <a:rPr sz="2800" dirty="0">
                <a:latin typeface="Aptos"/>
                <a:cs typeface="Aptos"/>
              </a:rPr>
              <a:t>involves</a:t>
            </a:r>
            <a:r>
              <a:rPr sz="2800" spc="470" dirty="0">
                <a:latin typeface="Times New Roman"/>
                <a:cs typeface="Times New Roman"/>
              </a:rPr>
              <a:t> </a:t>
            </a:r>
            <a:r>
              <a:rPr sz="2800" dirty="0">
                <a:latin typeface="Aptos"/>
                <a:cs typeface="Aptos"/>
              </a:rPr>
              <a:t>standardized</a:t>
            </a:r>
            <a:r>
              <a:rPr sz="2800" spc="480" dirty="0">
                <a:latin typeface="Times New Roman"/>
                <a:cs typeface="Times New Roman"/>
              </a:rPr>
              <a:t> </a:t>
            </a:r>
            <a:r>
              <a:rPr sz="2800" spc="-10" dirty="0">
                <a:latin typeface="Aptos"/>
                <a:cs typeface="Aptos"/>
              </a:rPr>
              <a:t>protocol</a:t>
            </a:r>
            <a:r>
              <a:rPr sz="2800" spc="-10" dirty="0">
                <a:latin typeface="Times New Roman"/>
                <a:cs typeface="Times New Roman"/>
              </a:rPr>
              <a:t> </a:t>
            </a:r>
            <a:r>
              <a:rPr sz="2800" spc="-10" dirty="0">
                <a:latin typeface="Aptos"/>
                <a:cs typeface="Aptos"/>
              </a:rPr>
              <a:t>dealing</a:t>
            </a:r>
            <a:r>
              <a:rPr sz="2800" spc="-160" dirty="0">
                <a:latin typeface="Times New Roman"/>
                <a:cs typeface="Times New Roman"/>
              </a:rPr>
              <a:t> </a:t>
            </a:r>
            <a:r>
              <a:rPr sz="2800" spc="-10" dirty="0">
                <a:latin typeface="Aptos"/>
                <a:cs typeface="Aptos"/>
              </a:rPr>
              <a:t>with</a:t>
            </a:r>
            <a:r>
              <a:rPr sz="2800" spc="-160" dirty="0">
                <a:latin typeface="Times New Roman"/>
                <a:cs typeface="Times New Roman"/>
              </a:rPr>
              <a:t> </a:t>
            </a:r>
            <a:r>
              <a:rPr sz="2800" spc="-10" dirty="0">
                <a:latin typeface="Aptos"/>
                <a:cs typeface="Aptos"/>
              </a:rPr>
              <a:t>electrical</a:t>
            </a:r>
            <a:r>
              <a:rPr sz="2800" spc="-135" dirty="0">
                <a:latin typeface="Times New Roman"/>
                <a:cs typeface="Times New Roman"/>
              </a:rPr>
              <a:t> </a:t>
            </a:r>
            <a:r>
              <a:rPr sz="2800" dirty="0">
                <a:latin typeface="Aptos"/>
                <a:cs typeface="Aptos"/>
              </a:rPr>
              <a:t>&amp;</a:t>
            </a:r>
            <a:r>
              <a:rPr sz="2800" spc="-145" dirty="0">
                <a:latin typeface="Times New Roman"/>
                <a:cs typeface="Times New Roman"/>
              </a:rPr>
              <a:t> </a:t>
            </a:r>
            <a:r>
              <a:rPr sz="2800" spc="-10" dirty="0">
                <a:latin typeface="Aptos"/>
                <a:cs typeface="Aptos"/>
              </a:rPr>
              <a:t>signaling</a:t>
            </a:r>
            <a:r>
              <a:rPr sz="2800" spc="-155" dirty="0">
                <a:latin typeface="Times New Roman"/>
                <a:cs typeface="Times New Roman"/>
              </a:rPr>
              <a:t> </a:t>
            </a:r>
            <a:r>
              <a:rPr sz="2800" spc="-10" dirty="0">
                <a:latin typeface="Aptos"/>
                <a:cs typeface="Aptos"/>
              </a:rPr>
              <a:t>interface.</a:t>
            </a:r>
            <a:endParaRPr sz="2800">
              <a:latin typeface="Aptos"/>
              <a:cs typeface="Aptos"/>
            </a:endParaRPr>
          </a:p>
          <a:p>
            <a:pPr>
              <a:lnSpc>
                <a:spcPct val="100000"/>
              </a:lnSpc>
              <a:spcBef>
                <a:spcPts val="55"/>
              </a:spcBef>
              <a:buFont typeface="Aptos"/>
              <a:buAutoNum type="arabicPeriod"/>
            </a:pPr>
            <a:endParaRPr sz="3900">
              <a:latin typeface="Aptos"/>
              <a:cs typeface="Aptos"/>
            </a:endParaRPr>
          </a:p>
          <a:p>
            <a:pPr marL="12700" marR="8255" algn="just">
              <a:lnSpc>
                <a:spcPts val="3030"/>
              </a:lnSpc>
              <a:spcBef>
                <a:spcPts val="5"/>
              </a:spcBef>
              <a:buAutoNum type="arabicPeriod"/>
              <a:tabLst>
                <a:tab pos="470534" algn="l"/>
              </a:tabLst>
            </a:pPr>
            <a:r>
              <a:rPr sz="2800" dirty="0">
                <a:latin typeface="Aptos"/>
                <a:cs typeface="Aptos"/>
              </a:rPr>
              <a:t>Data</a:t>
            </a:r>
            <a:r>
              <a:rPr sz="2800" spc="509" dirty="0">
                <a:latin typeface="Times New Roman"/>
                <a:cs typeface="Times New Roman"/>
              </a:rPr>
              <a:t> </a:t>
            </a:r>
            <a:r>
              <a:rPr sz="2800" dirty="0">
                <a:latin typeface="Aptos"/>
                <a:cs typeface="Aptos"/>
              </a:rPr>
              <a:t>Link</a:t>
            </a:r>
            <a:r>
              <a:rPr sz="2800" spc="495" dirty="0">
                <a:latin typeface="Times New Roman"/>
                <a:cs typeface="Times New Roman"/>
              </a:rPr>
              <a:t> </a:t>
            </a:r>
            <a:r>
              <a:rPr sz="2800" dirty="0">
                <a:latin typeface="Aptos"/>
                <a:cs typeface="Aptos"/>
              </a:rPr>
              <a:t>Layer:</a:t>
            </a:r>
            <a:r>
              <a:rPr sz="2800" spc="505" dirty="0">
                <a:latin typeface="Times New Roman"/>
                <a:cs typeface="Times New Roman"/>
              </a:rPr>
              <a:t> </a:t>
            </a:r>
            <a:r>
              <a:rPr sz="2800" dirty="0">
                <a:latin typeface="Aptos"/>
                <a:cs typeface="Aptos"/>
              </a:rPr>
              <a:t>It</a:t>
            </a:r>
            <a:r>
              <a:rPr sz="2800" spc="505" dirty="0">
                <a:latin typeface="Times New Roman"/>
                <a:cs typeface="Times New Roman"/>
              </a:rPr>
              <a:t> </a:t>
            </a:r>
            <a:r>
              <a:rPr sz="2800" dirty="0">
                <a:latin typeface="Aptos"/>
                <a:cs typeface="Aptos"/>
              </a:rPr>
              <a:t>handles</a:t>
            </a:r>
            <a:r>
              <a:rPr sz="2800" spc="495" dirty="0">
                <a:latin typeface="Times New Roman"/>
                <a:cs typeface="Times New Roman"/>
              </a:rPr>
              <a:t> </a:t>
            </a:r>
            <a:r>
              <a:rPr sz="2800" dirty="0">
                <a:latin typeface="Aptos"/>
                <a:cs typeface="Aptos"/>
              </a:rPr>
              <a:t>error</a:t>
            </a:r>
            <a:r>
              <a:rPr sz="2800" spc="509" dirty="0">
                <a:latin typeface="Times New Roman"/>
                <a:cs typeface="Times New Roman"/>
              </a:rPr>
              <a:t> </a:t>
            </a:r>
            <a:r>
              <a:rPr sz="2800" dirty="0">
                <a:latin typeface="Aptos"/>
                <a:cs typeface="Aptos"/>
              </a:rPr>
              <a:t>in</a:t>
            </a:r>
            <a:r>
              <a:rPr sz="2800" spc="484" dirty="0">
                <a:latin typeface="Times New Roman"/>
                <a:cs typeface="Times New Roman"/>
              </a:rPr>
              <a:t> </a:t>
            </a:r>
            <a:r>
              <a:rPr sz="2800" dirty="0">
                <a:latin typeface="Aptos"/>
                <a:cs typeface="Aptos"/>
              </a:rPr>
              <a:t>physical</a:t>
            </a:r>
            <a:r>
              <a:rPr sz="2800" spc="505" dirty="0">
                <a:latin typeface="Times New Roman"/>
                <a:cs typeface="Times New Roman"/>
              </a:rPr>
              <a:t> </a:t>
            </a:r>
            <a:r>
              <a:rPr sz="2800" dirty="0">
                <a:latin typeface="Aptos"/>
                <a:cs typeface="Aptos"/>
              </a:rPr>
              <a:t>layer.</a:t>
            </a:r>
            <a:r>
              <a:rPr sz="2800" spc="500" dirty="0">
                <a:latin typeface="Times New Roman"/>
                <a:cs typeface="Times New Roman"/>
              </a:rPr>
              <a:t> </a:t>
            </a:r>
            <a:r>
              <a:rPr sz="2800" dirty="0">
                <a:latin typeface="Aptos"/>
                <a:cs typeface="Aptos"/>
              </a:rPr>
              <a:t>This</a:t>
            </a:r>
            <a:r>
              <a:rPr sz="2800" spc="495" dirty="0">
                <a:latin typeface="Times New Roman"/>
                <a:cs typeface="Times New Roman"/>
              </a:rPr>
              <a:t> </a:t>
            </a:r>
            <a:r>
              <a:rPr sz="2800" spc="-10" dirty="0">
                <a:latin typeface="Aptos"/>
                <a:cs typeface="Aptos"/>
              </a:rPr>
              <a:t>layer</a:t>
            </a:r>
            <a:r>
              <a:rPr sz="2800" spc="-10" dirty="0">
                <a:latin typeface="Times New Roman"/>
                <a:cs typeface="Times New Roman"/>
              </a:rPr>
              <a:t> </a:t>
            </a:r>
            <a:r>
              <a:rPr sz="2800" dirty="0">
                <a:latin typeface="Aptos"/>
                <a:cs typeface="Aptos"/>
              </a:rPr>
              <a:t>ensures</a:t>
            </a:r>
            <a:r>
              <a:rPr sz="2800" spc="15" dirty="0">
                <a:latin typeface="Times New Roman"/>
                <a:cs typeface="Times New Roman"/>
              </a:rPr>
              <a:t> </a:t>
            </a:r>
            <a:r>
              <a:rPr sz="2800" dirty="0">
                <a:latin typeface="Aptos"/>
                <a:cs typeface="Aptos"/>
              </a:rPr>
              <a:t>the</a:t>
            </a:r>
            <a:r>
              <a:rPr sz="2800" spc="15" dirty="0">
                <a:latin typeface="Times New Roman"/>
                <a:cs typeface="Times New Roman"/>
              </a:rPr>
              <a:t> </a:t>
            </a:r>
            <a:r>
              <a:rPr sz="2800" dirty="0">
                <a:latin typeface="Aptos"/>
                <a:cs typeface="Aptos"/>
              </a:rPr>
              <a:t>correct</a:t>
            </a:r>
            <a:r>
              <a:rPr sz="2800" spc="15" dirty="0">
                <a:latin typeface="Times New Roman"/>
                <a:cs typeface="Times New Roman"/>
              </a:rPr>
              <a:t> </a:t>
            </a:r>
            <a:r>
              <a:rPr sz="2800" dirty="0">
                <a:latin typeface="Aptos"/>
                <a:cs typeface="Aptos"/>
              </a:rPr>
              <a:t>delivery</a:t>
            </a:r>
            <a:r>
              <a:rPr sz="2800" dirty="0">
                <a:latin typeface="Times New Roman"/>
                <a:cs typeface="Times New Roman"/>
              </a:rPr>
              <a:t> </a:t>
            </a:r>
            <a:r>
              <a:rPr sz="2800" dirty="0">
                <a:latin typeface="Aptos"/>
                <a:cs typeface="Aptos"/>
              </a:rPr>
              <a:t>of</a:t>
            </a:r>
            <a:r>
              <a:rPr sz="2800" dirty="0">
                <a:latin typeface="Times New Roman"/>
                <a:cs typeface="Times New Roman"/>
              </a:rPr>
              <a:t> </a:t>
            </a:r>
            <a:r>
              <a:rPr sz="2800" dirty="0">
                <a:latin typeface="Aptos"/>
                <a:cs typeface="Aptos"/>
              </a:rPr>
              <a:t>frame</a:t>
            </a:r>
            <a:r>
              <a:rPr sz="2800" spc="25" dirty="0">
                <a:latin typeface="Times New Roman"/>
                <a:cs typeface="Times New Roman"/>
              </a:rPr>
              <a:t> </a:t>
            </a:r>
            <a:r>
              <a:rPr sz="2800" dirty="0">
                <a:latin typeface="Aptos"/>
                <a:cs typeface="Aptos"/>
              </a:rPr>
              <a:t>to</a:t>
            </a:r>
            <a:r>
              <a:rPr sz="2800" spc="10" dirty="0">
                <a:latin typeface="Times New Roman"/>
                <a:cs typeface="Times New Roman"/>
              </a:rPr>
              <a:t> </a:t>
            </a:r>
            <a:r>
              <a:rPr sz="2800" dirty="0">
                <a:latin typeface="Aptos"/>
                <a:cs typeface="Aptos"/>
              </a:rPr>
              <a:t>the</a:t>
            </a:r>
            <a:r>
              <a:rPr sz="2800" spc="10" dirty="0">
                <a:latin typeface="Times New Roman"/>
                <a:cs typeface="Times New Roman"/>
              </a:rPr>
              <a:t> </a:t>
            </a:r>
            <a:r>
              <a:rPr sz="2800" dirty="0">
                <a:latin typeface="Aptos"/>
                <a:cs typeface="Aptos"/>
              </a:rPr>
              <a:t>destination</a:t>
            </a:r>
            <a:r>
              <a:rPr sz="2800" spc="10" dirty="0">
                <a:latin typeface="Times New Roman"/>
                <a:cs typeface="Times New Roman"/>
              </a:rPr>
              <a:t> </a:t>
            </a:r>
            <a:r>
              <a:rPr sz="2800" dirty="0">
                <a:latin typeface="Aptos"/>
                <a:cs typeface="Aptos"/>
              </a:rPr>
              <a:t>address.</a:t>
            </a:r>
            <a:r>
              <a:rPr sz="2800" spc="15" dirty="0">
                <a:latin typeface="Times New Roman"/>
                <a:cs typeface="Times New Roman"/>
              </a:rPr>
              <a:t> </a:t>
            </a:r>
            <a:r>
              <a:rPr sz="2800" spc="-25" dirty="0">
                <a:latin typeface="Aptos"/>
                <a:cs typeface="Aptos"/>
              </a:rPr>
              <a:t>It</a:t>
            </a:r>
            <a:r>
              <a:rPr sz="2800" spc="-25" dirty="0">
                <a:latin typeface="Times New Roman"/>
                <a:cs typeface="Times New Roman"/>
              </a:rPr>
              <a:t> </a:t>
            </a:r>
            <a:r>
              <a:rPr sz="2800" spc="-10" dirty="0">
                <a:latin typeface="Aptos"/>
                <a:cs typeface="Aptos"/>
              </a:rPr>
              <a:t>consists</a:t>
            </a:r>
            <a:r>
              <a:rPr sz="2800" spc="-125" dirty="0">
                <a:latin typeface="Times New Roman"/>
                <a:cs typeface="Times New Roman"/>
              </a:rPr>
              <a:t> </a:t>
            </a:r>
            <a:r>
              <a:rPr sz="2800" dirty="0">
                <a:latin typeface="Aptos"/>
                <a:cs typeface="Aptos"/>
              </a:rPr>
              <a:t>of</a:t>
            </a:r>
            <a:r>
              <a:rPr sz="2800" spc="-150" dirty="0">
                <a:latin typeface="Times New Roman"/>
                <a:cs typeface="Times New Roman"/>
              </a:rPr>
              <a:t> </a:t>
            </a:r>
            <a:r>
              <a:rPr sz="2800" dirty="0">
                <a:latin typeface="Aptos"/>
                <a:cs typeface="Aptos"/>
              </a:rPr>
              <a:t>2</a:t>
            </a:r>
            <a:r>
              <a:rPr sz="2800" spc="-145" dirty="0">
                <a:latin typeface="Times New Roman"/>
                <a:cs typeface="Times New Roman"/>
              </a:rPr>
              <a:t> </a:t>
            </a:r>
            <a:r>
              <a:rPr sz="2800" spc="-10" dirty="0">
                <a:latin typeface="Aptos"/>
                <a:cs typeface="Aptos"/>
              </a:rPr>
              <a:t>parts</a:t>
            </a:r>
            <a:r>
              <a:rPr sz="2800" spc="-135" dirty="0">
                <a:latin typeface="Times New Roman"/>
                <a:cs typeface="Times New Roman"/>
              </a:rPr>
              <a:t> </a:t>
            </a:r>
            <a:r>
              <a:rPr sz="2800" dirty="0">
                <a:latin typeface="Aptos"/>
                <a:cs typeface="Aptos"/>
              </a:rPr>
              <a:t>or</a:t>
            </a:r>
            <a:r>
              <a:rPr sz="2800" spc="-135" dirty="0">
                <a:latin typeface="Times New Roman"/>
                <a:cs typeface="Times New Roman"/>
              </a:rPr>
              <a:t> </a:t>
            </a:r>
            <a:r>
              <a:rPr sz="2800" dirty="0">
                <a:latin typeface="Aptos"/>
                <a:cs typeface="Aptos"/>
              </a:rPr>
              <a:t>2</a:t>
            </a:r>
            <a:r>
              <a:rPr sz="2800" spc="-145" dirty="0">
                <a:latin typeface="Times New Roman"/>
                <a:cs typeface="Times New Roman"/>
              </a:rPr>
              <a:t> </a:t>
            </a:r>
            <a:r>
              <a:rPr sz="2800" spc="-25" dirty="0">
                <a:latin typeface="Aptos"/>
                <a:cs typeface="Aptos"/>
              </a:rPr>
              <a:t>sub-layers.</a:t>
            </a:r>
            <a:r>
              <a:rPr sz="2800" spc="-140" dirty="0">
                <a:latin typeface="Times New Roman"/>
                <a:cs typeface="Times New Roman"/>
              </a:rPr>
              <a:t> </a:t>
            </a:r>
            <a:r>
              <a:rPr sz="2800" spc="-20" dirty="0">
                <a:latin typeface="Aptos"/>
                <a:cs typeface="Aptos"/>
              </a:rPr>
              <a:t>i.e.</a:t>
            </a:r>
            <a:endParaRPr sz="2800">
              <a:latin typeface="Aptos"/>
              <a:cs typeface="Aptos"/>
            </a:endParaRPr>
          </a:p>
          <a:p>
            <a:pPr marL="271780" indent="-259715" algn="just">
              <a:lnSpc>
                <a:spcPct val="100000"/>
              </a:lnSpc>
              <a:spcBef>
                <a:spcPts val="600"/>
              </a:spcBef>
              <a:buAutoNum type="romanLcPeriod"/>
              <a:tabLst>
                <a:tab pos="272415" algn="l"/>
              </a:tabLst>
            </a:pPr>
            <a:r>
              <a:rPr sz="2800" spc="-10" dirty="0">
                <a:latin typeface="Aptos"/>
                <a:cs typeface="Aptos"/>
              </a:rPr>
              <a:t>Logic</a:t>
            </a:r>
            <a:r>
              <a:rPr sz="2800" spc="-125" dirty="0">
                <a:latin typeface="Times New Roman"/>
                <a:cs typeface="Times New Roman"/>
              </a:rPr>
              <a:t> </a:t>
            </a:r>
            <a:r>
              <a:rPr sz="2800" spc="-10" dirty="0">
                <a:latin typeface="Aptos"/>
                <a:cs typeface="Aptos"/>
              </a:rPr>
              <a:t>Link</a:t>
            </a:r>
            <a:r>
              <a:rPr sz="2800" spc="-155" dirty="0">
                <a:latin typeface="Times New Roman"/>
                <a:cs typeface="Times New Roman"/>
              </a:rPr>
              <a:t> </a:t>
            </a:r>
            <a:r>
              <a:rPr sz="2800" spc="-10" dirty="0">
                <a:latin typeface="Aptos"/>
                <a:cs typeface="Aptos"/>
              </a:rPr>
              <a:t>Control</a:t>
            </a:r>
            <a:endParaRPr sz="2800">
              <a:latin typeface="Aptos"/>
              <a:cs typeface="Aptos"/>
            </a:endParaRPr>
          </a:p>
          <a:p>
            <a:pPr marL="355600" indent="-343535" algn="just">
              <a:lnSpc>
                <a:spcPct val="100000"/>
              </a:lnSpc>
              <a:spcBef>
                <a:spcPts val="665"/>
              </a:spcBef>
              <a:buAutoNum type="romanLcPeriod"/>
              <a:tabLst>
                <a:tab pos="356235" algn="l"/>
              </a:tabLst>
            </a:pPr>
            <a:r>
              <a:rPr sz="2800" spc="-10" dirty="0">
                <a:latin typeface="Aptos"/>
                <a:cs typeface="Aptos"/>
              </a:rPr>
              <a:t>Media</a:t>
            </a:r>
            <a:r>
              <a:rPr sz="2800" spc="-165" dirty="0">
                <a:latin typeface="Times New Roman"/>
                <a:cs typeface="Times New Roman"/>
              </a:rPr>
              <a:t> </a:t>
            </a:r>
            <a:r>
              <a:rPr sz="2800" spc="-10" dirty="0">
                <a:latin typeface="Aptos"/>
                <a:cs typeface="Aptos"/>
              </a:rPr>
              <a:t>Access</a:t>
            </a:r>
            <a:r>
              <a:rPr sz="2800" spc="-140" dirty="0">
                <a:latin typeface="Times New Roman"/>
                <a:cs typeface="Times New Roman"/>
              </a:rPr>
              <a:t> </a:t>
            </a:r>
            <a:r>
              <a:rPr sz="2800" spc="-10" dirty="0">
                <a:latin typeface="Aptos"/>
                <a:cs typeface="Aptos"/>
              </a:rPr>
              <a:t>Control</a:t>
            </a:r>
            <a:endParaRPr sz="2800">
              <a:latin typeface="Aptos"/>
              <a:cs typeface="Apto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6" y="532244"/>
            <a:ext cx="10360660" cy="4928870"/>
          </a:xfrm>
          <a:prstGeom prst="rect">
            <a:avLst/>
          </a:prstGeom>
        </p:spPr>
        <p:txBody>
          <a:bodyPr vert="horz" wrap="square" lIns="0" tIns="60960" rIns="0" bIns="0" rtlCol="0">
            <a:spAutoFit/>
          </a:bodyPr>
          <a:lstStyle/>
          <a:p>
            <a:pPr marL="12700" marR="5080" algn="just">
              <a:lnSpc>
                <a:spcPts val="3020"/>
              </a:lnSpc>
              <a:spcBef>
                <a:spcPts val="480"/>
              </a:spcBef>
              <a:buAutoNum type="arabicPeriod" startAt="3"/>
              <a:tabLst>
                <a:tab pos="479425" algn="l"/>
              </a:tabLst>
            </a:pPr>
            <a:r>
              <a:rPr sz="2800" dirty="0">
                <a:latin typeface="Aptos"/>
                <a:cs typeface="Aptos"/>
              </a:rPr>
              <a:t>Network</a:t>
            </a:r>
            <a:r>
              <a:rPr sz="2800" spc="590" dirty="0">
                <a:latin typeface="Times New Roman"/>
                <a:cs typeface="Times New Roman"/>
              </a:rPr>
              <a:t> </a:t>
            </a:r>
            <a:r>
              <a:rPr sz="2800" dirty="0">
                <a:latin typeface="Aptos"/>
                <a:cs typeface="Aptos"/>
              </a:rPr>
              <a:t>Layer:</a:t>
            </a:r>
            <a:r>
              <a:rPr sz="2800" spc="585" dirty="0">
                <a:latin typeface="Times New Roman"/>
                <a:cs typeface="Times New Roman"/>
              </a:rPr>
              <a:t> </a:t>
            </a:r>
            <a:r>
              <a:rPr sz="2800" dirty="0">
                <a:latin typeface="Aptos"/>
                <a:cs typeface="Aptos"/>
              </a:rPr>
              <a:t>This</a:t>
            </a:r>
            <a:r>
              <a:rPr sz="2800" spc="590" dirty="0">
                <a:latin typeface="Times New Roman"/>
                <a:cs typeface="Times New Roman"/>
              </a:rPr>
              <a:t> </a:t>
            </a:r>
            <a:r>
              <a:rPr sz="2800" dirty="0">
                <a:latin typeface="Aptos"/>
                <a:cs typeface="Aptos"/>
              </a:rPr>
              <a:t>layer</a:t>
            </a:r>
            <a:r>
              <a:rPr sz="2800" spc="580" dirty="0">
                <a:latin typeface="Times New Roman"/>
                <a:cs typeface="Times New Roman"/>
              </a:rPr>
              <a:t> </a:t>
            </a:r>
            <a:r>
              <a:rPr sz="2800" dirty="0">
                <a:latin typeface="Aptos"/>
                <a:cs typeface="Aptos"/>
              </a:rPr>
              <a:t>is</a:t>
            </a:r>
            <a:r>
              <a:rPr sz="2800" spc="585" dirty="0">
                <a:latin typeface="Times New Roman"/>
                <a:cs typeface="Times New Roman"/>
              </a:rPr>
              <a:t> </a:t>
            </a:r>
            <a:r>
              <a:rPr sz="2800" dirty="0">
                <a:latin typeface="Aptos"/>
                <a:cs typeface="Aptos"/>
              </a:rPr>
              <a:t>concerned</a:t>
            </a:r>
            <a:r>
              <a:rPr sz="2800" spc="585" dirty="0">
                <a:latin typeface="Times New Roman"/>
                <a:cs typeface="Times New Roman"/>
              </a:rPr>
              <a:t> </a:t>
            </a:r>
            <a:r>
              <a:rPr sz="2800" dirty="0">
                <a:latin typeface="Aptos"/>
                <a:cs typeface="Aptos"/>
              </a:rPr>
              <a:t>with</a:t>
            </a:r>
            <a:r>
              <a:rPr sz="2800" spc="585" dirty="0">
                <a:latin typeface="Times New Roman"/>
                <a:cs typeface="Times New Roman"/>
              </a:rPr>
              <a:t> </a:t>
            </a:r>
            <a:r>
              <a:rPr sz="2800" dirty="0">
                <a:latin typeface="Aptos"/>
                <a:cs typeface="Aptos"/>
              </a:rPr>
              <a:t>transmission</a:t>
            </a:r>
            <a:r>
              <a:rPr sz="2800" spc="585" dirty="0">
                <a:latin typeface="Times New Roman"/>
                <a:cs typeface="Times New Roman"/>
              </a:rPr>
              <a:t> </a:t>
            </a:r>
            <a:r>
              <a:rPr sz="2800" spc="-25" dirty="0">
                <a:latin typeface="Aptos"/>
                <a:cs typeface="Aptos"/>
              </a:rPr>
              <a:t>of</a:t>
            </a:r>
            <a:r>
              <a:rPr sz="2800" spc="-25" dirty="0">
                <a:latin typeface="Times New Roman"/>
                <a:cs typeface="Times New Roman"/>
              </a:rPr>
              <a:t> </a:t>
            </a:r>
            <a:r>
              <a:rPr sz="2800" dirty="0">
                <a:latin typeface="Aptos"/>
                <a:cs typeface="Aptos"/>
              </a:rPr>
              <a:t>packet.</a:t>
            </a:r>
            <a:r>
              <a:rPr sz="2800" spc="85" dirty="0">
                <a:latin typeface="Times New Roman"/>
                <a:cs typeface="Times New Roman"/>
              </a:rPr>
              <a:t>  </a:t>
            </a:r>
            <a:r>
              <a:rPr sz="2800" dirty="0">
                <a:latin typeface="Aptos"/>
                <a:cs typeface="Aptos"/>
              </a:rPr>
              <a:t>N/w</a:t>
            </a:r>
            <a:r>
              <a:rPr sz="2800" spc="75" dirty="0">
                <a:latin typeface="Times New Roman"/>
                <a:cs typeface="Times New Roman"/>
              </a:rPr>
              <a:t>  </a:t>
            </a:r>
            <a:r>
              <a:rPr sz="2800" dirty="0">
                <a:latin typeface="Aptos"/>
                <a:cs typeface="Aptos"/>
              </a:rPr>
              <a:t>layer</a:t>
            </a:r>
            <a:r>
              <a:rPr sz="2800" spc="80" dirty="0">
                <a:latin typeface="Times New Roman"/>
                <a:cs typeface="Times New Roman"/>
              </a:rPr>
              <a:t>  </a:t>
            </a:r>
            <a:r>
              <a:rPr sz="2800" dirty="0">
                <a:latin typeface="Aptos"/>
                <a:cs typeface="Aptos"/>
              </a:rPr>
              <a:t>protocol</a:t>
            </a:r>
            <a:r>
              <a:rPr sz="2800" spc="85" dirty="0">
                <a:latin typeface="Times New Roman"/>
                <a:cs typeface="Times New Roman"/>
              </a:rPr>
              <a:t>  </a:t>
            </a:r>
            <a:r>
              <a:rPr sz="2800" dirty="0">
                <a:latin typeface="Aptos"/>
                <a:cs typeface="Aptos"/>
              </a:rPr>
              <a:t>chooses</a:t>
            </a:r>
            <a:r>
              <a:rPr sz="2800" spc="80" dirty="0">
                <a:latin typeface="Times New Roman"/>
                <a:cs typeface="Times New Roman"/>
              </a:rPr>
              <a:t>  </a:t>
            </a:r>
            <a:r>
              <a:rPr sz="2800" dirty="0">
                <a:latin typeface="Aptos"/>
                <a:cs typeface="Aptos"/>
              </a:rPr>
              <a:t>the</a:t>
            </a:r>
            <a:r>
              <a:rPr sz="2800" spc="80" dirty="0">
                <a:latin typeface="Times New Roman"/>
                <a:cs typeface="Times New Roman"/>
              </a:rPr>
              <a:t>  </a:t>
            </a:r>
            <a:r>
              <a:rPr sz="2800" dirty="0">
                <a:latin typeface="Aptos"/>
                <a:cs typeface="Aptos"/>
              </a:rPr>
              <a:t>best</a:t>
            </a:r>
            <a:r>
              <a:rPr sz="2800" spc="80" dirty="0">
                <a:latin typeface="Times New Roman"/>
                <a:cs typeface="Times New Roman"/>
              </a:rPr>
              <a:t>  </a:t>
            </a:r>
            <a:r>
              <a:rPr sz="2800" dirty="0">
                <a:latin typeface="Aptos"/>
                <a:cs typeface="Aptos"/>
              </a:rPr>
              <a:t>path</a:t>
            </a:r>
            <a:r>
              <a:rPr sz="2800" spc="75" dirty="0">
                <a:latin typeface="Times New Roman"/>
                <a:cs typeface="Times New Roman"/>
              </a:rPr>
              <a:t>  </a:t>
            </a:r>
            <a:r>
              <a:rPr sz="2800" dirty="0">
                <a:latin typeface="Aptos"/>
                <a:cs typeface="Aptos"/>
              </a:rPr>
              <a:t>to</a:t>
            </a:r>
            <a:r>
              <a:rPr sz="2800" spc="80" dirty="0">
                <a:latin typeface="Times New Roman"/>
                <a:cs typeface="Times New Roman"/>
              </a:rPr>
              <a:t>  </a:t>
            </a:r>
            <a:r>
              <a:rPr sz="2800" dirty="0">
                <a:latin typeface="Aptos"/>
                <a:cs typeface="Aptos"/>
              </a:rPr>
              <a:t>send</a:t>
            </a:r>
            <a:r>
              <a:rPr sz="2800" spc="85" dirty="0">
                <a:latin typeface="Times New Roman"/>
                <a:cs typeface="Times New Roman"/>
              </a:rPr>
              <a:t>  </a:t>
            </a:r>
            <a:r>
              <a:rPr sz="2800" spc="-50" dirty="0">
                <a:latin typeface="Aptos"/>
                <a:cs typeface="Aptos"/>
              </a:rPr>
              <a:t>a</a:t>
            </a:r>
            <a:r>
              <a:rPr sz="2800" spc="-50" dirty="0">
                <a:latin typeface="Times New Roman"/>
                <a:cs typeface="Times New Roman"/>
              </a:rPr>
              <a:t> </a:t>
            </a:r>
            <a:r>
              <a:rPr sz="2800" dirty="0">
                <a:latin typeface="Aptos"/>
                <a:cs typeface="Aptos"/>
              </a:rPr>
              <a:t>package</a:t>
            </a:r>
            <a:r>
              <a:rPr sz="2800" spc="-55" dirty="0">
                <a:latin typeface="Times New Roman"/>
                <a:cs typeface="Times New Roman"/>
              </a:rPr>
              <a:t> </a:t>
            </a:r>
            <a:r>
              <a:rPr sz="2800" dirty="0">
                <a:latin typeface="Aptos"/>
                <a:cs typeface="Aptos"/>
              </a:rPr>
              <a:t>called</a:t>
            </a:r>
            <a:r>
              <a:rPr sz="2800" spc="-70" dirty="0">
                <a:latin typeface="Times New Roman"/>
                <a:cs typeface="Times New Roman"/>
              </a:rPr>
              <a:t> </a:t>
            </a:r>
            <a:r>
              <a:rPr sz="2800" dirty="0">
                <a:latin typeface="Aptos"/>
                <a:cs typeface="Aptos"/>
              </a:rPr>
              <a:t>routing.</a:t>
            </a:r>
            <a:r>
              <a:rPr sz="2800" spc="-70" dirty="0">
                <a:latin typeface="Times New Roman"/>
                <a:cs typeface="Times New Roman"/>
              </a:rPr>
              <a:t> </a:t>
            </a:r>
            <a:r>
              <a:rPr sz="2800" dirty="0">
                <a:latin typeface="Aptos"/>
                <a:cs typeface="Aptos"/>
              </a:rPr>
              <a:t>Two</a:t>
            </a:r>
            <a:r>
              <a:rPr sz="2800" spc="-55" dirty="0">
                <a:latin typeface="Times New Roman"/>
                <a:cs typeface="Times New Roman"/>
              </a:rPr>
              <a:t> </a:t>
            </a:r>
            <a:r>
              <a:rPr sz="2800" dirty="0">
                <a:latin typeface="Aptos"/>
                <a:cs typeface="Aptos"/>
              </a:rPr>
              <a:t>protocols</a:t>
            </a:r>
            <a:r>
              <a:rPr sz="2800" spc="-60" dirty="0">
                <a:latin typeface="Times New Roman"/>
                <a:cs typeface="Times New Roman"/>
              </a:rPr>
              <a:t> </a:t>
            </a:r>
            <a:r>
              <a:rPr sz="2800" dirty="0">
                <a:latin typeface="Aptos"/>
                <a:cs typeface="Aptos"/>
              </a:rPr>
              <a:t>are</a:t>
            </a:r>
            <a:r>
              <a:rPr sz="2800" spc="-65" dirty="0">
                <a:latin typeface="Times New Roman"/>
                <a:cs typeface="Times New Roman"/>
              </a:rPr>
              <a:t> </a:t>
            </a:r>
            <a:r>
              <a:rPr sz="2800" dirty="0">
                <a:latin typeface="Aptos"/>
                <a:cs typeface="Aptos"/>
              </a:rPr>
              <a:t>widely</a:t>
            </a:r>
            <a:r>
              <a:rPr sz="2800" spc="-65" dirty="0">
                <a:latin typeface="Times New Roman"/>
                <a:cs typeface="Times New Roman"/>
              </a:rPr>
              <a:t> </a:t>
            </a:r>
            <a:r>
              <a:rPr sz="2800" dirty="0">
                <a:latin typeface="Aptos"/>
                <a:cs typeface="Aptos"/>
              </a:rPr>
              <a:t>used</a:t>
            </a:r>
            <a:r>
              <a:rPr sz="2800" spc="-70" dirty="0">
                <a:latin typeface="Times New Roman"/>
                <a:cs typeface="Times New Roman"/>
              </a:rPr>
              <a:t> </a:t>
            </a:r>
            <a:r>
              <a:rPr sz="2800" dirty="0">
                <a:latin typeface="Aptos"/>
                <a:cs typeface="Aptos"/>
              </a:rPr>
              <a:t>in</a:t>
            </a:r>
            <a:r>
              <a:rPr sz="2800" spc="-65" dirty="0">
                <a:latin typeface="Times New Roman"/>
                <a:cs typeface="Times New Roman"/>
              </a:rPr>
              <a:t> </a:t>
            </a:r>
            <a:r>
              <a:rPr sz="2800" dirty="0">
                <a:latin typeface="Aptos"/>
                <a:cs typeface="Aptos"/>
              </a:rPr>
              <a:t>n/w</a:t>
            </a:r>
            <a:r>
              <a:rPr sz="2800" spc="-75" dirty="0">
                <a:latin typeface="Times New Roman"/>
                <a:cs typeface="Times New Roman"/>
              </a:rPr>
              <a:t> </a:t>
            </a:r>
            <a:r>
              <a:rPr sz="2800" spc="-10" dirty="0">
                <a:latin typeface="Aptos"/>
                <a:cs typeface="Aptos"/>
              </a:rPr>
              <a:t>layer.</a:t>
            </a:r>
            <a:endParaRPr sz="2800">
              <a:latin typeface="Aptos"/>
              <a:cs typeface="Aptos"/>
            </a:endParaRPr>
          </a:p>
          <a:p>
            <a:pPr marL="1186180" lvl="1" indent="-259715" algn="just">
              <a:lnSpc>
                <a:spcPts val="2990"/>
              </a:lnSpc>
              <a:buAutoNum type="romanLcPeriod"/>
              <a:tabLst>
                <a:tab pos="1186815" algn="l"/>
              </a:tabLst>
            </a:pPr>
            <a:r>
              <a:rPr sz="2800" dirty="0">
                <a:latin typeface="Aptos"/>
                <a:cs typeface="Aptos"/>
              </a:rPr>
              <a:t>X.25</a:t>
            </a:r>
            <a:r>
              <a:rPr sz="2800" spc="-170" dirty="0">
                <a:latin typeface="Times New Roman"/>
                <a:cs typeface="Times New Roman"/>
              </a:rPr>
              <a:t> </a:t>
            </a:r>
            <a:r>
              <a:rPr sz="2800" spc="-10" dirty="0">
                <a:latin typeface="Aptos"/>
                <a:cs typeface="Aptos"/>
              </a:rPr>
              <a:t>Protocol</a:t>
            </a:r>
            <a:endParaRPr sz="2800">
              <a:latin typeface="Aptos"/>
              <a:cs typeface="Aptos"/>
            </a:endParaRPr>
          </a:p>
          <a:p>
            <a:pPr marL="1270000" lvl="1" indent="-343535" algn="just">
              <a:lnSpc>
                <a:spcPct val="100000"/>
              </a:lnSpc>
              <a:spcBef>
                <a:spcPts val="660"/>
              </a:spcBef>
              <a:buAutoNum type="romanLcPeriod"/>
              <a:tabLst>
                <a:tab pos="1270635" algn="l"/>
              </a:tabLst>
            </a:pPr>
            <a:r>
              <a:rPr sz="2800" spc="-20" dirty="0">
                <a:latin typeface="Aptos"/>
                <a:cs typeface="Aptos"/>
              </a:rPr>
              <a:t>Internet</a:t>
            </a:r>
            <a:r>
              <a:rPr sz="2800" spc="-105" dirty="0">
                <a:latin typeface="Times New Roman"/>
                <a:cs typeface="Times New Roman"/>
              </a:rPr>
              <a:t> </a:t>
            </a:r>
            <a:r>
              <a:rPr sz="2800" spc="-10" dirty="0">
                <a:latin typeface="Aptos"/>
                <a:cs typeface="Aptos"/>
              </a:rPr>
              <a:t>Protocol</a:t>
            </a:r>
            <a:endParaRPr sz="2800">
              <a:latin typeface="Aptos"/>
              <a:cs typeface="Aptos"/>
            </a:endParaRPr>
          </a:p>
          <a:p>
            <a:pPr marL="12700" marR="5715" algn="just">
              <a:lnSpc>
                <a:spcPts val="3030"/>
              </a:lnSpc>
              <a:spcBef>
                <a:spcPts val="1045"/>
              </a:spcBef>
              <a:buAutoNum type="arabicPeriod" startAt="3"/>
              <a:tabLst>
                <a:tab pos="418465" algn="l"/>
              </a:tabLst>
            </a:pPr>
            <a:r>
              <a:rPr sz="2800" dirty="0">
                <a:latin typeface="Aptos"/>
                <a:cs typeface="Aptos"/>
              </a:rPr>
              <a:t>Transport</a:t>
            </a:r>
            <a:r>
              <a:rPr sz="2800" spc="65" dirty="0">
                <a:latin typeface="Times New Roman"/>
                <a:cs typeface="Times New Roman"/>
              </a:rPr>
              <a:t> </a:t>
            </a:r>
            <a:r>
              <a:rPr sz="2800" dirty="0">
                <a:latin typeface="Aptos"/>
                <a:cs typeface="Aptos"/>
              </a:rPr>
              <a:t>Layer:</a:t>
            </a:r>
            <a:r>
              <a:rPr sz="2800" spc="50" dirty="0">
                <a:latin typeface="Times New Roman"/>
                <a:cs typeface="Times New Roman"/>
              </a:rPr>
              <a:t> </a:t>
            </a:r>
            <a:r>
              <a:rPr sz="2800" dirty="0">
                <a:latin typeface="Aptos"/>
                <a:cs typeface="Aptos"/>
              </a:rPr>
              <a:t>It</a:t>
            </a:r>
            <a:r>
              <a:rPr sz="2800" spc="60" dirty="0">
                <a:latin typeface="Times New Roman"/>
                <a:cs typeface="Times New Roman"/>
              </a:rPr>
              <a:t> </a:t>
            </a:r>
            <a:r>
              <a:rPr sz="2800" dirty="0">
                <a:latin typeface="Aptos"/>
                <a:cs typeface="Aptos"/>
              </a:rPr>
              <a:t>provides</a:t>
            </a:r>
            <a:r>
              <a:rPr sz="2800" spc="65" dirty="0">
                <a:latin typeface="Times New Roman"/>
                <a:cs typeface="Times New Roman"/>
              </a:rPr>
              <a:t> </a:t>
            </a:r>
            <a:r>
              <a:rPr sz="2800" dirty="0">
                <a:latin typeface="Aptos"/>
                <a:cs typeface="Aptos"/>
              </a:rPr>
              <a:t>the</a:t>
            </a:r>
            <a:r>
              <a:rPr sz="2800" spc="70" dirty="0">
                <a:latin typeface="Times New Roman"/>
                <a:cs typeface="Times New Roman"/>
              </a:rPr>
              <a:t> </a:t>
            </a:r>
            <a:r>
              <a:rPr sz="2800" dirty="0">
                <a:latin typeface="Aptos"/>
                <a:cs typeface="Aptos"/>
              </a:rPr>
              <a:t>mechanism</a:t>
            </a:r>
            <a:r>
              <a:rPr sz="2800" spc="60" dirty="0">
                <a:latin typeface="Times New Roman"/>
                <a:cs typeface="Times New Roman"/>
              </a:rPr>
              <a:t> </a:t>
            </a:r>
            <a:r>
              <a:rPr sz="2800" dirty="0">
                <a:latin typeface="Aptos"/>
                <a:cs typeface="Aptos"/>
              </a:rPr>
              <a:t>for</a:t>
            </a:r>
            <a:r>
              <a:rPr sz="2800" spc="70" dirty="0">
                <a:latin typeface="Times New Roman"/>
                <a:cs typeface="Times New Roman"/>
              </a:rPr>
              <a:t> </a:t>
            </a:r>
            <a:r>
              <a:rPr sz="2800" dirty="0">
                <a:latin typeface="Aptos"/>
                <a:cs typeface="Aptos"/>
              </a:rPr>
              <a:t>the</a:t>
            </a:r>
            <a:r>
              <a:rPr sz="2800" spc="75" dirty="0">
                <a:latin typeface="Times New Roman"/>
                <a:cs typeface="Times New Roman"/>
              </a:rPr>
              <a:t> </a:t>
            </a:r>
            <a:r>
              <a:rPr sz="2800" dirty="0">
                <a:latin typeface="Aptos"/>
                <a:cs typeface="Aptos"/>
              </a:rPr>
              <a:t>exchange</a:t>
            </a:r>
            <a:r>
              <a:rPr sz="2800" spc="75" dirty="0">
                <a:latin typeface="Times New Roman"/>
                <a:cs typeface="Times New Roman"/>
              </a:rPr>
              <a:t> </a:t>
            </a:r>
            <a:r>
              <a:rPr sz="2800" spc="-25" dirty="0">
                <a:latin typeface="Aptos"/>
                <a:cs typeface="Aptos"/>
              </a:rPr>
              <a:t>of</a:t>
            </a:r>
            <a:r>
              <a:rPr sz="2800" spc="-25" dirty="0">
                <a:latin typeface="Times New Roman"/>
                <a:cs typeface="Times New Roman"/>
              </a:rPr>
              <a:t> </a:t>
            </a:r>
            <a:r>
              <a:rPr sz="2800" dirty="0">
                <a:latin typeface="Aptos"/>
                <a:cs typeface="Aptos"/>
              </a:rPr>
              <a:t>data</a:t>
            </a:r>
            <a:r>
              <a:rPr sz="2800" spc="130" dirty="0">
                <a:latin typeface="Times New Roman"/>
                <a:cs typeface="Times New Roman"/>
              </a:rPr>
              <a:t> </a:t>
            </a:r>
            <a:r>
              <a:rPr sz="2800" dirty="0">
                <a:latin typeface="Aptos"/>
                <a:cs typeface="Aptos"/>
              </a:rPr>
              <a:t>between</a:t>
            </a:r>
            <a:r>
              <a:rPr sz="2800" spc="114" dirty="0">
                <a:latin typeface="Times New Roman"/>
                <a:cs typeface="Times New Roman"/>
              </a:rPr>
              <a:t> </a:t>
            </a:r>
            <a:r>
              <a:rPr sz="2800" dirty="0">
                <a:latin typeface="Aptos"/>
                <a:cs typeface="Aptos"/>
              </a:rPr>
              <a:t>end</a:t>
            </a:r>
            <a:r>
              <a:rPr sz="2800" spc="150" dirty="0">
                <a:latin typeface="Times New Roman"/>
                <a:cs typeface="Times New Roman"/>
              </a:rPr>
              <a:t> </a:t>
            </a:r>
            <a:r>
              <a:rPr sz="2800" dirty="0">
                <a:latin typeface="Aptos"/>
                <a:cs typeface="Aptos"/>
              </a:rPr>
              <a:t>systems.</a:t>
            </a:r>
            <a:r>
              <a:rPr sz="2800" spc="114" dirty="0">
                <a:latin typeface="Times New Roman"/>
                <a:cs typeface="Times New Roman"/>
              </a:rPr>
              <a:t> </a:t>
            </a:r>
            <a:r>
              <a:rPr sz="2800" dirty="0">
                <a:latin typeface="Aptos"/>
                <a:cs typeface="Aptos"/>
              </a:rPr>
              <a:t>It</a:t>
            </a:r>
            <a:r>
              <a:rPr sz="2800" spc="110" dirty="0">
                <a:latin typeface="Times New Roman"/>
                <a:cs typeface="Times New Roman"/>
              </a:rPr>
              <a:t> </a:t>
            </a:r>
            <a:r>
              <a:rPr sz="2800" dirty="0">
                <a:latin typeface="Aptos"/>
                <a:cs typeface="Aptos"/>
              </a:rPr>
              <a:t>ensures</a:t>
            </a:r>
            <a:r>
              <a:rPr sz="2800" spc="155" dirty="0">
                <a:latin typeface="Times New Roman"/>
                <a:cs typeface="Times New Roman"/>
              </a:rPr>
              <a:t> </a:t>
            </a:r>
            <a:r>
              <a:rPr sz="2800" dirty="0">
                <a:latin typeface="Aptos"/>
                <a:cs typeface="Aptos"/>
              </a:rPr>
              <a:t>that</a:t>
            </a:r>
            <a:r>
              <a:rPr sz="2800" spc="110" dirty="0">
                <a:latin typeface="Times New Roman"/>
                <a:cs typeface="Times New Roman"/>
              </a:rPr>
              <a:t> </a:t>
            </a:r>
            <a:r>
              <a:rPr sz="2800" dirty="0">
                <a:latin typeface="Aptos"/>
                <a:cs typeface="Aptos"/>
              </a:rPr>
              <a:t>the</a:t>
            </a:r>
            <a:r>
              <a:rPr sz="2800" spc="135" dirty="0">
                <a:latin typeface="Times New Roman"/>
                <a:cs typeface="Times New Roman"/>
              </a:rPr>
              <a:t> </a:t>
            </a:r>
            <a:r>
              <a:rPr sz="2800" dirty="0">
                <a:latin typeface="Aptos"/>
                <a:cs typeface="Aptos"/>
              </a:rPr>
              <a:t>data</a:t>
            </a:r>
            <a:r>
              <a:rPr sz="2800" spc="125" dirty="0">
                <a:latin typeface="Times New Roman"/>
                <a:cs typeface="Times New Roman"/>
              </a:rPr>
              <a:t> </a:t>
            </a:r>
            <a:r>
              <a:rPr sz="2800" dirty="0">
                <a:latin typeface="Aptos"/>
                <a:cs typeface="Aptos"/>
              </a:rPr>
              <a:t>received</a:t>
            </a:r>
            <a:r>
              <a:rPr sz="2800" spc="135" dirty="0">
                <a:latin typeface="Times New Roman"/>
                <a:cs typeface="Times New Roman"/>
              </a:rPr>
              <a:t> </a:t>
            </a:r>
            <a:r>
              <a:rPr sz="2800" dirty="0">
                <a:latin typeface="Aptos"/>
                <a:cs typeface="Aptos"/>
              </a:rPr>
              <a:t>is</a:t>
            </a:r>
            <a:r>
              <a:rPr sz="2800" spc="125" dirty="0">
                <a:latin typeface="Times New Roman"/>
                <a:cs typeface="Times New Roman"/>
              </a:rPr>
              <a:t> </a:t>
            </a:r>
            <a:r>
              <a:rPr sz="2800" spc="-25" dirty="0">
                <a:latin typeface="Aptos"/>
                <a:cs typeface="Aptos"/>
              </a:rPr>
              <a:t>in</a:t>
            </a:r>
            <a:r>
              <a:rPr sz="2800" spc="-25" dirty="0">
                <a:latin typeface="Times New Roman"/>
                <a:cs typeface="Times New Roman"/>
              </a:rPr>
              <a:t> </a:t>
            </a:r>
            <a:r>
              <a:rPr sz="2800" spc="-25" dirty="0">
                <a:latin typeface="Aptos"/>
                <a:cs typeface="Aptos"/>
              </a:rPr>
              <a:t>fact</a:t>
            </a:r>
            <a:r>
              <a:rPr sz="2800" spc="-135" dirty="0">
                <a:latin typeface="Times New Roman"/>
                <a:cs typeface="Times New Roman"/>
              </a:rPr>
              <a:t> </a:t>
            </a:r>
            <a:r>
              <a:rPr sz="2800" dirty="0">
                <a:latin typeface="Aptos"/>
                <a:cs typeface="Aptos"/>
              </a:rPr>
              <a:t>in</a:t>
            </a:r>
            <a:r>
              <a:rPr sz="2800" spc="-150" dirty="0">
                <a:latin typeface="Times New Roman"/>
                <a:cs typeface="Times New Roman"/>
              </a:rPr>
              <a:t> </a:t>
            </a:r>
            <a:r>
              <a:rPr sz="2800" spc="-60" dirty="0">
                <a:latin typeface="Aptos"/>
                <a:cs typeface="Aptos"/>
              </a:rPr>
              <a:t>order.</a:t>
            </a:r>
            <a:r>
              <a:rPr sz="2800" spc="-114" dirty="0">
                <a:latin typeface="Times New Roman"/>
                <a:cs typeface="Times New Roman"/>
              </a:rPr>
              <a:t> </a:t>
            </a:r>
            <a:r>
              <a:rPr sz="2800" spc="-25" dirty="0">
                <a:latin typeface="Aptos"/>
                <a:cs typeface="Aptos"/>
              </a:rPr>
              <a:t>Following</a:t>
            </a:r>
            <a:r>
              <a:rPr sz="2800" spc="-150" dirty="0">
                <a:latin typeface="Times New Roman"/>
                <a:cs typeface="Times New Roman"/>
              </a:rPr>
              <a:t> </a:t>
            </a:r>
            <a:r>
              <a:rPr sz="2800" spc="-10" dirty="0">
                <a:latin typeface="Aptos"/>
                <a:cs typeface="Aptos"/>
              </a:rPr>
              <a:t>jobs</a:t>
            </a:r>
            <a:r>
              <a:rPr sz="2800" spc="-135" dirty="0">
                <a:latin typeface="Times New Roman"/>
                <a:cs typeface="Times New Roman"/>
              </a:rPr>
              <a:t> </a:t>
            </a:r>
            <a:r>
              <a:rPr sz="2800" spc="-20" dirty="0">
                <a:latin typeface="Aptos"/>
                <a:cs typeface="Aptos"/>
              </a:rPr>
              <a:t>are</a:t>
            </a:r>
            <a:r>
              <a:rPr sz="2800" spc="-130" dirty="0">
                <a:latin typeface="Times New Roman"/>
                <a:cs typeface="Times New Roman"/>
              </a:rPr>
              <a:t> </a:t>
            </a:r>
            <a:r>
              <a:rPr sz="2800" spc="-20" dirty="0">
                <a:latin typeface="Aptos"/>
                <a:cs typeface="Aptos"/>
              </a:rPr>
              <a:t>performed</a:t>
            </a:r>
            <a:r>
              <a:rPr sz="2800" spc="-120" dirty="0">
                <a:latin typeface="Times New Roman"/>
                <a:cs typeface="Times New Roman"/>
              </a:rPr>
              <a:t> </a:t>
            </a:r>
            <a:r>
              <a:rPr sz="2800" dirty="0">
                <a:latin typeface="Aptos"/>
                <a:cs typeface="Aptos"/>
              </a:rPr>
              <a:t>by</a:t>
            </a:r>
            <a:r>
              <a:rPr sz="2800" spc="-120" dirty="0">
                <a:latin typeface="Times New Roman"/>
                <a:cs typeface="Times New Roman"/>
              </a:rPr>
              <a:t> </a:t>
            </a:r>
            <a:r>
              <a:rPr sz="2800" spc="-10" dirty="0">
                <a:latin typeface="Aptos"/>
                <a:cs typeface="Aptos"/>
              </a:rPr>
              <a:t>this</a:t>
            </a:r>
            <a:r>
              <a:rPr sz="2800" spc="-150" dirty="0">
                <a:latin typeface="Times New Roman"/>
                <a:cs typeface="Times New Roman"/>
              </a:rPr>
              <a:t> </a:t>
            </a:r>
            <a:r>
              <a:rPr sz="2800" spc="-10" dirty="0">
                <a:latin typeface="Aptos"/>
                <a:cs typeface="Aptos"/>
              </a:rPr>
              <a:t>layer.</a:t>
            </a:r>
            <a:endParaRPr sz="2800">
              <a:latin typeface="Aptos"/>
              <a:cs typeface="Aptos"/>
            </a:endParaRPr>
          </a:p>
          <a:p>
            <a:pPr marL="584200" indent="-572135">
              <a:lnSpc>
                <a:spcPct val="100000"/>
              </a:lnSpc>
              <a:spcBef>
                <a:spcPts val="605"/>
              </a:spcBef>
              <a:buAutoNum type="romanLcPeriod"/>
              <a:tabLst>
                <a:tab pos="584200" algn="l"/>
                <a:tab pos="584835" algn="l"/>
              </a:tabLst>
            </a:pPr>
            <a:r>
              <a:rPr sz="2800" spc="-45" dirty="0">
                <a:latin typeface="Aptos"/>
                <a:cs typeface="Aptos"/>
              </a:rPr>
              <a:t>Port</a:t>
            </a:r>
            <a:r>
              <a:rPr sz="2800" spc="-114" dirty="0">
                <a:latin typeface="Times New Roman"/>
                <a:cs typeface="Times New Roman"/>
              </a:rPr>
              <a:t> </a:t>
            </a:r>
            <a:r>
              <a:rPr sz="2800" spc="-10" dirty="0">
                <a:latin typeface="Aptos"/>
                <a:cs typeface="Aptos"/>
              </a:rPr>
              <a:t>Addressing</a:t>
            </a:r>
            <a:endParaRPr sz="2800">
              <a:latin typeface="Aptos"/>
              <a:cs typeface="Aptos"/>
            </a:endParaRPr>
          </a:p>
          <a:p>
            <a:pPr marL="355600" indent="-343535">
              <a:lnSpc>
                <a:spcPct val="100000"/>
              </a:lnSpc>
              <a:spcBef>
                <a:spcPts val="665"/>
              </a:spcBef>
              <a:buAutoNum type="romanLcPeriod"/>
              <a:tabLst>
                <a:tab pos="356235" algn="l"/>
              </a:tabLst>
            </a:pPr>
            <a:r>
              <a:rPr sz="2800" spc="-20" dirty="0">
                <a:latin typeface="Aptos"/>
                <a:cs typeface="Aptos"/>
              </a:rPr>
              <a:t>Segmentation</a:t>
            </a:r>
            <a:r>
              <a:rPr sz="2800" spc="-130" dirty="0">
                <a:latin typeface="Times New Roman"/>
                <a:cs typeface="Times New Roman"/>
              </a:rPr>
              <a:t> </a:t>
            </a:r>
            <a:r>
              <a:rPr sz="2800" dirty="0">
                <a:latin typeface="Aptos"/>
                <a:cs typeface="Aptos"/>
              </a:rPr>
              <a:t>&amp;</a:t>
            </a:r>
            <a:r>
              <a:rPr sz="2800" spc="-120" dirty="0">
                <a:latin typeface="Times New Roman"/>
                <a:cs typeface="Times New Roman"/>
              </a:rPr>
              <a:t> </a:t>
            </a:r>
            <a:r>
              <a:rPr sz="2800" spc="-10" dirty="0">
                <a:latin typeface="Aptos"/>
                <a:cs typeface="Aptos"/>
              </a:rPr>
              <a:t>Reassemble</a:t>
            </a:r>
            <a:endParaRPr sz="2800">
              <a:latin typeface="Aptos"/>
              <a:cs typeface="Aptos"/>
            </a:endParaRPr>
          </a:p>
          <a:p>
            <a:pPr marL="439420" indent="-427355">
              <a:lnSpc>
                <a:spcPct val="100000"/>
              </a:lnSpc>
              <a:spcBef>
                <a:spcPts val="670"/>
              </a:spcBef>
              <a:buAutoNum type="romanLcPeriod"/>
              <a:tabLst>
                <a:tab pos="440055" algn="l"/>
              </a:tabLst>
            </a:pPr>
            <a:r>
              <a:rPr sz="2800" spc="-20" dirty="0">
                <a:latin typeface="Aptos"/>
                <a:cs typeface="Aptos"/>
              </a:rPr>
              <a:t>Connection</a:t>
            </a:r>
            <a:r>
              <a:rPr sz="2800" spc="-110" dirty="0">
                <a:latin typeface="Times New Roman"/>
                <a:cs typeface="Times New Roman"/>
              </a:rPr>
              <a:t> </a:t>
            </a:r>
            <a:r>
              <a:rPr sz="2800" spc="-10" dirty="0">
                <a:latin typeface="Aptos"/>
                <a:cs typeface="Aptos"/>
              </a:rPr>
              <a:t>Control</a:t>
            </a:r>
            <a:endParaRPr sz="2800">
              <a:latin typeface="Aptos"/>
              <a:cs typeface="Apto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0" y="586168"/>
            <a:ext cx="10357485" cy="5443220"/>
          </a:xfrm>
          <a:prstGeom prst="rect">
            <a:avLst/>
          </a:prstGeom>
        </p:spPr>
        <p:txBody>
          <a:bodyPr vert="horz" wrap="square" lIns="0" tIns="55244" rIns="0" bIns="0" rtlCol="0">
            <a:spAutoFit/>
          </a:bodyPr>
          <a:lstStyle/>
          <a:p>
            <a:pPr marL="12700" marR="5080" algn="just">
              <a:lnSpc>
                <a:spcPct val="90000"/>
              </a:lnSpc>
              <a:spcBef>
                <a:spcPts val="434"/>
              </a:spcBef>
              <a:buAutoNum type="arabicPeriod" startAt="5"/>
              <a:tabLst>
                <a:tab pos="395605" algn="l"/>
              </a:tabLst>
            </a:pPr>
            <a:r>
              <a:rPr sz="2800" dirty="0">
                <a:latin typeface="Aptos"/>
                <a:cs typeface="Aptos"/>
              </a:rPr>
              <a:t>Session</a:t>
            </a:r>
            <a:r>
              <a:rPr sz="2800" spc="-80" dirty="0">
                <a:latin typeface="Times New Roman"/>
                <a:cs typeface="Times New Roman"/>
              </a:rPr>
              <a:t> </a:t>
            </a:r>
            <a:r>
              <a:rPr sz="2800" dirty="0">
                <a:latin typeface="Aptos"/>
                <a:cs typeface="Aptos"/>
              </a:rPr>
              <a:t>Layer:</a:t>
            </a:r>
            <a:r>
              <a:rPr sz="2800" spc="-70" dirty="0">
                <a:latin typeface="Times New Roman"/>
                <a:cs typeface="Times New Roman"/>
              </a:rPr>
              <a:t> </a:t>
            </a:r>
            <a:r>
              <a:rPr sz="2800" dirty="0">
                <a:latin typeface="Aptos"/>
                <a:cs typeface="Aptos"/>
              </a:rPr>
              <a:t>It</a:t>
            </a:r>
            <a:r>
              <a:rPr sz="2800" spc="-80" dirty="0">
                <a:latin typeface="Times New Roman"/>
                <a:cs typeface="Times New Roman"/>
              </a:rPr>
              <a:t> </a:t>
            </a:r>
            <a:r>
              <a:rPr sz="2800" dirty="0">
                <a:latin typeface="Aptos"/>
                <a:cs typeface="Aptos"/>
              </a:rPr>
              <a:t>is</a:t>
            </a:r>
            <a:r>
              <a:rPr sz="2800" spc="-75" dirty="0">
                <a:latin typeface="Times New Roman"/>
                <a:cs typeface="Times New Roman"/>
              </a:rPr>
              <a:t> </a:t>
            </a:r>
            <a:r>
              <a:rPr sz="2800" dirty="0">
                <a:latin typeface="Aptos"/>
                <a:cs typeface="Aptos"/>
              </a:rPr>
              <a:t>responsible</a:t>
            </a:r>
            <a:r>
              <a:rPr sz="2800" spc="-60" dirty="0">
                <a:latin typeface="Times New Roman"/>
                <a:cs typeface="Times New Roman"/>
              </a:rPr>
              <a:t> </a:t>
            </a:r>
            <a:r>
              <a:rPr sz="2800" dirty="0">
                <a:latin typeface="Aptos"/>
                <a:cs typeface="Aptos"/>
              </a:rPr>
              <a:t>for</a:t>
            </a:r>
            <a:r>
              <a:rPr sz="2800" spc="-65" dirty="0">
                <a:latin typeface="Times New Roman"/>
                <a:cs typeface="Times New Roman"/>
              </a:rPr>
              <a:t> </a:t>
            </a:r>
            <a:r>
              <a:rPr sz="2800" dirty="0">
                <a:latin typeface="Aptos"/>
                <a:cs typeface="Aptos"/>
              </a:rPr>
              <a:t>requesting</a:t>
            </a:r>
            <a:r>
              <a:rPr sz="2800" spc="-80" dirty="0">
                <a:latin typeface="Times New Roman"/>
                <a:cs typeface="Times New Roman"/>
              </a:rPr>
              <a:t> </a:t>
            </a:r>
            <a:r>
              <a:rPr sz="2800" dirty="0">
                <a:latin typeface="Aptos"/>
                <a:cs typeface="Aptos"/>
              </a:rPr>
              <a:t>logical</a:t>
            </a:r>
            <a:r>
              <a:rPr sz="2800" spc="-60" dirty="0">
                <a:latin typeface="Times New Roman"/>
                <a:cs typeface="Times New Roman"/>
              </a:rPr>
              <a:t> </a:t>
            </a:r>
            <a:r>
              <a:rPr sz="2800" spc="-10" dirty="0">
                <a:latin typeface="Aptos"/>
                <a:cs typeface="Aptos"/>
              </a:rPr>
              <a:t>connection</a:t>
            </a:r>
            <a:r>
              <a:rPr sz="2800" spc="-10" dirty="0">
                <a:latin typeface="Times New Roman"/>
                <a:cs typeface="Times New Roman"/>
              </a:rPr>
              <a:t> </a:t>
            </a:r>
            <a:r>
              <a:rPr sz="2800" dirty="0">
                <a:latin typeface="Aptos"/>
                <a:cs typeface="Aptos"/>
              </a:rPr>
              <a:t>to</a:t>
            </a:r>
            <a:r>
              <a:rPr sz="2800" spc="385" dirty="0">
                <a:latin typeface="Times New Roman"/>
                <a:cs typeface="Times New Roman"/>
              </a:rPr>
              <a:t>  </a:t>
            </a:r>
            <a:r>
              <a:rPr sz="2800" dirty="0">
                <a:latin typeface="Aptos"/>
                <a:cs typeface="Aptos"/>
              </a:rPr>
              <a:t>be</a:t>
            </a:r>
            <a:r>
              <a:rPr sz="2800" spc="380" dirty="0">
                <a:latin typeface="Times New Roman"/>
                <a:cs typeface="Times New Roman"/>
              </a:rPr>
              <a:t>  </a:t>
            </a:r>
            <a:r>
              <a:rPr sz="2800" dirty="0">
                <a:latin typeface="Aptos"/>
                <a:cs typeface="Aptos"/>
              </a:rPr>
              <a:t>established</a:t>
            </a:r>
            <a:r>
              <a:rPr sz="2800" spc="390" dirty="0">
                <a:latin typeface="Times New Roman"/>
                <a:cs typeface="Times New Roman"/>
              </a:rPr>
              <a:t>  </a:t>
            </a:r>
            <a:r>
              <a:rPr sz="2800" dirty="0">
                <a:latin typeface="Aptos"/>
                <a:cs typeface="Aptos"/>
              </a:rPr>
              <a:t>for</a:t>
            </a:r>
            <a:r>
              <a:rPr sz="2800" spc="390" dirty="0">
                <a:latin typeface="Times New Roman"/>
                <a:cs typeface="Times New Roman"/>
              </a:rPr>
              <a:t>  </a:t>
            </a:r>
            <a:r>
              <a:rPr sz="2800" dirty="0">
                <a:latin typeface="Aptos"/>
                <a:cs typeface="Aptos"/>
              </a:rPr>
              <a:t>communication</a:t>
            </a:r>
            <a:r>
              <a:rPr sz="2800" spc="385" dirty="0">
                <a:latin typeface="Times New Roman"/>
                <a:cs typeface="Times New Roman"/>
              </a:rPr>
              <a:t>  </a:t>
            </a:r>
            <a:r>
              <a:rPr sz="2800" dirty="0">
                <a:latin typeface="Aptos"/>
                <a:cs typeface="Aptos"/>
              </a:rPr>
              <a:t>process.</a:t>
            </a:r>
            <a:r>
              <a:rPr sz="2800" spc="385" dirty="0">
                <a:latin typeface="Times New Roman"/>
                <a:cs typeface="Times New Roman"/>
              </a:rPr>
              <a:t>  </a:t>
            </a:r>
            <a:r>
              <a:rPr sz="2800" dirty="0">
                <a:latin typeface="Aptos"/>
                <a:cs typeface="Aptos"/>
              </a:rPr>
              <a:t>This</a:t>
            </a:r>
            <a:r>
              <a:rPr sz="2800" spc="380" dirty="0">
                <a:latin typeface="Times New Roman"/>
                <a:cs typeface="Times New Roman"/>
              </a:rPr>
              <a:t>  </a:t>
            </a:r>
            <a:r>
              <a:rPr sz="2800" spc="-10" dirty="0">
                <a:latin typeface="Aptos"/>
                <a:cs typeface="Aptos"/>
              </a:rPr>
              <a:t>logical</a:t>
            </a:r>
            <a:r>
              <a:rPr sz="2800" spc="-10" dirty="0">
                <a:latin typeface="Times New Roman"/>
                <a:cs typeface="Times New Roman"/>
              </a:rPr>
              <a:t> </a:t>
            </a:r>
            <a:r>
              <a:rPr sz="2800" dirty="0">
                <a:latin typeface="Aptos"/>
                <a:cs typeface="Aptos"/>
              </a:rPr>
              <a:t>connection</a:t>
            </a:r>
            <a:r>
              <a:rPr sz="2800" spc="590" dirty="0">
                <a:latin typeface="Times New Roman"/>
                <a:cs typeface="Times New Roman"/>
              </a:rPr>
              <a:t>  </a:t>
            </a:r>
            <a:r>
              <a:rPr sz="2800" dirty="0">
                <a:latin typeface="Aptos"/>
                <a:cs typeface="Aptos"/>
              </a:rPr>
              <a:t>is</a:t>
            </a:r>
            <a:r>
              <a:rPr sz="2800" spc="600" dirty="0">
                <a:latin typeface="Times New Roman"/>
                <a:cs typeface="Times New Roman"/>
              </a:rPr>
              <a:t>  </a:t>
            </a:r>
            <a:r>
              <a:rPr sz="2800" dirty="0">
                <a:latin typeface="Aptos"/>
                <a:cs typeface="Aptos"/>
              </a:rPr>
              <a:t>termed</a:t>
            </a:r>
            <a:r>
              <a:rPr sz="2800" spc="590" dirty="0">
                <a:latin typeface="Times New Roman"/>
                <a:cs typeface="Times New Roman"/>
              </a:rPr>
              <a:t>  </a:t>
            </a:r>
            <a:r>
              <a:rPr sz="2800" dirty="0">
                <a:latin typeface="Aptos"/>
                <a:cs typeface="Aptos"/>
              </a:rPr>
              <a:t>as</a:t>
            </a:r>
            <a:r>
              <a:rPr sz="2800" spc="605" dirty="0">
                <a:latin typeface="Times New Roman"/>
                <a:cs typeface="Times New Roman"/>
              </a:rPr>
              <a:t>  </a:t>
            </a:r>
            <a:r>
              <a:rPr sz="2800" dirty="0">
                <a:latin typeface="Aptos"/>
                <a:cs typeface="Aptos"/>
              </a:rPr>
              <a:t>session.</a:t>
            </a:r>
            <a:r>
              <a:rPr sz="2800" spc="600" dirty="0">
                <a:latin typeface="Times New Roman"/>
                <a:cs typeface="Times New Roman"/>
              </a:rPr>
              <a:t>  </a:t>
            </a:r>
            <a:r>
              <a:rPr sz="2800" dirty="0">
                <a:latin typeface="Aptos"/>
                <a:cs typeface="Aptos"/>
              </a:rPr>
              <a:t>It</a:t>
            </a:r>
            <a:r>
              <a:rPr sz="2800" spc="590" dirty="0">
                <a:latin typeface="Times New Roman"/>
                <a:cs typeface="Times New Roman"/>
              </a:rPr>
              <a:t>  </a:t>
            </a:r>
            <a:r>
              <a:rPr sz="2800" dirty="0">
                <a:latin typeface="Aptos"/>
                <a:cs typeface="Aptos"/>
              </a:rPr>
              <a:t>also</a:t>
            </a:r>
            <a:r>
              <a:rPr sz="2800" spc="605" dirty="0">
                <a:latin typeface="Times New Roman"/>
                <a:cs typeface="Times New Roman"/>
              </a:rPr>
              <a:t>  </a:t>
            </a:r>
            <a:r>
              <a:rPr sz="2800" dirty="0">
                <a:latin typeface="Aptos"/>
                <a:cs typeface="Aptos"/>
              </a:rPr>
              <a:t>provides</a:t>
            </a:r>
            <a:r>
              <a:rPr sz="2800" spc="600" dirty="0">
                <a:latin typeface="Times New Roman"/>
                <a:cs typeface="Times New Roman"/>
              </a:rPr>
              <a:t>  </a:t>
            </a:r>
            <a:r>
              <a:rPr sz="2800" spc="-20" dirty="0">
                <a:latin typeface="Aptos"/>
                <a:cs typeface="Aptos"/>
              </a:rPr>
              <a:t>data</a:t>
            </a:r>
            <a:r>
              <a:rPr sz="2800" spc="-20" dirty="0">
                <a:latin typeface="Times New Roman"/>
                <a:cs typeface="Times New Roman"/>
              </a:rPr>
              <a:t> </a:t>
            </a:r>
            <a:r>
              <a:rPr sz="2800" spc="-25" dirty="0">
                <a:latin typeface="Aptos"/>
                <a:cs typeface="Aptos"/>
              </a:rPr>
              <a:t>synchronization</a:t>
            </a:r>
            <a:r>
              <a:rPr sz="2800" spc="-95" dirty="0">
                <a:latin typeface="Times New Roman"/>
                <a:cs typeface="Times New Roman"/>
              </a:rPr>
              <a:t> </a:t>
            </a:r>
            <a:r>
              <a:rPr sz="2800" spc="-25" dirty="0">
                <a:latin typeface="Aptos"/>
                <a:cs typeface="Aptos"/>
              </a:rPr>
              <a:t>between</a:t>
            </a:r>
            <a:r>
              <a:rPr sz="2800" spc="-120" dirty="0">
                <a:latin typeface="Times New Roman"/>
                <a:cs typeface="Times New Roman"/>
              </a:rPr>
              <a:t> </a:t>
            </a:r>
            <a:r>
              <a:rPr sz="2800" spc="-20" dirty="0">
                <a:latin typeface="Aptos"/>
                <a:cs typeface="Aptos"/>
              </a:rPr>
              <a:t>two</a:t>
            </a:r>
            <a:r>
              <a:rPr sz="2800" spc="-100" dirty="0">
                <a:latin typeface="Times New Roman"/>
                <a:cs typeface="Times New Roman"/>
              </a:rPr>
              <a:t> </a:t>
            </a:r>
            <a:r>
              <a:rPr sz="2800" spc="-25" dirty="0">
                <a:latin typeface="Aptos"/>
                <a:cs typeface="Aptos"/>
              </a:rPr>
              <a:t>communication</a:t>
            </a:r>
            <a:r>
              <a:rPr sz="2800" spc="-105" dirty="0">
                <a:latin typeface="Times New Roman"/>
                <a:cs typeface="Times New Roman"/>
              </a:rPr>
              <a:t> </a:t>
            </a:r>
            <a:r>
              <a:rPr sz="2800" spc="-10" dirty="0">
                <a:latin typeface="Aptos"/>
                <a:cs typeface="Aptos"/>
              </a:rPr>
              <a:t>terminals.</a:t>
            </a:r>
            <a:endParaRPr sz="2800">
              <a:latin typeface="Aptos"/>
              <a:cs typeface="Aptos"/>
            </a:endParaRPr>
          </a:p>
          <a:p>
            <a:pPr>
              <a:lnSpc>
                <a:spcPct val="100000"/>
              </a:lnSpc>
              <a:spcBef>
                <a:spcPts val="15"/>
              </a:spcBef>
              <a:buFont typeface="Aptos"/>
              <a:buAutoNum type="arabicPeriod" startAt="5"/>
            </a:pPr>
            <a:endParaRPr sz="3900">
              <a:latin typeface="Aptos"/>
              <a:cs typeface="Aptos"/>
            </a:endParaRPr>
          </a:p>
          <a:p>
            <a:pPr marL="12700" marR="6985" algn="just">
              <a:lnSpc>
                <a:spcPct val="90000"/>
              </a:lnSpc>
              <a:spcBef>
                <a:spcPts val="5"/>
              </a:spcBef>
              <a:buAutoNum type="arabicPeriod" startAt="5"/>
              <a:tabLst>
                <a:tab pos="417195" algn="l"/>
              </a:tabLst>
            </a:pPr>
            <a:r>
              <a:rPr sz="2800" dirty="0">
                <a:latin typeface="Aptos"/>
                <a:cs typeface="Aptos"/>
              </a:rPr>
              <a:t>Presentation</a:t>
            </a:r>
            <a:r>
              <a:rPr sz="2800" spc="50" dirty="0">
                <a:latin typeface="Times New Roman"/>
                <a:cs typeface="Times New Roman"/>
              </a:rPr>
              <a:t> </a:t>
            </a:r>
            <a:r>
              <a:rPr sz="2800" dirty="0">
                <a:latin typeface="Aptos"/>
                <a:cs typeface="Aptos"/>
              </a:rPr>
              <a:t>layer:</a:t>
            </a:r>
            <a:r>
              <a:rPr sz="2800" spc="60" dirty="0">
                <a:latin typeface="Times New Roman"/>
                <a:cs typeface="Times New Roman"/>
              </a:rPr>
              <a:t> </a:t>
            </a:r>
            <a:r>
              <a:rPr sz="2800" dirty="0">
                <a:latin typeface="Aptos"/>
                <a:cs typeface="Aptos"/>
              </a:rPr>
              <a:t>This</a:t>
            </a:r>
            <a:r>
              <a:rPr sz="2800" spc="60" dirty="0">
                <a:latin typeface="Times New Roman"/>
                <a:cs typeface="Times New Roman"/>
              </a:rPr>
              <a:t> </a:t>
            </a:r>
            <a:r>
              <a:rPr sz="2800" dirty="0">
                <a:latin typeface="Aptos"/>
                <a:cs typeface="Aptos"/>
              </a:rPr>
              <a:t>layer</a:t>
            </a:r>
            <a:r>
              <a:rPr sz="2800" spc="60" dirty="0">
                <a:latin typeface="Times New Roman"/>
                <a:cs typeface="Times New Roman"/>
              </a:rPr>
              <a:t> </a:t>
            </a:r>
            <a:r>
              <a:rPr sz="2800" dirty="0">
                <a:latin typeface="Aptos"/>
                <a:cs typeface="Aptos"/>
              </a:rPr>
              <a:t>translates</a:t>
            </a:r>
            <a:r>
              <a:rPr sz="2800" spc="55" dirty="0">
                <a:latin typeface="Times New Roman"/>
                <a:cs typeface="Times New Roman"/>
              </a:rPr>
              <a:t> </a:t>
            </a:r>
            <a:r>
              <a:rPr sz="2800" dirty="0">
                <a:latin typeface="Aptos"/>
                <a:cs typeface="Aptos"/>
              </a:rPr>
              <a:t>format</a:t>
            </a:r>
            <a:r>
              <a:rPr sz="2800" spc="55" dirty="0">
                <a:latin typeface="Times New Roman"/>
                <a:cs typeface="Times New Roman"/>
              </a:rPr>
              <a:t> </a:t>
            </a:r>
            <a:r>
              <a:rPr sz="2800" dirty="0">
                <a:latin typeface="Aptos"/>
                <a:cs typeface="Aptos"/>
              </a:rPr>
              <a:t>data</a:t>
            </a:r>
            <a:r>
              <a:rPr sz="2800" spc="50" dirty="0">
                <a:latin typeface="Times New Roman"/>
                <a:cs typeface="Times New Roman"/>
              </a:rPr>
              <a:t> </a:t>
            </a:r>
            <a:r>
              <a:rPr sz="2800" dirty="0">
                <a:latin typeface="Aptos"/>
                <a:cs typeface="Aptos"/>
              </a:rPr>
              <a:t>to</a:t>
            </a:r>
            <a:r>
              <a:rPr sz="2800" spc="70" dirty="0">
                <a:latin typeface="Times New Roman"/>
                <a:cs typeface="Times New Roman"/>
              </a:rPr>
              <a:t> </a:t>
            </a:r>
            <a:r>
              <a:rPr sz="2800" dirty="0">
                <a:latin typeface="Aptos"/>
                <a:cs typeface="Aptos"/>
              </a:rPr>
              <a:t>adapt</a:t>
            </a:r>
            <a:r>
              <a:rPr sz="2800" spc="65" dirty="0">
                <a:latin typeface="Times New Roman"/>
                <a:cs typeface="Times New Roman"/>
              </a:rPr>
              <a:t> </a:t>
            </a:r>
            <a:r>
              <a:rPr sz="2800" spc="-25" dirty="0">
                <a:latin typeface="Aptos"/>
                <a:cs typeface="Aptos"/>
              </a:rPr>
              <a:t>to</a:t>
            </a:r>
            <a:r>
              <a:rPr sz="2800" spc="-25" dirty="0">
                <a:latin typeface="Times New Roman"/>
                <a:cs typeface="Times New Roman"/>
              </a:rPr>
              <a:t> </a:t>
            </a:r>
            <a:r>
              <a:rPr sz="2800" dirty="0">
                <a:latin typeface="Aptos"/>
                <a:cs typeface="Aptos"/>
              </a:rPr>
              <a:t>the</a:t>
            </a:r>
            <a:r>
              <a:rPr sz="2800" spc="520" dirty="0">
                <a:latin typeface="Times New Roman"/>
                <a:cs typeface="Times New Roman"/>
              </a:rPr>
              <a:t> </a:t>
            </a:r>
            <a:r>
              <a:rPr sz="2800" dirty="0">
                <a:latin typeface="Aptos"/>
                <a:cs typeface="Aptos"/>
              </a:rPr>
              <a:t>needs</a:t>
            </a:r>
            <a:r>
              <a:rPr sz="2800" spc="535" dirty="0">
                <a:latin typeface="Times New Roman"/>
                <a:cs typeface="Times New Roman"/>
              </a:rPr>
              <a:t> </a:t>
            </a:r>
            <a:r>
              <a:rPr sz="2800" dirty="0">
                <a:latin typeface="Aptos"/>
                <a:cs typeface="Aptos"/>
              </a:rPr>
              <a:t>of</a:t>
            </a:r>
            <a:r>
              <a:rPr sz="2800" spc="525" dirty="0">
                <a:latin typeface="Times New Roman"/>
                <a:cs typeface="Times New Roman"/>
              </a:rPr>
              <a:t> </a:t>
            </a:r>
            <a:r>
              <a:rPr sz="2800" dirty="0">
                <a:latin typeface="Aptos"/>
                <a:cs typeface="Aptos"/>
              </a:rPr>
              <a:t>the</a:t>
            </a:r>
            <a:r>
              <a:rPr sz="2800" spc="545" dirty="0">
                <a:latin typeface="Times New Roman"/>
                <a:cs typeface="Times New Roman"/>
              </a:rPr>
              <a:t> </a:t>
            </a:r>
            <a:r>
              <a:rPr sz="2800" dirty="0">
                <a:latin typeface="Aptos"/>
                <a:cs typeface="Aptos"/>
              </a:rPr>
              <a:t>application</a:t>
            </a:r>
            <a:r>
              <a:rPr sz="2800" spc="515" dirty="0">
                <a:latin typeface="Times New Roman"/>
                <a:cs typeface="Times New Roman"/>
              </a:rPr>
              <a:t> </a:t>
            </a:r>
            <a:r>
              <a:rPr sz="2800" dirty="0">
                <a:latin typeface="Aptos"/>
                <a:cs typeface="Aptos"/>
              </a:rPr>
              <a:t>layer</a:t>
            </a:r>
            <a:r>
              <a:rPr sz="2800" spc="530" dirty="0">
                <a:latin typeface="Times New Roman"/>
                <a:cs typeface="Times New Roman"/>
              </a:rPr>
              <a:t> </a:t>
            </a:r>
            <a:r>
              <a:rPr sz="2800" dirty="0">
                <a:latin typeface="Aptos"/>
                <a:cs typeface="Aptos"/>
              </a:rPr>
              <a:t>&amp;</a:t>
            </a:r>
            <a:r>
              <a:rPr sz="2800" spc="530" dirty="0">
                <a:latin typeface="Times New Roman"/>
                <a:cs typeface="Times New Roman"/>
              </a:rPr>
              <a:t> </a:t>
            </a:r>
            <a:r>
              <a:rPr sz="2800" dirty="0">
                <a:latin typeface="Aptos"/>
                <a:cs typeface="Aptos"/>
              </a:rPr>
              <a:t>nodes</a:t>
            </a:r>
            <a:r>
              <a:rPr sz="2800" spc="535" dirty="0">
                <a:latin typeface="Times New Roman"/>
                <a:cs typeface="Times New Roman"/>
              </a:rPr>
              <a:t> </a:t>
            </a:r>
            <a:r>
              <a:rPr sz="2800" dirty="0">
                <a:latin typeface="Aptos"/>
                <a:cs typeface="Aptos"/>
              </a:rPr>
              <a:t>at</a:t>
            </a:r>
            <a:r>
              <a:rPr sz="2800" spc="509" dirty="0">
                <a:latin typeface="Times New Roman"/>
                <a:cs typeface="Times New Roman"/>
              </a:rPr>
              <a:t> </a:t>
            </a:r>
            <a:r>
              <a:rPr sz="2800" dirty="0">
                <a:latin typeface="Aptos"/>
                <a:cs typeface="Aptos"/>
              </a:rPr>
              <a:t>both</a:t>
            </a:r>
            <a:r>
              <a:rPr sz="2800" spc="530" dirty="0">
                <a:latin typeface="Times New Roman"/>
                <a:cs typeface="Times New Roman"/>
              </a:rPr>
              <a:t> </a:t>
            </a:r>
            <a:r>
              <a:rPr sz="2800" dirty="0">
                <a:latin typeface="Aptos"/>
                <a:cs typeface="Aptos"/>
              </a:rPr>
              <a:t>receiving</a:t>
            </a:r>
            <a:r>
              <a:rPr sz="2800" spc="515" dirty="0">
                <a:latin typeface="Times New Roman"/>
                <a:cs typeface="Times New Roman"/>
              </a:rPr>
              <a:t> </a:t>
            </a:r>
            <a:r>
              <a:rPr sz="2800" spc="-50" dirty="0">
                <a:latin typeface="Aptos"/>
                <a:cs typeface="Aptos"/>
              </a:rPr>
              <a:t>&amp;</a:t>
            </a:r>
            <a:r>
              <a:rPr sz="2800" spc="-50" dirty="0">
                <a:latin typeface="Times New Roman"/>
                <a:cs typeface="Times New Roman"/>
              </a:rPr>
              <a:t> </a:t>
            </a:r>
            <a:r>
              <a:rPr sz="2800" dirty="0">
                <a:latin typeface="Aptos"/>
                <a:cs typeface="Aptos"/>
              </a:rPr>
              <a:t>sending</a:t>
            </a:r>
            <a:r>
              <a:rPr sz="2800" spc="570" dirty="0">
                <a:latin typeface="Times New Roman"/>
                <a:cs typeface="Times New Roman"/>
              </a:rPr>
              <a:t>  </a:t>
            </a:r>
            <a:r>
              <a:rPr sz="2800" dirty="0">
                <a:latin typeface="Aptos"/>
                <a:cs typeface="Aptos"/>
              </a:rPr>
              <a:t>end</a:t>
            </a:r>
            <a:r>
              <a:rPr sz="2800" spc="570" dirty="0">
                <a:latin typeface="Times New Roman"/>
                <a:cs typeface="Times New Roman"/>
              </a:rPr>
              <a:t>  </a:t>
            </a:r>
            <a:r>
              <a:rPr sz="2800" dirty="0">
                <a:latin typeface="Aptos"/>
                <a:cs typeface="Aptos"/>
              </a:rPr>
              <a:t>of</a:t>
            </a:r>
            <a:r>
              <a:rPr sz="2800" spc="575" dirty="0">
                <a:latin typeface="Times New Roman"/>
                <a:cs typeface="Times New Roman"/>
              </a:rPr>
              <a:t>  </a:t>
            </a:r>
            <a:r>
              <a:rPr sz="2800" dirty="0">
                <a:latin typeface="Aptos"/>
                <a:cs typeface="Aptos"/>
              </a:rPr>
              <a:t>communication</a:t>
            </a:r>
            <a:r>
              <a:rPr sz="2800" spc="570" dirty="0">
                <a:latin typeface="Times New Roman"/>
                <a:cs typeface="Times New Roman"/>
              </a:rPr>
              <a:t>  </a:t>
            </a:r>
            <a:r>
              <a:rPr sz="2800" dirty="0">
                <a:latin typeface="Aptos"/>
                <a:cs typeface="Aptos"/>
              </a:rPr>
              <a:t>process.</a:t>
            </a:r>
            <a:r>
              <a:rPr sz="2800" spc="575" dirty="0">
                <a:latin typeface="Times New Roman"/>
                <a:cs typeface="Times New Roman"/>
              </a:rPr>
              <a:t>  </a:t>
            </a:r>
            <a:r>
              <a:rPr sz="2800" dirty="0">
                <a:latin typeface="Aptos"/>
                <a:cs typeface="Aptos"/>
              </a:rPr>
              <a:t>It</a:t>
            </a:r>
            <a:r>
              <a:rPr sz="2800" spc="565" dirty="0">
                <a:latin typeface="Times New Roman"/>
                <a:cs typeface="Times New Roman"/>
              </a:rPr>
              <a:t>  </a:t>
            </a:r>
            <a:r>
              <a:rPr sz="2800" dirty="0">
                <a:latin typeface="Aptos"/>
                <a:cs typeface="Aptos"/>
              </a:rPr>
              <a:t>handles</a:t>
            </a:r>
            <a:r>
              <a:rPr sz="2800" spc="570" dirty="0">
                <a:latin typeface="Times New Roman"/>
                <a:cs typeface="Times New Roman"/>
              </a:rPr>
              <a:t>  </a:t>
            </a:r>
            <a:r>
              <a:rPr sz="2800" spc="-20" dirty="0">
                <a:latin typeface="Aptos"/>
                <a:cs typeface="Aptos"/>
              </a:rPr>
              <a:t>data</a:t>
            </a:r>
            <a:r>
              <a:rPr sz="2800" spc="-20" dirty="0">
                <a:latin typeface="Times New Roman"/>
                <a:cs typeface="Times New Roman"/>
              </a:rPr>
              <a:t> </a:t>
            </a:r>
            <a:r>
              <a:rPr sz="2800" spc="-25" dirty="0">
                <a:latin typeface="Aptos"/>
                <a:cs typeface="Aptos"/>
              </a:rPr>
              <a:t>communication,</a:t>
            </a:r>
            <a:r>
              <a:rPr sz="2800" spc="-95" dirty="0">
                <a:latin typeface="Times New Roman"/>
                <a:cs typeface="Times New Roman"/>
              </a:rPr>
              <a:t> </a:t>
            </a:r>
            <a:r>
              <a:rPr sz="2800" spc="-25" dirty="0">
                <a:latin typeface="Aptos"/>
                <a:cs typeface="Aptos"/>
              </a:rPr>
              <a:t>formatting,</a:t>
            </a:r>
            <a:r>
              <a:rPr sz="2800" spc="-100" dirty="0">
                <a:latin typeface="Times New Roman"/>
                <a:cs typeface="Times New Roman"/>
              </a:rPr>
              <a:t> </a:t>
            </a:r>
            <a:r>
              <a:rPr sz="2800" spc="-10" dirty="0">
                <a:latin typeface="Aptos"/>
                <a:cs typeface="Aptos"/>
              </a:rPr>
              <a:t>encryption,</a:t>
            </a:r>
            <a:r>
              <a:rPr sz="2800" spc="-90" dirty="0">
                <a:latin typeface="Times New Roman"/>
                <a:cs typeface="Times New Roman"/>
              </a:rPr>
              <a:t> </a:t>
            </a:r>
            <a:r>
              <a:rPr sz="2800" spc="-10" dirty="0">
                <a:latin typeface="Aptos"/>
                <a:cs typeface="Aptos"/>
              </a:rPr>
              <a:t>decryption,</a:t>
            </a:r>
            <a:r>
              <a:rPr sz="2800" spc="-80" dirty="0">
                <a:latin typeface="Times New Roman"/>
                <a:cs typeface="Times New Roman"/>
              </a:rPr>
              <a:t> </a:t>
            </a:r>
            <a:r>
              <a:rPr sz="2800" spc="-20" dirty="0">
                <a:latin typeface="Aptos"/>
                <a:cs typeface="Aptos"/>
              </a:rPr>
              <a:t>etc.</a:t>
            </a:r>
            <a:endParaRPr sz="2800">
              <a:latin typeface="Aptos"/>
              <a:cs typeface="Aptos"/>
            </a:endParaRPr>
          </a:p>
          <a:p>
            <a:pPr marL="12700" marR="5080" algn="just">
              <a:lnSpc>
                <a:spcPct val="90000"/>
              </a:lnSpc>
              <a:spcBef>
                <a:spcPts val="994"/>
              </a:spcBef>
              <a:buAutoNum type="arabicPeriod" startAt="5"/>
              <a:tabLst>
                <a:tab pos="502284" algn="l"/>
              </a:tabLst>
            </a:pPr>
            <a:r>
              <a:rPr sz="2800" dirty="0">
                <a:latin typeface="Aptos"/>
                <a:cs typeface="Aptos"/>
              </a:rPr>
              <a:t>Application</a:t>
            </a:r>
            <a:r>
              <a:rPr sz="2800" spc="30" dirty="0">
                <a:latin typeface="Times New Roman"/>
                <a:cs typeface="Times New Roman"/>
              </a:rPr>
              <a:t>  </a:t>
            </a:r>
            <a:r>
              <a:rPr sz="2800" dirty="0">
                <a:latin typeface="Aptos"/>
                <a:cs typeface="Aptos"/>
              </a:rPr>
              <a:t>Layer:</a:t>
            </a:r>
            <a:r>
              <a:rPr sz="2800" spc="45" dirty="0">
                <a:latin typeface="Times New Roman"/>
                <a:cs typeface="Times New Roman"/>
              </a:rPr>
              <a:t>  </a:t>
            </a:r>
            <a:r>
              <a:rPr sz="2800" dirty="0">
                <a:latin typeface="Aptos"/>
                <a:cs typeface="Aptos"/>
              </a:rPr>
              <a:t>It</a:t>
            </a:r>
            <a:r>
              <a:rPr sz="2800" spc="35" dirty="0">
                <a:latin typeface="Times New Roman"/>
                <a:cs typeface="Times New Roman"/>
              </a:rPr>
              <a:t>  </a:t>
            </a:r>
            <a:r>
              <a:rPr sz="2800" dirty="0">
                <a:latin typeface="Aptos"/>
                <a:cs typeface="Aptos"/>
              </a:rPr>
              <a:t>is</a:t>
            </a:r>
            <a:r>
              <a:rPr sz="2800" spc="35" dirty="0">
                <a:latin typeface="Times New Roman"/>
                <a:cs typeface="Times New Roman"/>
              </a:rPr>
              <a:t>  </a:t>
            </a:r>
            <a:r>
              <a:rPr sz="2800" dirty="0">
                <a:latin typeface="Aptos"/>
                <a:cs typeface="Aptos"/>
              </a:rPr>
              <a:t>the</a:t>
            </a:r>
            <a:r>
              <a:rPr sz="2800" spc="40" dirty="0">
                <a:latin typeface="Times New Roman"/>
                <a:cs typeface="Times New Roman"/>
              </a:rPr>
              <a:t>  </a:t>
            </a:r>
            <a:r>
              <a:rPr sz="2800" spc="-20" dirty="0">
                <a:latin typeface="Aptos"/>
                <a:cs typeface="Aptos"/>
              </a:rPr>
              <a:t>top-</a:t>
            </a:r>
            <a:r>
              <a:rPr sz="2800" dirty="0">
                <a:latin typeface="Aptos"/>
                <a:cs typeface="Aptos"/>
              </a:rPr>
              <a:t>most</a:t>
            </a:r>
            <a:r>
              <a:rPr sz="2800" spc="35" dirty="0">
                <a:latin typeface="Times New Roman"/>
                <a:cs typeface="Times New Roman"/>
              </a:rPr>
              <a:t>  </a:t>
            </a:r>
            <a:r>
              <a:rPr sz="2800" dirty="0">
                <a:latin typeface="Aptos"/>
                <a:cs typeface="Aptos"/>
              </a:rPr>
              <a:t>layer</a:t>
            </a:r>
            <a:r>
              <a:rPr sz="2800" spc="35" dirty="0">
                <a:latin typeface="Times New Roman"/>
                <a:cs typeface="Times New Roman"/>
              </a:rPr>
              <a:t>  </a:t>
            </a:r>
            <a:r>
              <a:rPr sz="2800" dirty="0">
                <a:latin typeface="Aptos"/>
                <a:cs typeface="Aptos"/>
              </a:rPr>
              <a:t>of</a:t>
            </a:r>
            <a:r>
              <a:rPr sz="2800" spc="40" dirty="0">
                <a:latin typeface="Times New Roman"/>
                <a:cs typeface="Times New Roman"/>
              </a:rPr>
              <a:t>  </a:t>
            </a:r>
            <a:r>
              <a:rPr sz="2800" dirty="0">
                <a:latin typeface="Aptos"/>
                <a:cs typeface="Aptos"/>
              </a:rPr>
              <a:t>OSI</a:t>
            </a:r>
            <a:r>
              <a:rPr sz="2800" spc="45" dirty="0">
                <a:latin typeface="Times New Roman"/>
                <a:cs typeface="Times New Roman"/>
              </a:rPr>
              <a:t>  </a:t>
            </a:r>
            <a:r>
              <a:rPr sz="2800" dirty="0">
                <a:latin typeface="Aptos"/>
                <a:cs typeface="Aptos"/>
              </a:rPr>
              <a:t>model</a:t>
            </a:r>
            <a:r>
              <a:rPr sz="2800" spc="50" dirty="0">
                <a:latin typeface="Times New Roman"/>
                <a:cs typeface="Times New Roman"/>
              </a:rPr>
              <a:t>  </a:t>
            </a:r>
            <a:r>
              <a:rPr sz="2800" spc="-50" dirty="0">
                <a:latin typeface="Aptos"/>
                <a:cs typeface="Aptos"/>
              </a:rPr>
              <a:t>&amp;</a:t>
            </a:r>
            <a:r>
              <a:rPr sz="2800" spc="-50" dirty="0">
                <a:latin typeface="Times New Roman"/>
                <a:cs typeface="Times New Roman"/>
              </a:rPr>
              <a:t> </a:t>
            </a:r>
            <a:r>
              <a:rPr sz="2800" dirty="0">
                <a:latin typeface="Aptos"/>
                <a:cs typeface="Aptos"/>
              </a:rPr>
              <a:t>provides</a:t>
            </a:r>
            <a:r>
              <a:rPr sz="2800" spc="135" dirty="0">
                <a:latin typeface="Times New Roman"/>
                <a:cs typeface="Times New Roman"/>
              </a:rPr>
              <a:t> </a:t>
            </a:r>
            <a:r>
              <a:rPr sz="2800" dirty="0">
                <a:latin typeface="Aptos"/>
                <a:cs typeface="Aptos"/>
              </a:rPr>
              <a:t>user</a:t>
            </a:r>
            <a:r>
              <a:rPr sz="2800" spc="125" dirty="0">
                <a:latin typeface="Times New Roman"/>
                <a:cs typeface="Times New Roman"/>
              </a:rPr>
              <a:t> </a:t>
            </a:r>
            <a:r>
              <a:rPr sz="2800" dirty="0">
                <a:latin typeface="Aptos"/>
                <a:cs typeface="Aptos"/>
              </a:rPr>
              <a:t>access</a:t>
            </a:r>
            <a:r>
              <a:rPr sz="2800" spc="135" dirty="0">
                <a:latin typeface="Times New Roman"/>
                <a:cs typeface="Times New Roman"/>
              </a:rPr>
              <a:t> </a:t>
            </a:r>
            <a:r>
              <a:rPr sz="2800" dirty="0">
                <a:latin typeface="Aptos"/>
                <a:cs typeface="Aptos"/>
              </a:rPr>
              <a:t>to</a:t>
            </a:r>
            <a:r>
              <a:rPr sz="2800" spc="125" dirty="0">
                <a:latin typeface="Times New Roman"/>
                <a:cs typeface="Times New Roman"/>
              </a:rPr>
              <a:t> </a:t>
            </a:r>
            <a:r>
              <a:rPr sz="2800" dirty="0">
                <a:latin typeface="Aptos"/>
                <a:cs typeface="Aptos"/>
              </a:rPr>
              <a:t>the</a:t>
            </a:r>
            <a:r>
              <a:rPr sz="2800" spc="140" dirty="0">
                <a:latin typeface="Times New Roman"/>
                <a:cs typeface="Times New Roman"/>
              </a:rPr>
              <a:t> </a:t>
            </a:r>
            <a:r>
              <a:rPr sz="2800" dirty="0">
                <a:latin typeface="Aptos"/>
                <a:cs typeface="Aptos"/>
              </a:rPr>
              <a:t>n/w.</a:t>
            </a:r>
            <a:r>
              <a:rPr sz="2800" spc="130" dirty="0">
                <a:latin typeface="Times New Roman"/>
                <a:cs typeface="Times New Roman"/>
              </a:rPr>
              <a:t> </a:t>
            </a:r>
            <a:r>
              <a:rPr sz="2800" dirty="0">
                <a:latin typeface="Aptos"/>
                <a:cs typeface="Aptos"/>
              </a:rPr>
              <a:t>It</a:t>
            </a:r>
            <a:r>
              <a:rPr sz="2800" spc="125" dirty="0">
                <a:latin typeface="Times New Roman"/>
                <a:cs typeface="Times New Roman"/>
              </a:rPr>
              <a:t> </a:t>
            </a:r>
            <a:r>
              <a:rPr sz="2800" dirty="0">
                <a:latin typeface="Aptos"/>
                <a:cs typeface="Aptos"/>
              </a:rPr>
              <a:t>provides</a:t>
            </a:r>
            <a:r>
              <a:rPr sz="2800" spc="125" dirty="0">
                <a:latin typeface="Times New Roman"/>
                <a:cs typeface="Times New Roman"/>
              </a:rPr>
              <a:t> </a:t>
            </a:r>
            <a:r>
              <a:rPr sz="2800" dirty="0">
                <a:latin typeface="Aptos"/>
                <a:cs typeface="Aptos"/>
              </a:rPr>
              <a:t>services</a:t>
            </a:r>
            <a:r>
              <a:rPr sz="2800" spc="125" dirty="0">
                <a:latin typeface="Times New Roman"/>
                <a:cs typeface="Times New Roman"/>
              </a:rPr>
              <a:t> </a:t>
            </a:r>
            <a:r>
              <a:rPr sz="2800" dirty="0">
                <a:latin typeface="Aptos"/>
                <a:cs typeface="Aptos"/>
              </a:rPr>
              <a:t>that</a:t>
            </a:r>
            <a:r>
              <a:rPr sz="2800" spc="125" dirty="0">
                <a:latin typeface="Times New Roman"/>
                <a:cs typeface="Times New Roman"/>
              </a:rPr>
              <a:t> </a:t>
            </a:r>
            <a:r>
              <a:rPr sz="2800" spc="-10" dirty="0">
                <a:latin typeface="Aptos"/>
                <a:cs typeface="Aptos"/>
              </a:rPr>
              <a:t>support</a:t>
            </a:r>
            <a:r>
              <a:rPr sz="2800" spc="-10" dirty="0">
                <a:latin typeface="Times New Roman"/>
                <a:cs typeface="Times New Roman"/>
              </a:rPr>
              <a:t> </a:t>
            </a:r>
            <a:r>
              <a:rPr sz="2800" dirty="0">
                <a:latin typeface="Aptos"/>
                <a:cs typeface="Aptos"/>
              </a:rPr>
              <a:t>user</a:t>
            </a:r>
            <a:r>
              <a:rPr sz="2800" spc="320" dirty="0">
                <a:latin typeface="Times New Roman"/>
                <a:cs typeface="Times New Roman"/>
              </a:rPr>
              <a:t> </a:t>
            </a:r>
            <a:r>
              <a:rPr sz="2800" dirty="0">
                <a:latin typeface="Aptos"/>
                <a:cs typeface="Aptos"/>
              </a:rPr>
              <a:t>application,</a:t>
            </a:r>
            <a:r>
              <a:rPr sz="2800" spc="315" dirty="0">
                <a:latin typeface="Times New Roman"/>
                <a:cs typeface="Times New Roman"/>
              </a:rPr>
              <a:t> </a:t>
            </a:r>
            <a:r>
              <a:rPr sz="2800" dirty="0">
                <a:latin typeface="Aptos"/>
                <a:cs typeface="Aptos"/>
              </a:rPr>
              <a:t>such</a:t>
            </a:r>
            <a:r>
              <a:rPr sz="2800" spc="315" dirty="0">
                <a:latin typeface="Times New Roman"/>
                <a:cs typeface="Times New Roman"/>
              </a:rPr>
              <a:t> </a:t>
            </a:r>
            <a:r>
              <a:rPr sz="2800" dirty="0">
                <a:latin typeface="Aptos"/>
                <a:cs typeface="Aptos"/>
              </a:rPr>
              <a:t>as</a:t>
            </a:r>
            <a:r>
              <a:rPr sz="2800" spc="315" dirty="0">
                <a:latin typeface="Times New Roman"/>
                <a:cs typeface="Times New Roman"/>
              </a:rPr>
              <a:t> </a:t>
            </a:r>
            <a:r>
              <a:rPr sz="2800" dirty="0">
                <a:latin typeface="Aptos"/>
                <a:cs typeface="Aptos"/>
              </a:rPr>
              <a:t>database</a:t>
            </a:r>
            <a:r>
              <a:rPr sz="2800" spc="330" dirty="0">
                <a:latin typeface="Times New Roman"/>
                <a:cs typeface="Times New Roman"/>
              </a:rPr>
              <a:t> </a:t>
            </a:r>
            <a:r>
              <a:rPr sz="2800" dirty="0">
                <a:latin typeface="Aptos"/>
                <a:cs typeface="Aptos"/>
              </a:rPr>
              <a:t>access,</a:t>
            </a:r>
            <a:r>
              <a:rPr sz="2800" spc="320" dirty="0">
                <a:latin typeface="Times New Roman"/>
                <a:cs typeface="Times New Roman"/>
              </a:rPr>
              <a:t> </a:t>
            </a:r>
            <a:r>
              <a:rPr sz="2800" dirty="0">
                <a:latin typeface="Aptos"/>
                <a:cs typeface="Aptos"/>
              </a:rPr>
              <a:t>email</a:t>
            </a:r>
            <a:r>
              <a:rPr sz="2800" spc="315" dirty="0">
                <a:latin typeface="Times New Roman"/>
                <a:cs typeface="Times New Roman"/>
              </a:rPr>
              <a:t> </a:t>
            </a:r>
            <a:r>
              <a:rPr sz="2800" dirty="0">
                <a:latin typeface="Aptos"/>
                <a:cs typeface="Aptos"/>
              </a:rPr>
              <a:t>&amp;</a:t>
            </a:r>
            <a:r>
              <a:rPr sz="2800" spc="310" dirty="0">
                <a:latin typeface="Times New Roman"/>
                <a:cs typeface="Times New Roman"/>
              </a:rPr>
              <a:t> </a:t>
            </a:r>
            <a:r>
              <a:rPr sz="2800" dirty="0">
                <a:latin typeface="Aptos"/>
                <a:cs typeface="Aptos"/>
              </a:rPr>
              <a:t>file</a:t>
            </a:r>
            <a:r>
              <a:rPr sz="2800" spc="300" dirty="0">
                <a:latin typeface="Times New Roman"/>
                <a:cs typeface="Times New Roman"/>
              </a:rPr>
              <a:t> </a:t>
            </a:r>
            <a:r>
              <a:rPr sz="2800" spc="-10" dirty="0">
                <a:latin typeface="Aptos"/>
                <a:cs typeface="Aptos"/>
              </a:rPr>
              <a:t>transfer,</a:t>
            </a:r>
            <a:r>
              <a:rPr sz="2800" spc="-10" dirty="0">
                <a:latin typeface="Times New Roman"/>
                <a:cs typeface="Times New Roman"/>
              </a:rPr>
              <a:t> </a:t>
            </a:r>
            <a:r>
              <a:rPr sz="2800" spc="-20" dirty="0">
                <a:latin typeface="Aptos"/>
                <a:cs typeface="Aptos"/>
              </a:rPr>
              <a:t>etc.</a:t>
            </a:r>
            <a:endParaRPr sz="2800">
              <a:latin typeface="Aptos"/>
              <a:cs typeface="Apto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1" y="553656"/>
            <a:ext cx="10360025" cy="1988820"/>
          </a:xfrm>
          <a:prstGeom prst="rect">
            <a:avLst/>
          </a:prstGeom>
        </p:spPr>
        <p:txBody>
          <a:bodyPr vert="horz" wrap="square" lIns="0" tIns="55244" rIns="0" bIns="0" rtlCol="0">
            <a:spAutoFit/>
          </a:bodyPr>
          <a:lstStyle/>
          <a:p>
            <a:pPr marL="527685" marR="5080" indent="-515620" algn="just">
              <a:lnSpc>
                <a:spcPct val="90000"/>
              </a:lnSpc>
              <a:spcBef>
                <a:spcPts val="434"/>
              </a:spcBef>
            </a:pPr>
            <a:r>
              <a:rPr sz="2800" b="1" dirty="0">
                <a:latin typeface="Aptos"/>
                <a:cs typeface="Aptos"/>
              </a:rPr>
              <a:t>1.</a:t>
            </a:r>
            <a:r>
              <a:rPr sz="2800" spc="90" dirty="0">
                <a:latin typeface="Times New Roman"/>
                <a:cs typeface="Times New Roman"/>
              </a:rPr>
              <a:t>  </a:t>
            </a:r>
            <a:r>
              <a:rPr sz="2800" b="1" dirty="0">
                <a:latin typeface="Aptos"/>
                <a:cs typeface="Aptos"/>
              </a:rPr>
              <a:t>Network</a:t>
            </a:r>
            <a:r>
              <a:rPr sz="2800" spc="-15" dirty="0">
                <a:latin typeface="Times New Roman"/>
                <a:cs typeface="Times New Roman"/>
              </a:rPr>
              <a:t> </a:t>
            </a:r>
            <a:r>
              <a:rPr sz="2800" b="1" dirty="0">
                <a:latin typeface="Aptos"/>
                <a:cs typeface="Aptos"/>
              </a:rPr>
              <a:t>Connecting</a:t>
            </a:r>
            <a:r>
              <a:rPr sz="2800" spc="10" dirty="0">
                <a:latin typeface="Times New Roman"/>
                <a:cs typeface="Times New Roman"/>
              </a:rPr>
              <a:t> </a:t>
            </a:r>
            <a:r>
              <a:rPr sz="2800" b="1" dirty="0">
                <a:latin typeface="Aptos"/>
                <a:cs typeface="Aptos"/>
              </a:rPr>
              <a:t>devices:</a:t>
            </a:r>
            <a:r>
              <a:rPr sz="2800" spc="5" dirty="0">
                <a:latin typeface="Times New Roman"/>
                <a:cs typeface="Times New Roman"/>
              </a:rPr>
              <a:t> </a:t>
            </a:r>
            <a:r>
              <a:rPr sz="2800" dirty="0">
                <a:latin typeface="Aptos"/>
                <a:cs typeface="Aptos"/>
              </a:rPr>
              <a:t>The</a:t>
            </a:r>
            <a:r>
              <a:rPr sz="2800" spc="-25" dirty="0">
                <a:latin typeface="Times New Roman"/>
                <a:cs typeface="Times New Roman"/>
              </a:rPr>
              <a:t> </a:t>
            </a:r>
            <a:r>
              <a:rPr sz="2800" dirty="0">
                <a:latin typeface="Aptos"/>
                <a:cs typeface="Aptos"/>
              </a:rPr>
              <a:t>devices</a:t>
            </a:r>
            <a:r>
              <a:rPr sz="2800" spc="-30" dirty="0">
                <a:latin typeface="Times New Roman"/>
                <a:cs typeface="Times New Roman"/>
              </a:rPr>
              <a:t> </a:t>
            </a:r>
            <a:r>
              <a:rPr sz="2800" dirty="0">
                <a:latin typeface="Aptos"/>
                <a:cs typeface="Aptos"/>
              </a:rPr>
              <a:t>of</a:t>
            </a:r>
            <a:r>
              <a:rPr sz="2800" dirty="0">
                <a:latin typeface="Times New Roman"/>
                <a:cs typeface="Times New Roman"/>
              </a:rPr>
              <a:t> </a:t>
            </a:r>
            <a:r>
              <a:rPr sz="2800" dirty="0">
                <a:latin typeface="Aptos"/>
                <a:cs typeface="Aptos"/>
              </a:rPr>
              <a:t>computer</a:t>
            </a:r>
            <a:r>
              <a:rPr sz="2800" spc="-5" dirty="0">
                <a:latin typeface="Times New Roman"/>
                <a:cs typeface="Times New Roman"/>
              </a:rPr>
              <a:t> </a:t>
            </a:r>
            <a:r>
              <a:rPr sz="2800" spc="-10" dirty="0">
                <a:latin typeface="Aptos"/>
                <a:cs typeface="Aptos"/>
              </a:rPr>
              <a:t>network</a:t>
            </a:r>
            <a:r>
              <a:rPr sz="2800" spc="-10" dirty="0">
                <a:latin typeface="Times New Roman"/>
                <a:cs typeface="Times New Roman"/>
              </a:rPr>
              <a:t> </a:t>
            </a:r>
            <a:r>
              <a:rPr sz="2800" dirty="0">
                <a:latin typeface="Aptos"/>
                <a:cs typeface="Aptos"/>
              </a:rPr>
              <a:t>which</a:t>
            </a:r>
            <a:r>
              <a:rPr sz="2800" spc="85" dirty="0">
                <a:latin typeface="Times New Roman"/>
                <a:cs typeface="Times New Roman"/>
              </a:rPr>
              <a:t>  </a:t>
            </a:r>
            <a:r>
              <a:rPr sz="2800" dirty="0">
                <a:latin typeface="Aptos"/>
                <a:cs typeface="Aptos"/>
              </a:rPr>
              <a:t>are</a:t>
            </a:r>
            <a:r>
              <a:rPr sz="2800" spc="90" dirty="0">
                <a:latin typeface="Times New Roman"/>
                <a:cs typeface="Times New Roman"/>
              </a:rPr>
              <a:t>  </a:t>
            </a:r>
            <a:r>
              <a:rPr sz="2800" dirty="0">
                <a:latin typeface="Aptos"/>
                <a:cs typeface="Aptos"/>
              </a:rPr>
              <a:t>used</a:t>
            </a:r>
            <a:r>
              <a:rPr sz="2800" spc="100" dirty="0">
                <a:latin typeface="Times New Roman"/>
                <a:cs typeface="Times New Roman"/>
              </a:rPr>
              <a:t>  </a:t>
            </a:r>
            <a:r>
              <a:rPr sz="2800" dirty="0">
                <a:latin typeface="Aptos"/>
                <a:cs typeface="Aptos"/>
              </a:rPr>
              <a:t>to</a:t>
            </a:r>
            <a:r>
              <a:rPr sz="2800" spc="100" dirty="0">
                <a:latin typeface="Times New Roman"/>
                <a:cs typeface="Times New Roman"/>
              </a:rPr>
              <a:t>  </a:t>
            </a:r>
            <a:r>
              <a:rPr sz="2800" dirty="0">
                <a:latin typeface="Aptos"/>
                <a:cs typeface="Aptos"/>
              </a:rPr>
              <a:t>connect</a:t>
            </a:r>
            <a:r>
              <a:rPr sz="2800" spc="95" dirty="0">
                <a:latin typeface="Times New Roman"/>
                <a:cs typeface="Times New Roman"/>
              </a:rPr>
              <a:t>  </a:t>
            </a:r>
            <a:r>
              <a:rPr sz="2800" dirty="0">
                <a:latin typeface="Aptos"/>
                <a:cs typeface="Aptos"/>
              </a:rPr>
              <a:t>network</a:t>
            </a:r>
            <a:r>
              <a:rPr sz="2800" spc="90" dirty="0">
                <a:latin typeface="Times New Roman"/>
                <a:cs typeface="Times New Roman"/>
              </a:rPr>
              <a:t>  </a:t>
            </a:r>
            <a:r>
              <a:rPr sz="2800" dirty="0">
                <a:latin typeface="Aptos"/>
                <a:cs typeface="Aptos"/>
              </a:rPr>
              <a:t>is</a:t>
            </a:r>
            <a:r>
              <a:rPr sz="2800" spc="95" dirty="0">
                <a:latin typeface="Times New Roman"/>
                <a:cs typeface="Times New Roman"/>
              </a:rPr>
              <a:t>  </a:t>
            </a:r>
            <a:r>
              <a:rPr sz="2800" dirty="0">
                <a:latin typeface="Aptos"/>
                <a:cs typeface="Aptos"/>
              </a:rPr>
              <a:t>called</a:t>
            </a:r>
            <a:r>
              <a:rPr sz="2800" spc="100" dirty="0">
                <a:latin typeface="Times New Roman"/>
                <a:cs typeface="Times New Roman"/>
              </a:rPr>
              <a:t>  </a:t>
            </a:r>
            <a:r>
              <a:rPr sz="2800" dirty="0">
                <a:latin typeface="Aptos"/>
                <a:cs typeface="Aptos"/>
              </a:rPr>
              <a:t>the</a:t>
            </a:r>
            <a:r>
              <a:rPr sz="2800" spc="95" dirty="0">
                <a:latin typeface="Times New Roman"/>
                <a:cs typeface="Times New Roman"/>
              </a:rPr>
              <a:t>  </a:t>
            </a:r>
            <a:r>
              <a:rPr sz="2800" spc="-10" dirty="0">
                <a:latin typeface="Aptos"/>
                <a:cs typeface="Aptos"/>
              </a:rPr>
              <a:t>network</a:t>
            </a:r>
            <a:r>
              <a:rPr sz="2800" spc="-10" dirty="0">
                <a:latin typeface="Times New Roman"/>
                <a:cs typeface="Times New Roman"/>
              </a:rPr>
              <a:t> </a:t>
            </a:r>
            <a:r>
              <a:rPr sz="2800" dirty="0">
                <a:latin typeface="Aptos"/>
                <a:cs typeface="Aptos"/>
              </a:rPr>
              <a:t>connecting</a:t>
            </a:r>
            <a:r>
              <a:rPr sz="2800" spc="580" dirty="0">
                <a:latin typeface="Times New Roman"/>
                <a:cs typeface="Times New Roman"/>
              </a:rPr>
              <a:t> </a:t>
            </a:r>
            <a:r>
              <a:rPr sz="2800" dirty="0">
                <a:latin typeface="Aptos"/>
                <a:cs typeface="Aptos"/>
              </a:rPr>
              <a:t>devices.</a:t>
            </a:r>
            <a:r>
              <a:rPr sz="2800" spc="585" dirty="0">
                <a:latin typeface="Times New Roman"/>
                <a:cs typeface="Times New Roman"/>
              </a:rPr>
              <a:t> </a:t>
            </a:r>
            <a:r>
              <a:rPr sz="2800" dirty="0">
                <a:latin typeface="Aptos"/>
                <a:cs typeface="Aptos"/>
              </a:rPr>
              <a:t>We</a:t>
            </a:r>
            <a:r>
              <a:rPr sz="2800" spc="600" dirty="0">
                <a:latin typeface="Times New Roman"/>
                <a:cs typeface="Times New Roman"/>
              </a:rPr>
              <a:t> </a:t>
            </a:r>
            <a:r>
              <a:rPr sz="2800" dirty="0">
                <a:latin typeface="Aptos"/>
                <a:cs typeface="Aptos"/>
              </a:rPr>
              <a:t>can</a:t>
            </a:r>
            <a:r>
              <a:rPr sz="2800" spc="600" dirty="0">
                <a:latin typeface="Times New Roman"/>
                <a:cs typeface="Times New Roman"/>
              </a:rPr>
              <a:t> </a:t>
            </a:r>
            <a:r>
              <a:rPr sz="2800" dirty="0">
                <a:latin typeface="Aptos"/>
                <a:cs typeface="Aptos"/>
              </a:rPr>
              <a:t>connect</a:t>
            </a:r>
            <a:r>
              <a:rPr sz="2800" spc="595" dirty="0">
                <a:latin typeface="Times New Roman"/>
                <a:cs typeface="Times New Roman"/>
              </a:rPr>
              <a:t> </a:t>
            </a:r>
            <a:r>
              <a:rPr sz="2800" dirty="0">
                <a:latin typeface="Aptos"/>
                <a:cs typeface="Aptos"/>
              </a:rPr>
              <a:t>two</a:t>
            </a:r>
            <a:r>
              <a:rPr sz="2800" spc="590" dirty="0">
                <a:latin typeface="Times New Roman"/>
                <a:cs typeface="Times New Roman"/>
              </a:rPr>
              <a:t> </a:t>
            </a:r>
            <a:r>
              <a:rPr sz="2800" dirty="0">
                <a:latin typeface="Aptos"/>
                <a:cs typeface="Aptos"/>
              </a:rPr>
              <a:t>or</a:t>
            </a:r>
            <a:r>
              <a:rPr sz="2800" spc="615" dirty="0">
                <a:latin typeface="Times New Roman"/>
                <a:cs typeface="Times New Roman"/>
              </a:rPr>
              <a:t> </a:t>
            </a:r>
            <a:r>
              <a:rPr sz="2800" dirty="0">
                <a:latin typeface="Aptos"/>
                <a:cs typeface="Aptos"/>
              </a:rPr>
              <a:t>more</a:t>
            </a:r>
            <a:r>
              <a:rPr sz="2800" spc="590" dirty="0">
                <a:latin typeface="Times New Roman"/>
                <a:cs typeface="Times New Roman"/>
              </a:rPr>
              <a:t> </a:t>
            </a:r>
            <a:r>
              <a:rPr sz="2800" spc="-10" dirty="0">
                <a:latin typeface="Aptos"/>
                <a:cs typeface="Aptos"/>
              </a:rPr>
              <a:t>networks</a:t>
            </a:r>
            <a:r>
              <a:rPr sz="2800" spc="-10" dirty="0">
                <a:latin typeface="Times New Roman"/>
                <a:cs typeface="Times New Roman"/>
              </a:rPr>
              <a:t> </a:t>
            </a:r>
            <a:r>
              <a:rPr sz="2800" dirty="0">
                <a:latin typeface="Aptos"/>
                <a:cs typeface="Aptos"/>
              </a:rPr>
              <a:t>together</a:t>
            </a:r>
            <a:r>
              <a:rPr sz="2800" spc="440" dirty="0">
                <a:latin typeface="Times New Roman"/>
                <a:cs typeface="Times New Roman"/>
              </a:rPr>
              <a:t> </a:t>
            </a:r>
            <a:r>
              <a:rPr sz="2800" dirty="0">
                <a:latin typeface="Aptos"/>
                <a:cs typeface="Aptos"/>
              </a:rPr>
              <a:t>to</a:t>
            </a:r>
            <a:r>
              <a:rPr sz="2800" spc="450" dirty="0">
                <a:latin typeface="Times New Roman"/>
                <a:cs typeface="Times New Roman"/>
              </a:rPr>
              <a:t> </a:t>
            </a:r>
            <a:r>
              <a:rPr sz="2800" dirty="0">
                <a:latin typeface="Aptos"/>
                <a:cs typeface="Aptos"/>
              </a:rPr>
              <a:t>create</a:t>
            </a:r>
            <a:r>
              <a:rPr sz="2800" spc="455" dirty="0">
                <a:latin typeface="Times New Roman"/>
                <a:cs typeface="Times New Roman"/>
              </a:rPr>
              <a:t> </a:t>
            </a:r>
            <a:r>
              <a:rPr sz="2800" dirty="0">
                <a:latin typeface="Aptos"/>
                <a:cs typeface="Aptos"/>
              </a:rPr>
              <a:t>larger</a:t>
            </a:r>
            <a:r>
              <a:rPr sz="2800" spc="440" dirty="0">
                <a:latin typeface="Times New Roman"/>
                <a:cs typeface="Times New Roman"/>
              </a:rPr>
              <a:t> </a:t>
            </a:r>
            <a:r>
              <a:rPr sz="2800" dirty="0">
                <a:latin typeface="Aptos"/>
                <a:cs typeface="Aptos"/>
              </a:rPr>
              <a:t>network.</a:t>
            </a:r>
            <a:r>
              <a:rPr sz="2800" spc="440" dirty="0">
                <a:latin typeface="Times New Roman"/>
                <a:cs typeface="Times New Roman"/>
              </a:rPr>
              <a:t> </a:t>
            </a:r>
            <a:r>
              <a:rPr sz="2800" dirty="0">
                <a:latin typeface="Aptos"/>
                <a:cs typeface="Aptos"/>
              </a:rPr>
              <a:t>A</a:t>
            </a:r>
            <a:r>
              <a:rPr sz="2800" spc="445" dirty="0">
                <a:latin typeface="Times New Roman"/>
                <a:cs typeface="Times New Roman"/>
              </a:rPr>
              <a:t> </a:t>
            </a:r>
            <a:r>
              <a:rPr sz="2800" dirty="0">
                <a:latin typeface="Aptos"/>
                <a:cs typeface="Aptos"/>
              </a:rPr>
              <a:t>LANs</a:t>
            </a:r>
            <a:r>
              <a:rPr sz="2800" spc="450" dirty="0">
                <a:latin typeface="Times New Roman"/>
                <a:cs typeface="Times New Roman"/>
              </a:rPr>
              <a:t> </a:t>
            </a:r>
            <a:r>
              <a:rPr sz="2800" dirty="0">
                <a:latin typeface="Aptos"/>
                <a:cs typeface="Aptos"/>
              </a:rPr>
              <a:t>can</a:t>
            </a:r>
            <a:r>
              <a:rPr sz="2800" spc="459" dirty="0">
                <a:latin typeface="Times New Roman"/>
                <a:cs typeface="Times New Roman"/>
              </a:rPr>
              <a:t> </a:t>
            </a:r>
            <a:r>
              <a:rPr sz="2800" dirty="0">
                <a:latin typeface="Aptos"/>
                <a:cs typeface="Aptos"/>
              </a:rPr>
              <a:t>be</a:t>
            </a:r>
            <a:r>
              <a:rPr sz="2800" spc="450" dirty="0">
                <a:latin typeface="Times New Roman"/>
                <a:cs typeface="Times New Roman"/>
              </a:rPr>
              <a:t> </a:t>
            </a:r>
            <a:r>
              <a:rPr sz="2800" spc="-10" dirty="0">
                <a:latin typeface="Aptos"/>
                <a:cs typeface="Aptos"/>
              </a:rPr>
              <a:t>connected</a:t>
            </a:r>
            <a:r>
              <a:rPr sz="2800" spc="-10" dirty="0">
                <a:latin typeface="Times New Roman"/>
                <a:cs typeface="Times New Roman"/>
              </a:rPr>
              <a:t> </a:t>
            </a:r>
            <a:r>
              <a:rPr sz="2800" spc="-20" dirty="0">
                <a:latin typeface="Aptos"/>
                <a:cs typeface="Aptos"/>
              </a:rPr>
              <a:t>others</a:t>
            </a:r>
            <a:r>
              <a:rPr sz="2800" spc="-150" dirty="0">
                <a:latin typeface="Times New Roman"/>
                <a:cs typeface="Times New Roman"/>
              </a:rPr>
              <a:t> </a:t>
            </a:r>
            <a:r>
              <a:rPr sz="2800" spc="-10" dirty="0">
                <a:latin typeface="Aptos"/>
                <a:cs typeface="Aptos"/>
              </a:rPr>
              <a:t>LANs,</a:t>
            </a:r>
            <a:r>
              <a:rPr sz="2800" spc="-125" dirty="0">
                <a:latin typeface="Times New Roman"/>
                <a:cs typeface="Times New Roman"/>
              </a:rPr>
              <a:t> </a:t>
            </a:r>
            <a:r>
              <a:rPr sz="2800" spc="-20" dirty="0">
                <a:latin typeface="Aptos"/>
                <a:cs typeface="Aptos"/>
              </a:rPr>
              <a:t>MANs</a:t>
            </a:r>
            <a:r>
              <a:rPr sz="2800" spc="-135" dirty="0">
                <a:latin typeface="Times New Roman"/>
                <a:cs typeface="Times New Roman"/>
              </a:rPr>
              <a:t> </a:t>
            </a:r>
            <a:r>
              <a:rPr sz="2800" dirty="0">
                <a:latin typeface="Aptos"/>
                <a:cs typeface="Aptos"/>
              </a:rPr>
              <a:t>or</a:t>
            </a:r>
            <a:r>
              <a:rPr sz="2800" spc="-145" dirty="0">
                <a:latin typeface="Times New Roman"/>
                <a:cs typeface="Times New Roman"/>
              </a:rPr>
              <a:t> </a:t>
            </a:r>
            <a:r>
              <a:rPr sz="2800" spc="-20" dirty="0">
                <a:latin typeface="Aptos"/>
                <a:cs typeface="Aptos"/>
              </a:rPr>
              <a:t>WAN.</a:t>
            </a:r>
            <a:endParaRPr sz="2800">
              <a:latin typeface="Aptos"/>
              <a:cs typeface="Apto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29639" y="415163"/>
            <a:ext cx="1565275" cy="434340"/>
          </a:xfrm>
          <a:custGeom>
            <a:avLst/>
            <a:gdLst/>
            <a:ahLst/>
            <a:cxnLst/>
            <a:rect l="l" t="t" r="r" b="b"/>
            <a:pathLst>
              <a:path w="1565275" h="434340">
                <a:moveTo>
                  <a:pt x="1565147" y="0"/>
                </a:moveTo>
                <a:lnTo>
                  <a:pt x="0" y="0"/>
                </a:lnTo>
                <a:lnTo>
                  <a:pt x="0" y="434336"/>
                </a:lnTo>
                <a:lnTo>
                  <a:pt x="1565147" y="434336"/>
                </a:lnTo>
                <a:lnTo>
                  <a:pt x="1565147" y="0"/>
                </a:lnTo>
                <a:close/>
              </a:path>
            </a:pathLst>
          </a:custGeom>
          <a:solidFill>
            <a:srgbClr val="FFFF00"/>
          </a:solidFill>
        </p:spPr>
        <p:txBody>
          <a:bodyPr wrap="square" lIns="0" tIns="0" rIns="0" bIns="0" rtlCol="0"/>
          <a:lstStyle/>
          <a:p>
            <a:endParaRPr/>
          </a:p>
        </p:txBody>
      </p:sp>
      <p:sp>
        <p:nvSpPr>
          <p:cNvPr id="3" name="object 3"/>
          <p:cNvSpPr txBox="1"/>
          <p:nvPr/>
        </p:nvSpPr>
        <p:spPr>
          <a:xfrm>
            <a:off x="916939" y="382892"/>
            <a:ext cx="10361295" cy="2372360"/>
          </a:xfrm>
          <a:prstGeom prst="rect">
            <a:avLst/>
          </a:prstGeom>
        </p:spPr>
        <p:txBody>
          <a:bodyPr vert="horz" wrap="square" lIns="0" tIns="54610" rIns="0" bIns="0" rtlCol="0">
            <a:spAutoFit/>
          </a:bodyPr>
          <a:lstStyle/>
          <a:p>
            <a:pPr marL="12700" marR="5080" algn="just">
              <a:lnSpc>
                <a:spcPct val="90000"/>
              </a:lnSpc>
              <a:spcBef>
                <a:spcPts val="430"/>
              </a:spcBef>
            </a:pPr>
            <a:r>
              <a:rPr sz="2800" b="1" dirty="0">
                <a:latin typeface="Aptos"/>
                <a:cs typeface="Aptos"/>
              </a:rPr>
              <a:t>Repeaters:</a:t>
            </a:r>
            <a:r>
              <a:rPr sz="2800" dirty="0">
                <a:latin typeface="Times New Roman"/>
                <a:cs typeface="Times New Roman"/>
              </a:rPr>
              <a:t> </a:t>
            </a:r>
            <a:r>
              <a:rPr sz="2800" dirty="0">
                <a:latin typeface="Aptos"/>
                <a:cs typeface="Aptos"/>
              </a:rPr>
              <a:t>As</a:t>
            </a:r>
            <a:r>
              <a:rPr sz="2800" spc="-25" dirty="0">
                <a:latin typeface="Times New Roman"/>
                <a:cs typeface="Times New Roman"/>
              </a:rPr>
              <a:t> </a:t>
            </a:r>
            <a:r>
              <a:rPr sz="2800" dirty="0">
                <a:latin typeface="Aptos"/>
                <a:cs typeface="Aptos"/>
              </a:rPr>
              <a:t>the</a:t>
            </a:r>
            <a:r>
              <a:rPr sz="2800" spc="-5" dirty="0">
                <a:latin typeface="Times New Roman"/>
                <a:cs typeface="Times New Roman"/>
              </a:rPr>
              <a:t> </a:t>
            </a:r>
            <a:r>
              <a:rPr sz="2800" dirty="0">
                <a:latin typeface="Aptos"/>
                <a:cs typeface="Aptos"/>
              </a:rPr>
              <a:t>name</a:t>
            </a:r>
            <a:r>
              <a:rPr sz="2800" spc="-15" dirty="0">
                <a:latin typeface="Times New Roman"/>
                <a:cs typeface="Times New Roman"/>
              </a:rPr>
              <a:t> </a:t>
            </a:r>
            <a:r>
              <a:rPr sz="2800" dirty="0">
                <a:latin typeface="Aptos"/>
                <a:cs typeface="Aptos"/>
              </a:rPr>
              <a:t>implies,</a:t>
            </a:r>
            <a:r>
              <a:rPr sz="2800" spc="-15" dirty="0">
                <a:latin typeface="Times New Roman"/>
                <a:cs typeface="Times New Roman"/>
              </a:rPr>
              <a:t> </a:t>
            </a:r>
            <a:r>
              <a:rPr sz="2800" dirty="0">
                <a:latin typeface="Aptos"/>
                <a:cs typeface="Aptos"/>
              </a:rPr>
              <a:t>repeaters</a:t>
            </a:r>
            <a:r>
              <a:rPr sz="2800" spc="-30" dirty="0">
                <a:latin typeface="Times New Roman"/>
                <a:cs typeface="Times New Roman"/>
              </a:rPr>
              <a:t> </a:t>
            </a:r>
            <a:r>
              <a:rPr sz="2800" dirty="0">
                <a:latin typeface="Aptos"/>
                <a:cs typeface="Aptos"/>
              </a:rPr>
              <a:t>repeat</a:t>
            </a:r>
            <a:r>
              <a:rPr sz="2800" spc="-25" dirty="0">
                <a:latin typeface="Times New Roman"/>
                <a:cs typeface="Times New Roman"/>
              </a:rPr>
              <a:t> </a:t>
            </a:r>
            <a:r>
              <a:rPr sz="2800" dirty="0">
                <a:latin typeface="Aptos"/>
                <a:cs typeface="Aptos"/>
              </a:rPr>
              <a:t>network</a:t>
            </a:r>
            <a:r>
              <a:rPr sz="2800" spc="-10" dirty="0">
                <a:latin typeface="Times New Roman"/>
                <a:cs typeface="Times New Roman"/>
              </a:rPr>
              <a:t> </a:t>
            </a:r>
            <a:r>
              <a:rPr sz="2800" dirty="0">
                <a:latin typeface="Aptos"/>
                <a:cs typeface="Aptos"/>
              </a:rPr>
              <a:t>data.</a:t>
            </a:r>
            <a:r>
              <a:rPr sz="2800" spc="-10" dirty="0">
                <a:latin typeface="Times New Roman"/>
                <a:cs typeface="Times New Roman"/>
              </a:rPr>
              <a:t> </a:t>
            </a:r>
            <a:r>
              <a:rPr sz="2800" spc="-25" dirty="0">
                <a:latin typeface="Aptos"/>
                <a:cs typeface="Aptos"/>
              </a:rPr>
              <a:t>In</a:t>
            </a:r>
            <a:r>
              <a:rPr sz="2800" spc="-25" dirty="0">
                <a:latin typeface="Times New Roman"/>
                <a:cs typeface="Times New Roman"/>
              </a:rPr>
              <a:t> </a:t>
            </a:r>
            <a:r>
              <a:rPr sz="2800" dirty="0">
                <a:latin typeface="Aptos"/>
                <a:cs typeface="Aptos"/>
              </a:rPr>
              <a:t>general,</a:t>
            </a:r>
            <a:r>
              <a:rPr sz="2800" spc="275" dirty="0">
                <a:latin typeface="Times New Roman"/>
                <a:cs typeface="Times New Roman"/>
              </a:rPr>
              <a:t> </a:t>
            </a:r>
            <a:r>
              <a:rPr sz="2800" dirty="0">
                <a:latin typeface="Aptos"/>
                <a:cs typeface="Aptos"/>
              </a:rPr>
              <a:t>repeaters</a:t>
            </a:r>
            <a:r>
              <a:rPr sz="2800" spc="280" dirty="0">
                <a:latin typeface="Times New Roman"/>
                <a:cs typeface="Times New Roman"/>
              </a:rPr>
              <a:t> </a:t>
            </a:r>
            <a:r>
              <a:rPr sz="2800" dirty="0">
                <a:latin typeface="Aptos"/>
                <a:cs typeface="Aptos"/>
              </a:rPr>
              <a:t>operate</a:t>
            </a:r>
            <a:r>
              <a:rPr sz="2800" spc="260" dirty="0">
                <a:latin typeface="Times New Roman"/>
                <a:cs typeface="Times New Roman"/>
              </a:rPr>
              <a:t> </a:t>
            </a:r>
            <a:r>
              <a:rPr sz="2800" dirty="0">
                <a:latin typeface="Aptos"/>
                <a:cs typeface="Aptos"/>
              </a:rPr>
              <a:t>at</a:t>
            </a:r>
            <a:r>
              <a:rPr sz="2800" spc="260" dirty="0">
                <a:latin typeface="Times New Roman"/>
                <a:cs typeface="Times New Roman"/>
              </a:rPr>
              <a:t> </a:t>
            </a:r>
            <a:r>
              <a:rPr sz="2800" dirty="0">
                <a:latin typeface="Aptos"/>
                <a:cs typeface="Aptos"/>
              </a:rPr>
              <a:t>the</a:t>
            </a:r>
            <a:r>
              <a:rPr sz="2800" spc="275" dirty="0">
                <a:latin typeface="Times New Roman"/>
                <a:cs typeface="Times New Roman"/>
              </a:rPr>
              <a:t> </a:t>
            </a:r>
            <a:r>
              <a:rPr sz="2800" dirty="0">
                <a:latin typeface="Aptos"/>
                <a:cs typeface="Aptos"/>
              </a:rPr>
              <a:t>electronic</a:t>
            </a:r>
            <a:r>
              <a:rPr sz="2800" spc="265" dirty="0">
                <a:latin typeface="Times New Roman"/>
                <a:cs typeface="Times New Roman"/>
              </a:rPr>
              <a:t> </a:t>
            </a:r>
            <a:r>
              <a:rPr sz="2800" dirty="0">
                <a:latin typeface="Aptos"/>
                <a:cs typeface="Aptos"/>
              </a:rPr>
              <a:t>level</a:t>
            </a:r>
            <a:r>
              <a:rPr sz="2800" spc="275" dirty="0">
                <a:latin typeface="Times New Roman"/>
                <a:cs typeface="Times New Roman"/>
              </a:rPr>
              <a:t> </a:t>
            </a:r>
            <a:r>
              <a:rPr sz="2800" dirty="0">
                <a:latin typeface="Aptos"/>
                <a:cs typeface="Aptos"/>
              </a:rPr>
              <a:t>and</a:t>
            </a:r>
            <a:r>
              <a:rPr sz="2800" spc="290" dirty="0">
                <a:latin typeface="Times New Roman"/>
                <a:cs typeface="Times New Roman"/>
              </a:rPr>
              <a:t> </a:t>
            </a:r>
            <a:r>
              <a:rPr sz="2800" dirty="0">
                <a:latin typeface="Aptos"/>
                <a:cs typeface="Aptos"/>
              </a:rPr>
              <a:t>contain</a:t>
            </a:r>
            <a:r>
              <a:rPr sz="2800" spc="265" dirty="0">
                <a:latin typeface="Times New Roman"/>
                <a:cs typeface="Times New Roman"/>
              </a:rPr>
              <a:t> </a:t>
            </a:r>
            <a:r>
              <a:rPr sz="2800" spc="-25" dirty="0">
                <a:latin typeface="Aptos"/>
                <a:cs typeface="Aptos"/>
              </a:rPr>
              <a:t>no</a:t>
            </a:r>
            <a:r>
              <a:rPr sz="2800" spc="-25" dirty="0">
                <a:latin typeface="Times New Roman"/>
                <a:cs typeface="Times New Roman"/>
              </a:rPr>
              <a:t> </a:t>
            </a:r>
            <a:r>
              <a:rPr sz="2800" dirty="0">
                <a:latin typeface="Aptos"/>
                <a:cs typeface="Aptos"/>
              </a:rPr>
              <a:t>real</a:t>
            </a:r>
            <a:r>
              <a:rPr sz="2800" spc="60" dirty="0">
                <a:latin typeface="Times New Roman"/>
                <a:cs typeface="Times New Roman"/>
              </a:rPr>
              <a:t>  </a:t>
            </a:r>
            <a:r>
              <a:rPr sz="2800" dirty="0">
                <a:latin typeface="Aptos"/>
                <a:cs typeface="Aptos"/>
              </a:rPr>
              <a:t>intelligence.</a:t>
            </a:r>
            <a:r>
              <a:rPr sz="2800" spc="65" dirty="0">
                <a:latin typeface="Times New Roman"/>
                <a:cs typeface="Times New Roman"/>
              </a:rPr>
              <a:t>  </a:t>
            </a:r>
            <a:r>
              <a:rPr sz="2800" dirty="0">
                <a:latin typeface="Aptos"/>
                <a:cs typeface="Aptos"/>
              </a:rPr>
              <a:t>A</a:t>
            </a:r>
            <a:r>
              <a:rPr sz="2800" spc="65" dirty="0">
                <a:latin typeface="Times New Roman"/>
                <a:cs typeface="Times New Roman"/>
              </a:rPr>
              <a:t>  </a:t>
            </a:r>
            <a:r>
              <a:rPr sz="2800" dirty="0">
                <a:latin typeface="Aptos"/>
                <a:cs typeface="Aptos"/>
              </a:rPr>
              <a:t>repeater</a:t>
            </a:r>
            <a:r>
              <a:rPr sz="2800" spc="65" dirty="0">
                <a:latin typeface="Times New Roman"/>
                <a:cs typeface="Times New Roman"/>
              </a:rPr>
              <a:t>  </a:t>
            </a:r>
            <a:r>
              <a:rPr sz="2800" dirty="0">
                <a:latin typeface="Aptos"/>
                <a:cs typeface="Aptos"/>
              </a:rPr>
              <a:t>accepts</a:t>
            </a:r>
            <a:r>
              <a:rPr sz="2800" spc="60" dirty="0">
                <a:latin typeface="Times New Roman"/>
                <a:cs typeface="Times New Roman"/>
              </a:rPr>
              <a:t>  </a:t>
            </a:r>
            <a:r>
              <a:rPr sz="2800" dirty="0">
                <a:latin typeface="Aptos"/>
                <a:cs typeface="Aptos"/>
              </a:rPr>
              <a:t>weak</a:t>
            </a:r>
            <a:r>
              <a:rPr sz="2800" spc="70" dirty="0">
                <a:latin typeface="Times New Roman"/>
                <a:cs typeface="Times New Roman"/>
              </a:rPr>
              <a:t>  </a:t>
            </a:r>
            <a:r>
              <a:rPr sz="2800" dirty="0">
                <a:latin typeface="Aptos"/>
                <a:cs typeface="Aptos"/>
              </a:rPr>
              <a:t>signals,</a:t>
            </a:r>
            <a:r>
              <a:rPr sz="2800" spc="60" dirty="0">
                <a:latin typeface="Times New Roman"/>
                <a:cs typeface="Times New Roman"/>
              </a:rPr>
              <a:t>  </a:t>
            </a:r>
            <a:r>
              <a:rPr sz="2800" spc="-10" dirty="0">
                <a:latin typeface="Aptos"/>
                <a:cs typeface="Aptos"/>
              </a:rPr>
              <a:t>electrically</a:t>
            </a:r>
            <a:r>
              <a:rPr sz="2800" spc="-10" dirty="0">
                <a:latin typeface="Times New Roman"/>
                <a:cs typeface="Times New Roman"/>
              </a:rPr>
              <a:t> </a:t>
            </a:r>
            <a:r>
              <a:rPr sz="2800" spc="-25" dirty="0">
                <a:latin typeface="Aptos"/>
                <a:cs typeface="Aptos"/>
              </a:rPr>
              <a:t>regenerates</a:t>
            </a:r>
            <a:r>
              <a:rPr sz="2800" spc="-120" dirty="0">
                <a:latin typeface="Times New Roman"/>
                <a:cs typeface="Times New Roman"/>
              </a:rPr>
              <a:t> </a:t>
            </a:r>
            <a:r>
              <a:rPr sz="2800" dirty="0">
                <a:latin typeface="Aptos"/>
                <a:cs typeface="Aptos"/>
              </a:rPr>
              <a:t>them</a:t>
            </a:r>
            <a:r>
              <a:rPr sz="2800" spc="-95" dirty="0">
                <a:latin typeface="Times New Roman"/>
                <a:cs typeface="Times New Roman"/>
              </a:rPr>
              <a:t> </a:t>
            </a:r>
            <a:r>
              <a:rPr sz="2800" dirty="0">
                <a:latin typeface="Aptos"/>
                <a:cs typeface="Aptos"/>
              </a:rPr>
              <a:t>and</a:t>
            </a:r>
            <a:r>
              <a:rPr sz="2800" spc="-110" dirty="0">
                <a:latin typeface="Times New Roman"/>
                <a:cs typeface="Times New Roman"/>
              </a:rPr>
              <a:t> </a:t>
            </a:r>
            <a:r>
              <a:rPr sz="2800" dirty="0">
                <a:latin typeface="Aptos"/>
                <a:cs typeface="Aptos"/>
              </a:rPr>
              <a:t>then</a:t>
            </a:r>
            <a:r>
              <a:rPr sz="2800" spc="-100" dirty="0">
                <a:latin typeface="Times New Roman"/>
                <a:cs typeface="Times New Roman"/>
              </a:rPr>
              <a:t> </a:t>
            </a:r>
            <a:r>
              <a:rPr sz="2800" dirty="0">
                <a:latin typeface="Aptos"/>
                <a:cs typeface="Aptos"/>
              </a:rPr>
              <a:t>sends</a:t>
            </a:r>
            <a:r>
              <a:rPr sz="2800" spc="-100" dirty="0">
                <a:latin typeface="Times New Roman"/>
                <a:cs typeface="Times New Roman"/>
              </a:rPr>
              <a:t> </a:t>
            </a:r>
            <a:r>
              <a:rPr sz="2800" dirty="0">
                <a:latin typeface="Aptos"/>
                <a:cs typeface="Aptos"/>
              </a:rPr>
              <a:t>the</a:t>
            </a:r>
            <a:r>
              <a:rPr sz="2800" spc="-95" dirty="0">
                <a:latin typeface="Times New Roman"/>
                <a:cs typeface="Times New Roman"/>
              </a:rPr>
              <a:t> </a:t>
            </a:r>
            <a:r>
              <a:rPr sz="2800" spc="-10" dirty="0">
                <a:latin typeface="Aptos"/>
                <a:cs typeface="Aptos"/>
              </a:rPr>
              <a:t>messages</a:t>
            </a:r>
            <a:r>
              <a:rPr sz="2800" spc="-95" dirty="0">
                <a:latin typeface="Times New Roman"/>
                <a:cs typeface="Times New Roman"/>
              </a:rPr>
              <a:t> </a:t>
            </a:r>
            <a:r>
              <a:rPr sz="2800" dirty="0">
                <a:latin typeface="Aptos"/>
                <a:cs typeface="Aptos"/>
              </a:rPr>
              <a:t>on</a:t>
            </a:r>
            <a:r>
              <a:rPr sz="2800" spc="-100" dirty="0">
                <a:latin typeface="Times New Roman"/>
                <a:cs typeface="Times New Roman"/>
              </a:rPr>
              <a:t> </a:t>
            </a:r>
            <a:r>
              <a:rPr sz="2800" dirty="0">
                <a:latin typeface="Aptos"/>
                <a:cs typeface="Aptos"/>
              </a:rPr>
              <a:t>their</a:t>
            </a:r>
            <a:r>
              <a:rPr sz="2800" spc="-90" dirty="0">
                <a:latin typeface="Times New Roman"/>
                <a:cs typeface="Times New Roman"/>
              </a:rPr>
              <a:t> </a:t>
            </a:r>
            <a:r>
              <a:rPr sz="2800" spc="-60" dirty="0">
                <a:latin typeface="Aptos"/>
                <a:cs typeface="Aptos"/>
              </a:rPr>
              <a:t>way.</a:t>
            </a:r>
            <a:r>
              <a:rPr sz="2800" spc="-105" dirty="0">
                <a:latin typeface="Times New Roman"/>
                <a:cs typeface="Times New Roman"/>
              </a:rPr>
              <a:t> </a:t>
            </a:r>
            <a:r>
              <a:rPr sz="2800" spc="-10" dirty="0">
                <a:latin typeface="Aptos"/>
                <a:cs typeface="Aptos"/>
              </a:rPr>
              <a:t>There</a:t>
            </a:r>
            <a:r>
              <a:rPr sz="2800" spc="-10" dirty="0">
                <a:latin typeface="Times New Roman"/>
                <a:cs typeface="Times New Roman"/>
              </a:rPr>
              <a:t> </a:t>
            </a:r>
            <a:r>
              <a:rPr sz="2800" dirty="0">
                <a:latin typeface="Aptos"/>
                <a:cs typeface="Aptos"/>
              </a:rPr>
              <a:t>are</a:t>
            </a:r>
            <a:r>
              <a:rPr sz="2800" spc="105" dirty="0">
                <a:latin typeface="Times New Roman"/>
                <a:cs typeface="Times New Roman"/>
              </a:rPr>
              <a:t>  </a:t>
            </a:r>
            <a:r>
              <a:rPr sz="2800" dirty="0">
                <a:latin typeface="Aptos"/>
                <a:cs typeface="Aptos"/>
              </a:rPr>
              <a:t>two</a:t>
            </a:r>
            <a:r>
              <a:rPr sz="2800" spc="114" dirty="0">
                <a:latin typeface="Times New Roman"/>
                <a:cs typeface="Times New Roman"/>
              </a:rPr>
              <a:t>  </a:t>
            </a:r>
            <a:r>
              <a:rPr sz="2800" dirty="0">
                <a:latin typeface="Aptos"/>
                <a:cs typeface="Aptos"/>
              </a:rPr>
              <a:t>types</a:t>
            </a:r>
            <a:r>
              <a:rPr sz="2800" spc="114" dirty="0">
                <a:latin typeface="Times New Roman"/>
                <a:cs typeface="Times New Roman"/>
              </a:rPr>
              <a:t>  </a:t>
            </a:r>
            <a:r>
              <a:rPr sz="2800" dirty="0">
                <a:latin typeface="Aptos"/>
                <a:cs typeface="Aptos"/>
              </a:rPr>
              <a:t>of</a:t>
            </a:r>
            <a:r>
              <a:rPr sz="2800" spc="110" dirty="0">
                <a:latin typeface="Times New Roman"/>
                <a:cs typeface="Times New Roman"/>
              </a:rPr>
              <a:t>  </a:t>
            </a:r>
            <a:r>
              <a:rPr sz="2800" dirty="0">
                <a:latin typeface="Aptos"/>
                <a:cs typeface="Aptos"/>
              </a:rPr>
              <a:t>repeaters:</a:t>
            </a:r>
            <a:r>
              <a:rPr sz="2800" spc="110" dirty="0">
                <a:latin typeface="Times New Roman"/>
                <a:cs typeface="Times New Roman"/>
              </a:rPr>
              <a:t>  </a:t>
            </a:r>
            <a:r>
              <a:rPr sz="2800" dirty="0">
                <a:latin typeface="Aptos"/>
                <a:cs typeface="Aptos"/>
              </a:rPr>
              <a:t>amplifiers</a:t>
            </a:r>
            <a:r>
              <a:rPr sz="2800" spc="110" dirty="0">
                <a:latin typeface="Times New Roman"/>
                <a:cs typeface="Times New Roman"/>
              </a:rPr>
              <a:t>  </a:t>
            </a:r>
            <a:r>
              <a:rPr sz="2800" dirty="0">
                <a:latin typeface="Aptos"/>
                <a:cs typeface="Aptos"/>
              </a:rPr>
              <a:t>and</a:t>
            </a:r>
            <a:r>
              <a:rPr sz="2800" spc="120" dirty="0">
                <a:latin typeface="Times New Roman"/>
                <a:cs typeface="Times New Roman"/>
              </a:rPr>
              <a:t>  </a:t>
            </a:r>
            <a:r>
              <a:rPr sz="2800" spc="-20" dirty="0">
                <a:latin typeface="Aptos"/>
                <a:cs typeface="Aptos"/>
              </a:rPr>
              <a:t>signal-</a:t>
            </a:r>
            <a:r>
              <a:rPr sz="2800" spc="-10" dirty="0">
                <a:latin typeface="Aptos"/>
                <a:cs typeface="Aptos"/>
              </a:rPr>
              <a:t>regenerating</a:t>
            </a:r>
            <a:r>
              <a:rPr sz="2800" spc="-10" dirty="0">
                <a:latin typeface="Times New Roman"/>
                <a:cs typeface="Times New Roman"/>
              </a:rPr>
              <a:t> </a:t>
            </a:r>
            <a:r>
              <a:rPr sz="2800" spc="-10" dirty="0">
                <a:latin typeface="Aptos"/>
                <a:cs typeface="Aptos"/>
              </a:rPr>
              <a:t>repeaters.</a:t>
            </a:r>
            <a:endParaRPr sz="2800">
              <a:latin typeface="Aptos"/>
              <a:cs typeface="Apto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299972" y="564512"/>
            <a:ext cx="821690" cy="434340"/>
          </a:xfrm>
          <a:custGeom>
            <a:avLst/>
            <a:gdLst/>
            <a:ahLst/>
            <a:cxnLst/>
            <a:rect l="l" t="t" r="r" b="b"/>
            <a:pathLst>
              <a:path w="821689" h="434340">
                <a:moveTo>
                  <a:pt x="821435" y="0"/>
                </a:moveTo>
                <a:lnTo>
                  <a:pt x="0" y="0"/>
                </a:lnTo>
                <a:lnTo>
                  <a:pt x="0" y="434339"/>
                </a:lnTo>
                <a:lnTo>
                  <a:pt x="821435" y="434339"/>
                </a:lnTo>
                <a:lnTo>
                  <a:pt x="821435" y="0"/>
                </a:lnTo>
                <a:close/>
              </a:path>
            </a:pathLst>
          </a:custGeom>
          <a:solidFill>
            <a:srgbClr val="FFFF00"/>
          </a:solidFill>
        </p:spPr>
        <p:txBody>
          <a:bodyPr wrap="square" lIns="0" tIns="0" rIns="0" bIns="0" rtlCol="0"/>
          <a:lstStyle/>
          <a:p>
            <a:endParaRPr/>
          </a:p>
        </p:txBody>
      </p:sp>
      <p:sp>
        <p:nvSpPr>
          <p:cNvPr id="3" name="object 3"/>
          <p:cNvSpPr txBox="1"/>
          <p:nvPr/>
        </p:nvSpPr>
        <p:spPr>
          <a:xfrm>
            <a:off x="916940" y="532244"/>
            <a:ext cx="10358120" cy="2372360"/>
          </a:xfrm>
          <a:prstGeom prst="rect">
            <a:avLst/>
          </a:prstGeom>
        </p:spPr>
        <p:txBody>
          <a:bodyPr vert="horz" wrap="square" lIns="0" tIns="54610" rIns="0" bIns="0" rtlCol="0">
            <a:spAutoFit/>
          </a:bodyPr>
          <a:lstStyle/>
          <a:p>
            <a:pPr marL="12700" marR="5080" algn="just">
              <a:lnSpc>
                <a:spcPct val="90000"/>
              </a:lnSpc>
              <a:spcBef>
                <a:spcPts val="430"/>
              </a:spcBef>
            </a:pPr>
            <a:r>
              <a:rPr sz="2800" b="1" dirty="0">
                <a:latin typeface="Aptos"/>
                <a:cs typeface="Aptos"/>
              </a:rPr>
              <a:t>3.</a:t>
            </a:r>
            <a:r>
              <a:rPr sz="2800" spc="-114" dirty="0">
                <a:latin typeface="Times New Roman"/>
                <a:cs typeface="Times New Roman"/>
              </a:rPr>
              <a:t> </a:t>
            </a:r>
            <a:r>
              <a:rPr sz="2800" b="1" dirty="0">
                <a:latin typeface="Aptos"/>
                <a:cs typeface="Aptos"/>
              </a:rPr>
              <a:t>Hubs:</a:t>
            </a:r>
            <a:r>
              <a:rPr sz="2800" spc="-100" dirty="0">
                <a:latin typeface="Times New Roman"/>
                <a:cs typeface="Times New Roman"/>
              </a:rPr>
              <a:t> </a:t>
            </a:r>
            <a:r>
              <a:rPr sz="2800" spc="-35" dirty="0">
                <a:latin typeface="Aptos"/>
                <a:cs typeface="Aptos"/>
              </a:rPr>
              <a:t>Technically</a:t>
            </a:r>
            <a:r>
              <a:rPr sz="2800" spc="-120" dirty="0">
                <a:latin typeface="Times New Roman"/>
                <a:cs typeface="Times New Roman"/>
              </a:rPr>
              <a:t> </a:t>
            </a:r>
            <a:r>
              <a:rPr sz="2800" spc="-10" dirty="0">
                <a:latin typeface="Aptos"/>
                <a:cs typeface="Aptos"/>
              </a:rPr>
              <a:t>speaking,</a:t>
            </a:r>
            <a:r>
              <a:rPr sz="2800" spc="-120" dirty="0">
                <a:latin typeface="Times New Roman"/>
                <a:cs typeface="Times New Roman"/>
              </a:rPr>
              <a:t> </a:t>
            </a:r>
            <a:r>
              <a:rPr sz="2800" dirty="0">
                <a:latin typeface="Aptos"/>
                <a:cs typeface="Aptos"/>
              </a:rPr>
              <a:t>a</a:t>
            </a:r>
            <a:r>
              <a:rPr sz="2800" spc="-114" dirty="0">
                <a:latin typeface="Times New Roman"/>
                <a:cs typeface="Times New Roman"/>
              </a:rPr>
              <a:t> </a:t>
            </a:r>
            <a:r>
              <a:rPr sz="2800" dirty="0">
                <a:latin typeface="Aptos"/>
                <a:cs typeface="Aptos"/>
              </a:rPr>
              <a:t>hub</a:t>
            </a:r>
            <a:r>
              <a:rPr sz="2800" spc="-110" dirty="0">
                <a:latin typeface="Times New Roman"/>
                <a:cs typeface="Times New Roman"/>
              </a:rPr>
              <a:t> </a:t>
            </a:r>
            <a:r>
              <a:rPr sz="2800" dirty="0">
                <a:latin typeface="Aptos"/>
                <a:cs typeface="Aptos"/>
              </a:rPr>
              <a:t>is</a:t>
            </a:r>
            <a:r>
              <a:rPr sz="2800" spc="-105" dirty="0">
                <a:latin typeface="Times New Roman"/>
                <a:cs typeface="Times New Roman"/>
              </a:rPr>
              <a:t> </a:t>
            </a:r>
            <a:r>
              <a:rPr sz="2800" spc="-10" dirty="0">
                <a:latin typeface="Aptos"/>
                <a:cs typeface="Aptos"/>
              </a:rPr>
              <a:t>simply</a:t>
            </a:r>
            <a:r>
              <a:rPr sz="2800" spc="-130" dirty="0">
                <a:latin typeface="Times New Roman"/>
                <a:cs typeface="Times New Roman"/>
              </a:rPr>
              <a:t> </a:t>
            </a:r>
            <a:r>
              <a:rPr sz="2800" dirty="0">
                <a:latin typeface="Aptos"/>
                <a:cs typeface="Aptos"/>
              </a:rPr>
              <a:t>a</a:t>
            </a:r>
            <a:r>
              <a:rPr sz="2800" spc="-105" dirty="0">
                <a:latin typeface="Times New Roman"/>
                <a:cs typeface="Times New Roman"/>
              </a:rPr>
              <a:t> </a:t>
            </a:r>
            <a:r>
              <a:rPr sz="2800" spc="-25" dirty="0">
                <a:latin typeface="Aptos"/>
                <a:cs typeface="Aptos"/>
              </a:rPr>
              <a:t>multi-</a:t>
            </a:r>
            <a:r>
              <a:rPr sz="2800" dirty="0">
                <a:latin typeface="Aptos"/>
                <a:cs typeface="Aptos"/>
              </a:rPr>
              <a:t>port</a:t>
            </a:r>
            <a:r>
              <a:rPr sz="2800" spc="-140" dirty="0">
                <a:latin typeface="Times New Roman"/>
                <a:cs typeface="Times New Roman"/>
              </a:rPr>
              <a:t> </a:t>
            </a:r>
            <a:r>
              <a:rPr sz="2800" spc="-10" dirty="0">
                <a:latin typeface="Aptos"/>
                <a:cs typeface="Aptos"/>
              </a:rPr>
              <a:t>repeater.</a:t>
            </a:r>
            <a:r>
              <a:rPr sz="2800" spc="-10" dirty="0">
                <a:latin typeface="Times New Roman"/>
                <a:cs typeface="Times New Roman"/>
              </a:rPr>
              <a:t> </a:t>
            </a:r>
            <a:r>
              <a:rPr sz="2800" dirty="0">
                <a:latin typeface="Aptos"/>
                <a:cs typeface="Aptos"/>
              </a:rPr>
              <a:t>In</a:t>
            </a:r>
            <a:r>
              <a:rPr sz="2800" spc="60" dirty="0">
                <a:latin typeface="Times New Roman"/>
                <a:cs typeface="Times New Roman"/>
              </a:rPr>
              <a:t>  </a:t>
            </a:r>
            <a:r>
              <a:rPr sz="2800" dirty="0">
                <a:latin typeface="Aptos"/>
                <a:cs typeface="Aptos"/>
              </a:rPr>
              <a:t>addition</a:t>
            </a:r>
            <a:r>
              <a:rPr sz="2800" spc="60" dirty="0">
                <a:latin typeface="Times New Roman"/>
                <a:cs typeface="Times New Roman"/>
              </a:rPr>
              <a:t>  </a:t>
            </a:r>
            <a:r>
              <a:rPr sz="2800" dirty="0">
                <a:latin typeface="Aptos"/>
                <a:cs typeface="Aptos"/>
              </a:rPr>
              <a:t>to</a:t>
            </a:r>
            <a:r>
              <a:rPr sz="2800" spc="65" dirty="0">
                <a:latin typeface="Times New Roman"/>
                <a:cs typeface="Times New Roman"/>
              </a:rPr>
              <a:t>  </a:t>
            </a:r>
            <a:r>
              <a:rPr sz="2800" dirty="0">
                <a:latin typeface="Aptos"/>
                <a:cs typeface="Aptos"/>
              </a:rPr>
              <a:t>regenerating</a:t>
            </a:r>
            <a:r>
              <a:rPr sz="2800" spc="70" dirty="0">
                <a:latin typeface="Times New Roman"/>
                <a:cs typeface="Times New Roman"/>
              </a:rPr>
              <a:t>  </a:t>
            </a:r>
            <a:r>
              <a:rPr sz="2800" dirty="0">
                <a:latin typeface="Aptos"/>
                <a:cs typeface="Aptos"/>
              </a:rPr>
              <a:t>network</a:t>
            </a:r>
            <a:r>
              <a:rPr sz="2800" spc="70" dirty="0">
                <a:latin typeface="Times New Roman"/>
                <a:cs typeface="Times New Roman"/>
              </a:rPr>
              <a:t>  </a:t>
            </a:r>
            <a:r>
              <a:rPr sz="2800" dirty="0">
                <a:latin typeface="Aptos"/>
                <a:cs typeface="Aptos"/>
              </a:rPr>
              <a:t>data,</a:t>
            </a:r>
            <a:r>
              <a:rPr sz="2800" spc="75" dirty="0">
                <a:latin typeface="Times New Roman"/>
                <a:cs typeface="Times New Roman"/>
              </a:rPr>
              <a:t>  </a:t>
            </a:r>
            <a:r>
              <a:rPr sz="2800" dirty="0">
                <a:latin typeface="Aptos"/>
                <a:cs typeface="Aptos"/>
              </a:rPr>
              <a:t>hubs</a:t>
            </a:r>
            <a:r>
              <a:rPr sz="2800" spc="65" dirty="0">
                <a:latin typeface="Times New Roman"/>
                <a:cs typeface="Times New Roman"/>
              </a:rPr>
              <a:t>  </a:t>
            </a:r>
            <a:r>
              <a:rPr sz="2800" dirty="0">
                <a:latin typeface="Aptos"/>
                <a:cs typeface="Aptos"/>
              </a:rPr>
              <a:t>add</a:t>
            </a:r>
            <a:r>
              <a:rPr sz="2800" spc="65" dirty="0">
                <a:latin typeface="Times New Roman"/>
                <a:cs typeface="Times New Roman"/>
              </a:rPr>
              <a:t>  </a:t>
            </a:r>
            <a:r>
              <a:rPr sz="2800" dirty="0">
                <a:latin typeface="Aptos"/>
                <a:cs typeface="Aptos"/>
              </a:rPr>
              <a:t>form</a:t>
            </a:r>
            <a:r>
              <a:rPr sz="2800" spc="75" dirty="0">
                <a:latin typeface="Times New Roman"/>
                <a:cs typeface="Times New Roman"/>
              </a:rPr>
              <a:t>  </a:t>
            </a:r>
            <a:r>
              <a:rPr sz="2800" spc="-25" dirty="0">
                <a:latin typeface="Aptos"/>
                <a:cs typeface="Aptos"/>
              </a:rPr>
              <a:t>and</a:t>
            </a:r>
            <a:r>
              <a:rPr sz="2800" spc="-25" dirty="0">
                <a:latin typeface="Times New Roman"/>
                <a:cs typeface="Times New Roman"/>
              </a:rPr>
              <a:t> </a:t>
            </a:r>
            <a:r>
              <a:rPr sz="2800" spc="-10" dirty="0">
                <a:latin typeface="Aptos"/>
                <a:cs typeface="Aptos"/>
              </a:rPr>
              <a:t>function</a:t>
            </a:r>
            <a:r>
              <a:rPr sz="2800" spc="-114" dirty="0">
                <a:latin typeface="Times New Roman"/>
                <a:cs typeface="Times New Roman"/>
              </a:rPr>
              <a:t> </a:t>
            </a:r>
            <a:r>
              <a:rPr sz="2800" dirty="0">
                <a:latin typeface="Aptos"/>
                <a:cs typeface="Aptos"/>
              </a:rPr>
              <a:t>to</a:t>
            </a:r>
            <a:r>
              <a:rPr sz="2800" spc="-110" dirty="0">
                <a:latin typeface="Times New Roman"/>
                <a:cs typeface="Times New Roman"/>
              </a:rPr>
              <a:t> </a:t>
            </a:r>
            <a:r>
              <a:rPr sz="2800" dirty="0">
                <a:latin typeface="Aptos"/>
                <a:cs typeface="Aptos"/>
              </a:rPr>
              <a:t>the</a:t>
            </a:r>
            <a:r>
              <a:rPr sz="2800" spc="-95" dirty="0">
                <a:latin typeface="Times New Roman"/>
                <a:cs typeface="Times New Roman"/>
              </a:rPr>
              <a:t> </a:t>
            </a:r>
            <a:r>
              <a:rPr sz="2800" spc="-10" dirty="0">
                <a:latin typeface="Aptos"/>
                <a:cs typeface="Aptos"/>
              </a:rPr>
              <a:t>layout</a:t>
            </a:r>
            <a:r>
              <a:rPr sz="2800" spc="-120" dirty="0">
                <a:latin typeface="Times New Roman"/>
                <a:cs typeface="Times New Roman"/>
              </a:rPr>
              <a:t> </a:t>
            </a:r>
            <a:r>
              <a:rPr sz="2800" dirty="0">
                <a:latin typeface="Aptos"/>
                <a:cs typeface="Aptos"/>
              </a:rPr>
              <a:t>of</a:t>
            </a:r>
            <a:r>
              <a:rPr sz="2800" spc="-110" dirty="0">
                <a:latin typeface="Times New Roman"/>
                <a:cs typeface="Times New Roman"/>
              </a:rPr>
              <a:t> </a:t>
            </a:r>
            <a:r>
              <a:rPr sz="2800" dirty="0">
                <a:latin typeface="Aptos"/>
                <a:cs typeface="Aptos"/>
              </a:rPr>
              <a:t>the</a:t>
            </a:r>
            <a:r>
              <a:rPr sz="2800" spc="-95" dirty="0">
                <a:latin typeface="Times New Roman"/>
                <a:cs typeface="Times New Roman"/>
              </a:rPr>
              <a:t> </a:t>
            </a:r>
            <a:r>
              <a:rPr sz="2800" dirty="0">
                <a:latin typeface="Aptos"/>
                <a:cs typeface="Aptos"/>
              </a:rPr>
              <a:t>LAN.</a:t>
            </a:r>
            <a:r>
              <a:rPr sz="2800" spc="-110" dirty="0">
                <a:latin typeface="Times New Roman"/>
                <a:cs typeface="Times New Roman"/>
              </a:rPr>
              <a:t> </a:t>
            </a:r>
            <a:r>
              <a:rPr sz="2800" dirty="0">
                <a:latin typeface="Aptos"/>
                <a:cs typeface="Aptos"/>
              </a:rPr>
              <a:t>In</a:t>
            </a:r>
            <a:r>
              <a:rPr sz="2800" spc="-120" dirty="0">
                <a:latin typeface="Times New Roman"/>
                <a:cs typeface="Times New Roman"/>
              </a:rPr>
              <a:t> </a:t>
            </a:r>
            <a:r>
              <a:rPr sz="2800" dirty="0">
                <a:latin typeface="Aptos"/>
                <a:cs typeface="Aptos"/>
              </a:rPr>
              <a:t>many</a:t>
            </a:r>
            <a:r>
              <a:rPr sz="2800" spc="-120" dirty="0">
                <a:latin typeface="Times New Roman"/>
                <a:cs typeface="Times New Roman"/>
              </a:rPr>
              <a:t> </a:t>
            </a:r>
            <a:r>
              <a:rPr sz="2800" spc="-10" dirty="0">
                <a:latin typeface="Aptos"/>
                <a:cs typeface="Aptos"/>
              </a:rPr>
              <a:t>topologies,</a:t>
            </a:r>
            <a:r>
              <a:rPr sz="2800" spc="-100" dirty="0">
                <a:latin typeface="Times New Roman"/>
                <a:cs typeface="Times New Roman"/>
              </a:rPr>
              <a:t> </a:t>
            </a:r>
            <a:r>
              <a:rPr sz="2800" dirty="0">
                <a:latin typeface="Aptos"/>
                <a:cs typeface="Aptos"/>
              </a:rPr>
              <a:t>the</a:t>
            </a:r>
            <a:r>
              <a:rPr sz="2800" spc="-90" dirty="0">
                <a:latin typeface="Times New Roman"/>
                <a:cs typeface="Times New Roman"/>
              </a:rPr>
              <a:t> </a:t>
            </a:r>
            <a:r>
              <a:rPr sz="2800" dirty="0">
                <a:latin typeface="Aptos"/>
                <a:cs typeface="Aptos"/>
              </a:rPr>
              <a:t>hub</a:t>
            </a:r>
            <a:r>
              <a:rPr sz="2800" spc="-95" dirty="0">
                <a:latin typeface="Times New Roman"/>
                <a:cs typeface="Times New Roman"/>
              </a:rPr>
              <a:t> </a:t>
            </a:r>
            <a:r>
              <a:rPr sz="2800" dirty="0">
                <a:latin typeface="Aptos"/>
                <a:cs typeface="Aptos"/>
              </a:rPr>
              <a:t>is</a:t>
            </a:r>
            <a:r>
              <a:rPr sz="2800" spc="-120" dirty="0">
                <a:latin typeface="Times New Roman"/>
                <a:cs typeface="Times New Roman"/>
              </a:rPr>
              <a:t> </a:t>
            </a:r>
            <a:r>
              <a:rPr sz="2800" spc="-25" dirty="0">
                <a:latin typeface="Aptos"/>
                <a:cs typeface="Aptos"/>
              </a:rPr>
              <a:t>the</a:t>
            </a:r>
            <a:r>
              <a:rPr sz="2800" spc="-25" dirty="0">
                <a:latin typeface="Times New Roman"/>
                <a:cs typeface="Times New Roman"/>
              </a:rPr>
              <a:t> </a:t>
            </a:r>
            <a:r>
              <a:rPr sz="2800" dirty="0">
                <a:latin typeface="Aptos"/>
                <a:cs typeface="Aptos"/>
              </a:rPr>
              <a:t>central</a:t>
            </a:r>
            <a:r>
              <a:rPr sz="2800" spc="210" dirty="0">
                <a:latin typeface="Times New Roman"/>
                <a:cs typeface="Times New Roman"/>
              </a:rPr>
              <a:t> </a:t>
            </a:r>
            <a:r>
              <a:rPr sz="2800" dirty="0">
                <a:latin typeface="Aptos"/>
                <a:cs typeface="Aptos"/>
              </a:rPr>
              <a:t>component</a:t>
            </a:r>
            <a:r>
              <a:rPr sz="2800" spc="200" dirty="0">
                <a:latin typeface="Times New Roman"/>
                <a:cs typeface="Times New Roman"/>
              </a:rPr>
              <a:t> </a:t>
            </a:r>
            <a:r>
              <a:rPr sz="2800" dirty="0">
                <a:latin typeface="Aptos"/>
                <a:cs typeface="Aptos"/>
              </a:rPr>
              <a:t>of</a:t>
            </a:r>
            <a:r>
              <a:rPr sz="2800" spc="190" dirty="0">
                <a:latin typeface="Times New Roman"/>
                <a:cs typeface="Times New Roman"/>
              </a:rPr>
              <a:t> </a:t>
            </a:r>
            <a:r>
              <a:rPr sz="2800" dirty="0">
                <a:latin typeface="Aptos"/>
                <a:cs typeface="Aptos"/>
              </a:rPr>
              <a:t>the</a:t>
            </a:r>
            <a:r>
              <a:rPr sz="2800" spc="200" dirty="0">
                <a:latin typeface="Times New Roman"/>
                <a:cs typeface="Times New Roman"/>
              </a:rPr>
              <a:t> </a:t>
            </a:r>
            <a:r>
              <a:rPr sz="2800" dirty="0">
                <a:latin typeface="Aptos"/>
                <a:cs typeface="Aptos"/>
              </a:rPr>
              <a:t>network</a:t>
            </a:r>
            <a:r>
              <a:rPr sz="2800" spc="200" dirty="0">
                <a:latin typeface="Times New Roman"/>
                <a:cs typeface="Times New Roman"/>
              </a:rPr>
              <a:t> </a:t>
            </a:r>
            <a:r>
              <a:rPr sz="2800" dirty="0">
                <a:latin typeface="Aptos"/>
                <a:cs typeface="Aptos"/>
              </a:rPr>
              <a:t>transmission</a:t>
            </a:r>
            <a:r>
              <a:rPr sz="2800" spc="200" dirty="0">
                <a:latin typeface="Times New Roman"/>
                <a:cs typeface="Times New Roman"/>
              </a:rPr>
              <a:t> </a:t>
            </a:r>
            <a:r>
              <a:rPr sz="2800" dirty="0">
                <a:latin typeface="Aptos"/>
                <a:cs typeface="Aptos"/>
              </a:rPr>
              <a:t>media.</a:t>
            </a:r>
            <a:r>
              <a:rPr sz="2800" spc="200" dirty="0">
                <a:latin typeface="Times New Roman"/>
                <a:cs typeface="Times New Roman"/>
              </a:rPr>
              <a:t> </a:t>
            </a:r>
            <a:r>
              <a:rPr sz="2800" dirty="0">
                <a:latin typeface="Aptos"/>
                <a:cs typeface="Aptos"/>
              </a:rPr>
              <a:t>There</a:t>
            </a:r>
            <a:r>
              <a:rPr sz="2800" spc="195" dirty="0">
                <a:latin typeface="Times New Roman"/>
                <a:cs typeface="Times New Roman"/>
              </a:rPr>
              <a:t> </a:t>
            </a:r>
            <a:r>
              <a:rPr sz="2800" spc="-25" dirty="0">
                <a:latin typeface="Aptos"/>
                <a:cs typeface="Aptos"/>
              </a:rPr>
              <a:t>are</a:t>
            </a:r>
            <a:r>
              <a:rPr sz="2800" spc="-25" dirty="0">
                <a:latin typeface="Times New Roman"/>
                <a:cs typeface="Times New Roman"/>
              </a:rPr>
              <a:t> </a:t>
            </a:r>
            <a:r>
              <a:rPr sz="2800" dirty="0">
                <a:latin typeface="Aptos"/>
                <a:cs typeface="Aptos"/>
              </a:rPr>
              <a:t>three</a:t>
            </a:r>
            <a:r>
              <a:rPr sz="2800" spc="560" dirty="0">
                <a:latin typeface="Times New Roman"/>
                <a:cs typeface="Times New Roman"/>
              </a:rPr>
              <a:t> </a:t>
            </a:r>
            <a:r>
              <a:rPr sz="2800" dirty="0">
                <a:latin typeface="Aptos"/>
                <a:cs typeface="Aptos"/>
              </a:rPr>
              <a:t>types</a:t>
            </a:r>
            <a:r>
              <a:rPr sz="2800" spc="555" dirty="0">
                <a:latin typeface="Times New Roman"/>
                <a:cs typeface="Times New Roman"/>
              </a:rPr>
              <a:t> </a:t>
            </a:r>
            <a:r>
              <a:rPr sz="2800" dirty="0">
                <a:latin typeface="Aptos"/>
                <a:cs typeface="Aptos"/>
              </a:rPr>
              <a:t>of</a:t>
            </a:r>
            <a:r>
              <a:rPr sz="2800" spc="560" dirty="0">
                <a:latin typeface="Times New Roman"/>
                <a:cs typeface="Times New Roman"/>
              </a:rPr>
              <a:t> </a:t>
            </a:r>
            <a:r>
              <a:rPr sz="2800" dirty="0">
                <a:latin typeface="Aptos"/>
                <a:cs typeface="Aptos"/>
              </a:rPr>
              <a:t>hubs.</a:t>
            </a:r>
            <a:r>
              <a:rPr sz="2800" spc="555" dirty="0">
                <a:latin typeface="Times New Roman"/>
                <a:cs typeface="Times New Roman"/>
              </a:rPr>
              <a:t> </a:t>
            </a:r>
            <a:r>
              <a:rPr sz="2800" dirty="0">
                <a:latin typeface="Aptos"/>
                <a:cs typeface="Aptos"/>
              </a:rPr>
              <a:t>They</a:t>
            </a:r>
            <a:r>
              <a:rPr sz="2800" spc="575" dirty="0">
                <a:latin typeface="Times New Roman"/>
                <a:cs typeface="Times New Roman"/>
              </a:rPr>
              <a:t> </a:t>
            </a:r>
            <a:r>
              <a:rPr sz="2800" dirty="0">
                <a:latin typeface="Aptos"/>
                <a:cs typeface="Aptos"/>
              </a:rPr>
              <a:t>are</a:t>
            </a:r>
            <a:r>
              <a:rPr sz="2800" spc="560" dirty="0">
                <a:latin typeface="Times New Roman"/>
                <a:cs typeface="Times New Roman"/>
              </a:rPr>
              <a:t> </a:t>
            </a:r>
            <a:r>
              <a:rPr sz="2800" dirty="0">
                <a:latin typeface="Aptos"/>
                <a:cs typeface="Aptos"/>
              </a:rPr>
              <a:t>the</a:t>
            </a:r>
            <a:r>
              <a:rPr sz="2800" spc="550" dirty="0">
                <a:latin typeface="Times New Roman"/>
                <a:cs typeface="Times New Roman"/>
              </a:rPr>
              <a:t> </a:t>
            </a:r>
            <a:r>
              <a:rPr sz="2800" dirty="0">
                <a:latin typeface="Aptos"/>
                <a:cs typeface="Aptos"/>
              </a:rPr>
              <a:t>passive</a:t>
            </a:r>
            <a:r>
              <a:rPr sz="2800" spc="555" dirty="0">
                <a:latin typeface="Times New Roman"/>
                <a:cs typeface="Times New Roman"/>
              </a:rPr>
              <a:t> </a:t>
            </a:r>
            <a:r>
              <a:rPr sz="2800" dirty="0">
                <a:latin typeface="Aptos"/>
                <a:cs typeface="Aptos"/>
              </a:rPr>
              <a:t>hub,</a:t>
            </a:r>
            <a:r>
              <a:rPr sz="2800" spc="565" dirty="0">
                <a:latin typeface="Times New Roman"/>
                <a:cs typeface="Times New Roman"/>
              </a:rPr>
              <a:t> </a:t>
            </a:r>
            <a:r>
              <a:rPr sz="2800" dirty="0">
                <a:latin typeface="Aptos"/>
                <a:cs typeface="Aptos"/>
              </a:rPr>
              <a:t>active</a:t>
            </a:r>
            <a:r>
              <a:rPr sz="2800" spc="565" dirty="0">
                <a:latin typeface="Times New Roman"/>
                <a:cs typeface="Times New Roman"/>
              </a:rPr>
              <a:t> </a:t>
            </a:r>
            <a:r>
              <a:rPr sz="2800" dirty="0">
                <a:latin typeface="Aptos"/>
                <a:cs typeface="Aptos"/>
              </a:rPr>
              <a:t>hub</a:t>
            </a:r>
            <a:r>
              <a:rPr sz="2800" spc="545" dirty="0">
                <a:latin typeface="Times New Roman"/>
                <a:cs typeface="Times New Roman"/>
              </a:rPr>
              <a:t> </a:t>
            </a:r>
            <a:r>
              <a:rPr sz="2800" spc="-25" dirty="0">
                <a:latin typeface="Aptos"/>
                <a:cs typeface="Aptos"/>
              </a:rPr>
              <a:t>and</a:t>
            </a:r>
            <a:r>
              <a:rPr sz="2800" spc="-25" dirty="0">
                <a:latin typeface="Times New Roman"/>
                <a:cs typeface="Times New Roman"/>
              </a:rPr>
              <a:t> </a:t>
            </a:r>
            <a:r>
              <a:rPr sz="2800" spc="-20" dirty="0">
                <a:latin typeface="Aptos"/>
                <a:cs typeface="Aptos"/>
              </a:rPr>
              <a:t>intelligent</a:t>
            </a:r>
            <a:r>
              <a:rPr sz="2800" spc="-90" dirty="0">
                <a:latin typeface="Times New Roman"/>
                <a:cs typeface="Times New Roman"/>
              </a:rPr>
              <a:t> </a:t>
            </a:r>
            <a:r>
              <a:rPr sz="2800" spc="-20" dirty="0">
                <a:latin typeface="Aptos"/>
                <a:cs typeface="Aptos"/>
              </a:rPr>
              <a:t>hub.</a:t>
            </a:r>
            <a:endParaRPr sz="2800">
              <a:latin typeface="Aptos"/>
              <a:cs typeface="Apto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29639" y="473075"/>
            <a:ext cx="1534795" cy="434340"/>
          </a:xfrm>
          <a:prstGeom prst="rect">
            <a:avLst/>
          </a:prstGeom>
          <a:solidFill>
            <a:srgbClr val="FFFF00"/>
          </a:solidFill>
        </p:spPr>
        <p:txBody>
          <a:bodyPr vert="horz" wrap="square" lIns="0" tIns="0" rIns="0" bIns="0" rtlCol="0">
            <a:spAutoFit/>
          </a:bodyPr>
          <a:lstStyle/>
          <a:p>
            <a:pPr>
              <a:lnSpc>
                <a:spcPts val="3200"/>
              </a:lnSpc>
            </a:pPr>
            <a:r>
              <a:rPr sz="2800" b="1" dirty="0">
                <a:latin typeface="Aptos"/>
                <a:cs typeface="Aptos"/>
              </a:rPr>
              <a:t>4.</a:t>
            </a:r>
            <a:r>
              <a:rPr sz="2800" spc="-65" dirty="0">
                <a:latin typeface="Times New Roman"/>
                <a:cs typeface="Times New Roman"/>
              </a:rPr>
              <a:t> </a:t>
            </a:r>
            <a:r>
              <a:rPr sz="2800" b="1" spc="-10" dirty="0">
                <a:latin typeface="Aptos"/>
                <a:cs typeface="Aptos"/>
              </a:rPr>
              <a:t>Bridge:</a:t>
            </a:r>
            <a:endParaRPr sz="2800">
              <a:latin typeface="Aptos"/>
              <a:cs typeface="Aptos"/>
            </a:endParaRPr>
          </a:p>
        </p:txBody>
      </p:sp>
      <p:sp>
        <p:nvSpPr>
          <p:cNvPr id="3" name="object 3"/>
          <p:cNvSpPr txBox="1"/>
          <p:nvPr/>
        </p:nvSpPr>
        <p:spPr>
          <a:xfrm>
            <a:off x="2451867" y="440804"/>
            <a:ext cx="8823960" cy="452120"/>
          </a:xfrm>
          <a:prstGeom prst="rect">
            <a:avLst/>
          </a:prstGeom>
        </p:spPr>
        <p:txBody>
          <a:bodyPr vert="horz" wrap="square" lIns="0" tIns="12065" rIns="0" bIns="0" rtlCol="0">
            <a:spAutoFit/>
          </a:bodyPr>
          <a:lstStyle/>
          <a:p>
            <a:pPr marL="12700">
              <a:lnSpc>
                <a:spcPct val="100000"/>
              </a:lnSpc>
              <a:spcBef>
                <a:spcPts val="95"/>
              </a:spcBef>
            </a:pPr>
            <a:r>
              <a:rPr sz="2800" dirty="0">
                <a:latin typeface="Aptos"/>
                <a:cs typeface="Aptos"/>
              </a:rPr>
              <a:t>It</a:t>
            </a:r>
            <a:r>
              <a:rPr sz="2800" spc="-130" dirty="0">
                <a:latin typeface="Times New Roman"/>
                <a:cs typeface="Times New Roman"/>
              </a:rPr>
              <a:t> </a:t>
            </a:r>
            <a:r>
              <a:rPr sz="2800" dirty="0">
                <a:latin typeface="Aptos"/>
                <a:cs typeface="Aptos"/>
              </a:rPr>
              <a:t>is</a:t>
            </a:r>
            <a:r>
              <a:rPr sz="2800" spc="-130" dirty="0">
                <a:latin typeface="Times New Roman"/>
                <a:cs typeface="Times New Roman"/>
              </a:rPr>
              <a:t> </a:t>
            </a:r>
            <a:r>
              <a:rPr sz="2800" dirty="0">
                <a:latin typeface="Aptos"/>
                <a:cs typeface="Aptos"/>
              </a:rPr>
              <a:t>a</a:t>
            </a:r>
            <a:r>
              <a:rPr sz="2800" spc="-105" dirty="0">
                <a:latin typeface="Times New Roman"/>
                <a:cs typeface="Times New Roman"/>
              </a:rPr>
              <a:t> </a:t>
            </a:r>
            <a:r>
              <a:rPr sz="2800" spc="-10" dirty="0">
                <a:latin typeface="Aptos"/>
                <a:cs typeface="Aptos"/>
              </a:rPr>
              <a:t>device,</a:t>
            </a:r>
            <a:r>
              <a:rPr sz="2800" spc="-105" dirty="0">
                <a:latin typeface="Times New Roman"/>
                <a:cs typeface="Times New Roman"/>
              </a:rPr>
              <a:t> </a:t>
            </a:r>
            <a:r>
              <a:rPr sz="2800" dirty="0">
                <a:latin typeface="Aptos"/>
                <a:cs typeface="Aptos"/>
              </a:rPr>
              <a:t>which</a:t>
            </a:r>
            <a:r>
              <a:rPr sz="2800" spc="-110" dirty="0">
                <a:latin typeface="Times New Roman"/>
                <a:cs typeface="Times New Roman"/>
              </a:rPr>
              <a:t> </a:t>
            </a:r>
            <a:r>
              <a:rPr sz="2800" dirty="0">
                <a:latin typeface="Aptos"/>
                <a:cs typeface="Aptos"/>
              </a:rPr>
              <a:t>connects</a:t>
            </a:r>
            <a:r>
              <a:rPr sz="2800" spc="-105" dirty="0">
                <a:latin typeface="Times New Roman"/>
                <a:cs typeface="Times New Roman"/>
              </a:rPr>
              <a:t> </a:t>
            </a:r>
            <a:r>
              <a:rPr sz="2800" spc="-10" dirty="0">
                <a:latin typeface="Aptos"/>
                <a:cs typeface="Aptos"/>
              </a:rPr>
              <a:t>different</a:t>
            </a:r>
            <a:r>
              <a:rPr sz="2800" spc="-135" dirty="0">
                <a:latin typeface="Times New Roman"/>
                <a:cs typeface="Times New Roman"/>
              </a:rPr>
              <a:t> </a:t>
            </a:r>
            <a:r>
              <a:rPr sz="2800" spc="-10" dirty="0">
                <a:latin typeface="Aptos"/>
                <a:cs typeface="Aptos"/>
              </a:rPr>
              <a:t>network</a:t>
            </a:r>
            <a:r>
              <a:rPr sz="2800" spc="-110" dirty="0">
                <a:latin typeface="Times New Roman"/>
                <a:cs typeface="Times New Roman"/>
              </a:rPr>
              <a:t> </a:t>
            </a:r>
            <a:r>
              <a:rPr sz="2800" spc="-10" dirty="0">
                <a:latin typeface="Aptos"/>
                <a:cs typeface="Aptos"/>
              </a:rPr>
              <a:t>segments</a:t>
            </a:r>
            <a:endParaRPr sz="2800">
              <a:latin typeface="Aptos"/>
              <a:cs typeface="Aptos"/>
            </a:endParaRPr>
          </a:p>
        </p:txBody>
      </p:sp>
      <p:sp>
        <p:nvSpPr>
          <p:cNvPr id="4" name="object 4"/>
          <p:cNvSpPr txBox="1"/>
          <p:nvPr/>
        </p:nvSpPr>
        <p:spPr>
          <a:xfrm>
            <a:off x="916941" y="824853"/>
            <a:ext cx="10361295" cy="2372360"/>
          </a:xfrm>
          <a:prstGeom prst="rect">
            <a:avLst/>
          </a:prstGeom>
        </p:spPr>
        <p:txBody>
          <a:bodyPr vert="horz" wrap="square" lIns="0" tIns="54610" rIns="0" bIns="0" rtlCol="0">
            <a:spAutoFit/>
          </a:bodyPr>
          <a:lstStyle/>
          <a:p>
            <a:pPr marL="12700" marR="5080" algn="just">
              <a:lnSpc>
                <a:spcPct val="90000"/>
              </a:lnSpc>
              <a:spcBef>
                <a:spcPts val="430"/>
              </a:spcBef>
            </a:pPr>
            <a:r>
              <a:rPr sz="2800" dirty="0">
                <a:latin typeface="Aptos"/>
                <a:cs typeface="Aptos"/>
              </a:rPr>
              <a:t>and</a:t>
            </a:r>
            <a:r>
              <a:rPr sz="2800" spc="20" dirty="0">
                <a:latin typeface="Times New Roman"/>
                <a:cs typeface="Times New Roman"/>
              </a:rPr>
              <a:t> </a:t>
            </a:r>
            <a:r>
              <a:rPr sz="2800" dirty="0">
                <a:latin typeface="Aptos"/>
                <a:cs typeface="Aptos"/>
              </a:rPr>
              <a:t>passes</a:t>
            </a:r>
            <a:r>
              <a:rPr sz="2800" spc="20" dirty="0">
                <a:latin typeface="Times New Roman"/>
                <a:cs typeface="Times New Roman"/>
              </a:rPr>
              <a:t> </a:t>
            </a:r>
            <a:r>
              <a:rPr sz="2800" dirty="0">
                <a:latin typeface="Aptos"/>
                <a:cs typeface="Aptos"/>
              </a:rPr>
              <a:t>data</a:t>
            </a:r>
            <a:r>
              <a:rPr sz="2800" spc="15" dirty="0">
                <a:latin typeface="Times New Roman"/>
                <a:cs typeface="Times New Roman"/>
              </a:rPr>
              <a:t> </a:t>
            </a:r>
            <a:r>
              <a:rPr sz="2800" dirty="0">
                <a:latin typeface="Aptos"/>
                <a:cs typeface="Aptos"/>
              </a:rPr>
              <a:t>with</a:t>
            </a:r>
            <a:r>
              <a:rPr sz="2800" spc="5" dirty="0">
                <a:latin typeface="Times New Roman"/>
                <a:cs typeface="Times New Roman"/>
              </a:rPr>
              <a:t> </a:t>
            </a:r>
            <a:r>
              <a:rPr sz="2800" dirty="0">
                <a:latin typeface="Aptos"/>
                <a:cs typeface="Aptos"/>
              </a:rPr>
              <a:t>the</a:t>
            </a:r>
            <a:r>
              <a:rPr sz="2800" spc="10" dirty="0">
                <a:latin typeface="Times New Roman"/>
                <a:cs typeface="Times New Roman"/>
              </a:rPr>
              <a:t> </a:t>
            </a:r>
            <a:r>
              <a:rPr sz="2800" dirty="0">
                <a:latin typeface="Aptos"/>
                <a:cs typeface="Aptos"/>
              </a:rPr>
              <a:t>same</a:t>
            </a:r>
            <a:r>
              <a:rPr sz="2800" spc="25" dirty="0">
                <a:latin typeface="Times New Roman"/>
                <a:cs typeface="Times New Roman"/>
              </a:rPr>
              <a:t> </a:t>
            </a:r>
            <a:r>
              <a:rPr sz="2800" spc="-10" dirty="0">
                <a:latin typeface="Aptos"/>
                <a:cs typeface="Aptos"/>
              </a:rPr>
              <a:t>communication</a:t>
            </a:r>
            <a:r>
              <a:rPr sz="2800" dirty="0">
                <a:latin typeface="Times New Roman"/>
                <a:cs typeface="Times New Roman"/>
              </a:rPr>
              <a:t> </a:t>
            </a:r>
            <a:r>
              <a:rPr sz="2800" dirty="0">
                <a:latin typeface="Aptos"/>
                <a:cs typeface="Aptos"/>
              </a:rPr>
              <a:t>protocols.</a:t>
            </a:r>
            <a:r>
              <a:rPr sz="2800" spc="15" dirty="0">
                <a:latin typeface="Times New Roman"/>
                <a:cs typeface="Times New Roman"/>
              </a:rPr>
              <a:t> </a:t>
            </a:r>
            <a:r>
              <a:rPr sz="2800" dirty="0">
                <a:latin typeface="Aptos"/>
                <a:cs typeface="Aptos"/>
              </a:rPr>
              <a:t>It</a:t>
            </a:r>
            <a:r>
              <a:rPr sz="2800" dirty="0">
                <a:latin typeface="Times New Roman"/>
                <a:cs typeface="Times New Roman"/>
              </a:rPr>
              <a:t> </a:t>
            </a:r>
            <a:r>
              <a:rPr sz="2800" dirty="0">
                <a:latin typeface="Aptos"/>
                <a:cs typeface="Aptos"/>
              </a:rPr>
              <a:t>is</a:t>
            </a:r>
            <a:r>
              <a:rPr sz="2800" spc="10" dirty="0">
                <a:latin typeface="Times New Roman"/>
                <a:cs typeface="Times New Roman"/>
              </a:rPr>
              <a:t> </a:t>
            </a:r>
            <a:r>
              <a:rPr sz="2800" spc="-25" dirty="0">
                <a:latin typeface="Aptos"/>
                <a:cs typeface="Aptos"/>
              </a:rPr>
              <a:t>the</a:t>
            </a:r>
            <a:r>
              <a:rPr sz="2800" spc="-25" dirty="0">
                <a:latin typeface="Times New Roman"/>
                <a:cs typeface="Times New Roman"/>
              </a:rPr>
              <a:t> </a:t>
            </a:r>
            <a:r>
              <a:rPr sz="2800" dirty="0">
                <a:latin typeface="Aptos"/>
                <a:cs typeface="Aptos"/>
              </a:rPr>
              <a:t>connecting</a:t>
            </a:r>
            <a:r>
              <a:rPr sz="2800" spc="-50" dirty="0">
                <a:latin typeface="Times New Roman"/>
                <a:cs typeface="Times New Roman"/>
              </a:rPr>
              <a:t> </a:t>
            </a:r>
            <a:r>
              <a:rPr sz="2800" dirty="0">
                <a:latin typeface="Aptos"/>
                <a:cs typeface="Aptos"/>
              </a:rPr>
              <a:t>device</a:t>
            </a:r>
            <a:r>
              <a:rPr sz="2800" spc="-45" dirty="0">
                <a:latin typeface="Times New Roman"/>
                <a:cs typeface="Times New Roman"/>
              </a:rPr>
              <a:t> </a:t>
            </a:r>
            <a:r>
              <a:rPr sz="2800" dirty="0">
                <a:latin typeface="Aptos"/>
                <a:cs typeface="Aptos"/>
              </a:rPr>
              <a:t>between</a:t>
            </a:r>
            <a:r>
              <a:rPr sz="2800" spc="-60" dirty="0">
                <a:latin typeface="Times New Roman"/>
                <a:cs typeface="Times New Roman"/>
              </a:rPr>
              <a:t> </a:t>
            </a:r>
            <a:r>
              <a:rPr sz="2800" dirty="0">
                <a:latin typeface="Aptos"/>
                <a:cs typeface="Aptos"/>
              </a:rPr>
              <a:t>two</a:t>
            </a:r>
            <a:r>
              <a:rPr sz="2800" spc="-60" dirty="0">
                <a:latin typeface="Times New Roman"/>
                <a:cs typeface="Times New Roman"/>
              </a:rPr>
              <a:t> </a:t>
            </a:r>
            <a:r>
              <a:rPr sz="2800" dirty="0">
                <a:latin typeface="Aptos"/>
                <a:cs typeface="Aptos"/>
              </a:rPr>
              <a:t>or</a:t>
            </a:r>
            <a:r>
              <a:rPr sz="2800" spc="-60" dirty="0">
                <a:latin typeface="Times New Roman"/>
                <a:cs typeface="Times New Roman"/>
              </a:rPr>
              <a:t> </a:t>
            </a:r>
            <a:r>
              <a:rPr sz="2800" dirty="0">
                <a:latin typeface="Aptos"/>
                <a:cs typeface="Aptos"/>
              </a:rPr>
              <a:t>more</a:t>
            </a:r>
            <a:r>
              <a:rPr sz="2800" spc="-55" dirty="0">
                <a:latin typeface="Times New Roman"/>
                <a:cs typeface="Times New Roman"/>
              </a:rPr>
              <a:t> </a:t>
            </a:r>
            <a:r>
              <a:rPr sz="2800" dirty="0">
                <a:latin typeface="Aptos"/>
                <a:cs typeface="Aptos"/>
              </a:rPr>
              <a:t>hubs.</a:t>
            </a:r>
            <a:r>
              <a:rPr sz="2800" spc="-55" dirty="0">
                <a:latin typeface="Times New Roman"/>
                <a:cs typeface="Times New Roman"/>
              </a:rPr>
              <a:t> </a:t>
            </a:r>
            <a:r>
              <a:rPr sz="2800" dirty="0">
                <a:latin typeface="Aptos"/>
                <a:cs typeface="Aptos"/>
              </a:rPr>
              <a:t>-</a:t>
            </a:r>
            <a:r>
              <a:rPr sz="2800" spc="-50" dirty="0">
                <a:latin typeface="Times New Roman"/>
                <a:cs typeface="Times New Roman"/>
              </a:rPr>
              <a:t> </a:t>
            </a:r>
            <a:r>
              <a:rPr sz="2800" dirty="0">
                <a:latin typeface="Aptos"/>
                <a:cs typeface="Aptos"/>
              </a:rPr>
              <a:t>It</a:t>
            </a:r>
            <a:r>
              <a:rPr sz="2800" spc="-60" dirty="0">
                <a:latin typeface="Times New Roman"/>
                <a:cs typeface="Times New Roman"/>
              </a:rPr>
              <a:t> </a:t>
            </a:r>
            <a:r>
              <a:rPr sz="2800" spc="-10" dirty="0">
                <a:latin typeface="Aptos"/>
                <a:cs typeface="Aptos"/>
              </a:rPr>
              <a:t>operates</a:t>
            </a:r>
            <a:r>
              <a:rPr sz="2800" spc="-65" dirty="0">
                <a:latin typeface="Times New Roman"/>
                <a:cs typeface="Times New Roman"/>
              </a:rPr>
              <a:t> </a:t>
            </a:r>
            <a:r>
              <a:rPr sz="2800" dirty="0">
                <a:latin typeface="Aptos"/>
                <a:cs typeface="Aptos"/>
              </a:rPr>
              <a:t>at</a:t>
            </a:r>
            <a:r>
              <a:rPr sz="2800" spc="-55" dirty="0">
                <a:latin typeface="Times New Roman"/>
                <a:cs typeface="Times New Roman"/>
              </a:rPr>
              <a:t> </a:t>
            </a:r>
            <a:r>
              <a:rPr sz="2800" spc="-10" dirty="0">
                <a:latin typeface="Aptos"/>
                <a:cs typeface="Aptos"/>
              </a:rPr>
              <a:t>layer</a:t>
            </a:r>
            <a:r>
              <a:rPr sz="2800" spc="-10" dirty="0">
                <a:latin typeface="Times New Roman"/>
                <a:cs typeface="Times New Roman"/>
              </a:rPr>
              <a:t> </a:t>
            </a:r>
            <a:r>
              <a:rPr sz="2800" dirty="0">
                <a:latin typeface="Aptos"/>
                <a:cs typeface="Aptos"/>
              </a:rPr>
              <a:t>2</a:t>
            </a:r>
            <a:r>
              <a:rPr sz="2800" spc="225" dirty="0">
                <a:latin typeface="Times New Roman"/>
                <a:cs typeface="Times New Roman"/>
              </a:rPr>
              <a:t> </a:t>
            </a:r>
            <a:r>
              <a:rPr sz="2800" dirty="0">
                <a:latin typeface="Aptos"/>
                <a:cs typeface="Aptos"/>
              </a:rPr>
              <a:t>(Data</a:t>
            </a:r>
            <a:r>
              <a:rPr sz="2800" spc="229" dirty="0">
                <a:latin typeface="Times New Roman"/>
                <a:cs typeface="Times New Roman"/>
              </a:rPr>
              <a:t> </a:t>
            </a:r>
            <a:r>
              <a:rPr sz="2800" dirty="0">
                <a:latin typeface="Aptos"/>
                <a:cs typeface="Aptos"/>
              </a:rPr>
              <a:t>Link</a:t>
            </a:r>
            <a:r>
              <a:rPr sz="2800" spc="215" dirty="0">
                <a:latin typeface="Times New Roman"/>
                <a:cs typeface="Times New Roman"/>
              </a:rPr>
              <a:t> </a:t>
            </a:r>
            <a:r>
              <a:rPr sz="2800" dirty="0">
                <a:latin typeface="Aptos"/>
                <a:cs typeface="Aptos"/>
              </a:rPr>
              <a:t>Layer)</a:t>
            </a:r>
            <a:r>
              <a:rPr sz="2800" spc="229" dirty="0">
                <a:latin typeface="Times New Roman"/>
                <a:cs typeface="Times New Roman"/>
              </a:rPr>
              <a:t> </a:t>
            </a:r>
            <a:r>
              <a:rPr sz="2800" dirty="0">
                <a:latin typeface="Aptos"/>
                <a:cs typeface="Aptos"/>
              </a:rPr>
              <a:t>of</a:t>
            </a:r>
            <a:r>
              <a:rPr sz="2800" spc="200" dirty="0">
                <a:latin typeface="Times New Roman"/>
                <a:cs typeface="Times New Roman"/>
              </a:rPr>
              <a:t> </a:t>
            </a:r>
            <a:r>
              <a:rPr sz="2800" dirty="0">
                <a:latin typeface="Aptos"/>
                <a:cs typeface="Aptos"/>
              </a:rPr>
              <a:t>OSI</a:t>
            </a:r>
            <a:r>
              <a:rPr sz="2800" spc="229" dirty="0">
                <a:latin typeface="Times New Roman"/>
                <a:cs typeface="Times New Roman"/>
              </a:rPr>
              <a:t> </a:t>
            </a:r>
            <a:r>
              <a:rPr sz="2800" dirty="0">
                <a:latin typeface="Aptos"/>
                <a:cs typeface="Aptos"/>
              </a:rPr>
              <a:t>Model.</a:t>
            </a:r>
            <a:r>
              <a:rPr sz="2800" spc="210" dirty="0">
                <a:latin typeface="Times New Roman"/>
                <a:cs typeface="Times New Roman"/>
              </a:rPr>
              <a:t> </a:t>
            </a:r>
            <a:r>
              <a:rPr sz="2800" dirty="0">
                <a:latin typeface="Aptos"/>
                <a:cs typeface="Aptos"/>
              </a:rPr>
              <a:t>-</a:t>
            </a:r>
            <a:r>
              <a:rPr sz="2800" spc="220" dirty="0">
                <a:latin typeface="Times New Roman"/>
                <a:cs typeface="Times New Roman"/>
              </a:rPr>
              <a:t> </a:t>
            </a:r>
            <a:r>
              <a:rPr sz="2800" dirty="0">
                <a:latin typeface="Aptos"/>
                <a:cs typeface="Aptos"/>
              </a:rPr>
              <a:t>It</a:t>
            </a:r>
            <a:r>
              <a:rPr sz="2800" spc="225" dirty="0">
                <a:latin typeface="Times New Roman"/>
                <a:cs typeface="Times New Roman"/>
              </a:rPr>
              <a:t> </a:t>
            </a:r>
            <a:r>
              <a:rPr sz="2800" dirty="0">
                <a:latin typeface="Aptos"/>
                <a:cs typeface="Aptos"/>
              </a:rPr>
              <a:t>reduces</a:t>
            </a:r>
            <a:r>
              <a:rPr sz="2800" spc="229" dirty="0">
                <a:latin typeface="Times New Roman"/>
                <a:cs typeface="Times New Roman"/>
              </a:rPr>
              <a:t> </a:t>
            </a:r>
            <a:r>
              <a:rPr sz="2800" dirty="0">
                <a:latin typeface="Aptos"/>
                <a:cs typeface="Aptos"/>
              </a:rPr>
              <a:t>unnecessary</a:t>
            </a:r>
            <a:r>
              <a:rPr sz="2800" spc="215" dirty="0">
                <a:latin typeface="Times New Roman"/>
                <a:cs typeface="Times New Roman"/>
              </a:rPr>
              <a:t> </a:t>
            </a:r>
            <a:r>
              <a:rPr sz="2800" spc="-10" dirty="0">
                <a:latin typeface="Aptos"/>
                <a:cs typeface="Aptos"/>
              </a:rPr>
              <a:t>traffic</a:t>
            </a:r>
            <a:r>
              <a:rPr sz="2800" spc="-10" dirty="0">
                <a:latin typeface="Times New Roman"/>
                <a:cs typeface="Times New Roman"/>
              </a:rPr>
              <a:t> </a:t>
            </a:r>
            <a:r>
              <a:rPr sz="2800" dirty="0">
                <a:latin typeface="Aptos"/>
                <a:cs typeface="Aptos"/>
              </a:rPr>
              <a:t>problem</a:t>
            </a:r>
            <a:r>
              <a:rPr sz="2800" spc="30" dirty="0">
                <a:latin typeface="Times New Roman"/>
                <a:cs typeface="Times New Roman"/>
              </a:rPr>
              <a:t> </a:t>
            </a:r>
            <a:r>
              <a:rPr sz="2800" dirty="0">
                <a:latin typeface="Aptos"/>
                <a:cs typeface="Aptos"/>
              </a:rPr>
              <a:t>by</a:t>
            </a:r>
            <a:r>
              <a:rPr sz="2800" spc="20" dirty="0">
                <a:latin typeface="Times New Roman"/>
                <a:cs typeface="Times New Roman"/>
              </a:rPr>
              <a:t> </a:t>
            </a:r>
            <a:r>
              <a:rPr sz="2800" dirty="0">
                <a:latin typeface="Aptos"/>
                <a:cs typeface="Aptos"/>
              </a:rPr>
              <a:t>controlling</a:t>
            </a:r>
            <a:r>
              <a:rPr sz="2800" spc="20" dirty="0">
                <a:latin typeface="Times New Roman"/>
                <a:cs typeface="Times New Roman"/>
              </a:rPr>
              <a:t> </a:t>
            </a:r>
            <a:r>
              <a:rPr sz="2800" dirty="0">
                <a:latin typeface="Aptos"/>
                <a:cs typeface="Aptos"/>
              </a:rPr>
              <a:t>broadcasting.</a:t>
            </a:r>
            <a:r>
              <a:rPr sz="2800" spc="30" dirty="0">
                <a:latin typeface="Times New Roman"/>
                <a:cs typeface="Times New Roman"/>
              </a:rPr>
              <a:t> </a:t>
            </a:r>
            <a:r>
              <a:rPr sz="2800" dirty="0">
                <a:latin typeface="Aptos"/>
                <a:cs typeface="Aptos"/>
              </a:rPr>
              <a:t>-</a:t>
            </a:r>
            <a:r>
              <a:rPr sz="2800" spc="10" dirty="0">
                <a:latin typeface="Times New Roman"/>
                <a:cs typeface="Times New Roman"/>
              </a:rPr>
              <a:t> </a:t>
            </a:r>
            <a:r>
              <a:rPr sz="2800" dirty="0">
                <a:latin typeface="Aptos"/>
                <a:cs typeface="Aptos"/>
              </a:rPr>
              <a:t>Bridges</a:t>
            </a:r>
            <a:r>
              <a:rPr sz="2800" spc="35" dirty="0">
                <a:latin typeface="Times New Roman"/>
                <a:cs typeface="Times New Roman"/>
              </a:rPr>
              <a:t> </a:t>
            </a:r>
            <a:r>
              <a:rPr sz="2800" dirty="0">
                <a:latin typeface="Aptos"/>
                <a:cs typeface="Aptos"/>
              </a:rPr>
              <a:t>are</a:t>
            </a:r>
            <a:r>
              <a:rPr sz="2800" spc="15" dirty="0">
                <a:latin typeface="Times New Roman"/>
                <a:cs typeface="Times New Roman"/>
              </a:rPr>
              <a:t> </a:t>
            </a:r>
            <a:r>
              <a:rPr sz="2800" dirty="0">
                <a:latin typeface="Aptos"/>
                <a:cs typeface="Aptos"/>
              </a:rPr>
              <a:t>more</a:t>
            </a:r>
            <a:r>
              <a:rPr sz="2800" spc="30" dirty="0">
                <a:latin typeface="Times New Roman"/>
                <a:cs typeface="Times New Roman"/>
              </a:rPr>
              <a:t> </a:t>
            </a:r>
            <a:r>
              <a:rPr sz="2800" spc="-10" dirty="0">
                <a:latin typeface="Aptos"/>
                <a:cs typeface="Aptos"/>
              </a:rPr>
              <a:t>intelligent</a:t>
            </a:r>
            <a:r>
              <a:rPr sz="2800" spc="-10" dirty="0">
                <a:latin typeface="Times New Roman"/>
                <a:cs typeface="Times New Roman"/>
              </a:rPr>
              <a:t> </a:t>
            </a:r>
            <a:r>
              <a:rPr sz="2800" dirty="0">
                <a:latin typeface="Aptos"/>
                <a:cs typeface="Aptos"/>
              </a:rPr>
              <a:t>than</a:t>
            </a:r>
            <a:r>
              <a:rPr sz="2800" spc="-60" dirty="0">
                <a:latin typeface="Times New Roman"/>
                <a:cs typeface="Times New Roman"/>
              </a:rPr>
              <a:t> </a:t>
            </a:r>
            <a:r>
              <a:rPr sz="2800" dirty="0">
                <a:latin typeface="Aptos"/>
                <a:cs typeface="Aptos"/>
              </a:rPr>
              <a:t>hubs</a:t>
            </a:r>
            <a:r>
              <a:rPr sz="2800" spc="-30" dirty="0">
                <a:latin typeface="Times New Roman"/>
                <a:cs typeface="Times New Roman"/>
              </a:rPr>
              <a:t> </a:t>
            </a:r>
            <a:r>
              <a:rPr sz="2800" dirty="0">
                <a:latin typeface="Aptos"/>
                <a:cs typeface="Aptos"/>
              </a:rPr>
              <a:t>because</a:t>
            </a:r>
            <a:r>
              <a:rPr sz="2800" spc="-25" dirty="0">
                <a:latin typeface="Times New Roman"/>
                <a:cs typeface="Times New Roman"/>
              </a:rPr>
              <a:t> </a:t>
            </a:r>
            <a:r>
              <a:rPr sz="2800" dirty="0">
                <a:latin typeface="Aptos"/>
                <a:cs typeface="Aptos"/>
              </a:rPr>
              <a:t>they</a:t>
            </a:r>
            <a:r>
              <a:rPr sz="2800" spc="-60" dirty="0">
                <a:latin typeface="Times New Roman"/>
                <a:cs typeface="Times New Roman"/>
              </a:rPr>
              <a:t> </a:t>
            </a:r>
            <a:r>
              <a:rPr sz="2800" dirty="0">
                <a:latin typeface="Aptos"/>
                <a:cs typeface="Aptos"/>
              </a:rPr>
              <a:t>maintain</a:t>
            </a:r>
            <a:r>
              <a:rPr sz="2800" spc="-50" dirty="0">
                <a:latin typeface="Times New Roman"/>
                <a:cs typeface="Times New Roman"/>
              </a:rPr>
              <a:t> </a:t>
            </a:r>
            <a:r>
              <a:rPr sz="2800" dirty="0">
                <a:latin typeface="Aptos"/>
                <a:cs typeface="Aptos"/>
              </a:rPr>
              <a:t>MAC</a:t>
            </a:r>
            <a:r>
              <a:rPr sz="2800" spc="-35" dirty="0">
                <a:latin typeface="Times New Roman"/>
                <a:cs typeface="Times New Roman"/>
              </a:rPr>
              <a:t> </a:t>
            </a:r>
            <a:r>
              <a:rPr sz="2800" dirty="0">
                <a:latin typeface="Aptos"/>
                <a:cs typeface="Aptos"/>
              </a:rPr>
              <a:t>address</a:t>
            </a:r>
            <a:r>
              <a:rPr sz="2800" spc="-40" dirty="0">
                <a:latin typeface="Times New Roman"/>
                <a:cs typeface="Times New Roman"/>
              </a:rPr>
              <a:t> </a:t>
            </a:r>
            <a:r>
              <a:rPr sz="2800" dirty="0">
                <a:latin typeface="Aptos"/>
                <a:cs typeface="Aptos"/>
              </a:rPr>
              <a:t>tables</a:t>
            </a:r>
            <a:r>
              <a:rPr sz="2800" spc="-40" dirty="0">
                <a:latin typeface="Times New Roman"/>
                <a:cs typeface="Times New Roman"/>
              </a:rPr>
              <a:t> </a:t>
            </a:r>
            <a:r>
              <a:rPr sz="2800" dirty="0">
                <a:latin typeface="Aptos"/>
                <a:cs typeface="Aptos"/>
              </a:rPr>
              <a:t>in</a:t>
            </a:r>
            <a:r>
              <a:rPr sz="2800" spc="-55" dirty="0">
                <a:latin typeface="Times New Roman"/>
                <a:cs typeface="Times New Roman"/>
              </a:rPr>
              <a:t> </a:t>
            </a:r>
            <a:r>
              <a:rPr sz="2800" dirty="0">
                <a:latin typeface="Aptos"/>
                <a:cs typeface="Aptos"/>
              </a:rPr>
              <a:t>them</a:t>
            </a:r>
            <a:r>
              <a:rPr sz="2800" spc="-45" dirty="0">
                <a:latin typeface="Times New Roman"/>
                <a:cs typeface="Times New Roman"/>
              </a:rPr>
              <a:t> </a:t>
            </a:r>
            <a:r>
              <a:rPr sz="2800" spc="-25" dirty="0">
                <a:latin typeface="Aptos"/>
                <a:cs typeface="Aptos"/>
              </a:rPr>
              <a:t>and</a:t>
            </a:r>
            <a:r>
              <a:rPr sz="2800" spc="-25" dirty="0">
                <a:latin typeface="Times New Roman"/>
                <a:cs typeface="Times New Roman"/>
              </a:rPr>
              <a:t> </a:t>
            </a:r>
            <a:r>
              <a:rPr sz="2800" spc="-20" dirty="0">
                <a:latin typeface="Aptos"/>
                <a:cs typeface="Aptos"/>
              </a:rPr>
              <a:t>forward</a:t>
            </a:r>
            <a:r>
              <a:rPr sz="2800" spc="-140" dirty="0">
                <a:latin typeface="Times New Roman"/>
                <a:cs typeface="Times New Roman"/>
              </a:rPr>
              <a:t> </a:t>
            </a:r>
            <a:r>
              <a:rPr sz="2800" spc="-20" dirty="0">
                <a:latin typeface="Aptos"/>
                <a:cs typeface="Aptos"/>
              </a:rPr>
              <a:t>data</a:t>
            </a:r>
            <a:r>
              <a:rPr sz="2800" spc="-145" dirty="0">
                <a:latin typeface="Times New Roman"/>
                <a:cs typeface="Times New Roman"/>
              </a:rPr>
              <a:t> </a:t>
            </a:r>
            <a:r>
              <a:rPr sz="2800" spc="-10" dirty="0">
                <a:latin typeface="Aptos"/>
                <a:cs typeface="Aptos"/>
              </a:rPr>
              <a:t>looking</a:t>
            </a:r>
            <a:r>
              <a:rPr sz="2800" spc="-145" dirty="0">
                <a:latin typeface="Times New Roman"/>
                <a:cs typeface="Times New Roman"/>
              </a:rPr>
              <a:t> </a:t>
            </a:r>
            <a:r>
              <a:rPr sz="2800" dirty="0">
                <a:latin typeface="Aptos"/>
                <a:cs typeface="Aptos"/>
              </a:rPr>
              <a:t>on</a:t>
            </a:r>
            <a:r>
              <a:rPr sz="2800" spc="-155" dirty="0">
                <a:latin typeface="Times New Roman"/>
                <a:cs typeface="Times New Roman"/>
              </a:rPr>
              <a:t> </a:t>
            </a:r>
            <a:r>
              <a:rPr sz="2800" spc="-25" dirty="0">
                <a:latin typeface="Aptos"/>
                <a:cs typeface="Aptos"/>
              </a:rPr>
              <a:t>it.</a:t>
            </a:r>
            <a:endParaRPr sz="2800">
              <a:latin typeface="Aptos"/>
              <a:cs typeface="Apto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409700" y="334137"/>
            <a:ext cx="1323340" cy="434340"/>
          </a:xfrm>
          <a:prstGeom prst="rect">
            <a:avLst/>
          </a:prstGeom>
          <a:solidFill>
            <a:srgbClr val="FFFF00"/>
          </a:solidFill>
        </p:spPr>
        <p:txBody>
          <a:bodyPr vert="horz" wrap="square" lIns="0" tIns="0" rIns="0" bIns="0" rtlCol="0">
            <a:spAutoFit/>
          </a:bodyPr>
          <a:lstStyle/>
          <a:p>
            <a:pPr>
              <a:lnSpc>
                <a:spcPts val="3200"/>
              </a:lnSpc>
            </a:pPr>
            <a:r>
              <a:rPr sz="2800" b="1" spc="-10" dirty="0">
                <a:latin typeface="Aptos"/>
                <a:cs typeface="Aptos"/>
              </a:rPr>
              <a:t>Router:</a:t>
            </a:r>
            <a:endParaRPr sz="2800">
              <a:latin typeface="Aptos"/>
              <a:cs typeface="Aptos"/>
            </a:endParaRPr>
          </a:p>
        </p:txBody>
      </p:sp>
      <p:sp>
        <p:nvSpPr>
          <p:cNvPr id="3" name="object 3"/>
          <p:cNvSpPr txBox="1"/>
          <p:nvPr/>
        </p:nvSpPr>
        <p:spPr>
          <a:xfrm>
            <a:off x="916941" y="301866"/>
            <a:ext cx="10354310" cy="452120"/>
          </a:xfrm>
          <a:prstGeom prst="rect">
            <a:avLst/>
          </a:prstGeom>
        </p:spPr>
        <p:txBody>
          <a:bodyPr vert="horz" wrap="square" lIns="0" tIns="12065" rIns="0" bIns="0" rtlCol="0">
            <a:spAutoFit/>
          </a:bodyPr>
          <a:lstStyle/>
          <a:p>
            <a:pPr marL="12700">
              <a:lnSpc>
                <a:spcPct val="100000"/>
              </a:lnSpc>
              <a:spcBef>
                <a:spcPts val="95"/>
              </a:spcBef>
              <a:tabLst>
                <a:tab pos="1815464" algn="l"/>
                <a:tab pos="2210435" algn="l"/>
                <a:tab pos="3326129" algn="l"/>
                <a:tab pos="4966970" algn="l"/>
                <a:tab pos="6932295" algn="l"/>
                <a:tab pos="7840980" algn="l"/>
                <a:tab pos="8609330" algn="l"/>
                <a:tab pos="10033635" algn="l"/>
              </a:tabLst>
            </a:pPr>
            <a:r>
              <a:rPr sz="2800" spc="-25" dirty="0">
                <a:latin typeface="Aptos"/>
                <a:cs typeface="Aptos"/>
              </a:rPr>
              <a:t>5</a:t>
            </a:r>
            <a:r>
              <a:rPr sz="2800" b="1" spc="-25" dirty="0">
                <a:latin typeface="Aptos"/>
                <a:cs typeface="Aptos"/>
              </a:rPr>
              <a:t>.</a:t>
            </a:r>
            <a:r>
              <a:rPr sz="2800" dirty="0">
                <a:latin typeface="Times New Roman"/>
                <a:cs typeface="Times New Roman"/>
              </a:rPr>
              <a:t>	</a:t>
            </a:r>
            <a:r>
              <a:rPr sz="2800" spc="-50" dirty="0">
                <a:latin typeface="Aptos"/>
                <a:cs typeface="Aptos"/>
              </a:rPr>
              <a:t>A</a:t>
            </a:r>
            <a:r>
              <a:rPr sz="2800" dirty="0">
                <a:latin typeface="Times New Roman"/>
                <a:cs typeface="Times New Roman"/>
              </a:rPr>
              <a:t>	</a:t>
            </a:r>
            <a:r>
              <a:rPr sz="2800" spc="-10" dirty="0">
                <a:latin typeface="Aptos"/>
                <a:cs typeface="Aptos"/>
              </a:rPr>
              <a:t>router</a:t>
            </a:r>
            <a:r>
              <a:rPr sz="2800" dirty="0">
                <a:latin typeface="Times New Roman"/>
                <a:cs typeface="Times New Roman"/>
              </a:rPr>
              <a:t>	</a:t>
            </a:r>
            <a:r>
              <a:rPr sz="2800" spc="-10" dirty="0">
                <a:latin typeface="Aptos"/>
                <a:cs typeface="Aptos"/>
              </a:rPr>
              <a:t>transmits</a:t>
            </a:r>
            <a:r>
              <a:rPr sz="2800" dirty="0">
                <a:latin typeface="Times New Roman"/>
                <a:cs typeface="Times New Roman"/>
              </a:rPr>
              <a:t>	</a:t>
            </a:r>
            <a:r>
              <a:rPr sz="2800" spc="-10" dirty="0">
                <a:latin typeface="Aptos"/>
                <a:cs typeface="Aptos"/>
              </a:rPr>
              <a:t>information</a:t>
            </a:r>
            <a:r>
              <a:rPr sz="2800" dirty="0">
                <a:latin typeface="Times New Roman"/>
                <a:cs typeface="Times New Roman"/>
              </a:rPr>
              <a:t>	</a:t>
            </a:r>
            <a:r>
              <a:rPr sz="2800" spc="-20" dirty="0">
                <a:latin typeface="Aptos"/>
                <a:cs typeface="Aptos"/>
              </a:rPr>
              <a:t>from</a:t>
            </a:r>
            <a:r>
              <a:rPr sz="2800" dirty="0">
                <a:latin typeface="Times New Roman"/>
                <a:cs typeface="Times New Roman"/>
              </a:rPr>
              <a:t>	</a:t>
            </a:r>
            <a:r>
              <a:rPr sz="2800" spc="-25" dirty="0">
                <a:latin typeface="Aptos"/>
                <a:cs typeface="Aptos"/>
              </a:rPr>
              <a:t>one</a:t>
            </a:r>
            <a:r>
              <a:rPr sz="2800" dirty="0">
                <a:latin typeface="Times New Roman"/>
                <a:cs typeface="Times New Roman"/>
              </a:rPr>
              <a:t>	</a:t>
            </a:r>
            <a:r>
              <a:rPr sz="2800" spc="-10" dirty="0">
                <a:latin typeface="Aptos"/>
                <a:cs typeface="Aptos"/>
              </a:rPr>
              <a:t>network</a:t>
            </a:r>
            <a:r>
              <a:rPr sz="2800" dirty="0">
                <a:latin typeface="Times New Roman"/>
                <a:cs typeface="Times New Roman"/>
              </a:rPr>
              <a:t>	</a:t>
            </a:r>
            <a:r>
              <a:rPr sz="2800" spc="-25" dirty="0">
                <a:latin typeface="Aptos"/>
                <a:cs typeface="Aptos"/>
              </a:rPr>
              <a:t>to</a:t>
            </a:r>
            <a:endParaRPr sz="2800">
              <a:latin typeface="Aptos"/>
              <a:cs typeface="Aptos"/>
            </a:endParaRPr>
          </a:p>
        </p:txBody>
      </p:sp>
      <p:sp>
        <p:nvSpPr>
          <p:cNvPr id="4" name="object 4"/>
          <p:cNvSpPr txBox="1"/>
          <p:nvPr/>
        </p:nvSpPr>
        <p:spPr>
          <a:xfrm>
            <a:off x="916938" y="685914"/>
            <a:ext cx="10360025" cy="2756535"/>
          </a:xfrm>
          <a:prstGeom prst="rect">
            <a:avLst/>
          </a:prstGeom>
        </p:spPr>
        <p:txBody>
          <a:bodyPr vert="horz" wrap="square" lIns="0" tIns="54610" rIns="0" bIns="0" rtlCol="0">
            <a:spAutoFit/>
          </a:bodyPr>
          <a:lstStyle/>
          <a:p>
            <a:pPr marL="12700" marR="5080" algn="just">
              <a:lnSpc>
                <a:spcPct val="90000"/>
              </a:lnSpc>
              <a:spcBef>
                <a:spcPts val="430"/>
              </a:spcBef>
            </a:pPr>
            <a:r>
              <a:rPr sz="2800" spc="-40" dirty="0">
                <a:latin typeface="Aptos"/>
                <a:cs typeface="Aptos"/>
              </a:rPr>
              <a:t>another.</a:t>
            </a:r>
            <a:r>
              <a:rPr sz="2800" spc="-125" dirty="0">
                <a:latin typeface="Times New Roman"/>
                <a:cs typeface="Times New Roman"/>
              </a:rPr>
              <a:t> </a:t>
            </a:r>
            <a:r>
              <a:rPr sz="2800" dirty="0">
                <a:latin typeface="Aptos"/>
                <a:cs typeface="Aptos"/>
              </a:rPr>
              <a:t>The</a:t>
            </a:r>
            <a:r>
              <a:rPr sz="2800" spc="-130" dirty="0">
                <a:latin typeface="Times New Roman"/>
                <a:cs typeface="Times New Roman"/>
              </a:rPr>
              <a:t> </a:t>
            </a:r>
            <a:r>
              <a:rPr sz="2800" spc="-10" dirty="0">
                <a:latin typeface="Aptos"/>
                <a:cs typeface="Aptos"/>
              </a:rPr>
              <a:t>router</a:t>
            </a:r>
            <a:r>
              <a:rPr sz="2800" spc="-110" dirty="0">
                <a:latin typeface="Times New Roman"/>
                <a:cs typeface="Times New Roman"/>
              </a:rPr>
              <a:t> </a:t>
            </a:r>
            <a:r>
              <a:rPr sz="2800" spc="-10" dirty="0">
                <a:latin typeface="Aptos"/>
                <a:cs typeface="Aptos"/>
              </a:rPr>
              <a:t>selects</a:t>
            </a:r>
            <a:r>
              <a:rPr sz="2800" spc="-125" dirty="0">
                <a:latin typeface="Times New Roman"/>
                <a:cs typeface="Times New Roman"/>
              </a:rPr>
              <a:t> </a:t>
            </a:r>
            <a:r>
              <a:rPr sz="2800" dirty="0">
                <a:latin typeface="Aptos"/>
                <a:cs typeface="Aptos"/>
              </a:rPr>
              <a:t>the</a:t>
            </a:r>
            <a:r>
              <a:rPr sz="2800" spc="-135" dirty="0">
                <a:latin typeface="Times New Roman"/>
                <a:cs typeface="Times New Roman"/>
              </a:rPr>
              <a:t> </a:t>
            </a:r>
            <a:r>
              <a:rPr sz="2800" dirty="0">
                <a:latin typeface="Aptos"/>
                <a:cs typeface="Aptos"/>
              </a:rPr>
              <a:t>best</a:t>
            </a:r>
            <a:r>
              <a:rPr sz="2800" spc="-125" dirty="0">
                <a:latin typeface="Times New Roman"/>
                <a:cs typeface="Times New Roman"/>
              </a:rPr>
              <a:t> </a:t>
            </a:r>
            <a:r>
              <a:rPr sz="2800" spc="-10" dirty="0">
                <a:latin typeface="Aptos"/>
                <a:cs typeface="Aptos"/>
              </a:rPr>
              <a:t>path</a:t>
            </a:r>
            <a:r>
              <a:rPr sz="2800" spc="-145" dirty="0">
                <a:latin typeface="Times New Roman"/>
                <a:cs typeface="Times New Roman"/>
              </a:rPr>
              <a:t> </a:t>
            </a:r>
            <a:r>
              <a:rPr sz="2800" dirty="0">
                <a:latin typeface="Aptos"/>
                <a:cs typeface="Aptos"/>
              </a:rPr>
              <a:t>to</a:t>
            </a:r>
            <a:r>
              <a:rPr sz="2800" spc="-120" dirty="0">
                <a:latin typeface="Times New Roman"/>
                <a:cs typeface="Times New Roman"/>
              </a:rPr>
              <a:t> </a:t>
            </a:r>
            <a:r>
              <a:rPr sz="2800" spc="-10" dirty="0">
                <a:latin typeface="Aptos"/>
                <a:cs typeface="Aptos"/>
              </a:rPr>
              <a:t>route</a:t>
            </a:r>
            <a:r>
              <a:rPr sz="2800" spc="-114" dirty="0">
                <a:latin typeface="Times New Roman"/>
                <a:cs typeface="Times New Roman"/>
              </a:rPr>
              <a:t> </a:t>
            </a:r>
            <a:r>
              <a:rPr sz="2800" dirty="0">
                <a:latin typeface="Aptos"/>
                <a:cs typeface="Aptos"/>
              </a:rPr>
              <a:t>a</a:t>
            </a:r>
            <a:r>
              <a:rPr sz="2800" spc="-130" dirty="0">
                <a:latin typeface="Times New Roman"/>
                <a:cs typeface="Times New Roman"/>
              </a:rPr>
              <a:t> </a:t>
            </a:r>
            <a:r>
              <a:rPr sz="2800" spc="-20" dirty="0">
                <a:latin typeface="Aptos"/>
                <a:cs typeface="Aptos"/>
              </a:rPr>
              <a:t>message,</a:t>
            </a:r>
            <a:r>
              <a:rPr sz="2800" spc="-130" dirty="0">
                <a:latin typeface="Times New Roman"/>
                <a:cs typeface="Times New Roman"/>
              </a:rPr>
              <a:t> </a:t>
            </a:r>
            <a:r>
              <a:rPr sz="2800" spc="-10" dirty="0">
                <a:latin typeface="Aptos"/>
                <a:cs typeface="Aptos"/>
              </a:rPr>
              <a:t>based</a:t>
            </a:r>
            <a:r>
              <a:rPr sz="2800" spc="-10" dirty="0">
                <a:latin typeface="Times New Roman"/>
                <a:cs typeface="Times New Roman"/>
              </a:rPr>
              <a:t> </a:t>
            </a:r>
            <a:r>
              <a:rPr sz="2800" dirty="0">
                <a:latin typeface="Aptos"/>
                <a:cs typeface="Aptos"/>
              </a:rPr>
              <a:t>on</a:t>
            </a:r>
            <a:r>
              <a:rPr sz="2800" spc="65" dirty="0">
                <a:latin typeface="Times New Roman"/>
                <a:cs typeface="Times New Roman"/>
              </a:rPr>
              <a:t> </a:t>
            </a:r>
            <a:r>
              <a:rPr sz="2800" dirty="0">
                <a:latin typeface="Aptos"/>
                <a:cs typeface="Aptos"/>
              </a:rPr>
              <a:t>the</a:t>
            </a:r>
            <a:r>
              <a:rPr sz="2800" spc="85" dirty="0">
                <a:latin typeface="Times New Roman"/>
                <a:cs typeface="Times New Roman"/>
              </a:rPr>
              <a:t> </a:t>
            </a:r>
            <a:r>
              <a:rPr sz="2800" dirty="0">
                <a:latin typeface="Aptos"/>
                <a:cs typeface="Aptos"/>
              </a:rPr>
              <a:t>destination</a:t>
            </a:r>
            <a:r>
              <a:rPr sz="2800" spc="65" dirty="0">
                <a:latin typeface="Times New Roman"/>
                <a:cs typeface="Times New Roman"/>
              </a:rPr>
              <a:t> </a:t>
            </a:r>
            <a:r>
              <a:rPr sz="2800" dirty="0">
                <a:latin typeface="Aptos"/>
                <a:cs typeface="Aptos"/>
              </a:rPr>
              <a:t>address</a:t>
            </a:r>
            <a:r>
              <a:rPr sz="2800" spc="80" dirty="0">
                <a:latin typeface="Times New Roman"/>
                <a:cs typeface="Times New Roman"/>
              </a:rPr>
              <a:t> </a:t>
            </a:r>
            <a:r>
              <a:rPr sz="2800" dirty="0">
                <a:latin typeface="Aptos"/>
                <a:cs typeface="Aptos"/>
              </a:rPr>
              <a:t>and</a:t>
            </a:r>
            <a:r>
              <a:rPr sz="2800" spc="70" dirty="0">
                <a:latin typeface="Times New Roman"/>
                <a:cs typeface="Times New Roman"/>
              </a:rPr>
              <a:t> </a:t>
            </a:r>
            <a:r>
              <a:rPr sz="2800" dirty="0">
                <a:latin typeface="Aptos"/>
                <a:cs typeface="Aptos"/>
              </a:rPr>
              <a:t>origin.</a:t>
            </a:r>
            <a:r>
              <a:rPr sz="2800" spc="75" dirty="0">
                <a:latin typeface="Times New Roman"/>
                <a:cs typeface="Times New Roman"/>
              </a:rPr>
              <a:t> </a:t>
            </a:r>
            <a:r>
              <a:rPr sz="2800" dirty="0">
                <a:latin typeface="Aptos"/>
                <a:cs typeface="Aptos"/>
              </a:rPr>
              <a:t>The</a:t>
            </a:r>
            <a:r>
              <a:rPr sz="2800" spc="80" dirty="0">
                <a:latin typeface="Times New Roman"/>
                <a:cs typeface="Times New Roman"/>
              </a:rPr>
              <a:t> </a:t>
            </a:r>
            <a:r>
              <a:rPr sz="2800" dirty="0">
                <a:latin typeface="Aptos"/>
                <a:cs typeface="Aptos"/>
              </a:rPr>
              <a:t>router</a:t>
            </a:r>
            <a:r>
              <a:rPr sz="2800" spc="70" dirty="0">
                <a:latin typeface="Times New Roman"/>
                <a:cs typeface="Times New Roman"/>
              </a:rPr>
              <a:t> </a:t>
            </a:r>
            <a:r>
              <a:rPr sz="2800" dirty="0">
                <a:latin typeface="Aptos"/>
                <a:cs typeface="Aptos"/>
              </a:rPr>
              <a:t>can</a:t>
            </a:r>
            <a:r>
              <a:rPr sz="2800" spc="80" dirty="0">
                <a:latin typeface="Times New Roman"/>
                <a:cs typeface="Times New Roman"/>
              </a:rPr>
              <a:t> </a:t>
            </a:r>
            <a:r>
              <a:rPr sz="2800" dirty="0">
                <a:latin typeface="Aptos"/>
                <a:cs typeface="Aptos"/>
              </a:rPr>
              <a:t>direct</a:t>
            </a:r>
            <a:r>
              <a:rPr sz="2800" spc="70" dirty="0">
                <a:latin typeface="Times New Roman"/>
                <a:cs typeface="Times New Roman"/>
              </a:rPr>
              <a:t> </a:t>
            </a:r>
            <a:r>
              <a:rPr sz="2800" spc="-10" dirty="0">
                <a:latin typeface="Aptos"/>
                <a:cs typeface="Aptos"/>
              </a:rPr>
              <a:t>traffic</a:t>
            </a:r>
            <a:r>
              <a:rPr sz="2800" spc="-10" dirty="0">
                <a:latin typeface="Times New Roman"/>
                <a:cs typeface="Times New Roman"/>
              </a:rPr>
              <a:t> </a:t>
            </a:r>
            <a:r>
              <a:rPr sz="2800" dirty="0">
                <a:latin typeface="Aptos"/>
                <a:cs typeface="Aptos"/>
              </a:rPr>
              <a:t>to</a:t>
            </a:r>
            <a:r>
              <a:rPr sz="2800" spc="185" dirty="0">
                <a:latin typeface="Times New Roman"/>
                <a:cs typeface="Times New Roman"/>
              </a:rPr>
              <a:t> </a:t>
            </a:r>
            <a:r>
              <a:rPr sz="2800" dirty="0">
                <a:latin typeface="Aptos"/>
                <a:cs typeface="Aptos"/>
              </a:rPr>
              <a:t>prevent</a:t>
            </a:r>
            <a:r>
              <a:rPr sz="2800" spc="165" dirty="0">
                <a:latin typeface="Times New Roman"/>
                <a:cs typeface="Times New Roman"/>
              </a:rPr>
              <a:t> </a:t>
            </a:r>
            <a:r>
              <a:rPr sz="2800" spc="-25" dirty="0">
                <a:latin typeface="Aptos"/>
                <a:cs typeface="Aptos"/>
              </a:rPr>
              <a:t>head-</a:t>
            </a:r>
            <a:r>
              <a:rPr sz="2800" dirty="0">
                <a:latin typeface="Aptos"/>
                <a:cs typeface="Aptos"/>
              </a:rPr>
              <a:t>on</a:t>
            </a:r>
            <a:r>
              <a:rPr sz="2800" spc="185" dirty="0">
                <a:latin typeface="Times New Roman"/>
                <a:cs typeface="Times New Roman"/>
              </a:rPr>
              <a:t> </a:t>
            </a:r>
            <a:r>
              <a:rPr sz="2800" dirty="0">
                <a:latin typeface="Aptos"/>
                <a:cs typeface="Aptos"/>
              </a:rPr>
              <a:t>collisions</a:t>
            </a:r>
            <a:r>
              <a:rPr sz="2800" spc="175" dirty="0">
                <a:latin typeface="Times New Roman"/>
                <a:cs typeface="Times New Roman"/>
              </a:rPr>
              <a:t> </a:t>
            </a:r>
            <a:r>
              <a:rPr sz="2800" dirty="0">
                <a:latin typeface="Aptos"/>
                <a:cs typeface="Aptos"/>
              </a:rPr>
              <a:t>and</a:t>
            </a:r>
            <a:r>
              <a:rPr sz="2800" spc="195" dirty="0">
                <a:latin typeface="Times New Roman"/>
                <a:cs typeface="Times New Roman"/>
              </a:rPr>
              <a:t> </a:t>
            </a:r>
            <a:r>
              <a:rPr sz="2800" dirty="0">
                <a:latin typeface="Aptos"/>
                <a:cs typeface="Aptos"/>
              </a:rPr>
              <a:t>smart</a:t>
            </a:r>
            <a:r>
              <a:rPr sz="2800" spc="170" dirty="0">
                <a:latin typeface="Times New Roman"/>
                <a:cs typeface="Times New Roman"/>
              </a:rPr>
              <a:t> </a:t>
            </a:r>
            <a:r>
              <a:rPr sz="2800" dirty="0">
                <a:latin typeface="Aptos"/>
                <a:cs typeface="Aptos"/>
              </a:rPr>
              <a:t>enough</a:t>
            </a:r>
            <a:r>
              <a:rPr sz="2800" spc="165" dirty="0">
                <a:latin typeface="Times New Roman"/>
                <a:cs typeface="Times New Roman"/>
              </a:rPr>
              <a:t> </a:t>
            </a:r>
            <a:r>
              <a:rPr sz="2800" dirty="0">
                <a:latin typeface="Aptos"/>
                <a:cs typeface="Aptos"/>
              </a:rPr>
              <a:t>to</a:t>
            </a:r>
            <a:r>
              <a:rPr sz="2800" spc="180" dirty="0">
                <a:latin typeface="Times New Roman"/>
                <a:cs typeface="Times New Roman"/>
              </a:rPr>
              <a:t> </a:t>
            </a:r>
            <a:r>
              <a:rPr sz="2800" dirty="0">
                <a:latin typeface="Aptos"/>
                <a:cs typeface="Aptos"/>
              </a:rPr>
              <a:t>know</a:t>
            </a:r>
            <a:r>
              <a:rPr sz="2800" spc="170" dirty="0">
                <a:latin typeface="Times New Roman"/>
                <a:cs typeface="Times New Roman"/>
              </a:rPr>
              <a:t> </a:t>
            </a:r>
            <a:r>
              <a:rPr sz="2800" dirty="0">
                <a:latin typeface="Aptos"/>
                <a:cs typeface="Aptos"/>
              </a:rPr>
              <a:t>when</a:t>
            </a:r>
            <a:r>
              <a:rPr sz="2800" spc="165" dirty="0">
                <a:latin typeface="Times New Roman"/>
                <a:cs typeface="Times New Roman"/>
              </a:rPr>
              <a:t> </a:t>
            </a:r>
            <a:r>
              <a:rPr sz="2800" spc="-25" dirty="0">
                <a:latin typeface="Aptos"/>
                <a:cs typeface="Aptos"/>
              </a:rPr>
              <a:t>to</a:t>
            </a:r>
            <a:r>
              <a:rPr sz="2800" spc="-25" dirty="0">
                <a:latin typeface="Times New Roman"/>
                <a:cs typeface="Times New Roman"/>
              </a:rPr>
              <a:t> </a:t>
            </a:r>
            <a:r>
              <a:rPr sz="2800" dirty="0">
                <a:latin typeface="Aptos"/>
                <a:cs typeface="Aptos"/>
              </a:rPr>
              <a:t>direct</a:t>
            </a:r>
            <a:r>
              <a:rPr sz="2800" spc="40" dirty="0">
                <a:latin typeface="Times New Roman"/>
                <a:cs typeface="Times New Roman"/>
              </a:rPr>
              <a:t> </a:t>
            </a:r>
            <a:r>
              <a:rPr sz="2800" dirty="0">
                <a:latin typeface="Aptos"/>
                <a:cs typeface="Aptos"/>
              </a:rPr>
              <a:t>traffic</a:t>
            </a:r>
            <a:r>
              <a:rPr sz="2800" spc="45" dirty="0">
                <a:latin typeface="Times New Roman"/>
                <a:cs typeface="Times New Roman"/>
              </a:rPr>
              <a:t> </a:t>
            </a:r>
            <a:r>
              <a:rPr sz="2800" dirty="0">
                <a:latin typeface="Aptos"/>
                <a:cs typeface="Aptos"/>
              </a:rPr>
              <a:t>along</a:t>
            </a:r>
            <a:r>
              <a:rPr sz="2800" spc="60" dirty="0">
                <a:latin typeface="Times New Roman"/>
                <a:cs typeface="Times New Roman"/>
              </a:rPr>
              <a:t> </a:t>
            </a:r>
            <a:r>
              <a:rPr sz="2800" dirty="0">
                <a:latin typeface="Aptos"/>
                <a:cs typeface="Aptos"/>
              </a:rPr>
              <a:t>back</a:t>
            </a:r>
            <a:r>
              <a:rPr sz="2800" spc="45" dirty="0">
                <a:latin typeface="Times New Roman"/>
                <a:cs typeface="Times New Roman"/>
              </a:rPr>
              <a:t> </a:t>
            </a:r>
            <a:r>
              <a:rPr sz="2800" dirty="0">
                <a:latin typeface="Aptos"/>
                <a:cs typeface="Aptos"/>
              </a:rPr>
              <a:t>roads</a:t>
            </a:r>
            <a:r>
              <a:rPr sz="2800" spc="45" dirty="0">
                <a:latin typeface="Times New Roman"/>
                <a:cs typeface="Times New Roman"/>
              </a:rPr>
              <a:t> </a:t>
            </a:r>
            <a:r>
              <a:rPr sz="2800" dirty="0">
                <a:latin typeface="Aptos"/>
                <a:cs typeface="Aptos"/>
              </a:rPr>
              <a:t>and</a:t>
            </a:r>
            <a:r>
              <a:rPr sz="2800" spc="75" dirty="0">
                <a:latin typeface="Times New Roman"/>
                <a:cs typeface="Times New Roman"/>
              </a:rPr>
              <a:t> </a:t>
            </a:r>
            <a:r>
              <a:rPr sz="2800" dirty="0">
                <a:latin typeface="Aptos"/>
                <a:cs typeface="Aptos"/>
              </a:rPr>
              <a:t>shortcuts.</a:t>
            </a:r>
            <a:r>
              <a:rPr sz="2800" spc="50" dirty="0">
                <a:latin typeface="Times New Roman"/>
                <a:cs typeface="Times New Roman"/>
              </a:rPr>
              <a:t> </a:t>
            </a:r>
            <a:r>
              <a:rPr sz="2800" dirty="0">
                <a:latin typeface="Aptos"/>
                <a:cs typeface="Aptos"/>
              </a:rPr>
              <a:t>-</a:t>
            </a:r>
            <a:r>
              <a:rPr sz="2800" spc="70" dirty="0">
                <a:latin typeface="Times New Roman"/>
                <a:cs typeface="Times New Roman"/>
              </a:rPr>
              <a:t> </a:t>
            </a:r>
            <a:r>
              <a:rPr sz="2800" dirty="0">
                <a:latin typeface="Aptos"/>
                <a:cs typeface="Aptos"/>
              </a:rPr>
              <a:t>Direct</a:t>
            </a:r>
            <a:r>
              <a:rPr sz="2800" spc="45" dirty="0">
                <a:latin typeface="Times New Roman"/>
                <a:cs typeface="Times New Roman"/>
              </a:rPr>
              <a:t> </a:t>
            </a:r>
            <a:r>
              <a:rPr sz="2800" dirty="0">
                <a:latin typeface="Aptos"/>
                <a:cs typeface="Aptos"/>
              </a:rPr>
              <a:t>signal</a:t>
            </a:r>
            <a:r>
              <a:rPr sz="2800" spc="45" dirty="0">
                <a:latin typeface="Times New Roman"/>
                <a:cs typeface="Times New Roman"/>
              </a:rPr>
              <a:t> </a:t>
            </a:r>
            <a:r>
              <a:rPr sz="2800" spc="-10" dirty="0">
                <a:latin typeface="Aptos"/>
                <a:cs typeface="Aptos"/>
              </a:rPr>
              <a:t>traffic</a:t>
            </a:r>
            <a:r>
              <a:rPr sz="2800" spc="-10" dirty="0">
                <a:latin typeface="Times New Roman"/>
                <a:cs typeface="Times New Roman"/>
              </a:rPr>
              <a:t> </a:t>
            </a:r>
            <a:r>
              <a:rPr sz="2800" dirty="0">
                <a:latin typeface="Aptos"/>
                <a:cs typeface="Aptos"/>
              </a:rPr>
              <a:t>efficiently.</a:t>
            </a:r>
            <a:r>
              <a:rPr sz="2800" spc="310" dirty="0">
                <a:latin typeface="Times New Roman"/>
                <a:cs typeface="Times New Roman"/>
              </a:rPr>
              <a:t> </a:t>
            </a:r>
            <a:r>
              <a:rPr sz="2800" dirty="0">
                <a:latin typeface="Aptos"/>
                <a:cs typeface="Aptos"/>
              </a:rPr>
              <a:t>-</a:t>
            </a:r>
            <a:r>
              <a:rPr sz="2800" spc="325" dirty="0">
                <a:latin typeface="Times New Roman"/>
                <a:cs typeface="Times New Roman"/>
              </a:rPr>
              <a:t> </a:t>
            </a:r>
            <a:r>
              <a:rPr sz="2800" dirty="0">
                <a:latin typeface="Aptos"/>
                <a:cs typeface="Aptos"/>
              </a:rPr>
              <a:t>Route</a:t>
            </a:r>
            <a:r>
              <a:rPr sz="2800" spc="320" dirty="0">
                <a:latin typeface="Times New Roman"/>
                <a:cs typeface="Times New Roman"/>
              </a:rPr>
              <a:t> </a:t>
            </a:r>
            <a:r>
              <a:rPr sz="2800" dirty="0">
                <a:latin typeface="Aptos"/>
                <a:cs typeface="Aptos"/>
              </a:rPr>
              <a:t>message</a:t>
            </a:r>
            <a:r>
              <a:rPr sz="2800" spc="340" dirty="0">
                <a:latin typeface="Times New Roman"/>
                <a:cs typeface="Times New Roman"/>
              </a:rPr>
              <a:t> </a:t>
            </a:r>
            <a:r>
              <a:rPr sz="2800" dirty="0">
                <a:latin typeface="Aptos"/>
                <a:cs typeface="Aptos"/>
              </a:rPr>
              <a:t>between</a:t>
            </a:r>
            <a:r>
              <a:rPr sz="2800" spc="315" dirty="0">
                <a:latin typeface="Times New Roman"/>
                <a:cs typeface="Times New Roman"/>
              </a:rPr>
              <a:t> </a:t>
            </a:r>
            <a:r>
              <a:rPr sz="2800" dirty="0">
                <a:latin typeface="Aptos"/>
                <a:cs typeface="Aptos"/>
              </a:rPr>
              <a:t>any</a:t>
            </a:r>
            <a:r>
              <a:rPr sz="2800" spc="325" dirty="0">
                <a:latin typeface="Times New Roman"/>
                <a:cs typeface="Times New Roman"/>
              </a:rPr>
              <a:t> </a:t>
            </a:r>
            <a:r>
              <a:rPr sz="2800" dirty="0">
                <a:latin typeface="Aptos"/>
                <a:cs typeface="Aptos"/>
              </a:rPr>
              <a:t>two</a:t>
            </a:r>
            <a:r>
              <a:rPr sz="2800" spc="335" dirty="0">
                <a:latin typeface="Times New Roman"/>
                <a:cs typeface="Times New Roman"/>
              </a:rPr>
              <a:t> </a:t>
            </a:r>
            <a:r>
              <a:rPr sz="2800" dirty="0">
                <a:latin typeface="Aptos"/>
                <a:cs typeface="Aptos"/>
              </a:rPr>
              <a:t>protocols.</a:t>
            </a:r>
            <a:r>
              <a:rPr sz="2800" spc="315" dirty="0">
                <a:latin typeface="Times New Roman"/>
                <a:cs typeface="Times New Roman"/>
              </a:rPr>
              <a:t> </a:t>
            </a:r>
            <a:r>
              <a:rPr sz="2800" dirty="0">
                <a:latin typeface="Aptos"/>
                <a:cs typeface="Aptos"/>
              </a:rPr>
              <a:t>-</a:t>
            </a:r>
            <a:r>
              <a:rPr sz="2800" spc="325" dirty="0">
                <a:latin typeface="Times New Roman"/>
                <a:cs typeface="Times New Roman"/>
              </a:rPr>
              <a:t> </a:t>
            </a:r>
            <a:r>
              <a:rPr sz="2800" spc="-10" dirty="0">
                <a:latin typeface="Aptos"/>
                <a:cs typeface="Aptos"/>
              </a:rPr>
              <a:t>Route</a:t>
            </a:r>
            <a:r>
              <a:rPr sz="2800" spc="-10" dirty="0">
                <a:latin typeface="Times New Roman"/>
                <a:cs typeface="Times New Roman"/>
              </a:rPr>
              <a:t> </a:t>
            </a:r>
            <a:r>
              <a:rPr sz="2800" dirty="0">
                <a:latin typeface="Aptos"/>
                <a:cs typeface="Aptos"/>
              </a:rPr>
              <a:t>message</a:t>
            </a:r>
            <a:r>
              <a:rPr sz="2800" spc="515" dirty="0">
                <a:latin typeface="Times New Roman"/>
                <a:cs typeface="Times New Roman"/>
              </a:rPr>
              <a:t> </a:t>
            </a:r>
            <a:r>
              <a:rPr sz="2800" dirty="0">
                <a:latin typeface="Aptos"/>
                <a:cs typeface="Aptos"/>
              </a:rPr>
              <a:t>between</a:t>
            </a:r>
            <a:r>
              <a:rPr sz="2800" spc="505" dirty="0">
                <a:latin typeface="Times New Roman"/>
                <a:cs typeface="Times New Roman"/>
              </a:rPr>
              <a:t> </a:t>
            </a:r>
            <a:r>
              <a:rPr sz="2800" dirty="0">
                <a:latin typeface="Aptos"/>
                <a:cs typeface="Aptos"/>
              </a:rPr>
              <a:t>different</a:t>
            </a:r>
            <a:r>
              <a:rPr sz="2800" spc="484" dirty="0">
                <a:latin typeface="Times New Roman"/>
                <a:cs typeface="Times New Roman"/>
              </a:rPr>
              <a:t> </a:t>
            </a:r>
            <a:r>
              <a:rPr sz="2800" dirty="0">
                <a:latin typeface="Aptos"/>
                <a:cs typeface="Aptos"/>
              </a:rPr>
              <a:t>topologies.</a:t>
            </a:r>
            <a:r>
              <a:rPr sz="2800" spc="495" dirty="0">
                <a:latin typeface="Times New Roman"/>
                <a:cs typeface="Times New Roman"/>
              </a:rPr>
              <a:t> </a:t>
            </a:r>
            <a:r>
              <a:rPr sz="2800" dirty="0">
                <a:latin typeface="Aptos"/>
                <a:cs typeface="Aptos"/>
              </a:rPr>
              <a:t>-</a:t>
            </a:r>
            <a:r>
              <a:rPr sz="2800" spc="505" dirty="0">
                <a:latin typeface="Times New Roman"/>
                <a:cs typeface="Times New Roman"/>
              </a:rPr>
              <a:t> </a:t>
            </a:r>
            <a:r>
              <a:rPr sz="2800" dirty="0">
                <a:latin typeface="Aptos"/>
                <a:cs typeface="Aptos"/>
              </a:rPr>
              <a:t>Route</a:t>
            </a:r>
            <a:r>
              <a:rPr sz="2800" spc="495" dirty="0">
                <a:latin typeface="Times New Roman"/>
                <a:cs typeface="Times New Roman"/>
              </a:rPr>
              <a:t> </a:t>
            </a:r>
            <a:r>
              <a:rPr sz="2800" dirty="0">
                <a:latin typeface="Aptos"/>
                <a:cs typeface="Aptos"/>
              </a:rPr>
              <a:t>message</a:t>
            </a:r>
            <a:r>
              <a:rPr sz="2800" spc="495" dirty="0">
                <a:latin typeface="Times New Roman"/>
                <a:cs typeface="Times New Roman"/>
              </a:rPr>
              <a:t> </a:t>
            </a:r>
            <a:r>
              <a:rPr sz="2800" spc="-10" dirty="0">
                <a:latin typeface="Aptos"/>
                <a:cs typeface="Aptos"/>
              </a:rPr>
              <a:t>across</a:t>
            </a:r>
            <a:r>
              <a:rPr sz="2800" spc="-10" dirty="0">
                <a:latin typeface="Times New Roman"/>
                <a:cs typeface="Times New Roman"/>
              </a:rPr>
              <a:t> </a:t>
            </a:r>
            <a:r>
              <a:rPr sz="2800" spc="-10" dirty="0">
                <a:latin typeface="Aptos"/>
                <a:cs typeface="Aptos"/>
              </a:rPr>
              <a:t>fiber</a:t>
            </a:r>
            <a:r>
              <a:rPr sz="2800" spc="-130" dirty="0">
                <a:latin typeface="Times New Roman"/>
                <a:cs typeface="Times New Roman"/>
              </a:rPr>
              <a:t> </a:t>
            </a:r>
            <a:r>
              <a:rPr sz="2800" spc="-25" dirty="0">
                <a:latin typeface="Aptos"/>
                <a:cs typeface="Aptos"/>
              </a:rPr>
              <a:t>optic,</a:t>
            </a:r>
            <a:r>
              <a:rPr sz="2800" spc="-125" dirty="0">
                <a:latin typeface="Times New Roman"/>
                <a:cs typeface="Times New Roman"/>
              </a:rPr>
              <a:t> </a:t>
            </a:r>
            <a:r>
              <a:rPr sz="2800" spc="-10" dirty="0">
                <a:latin typeface="Aptos"/>
                <a:cs typeface="Aptos"/>
              </a:rPr>
              <a:t>coaxial,</a:t>
            </a:r>
            <a:r>
              <a:rPr sz="2800" spc="-110" dirty="0">
                <a:latin typeface="Times New Roman"/>
                <a:cs typeface="Times New Roman"/>
              </a:rPr>
              <a:t> </a:t>
            </a:r>
            <a:r>
              <a:rPr sz="2800" spc="-10" dirty="0">
                <a:latin typeface="Aptos"/>
                <a:cs typeface="Aptos"/>
              </a:rPr>
              <a:t>and</a:t>
            </a:r>
            <a:r>
              <a:rPr sz="2800" spc="-130" dirty="0">
                <a:latin typeface="Times New Roman"/>
                <a:cs typeface="Times New Roman"/>
              </a:rPr>
              <a:t> </a:t>
            </a:r>
            <a:r>
              <a:rPr sz="2800" spc="-25" dirty="0">
                <a:latin typeface="Aptos"/>
                <a:cs typeface="Aptos"/>
              </a:rPr>
              <a:t>twisted-</a:t>
            </a:r>
            <a:r>
              <a:rPr sz="2800" spc="-10" dirty="0">
                <a:latin typeface="Aptos"/>
                <a:cs typeface="Aptos"/>
              </a:rPr>
              <a:t>pair</a:t>
            </a:r>
            <a:r>
              <a:rPr sz="2800" spc="-135" dirty="0">
                <a:latin typeface="Times New Roman"/>
                <a:cs typeface="Times New Roman"/>
              </a:rPr>
              <a:t> </a:t>
            </a:r>
            <a:r>
              <a:rPr sz="2800" spc="-10" dirty="0">
                <a:latin typeface="Aptos"/>
                <a:cs typeface="Aptos"/>
              </a:rPr>
              <a:t>cabling.</a:t>
            </a:r>
            <a:endParaRPr sz="2800">
              <a:latin typeface="Aptos"/>
              <a:cs typeface="Apto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444751" y="415163"/>
            <a:ext cx="1847214" cy="434340"/>
          </a:xfrm>
          <a:prstGeom prst="rect">
            <a:avLst/>
          </a:prstGeom>
          <a:solidFill>
            <a:srgbClr val="FFFF00"/>
          </a:solidFill>
        </p:spPr>
        <p:txBody>
          <a:bodyPr vert="horz" wrap="square" lIns="0" tIns="0" rIns="0" bIns="0" rtlCol="0">
            <a:spAutoFit/>
          </a:bodyPr>
          <a:lstStyle/>
          <a:p>
            <a:pPr>
              <a:lnSpc>
                <a:spcPts val="3200"/>
              </a:lnSpc>
            </a:pPr>
            <a:r>
              <a:rPr sz="2800" b="1" spc="-10" dirty="0">
                <a:latin typeface="Aptos"/>
                <a:cs typeface="Aptos"/>
              </a:rPr>
              <a:t>Gateways:</a:t>
            </a:r>
            <a:endParaRPr sz="2800">
              <a:latin typeface="Aptos"/>
              <a:cs typeface="Aptos"/>
            </a:endParaRPr>
          </a:p>
        </p:txBody>
      </p:sp>
      <p:sp>
        <p:nvSpPr>
          <p:cNvPr id="3" name="object 3"/>
          <p:cNvSpPr txBox="1"/>
          <p:nvPr/>
        </p:nvSpPr>
        <p:spPr>
          <a:xfrm>
            <a:off x="916941" y="382892"/>
            <a:ext cx="10356215" cy="452120"/>
          </a:xfrm>
          <a:prstGeom prst="rect">
            <a:avLst/>
          </a:prstGeom>
        </p:spPr>
        <p:txBody>
          <a:bodyPr vert="horz" wrap="square" lIns="0" tIns="12065" rIns="0" bIns="0" rtlCol="0">
            <a:spAutoFit/>
          </a:bodyPr>
          <a:lstStyle/>
          <a:p>
            <a:pPr marL="12700">
              <a:lnSpc>
                <a:spcPct val="100000"/>
              </a:lnSpc>
              <a:spcBef>
                <a:spcPts val="95"/>
              </a:spcBef>
              <a:tabLst>
                <a:tab pos="2374900" algn="l"/>
                <a:tab pos="4109085" algn="l"/>
                <a:tab pos="4824095" algn="l"/>
                <a:tab pos="5616575" algn="l"/>
                <a:tab pos="6370955" algn="l"/>
                <a:tab pos="7694295" algn="l"/>
                <a:tab pos="8432165" algn="l"/>
                <a:tab pos="9541510" algn="l"/>
              </a:tabLst>
            </a:pPr>
            <a:r>
              <a:rPr sz="2800" spc="-25" dirty="0">
                <a:latin typeface="Aptos"/>
                <a:cs typeface="Aptos"/>
              </a:rPr>
              <a:t>6.</a:t>
            </a:r>
            <a:r>
              <a:rPr sz="2800" dirty="0">
                <a:latin typeface="Times New Roman"/>
                <a:cs typeface="Times New Roman"/>
              </a:rPr>
              <a:t>	</a:t>
            </a:r>
            <a:r>
              <a:rPr sz="2800" spc="-10" dirty="0">
                <a:latin typeface="Aptos"/>
                <a:cs typeface="Aptos"/>
              </a:rPr>
              <a:t>Gateways</a:t>
            </a:r>
            <a:r>
              <a:rPr sz="2800" dirty="0">
                <a:latin typeface="Times New Roman"/>
                <a:cs typeface="Times New Roman"/>
              </a:rPr>
              <a:t>	</a:t>
            </a:r>
            <a:r>
              <a:rPr sz="2800" spc="-25" dirty="0">
                <a:latin typeface="Aptos"/>
                <a:cs typeface="Aptos"/>
              </a:rPr>
              <a:t>are</a:t>
            </a:r>
            <a:r>
              <a:rPr sz="2800" dirty="0">
                <a:latin typeface="Times New Roman"/>
                <a:cs typeface="Times New Roman"/>
              </a:rPr>
              <a:t>	</a:t>
            </a:r>
            <a:r>
              <a:rPr sz="2800" spc="-20" dirty="0">
                <a:latin typeface="Aptos"/>
                <a:cs typeface="Aptos"/>
              </a:rPr>
              <a:t>just</a:t>
            </a:r>
            <a:r>
              <a:rPr sz="2800" dirty="0">
                <a:latin typeface="Times New Roman"/>
                <a:cs typeface="Times New Roman"/>
              </a:rPr>
              <a:t>	</a:t>
            </a:r>
            <a:r>
              <a:rPr sz="2800" spc="-20" dirty="0">
                <a:latin typeface="Aptos"/>
                <a:cs typeface="Aptos"/>
              </a:rPr>
              <a:t>like</a:t>
            </a:r>
            <a:r>
              <a:rPr sz="2800" dirty="0">
                <a:latin typeface="Times New Roman"/>
                <a:cs typeface="Times New Roman"/>
              </a:rPr>
              <a:t>	</a:t>
            </a:r>
            <a:r>
              <a:rPr sz="2800" spc="-10" dirty="0">
                <a:latin typeface="Aptos"/>
                <a:cs typeface="Aptos"/>
              </a:rPr>
              <a:t>routers</a:t>
            </a:r>
            <a:r>
              <a:rPr sz="2800" dirty="0">
                <a:latin typeface="Times New Roman"/>
                <a:cs typeface="Times New Roman"/>
              </a:rPr>
              <a:t>	</a:t>
            </a:r>
            <a:r>
              <a:rPr sz="2800" spc="-25" dirty="0">
                <a:latin typeface="Aptos"/>
                <a:cs typeface="Aptos"/>
              </a:rPr>
              <a:t>but</a:t>
            </a:r>
            <a:r>
              <a:rPr sz="2800" dirty="0">
                <a:latin typeface="Times New Roman"/>
                <a:cs typeface="Times New Roman"/>
              </a:rPr>
              <a:t>	</a:t>
            </a:r>
            <a:r>
              <a:rPr sz="2800" spc="-20" dirty="0">
                <a:latin typeface="Aptos"/>
                <a:cs typeface="Aptos"/>
              </a:rPr>
              <a:t>much</a:t>
            </a:r>
            <a:r>
              <a:rPr sz="2800" dirty="0">
                <a:latin typeface="Times New Roman"/>
                <a:cs typeface="Times New Roman"/>
              </a:rPr>
              <a:t>	</a:t>
            </a:r>
            <a:r>
              <a:rPr sz="2800" spc="-20" dirty="0">
                <a:latin typeface="Aptos"/>
                <a:cs typeface="Aptos"/>
              </a:rPr>
              <a:t>more</a:t>
            </a:r>
            <a:endParaRPr sz="2800">
              <a:latin typeface="Aptos"/>
              <a:cs typeface="Aptos"/>
            </a:endParaRPr>
          </a:p>
        </p:txBody>
      </p:sp>
      <p:sp>
        <p:nvSpPr>
          <p:cNvPr id="4" name="object 4"/>
          <p:cNvSpPr txBox="1"/>
          <p:nvPr/>
        </p:nvSpPr>
        <p:spPr>
          <a:xfrm>
            <a:off x="916940" y="766940"/>
            <a:ext cx="10358755" cy="2372360"/>
          </a:xfrm>
          <a:prstGeom prst="rect">
            <a:avLst/>
          </a:prstGeom>
        </p:spPr>
        <p:txBody>
          <a:bodyPr vert="horz" wrap="square" lIns="0" tIns="54610" rIns="0" bIns="0" rtlCol="0">
            <a:spAutoFit/>
          </a:bodyPr>
          <a:lstStyle/>
          <a:p>
            <a:pPr marL="12700" marR="5080" algn="just">
              <a:lnSpc>
                <a:spcPct val="90000"/>
              </a:lnSpc>
              <a:spcBef>
                <a:spcPts val="430"/>
              </a:spcBef>
            </a:pPr>
            <a:r>
              <a:rPr sz="2800" spc="-10" dirty="0">
                <a:latin typeface="Aptos"/>
                <a:cs typeface="Aptos"/>
              </a:rPr>
              <a:t>complex</a:t>
            </a:r>
            <a:r>
              <a:rPr sz="2800" spc="-135" dirty="0">
                <a:latin typeface="Times New Roman"/>
                <a:cs typeface="Times New Roman"/>
              </a:rPr>
              <a:t> </a:t>
            </a:r>
            <a:r>
              <a:rPr sz="2800" dirty="0">
                <a:latin typeface="Aptos"/>
                <a:cs typeface="Aptos"/>
              </a:rPr>
              <a:t>and</a:t>
            </a:r>
            <a:r>
              <a:rPr sz="2800" spc="-140" dirty="0">
                <a:latin typeface="Times New Roman"/>
                <a:cs typeface="Times New Roman"/>
              </a:rPr>
              <a:t> </a:t>
            </a:r>
            <a:r>
              <a:rPr sz="2800" spc="-20" dirty="0">
                <a:latin typeface="Aptos"/>
                <a:cs typeface="Aptos"/>
              </a:rPr>
              <a:t>powerful</a:t>
            </a:r>
            <a:r>
              <a:rPr sz="2800" spc="-150" dirty="0">
                <a:latin typeface="Times New Roman"/>
                <a:cs typeface="Times New Roman"/>
              </a:rPr>
              <a:t> </a:t>
            </a:r>
            <a:r>
              <a:rPr sz="2800" spc="-10" dirty="0">
                <a:latin typeface="Aptos"/>
                <a:cs typeface="Aptos"/>
              </a:rPr>
              <a:t>than</a:t>
            </a:r>
            <a:r>
              <a:rPr sz="2800" spc="-150" dirty="0">
                <a:latin typeface="Times New Roman"/>
                <a:cs typeface="Times New Roman"/>
              </a:rPr>
              <a:t> </a:t>
            </a:r>
            <a:r>
              <a:rPr sz="2800" spc="-20" dirty="0">
                <a:latin typeface="Aptos"/>
                <a:cs typeface="Aptos"/>
              </a:rPr>
              <a:t>routers.</a:t>
            </a:r>
            <a:r>
              <a:rPr sz="2800" spc="-135" dirty="0">
                <a:latin typeface="Times New Roman"/>
                <a:cs typeface="Times New Roman"/>
              </a:rPr>
              <a:t> </a:t>
            </a:r>
            <a:r>
              <a:rPr sz="2800" dirty="0">
                <a:latin typeface="Aptos"/>
                <a:cs typeface="Aptos"/>
              </a:rPr>
              <a:t>They</a:t>
            </a:r>
            <a:r>
              <a:rPr sz="2800" spc="-155" dirty="0">
                <a:latin typeface="Times New Roman"/>
                <a:cs typeface="Times New Roman"/>
              </a:rPr>
              <a:t> </a:t>
            </a:r>
            <a:r>
              <a:rPr sz="2800" dirty="0">
                <a:latin typeface="Aptos"/>
                <a:cs typeface="Aptos"/>
              </a:rPr>
              <a:t>are</a:t>
            </a:r>
            <a:r>
              <a:rPr sz="2800" spc="-130" dirty="0">
                <a:latin typeface="Times New Roman"/>
                <a:cs typeface="Times New Roman"/>
              </a:rPr>
              <a:t> </a:t>
            </a:r>
            <a:r>
              <a:rPr sz="2800" spc="-20" dirty="0">
                <a:latin typeface="Aptos"/>
                <a:cs typeface="Aptos"/>
              </a:rPr>
              <a:t>slower</a:t>
            </a:r>
            <a:r>
              <a:rPr sz="2800" spc="-145" dirty="0">
                <a:latin typeface="Times New Roman"/>
                <a:cs typeface="Times New Roman"/>
              </a:rPr>
              <a:t> </a:t>
            </a:r>
            <a:r>
              <a:rPr sz="2800" spc="-10" dirty="0">
                <a:latin typeface="Aptos"/>
                <a:cs typeface="Aptos"/>
              </a:rPr>
              <a:t>than</a:t>
            </a:r>
            <a:r>
              <a:rPr sz="2800" spc="-155" dirty="0">
                <a:latin typeface="Times New Roman"/>
                <a:cs typeface="Times New Roman"/>
              </a:rPr>
              <a:t> </a:t>
            </a:r>
            <a:r>
              <a:rPr sz="2800" spc="-10" dirty="0">
                <a:latin typeface="Aptos"/>
                <a:cs typeface="Aptos"/>
              </a:rPr>
              <a:t>router</a:t>
            </a:r>
            <a:r>
              <a:rPr sz="2800" spc="-150" dirty="0">
                <a:latin typeface="Times New Roman"/>
                <a:cs typeface="Times New Roman"/>
              </a:rPr>
              <a:t> </a:t>
            </a:r>
            <a:r>
              <a:rPr sz="2800" spc="-25" dirty="0">
                <a:latin typeface="Aptos"/>
                <a:cs typeface="Aptos"/>
              </a:rPr>
              <a:t>and</a:t>
            </a:r>
            <a:r>
              <a:rPr sz="2800" spc="-25" dirty="0">
                <a:latin typeface="Times New Roman"/>
                <a:cs typeface="Times New Roman"/>
              </a:rPr>
              <a:t> </a:t>
            </a:r>
            <a:r>
              <a:rPr sz="2800" spc="-35" dirty="0">
                <a:latin typeface="Aptos"/>
                <a:cs typeface="Aptos"/>
              </a:rPr>
              <a:t>expensive.</a:t>
            </a:r>
            <a:r>
              <a:rPr sz="2800" spc="-140" dirty="0">
                <a:latin typeface="Times New Roman"/>
                <a:cs typeface="Times New Roman"/>
              </a:rPr>
              <a:t> </a:t>
            </a:r>
            <a:r>
              <a:rPr sz="2800" dirty="0">
                <a:latin typeface="Aptos"/>
                <a:cs typeface="Aptos"/>
              </a:rPr>
              <a:t>A</a:t>
            </a:r>
            <a:r>
              <a:rPr sz="2800" spc="-145" dirty="0">
                <a:latin typeface="Times New Roman"/>
                <a:cs typeface="Times New Roman"/>
              </a:rPr>
              <a:t> </a:t>
            </a:r>
            <a:r>
              <a:rPr sz="2800" spc="-30" dirty="0">
                <a:latin typeface="Aptos"/>
                <a:cs typeface="Aptos"/>
              </a:rPr>
              <a:t>gateway</a:t>
            </a:r>
            <a:r>
              <a:rPr sz="2800" spc="-145" dirty="0">
                <a:latin typeface="Times New Roman"/>
                <a:cs typeface="Times New Roman"/>
              </a:rPr>
              <a:t> </a:t>
            </a:r>
            <a:r>
              <a:rPr sz="2800" dirty="0">
                <a:latin typeface="Aptos"/>
                <a:cs typeface="Aptos"/>
              </a:rPr>
              <a:t>has</a:t>
            </a:r>
            <a:r>
              <a:rPr sz="2800" spc="-140" dirty="0">
                <a:latin typeface="Times New Roman"/>
                <a:cs typeface="Times New Roman"/>
              </a:rPr>
              <a:t> </a:t>
            </a:r>
            <a:r>
              <a:rPr sz="2800" dirty="0">
                <a:latin typeface="Aptos"/>
                <a:cs typeface="Aptos"/>
              </a:rPr>
              <a:t>all</a:t>
            </a:r>
            <a:r>
              <a:rPr sz="2800" spc="-140" dirty="0">
                <a:latin typeface="Times New Roman"/>
                <a:cs typeface="Times New Roman"/>
              </a:rPr>
              <a:t> </a:t>
            </a:r>
            <a:r>
              <a:rPr sz="2800" dirty="0">
                <a:latin typeface="Aptos"/>
                <a:cs typeface="Aptos"/>
              </a:rPr>
              <a:t>the</a:t>
            </a:r>
            <a:r>
              <a:rPr sz="2800" spc="-150" dirty="0">
                <a:latin typeface="Times New Roman"/>
                <a:cs typeface="Times New Roman"/>
              </a:rPr>
              <a:t> </a:t>
            </a:r>
            <a:r>
              <a:rPr sz="2800" spc="-25" dirty="0">
                <a:latin typeface="Aptos"/>
                <a:cs typeface="Aptos"/>
              </a:rPr>
              <a:t>features</a:t>
            </a:r>
            <a:r>
              <a:rPr sz="2800" spc="-130" dirty="0">
                <a:latin typeface="Times New Roman"/>
                <a:cs typeface="Times New Roman"/>
              </a:rPr>
              <a:t> </a:t>
            </a:r>
            <a:r>
              <a:rPr sz="2800" dirty="0">
                <a:latin typeface="Aptos"/>
                <a:cs typeface="Aptos"/>
              </a:rPr>
              <a:t>of</a:t>
            </a:r>
            <a:r>
              <a:rPr sz="2800" spc="-145" dirty="0">
                <a:latin typeface="Times New Roman"/>
                <a:cs typeface="Times New Roman"/>
              </a:rPr>
              <a:t> </a:t>
            </a:r>
            <a:r>
              <a:rPr sz="2800" spc="-20" dirty="0">
                <a:latin typeface="Aptos"/>
                <a:cs typeface="Aptos"/>
              </a:rPr>
              <a:t>router</a:t>
            </a:r>
            <a:r>
              <a:rPr sz="2800" spc="-140" dirty="0">
                <a:latin typeface="Times New Roman"/>
                <a:cs typeface="Times New Roman"/>
              </a:rPr>
              <a:t> </a:t>
            </a:r>
            <a:r>
              <a:rPr sz="2800" dirty="0">
                <a:latin typeface="Aptos"/>
                <a:cs typeface="Aptos"/>
              </a:rPr>
              <a:t>and</a:t>
            </a:r>
            <a:r>
              <a:rPr sz="2800" spc="-125" dirty="0">
                <a:latin typeface="Times New Roman"/>
                <a:cs typeface="Times New Roman"/>
              </a:rPr>
              <a:t> </a:t>
            </a:r>
            <a:r>
              <a:rPr sz="2800" spc="-10" dirty="0">
                <a:latin typeface="Aptos"/>
                <a:cs typeface="Aptos"/>
              </a:rPr>
              <a:t>bridges</a:t>
            </a:r>
            <a:r>
              <a:rPr sz="2800" spc="-140" dirty="0">
                <a:latin typeface="Times New Roman"/>
                <a:cs typeface="Times New Roman"/>
              </a:rPr>
              <a:t> </a:t>
            </a:r>
            <a:r>
              <a:rPr sz="2800" dirty="0">
                <a:latin typeface="Aptos"/>
                <a:cs typeface="Aptos"/>
              </a:rPr>
              <a:t>but</a:t>
            </a:r>
            <a:r>
              <a:rPr sz="2800" spc="-145" dirty="0">
                <a:latin typeface="Times New Roman"/>
                <a:cs typeface="Times New Roman"/>
              </a:rPr>
              <a:t> </a:t>
            </a:r>
            <a:r>
              <a:rPr sz="2800" spc="-25" dirty="0">
                <a:latin typeface="Aptos"/>
                <a:cs typeface="Aptos"/>
              </a:rPr>
              <a:t>it</a:t>
            </a:r>
            <a:r>
              <a:rPr sz="2800" spc="-25" dirty="0">
                <a:latin typeface="Times New Roman"/>
                <a:cs typeface="Times New Roman"/>
              </a:rPr>
              <a:t> </a:t>
            </a:r>
            <a:r>
              <a:rPr sz="2800" dirty="0">
                <a:latin typeface="Aptos"/>
                <a:cs typeface="Aptos"/>
              </a:rPr>
              <a:t>can</a:t>
            </a:r>
            <a:r>
              <a:rPr sz="2800" spc="635" dirty="0">
                <a:latin typeface="Times New Roman"/>
                <a:cs typeface="Times New Roman"/>
              </a:rPr>
              <a:t> </a:t>
            </a:r>
            <a:r>
              <a:rPr sz="2800" dirty="0">
                <a:latin typeface="Aptos"/>
                <a:cs typeface="Aptos"/>
              </a:rPr>
              <a:t>translate</a:t>
            </a:r>
            <a:r>
              <a:rPr sz="2800" spc="640" dirty="0">
                <a:latin typeface="Times New Roman"/>
                <a:cs typeface="Times New Roman"/>
              </a:rPr>
              <a:t> </a:t>
            </a:r>
            <a:r>
              <a:rPr sz="2800" dirty="0">
                <a:latin typeface="Aptos"/>
                <a:cs typeface="Aptos"/>
              </a:rPr>
              <a:t>instruction</a:t>
            </a:r>
            <a:r>
              <a:rPr sz="2800" spc="650" dirty="0">
                <a:latin typeface="Times New Roman"/>
                <a:cs typeface="Times New Roman"/>
              </a:rPr>
              <a:t> </a:t>
            </a:r>
            <a:r>
              <a:rPr sz="2800" dirty="0">
                <a:latin typeface="Aptos"/>
                <a:cs typeface="Aptos"/>
              </a:rPr>
              <a:t>set</a:t>
            </a:r>
            <a:r>
              <a:rPr sz="2800" spc="630" dirty="0">
                <a:latin typeface="Times New Roman"/>
                <a:cs typeface="Times New Roman"/>
              </a:rPr>
              <a:t> </a:t>
            </a:r>
            <a:r>
              <a:rPr sz="2800" dirty="0">
                <a:latin typeface="Aptos"/>
                <a:cs typeface="Aptos"/>
              </a:rPr>
              <a:t>on</a:t>
            </a:r>
            <a:r>
              <a:rPr sz="2800" spc="640" dirty="0">
                <a:latin typeface="Times New Roman"/>
                <a:cs typeface="Times New Roman"/>
              </a:rPr>
              <a:t> </a:t>
            </a:r>
            <a:r>
              <a:rPr sz="2800" dirty="0">
                <a:latin typeface="Aptos"/>
                <a:cs typeface="Aptos"/>
              </a:rPr>
              <a:t>sending</a:t>
            </a:r>
            <a:r>
              <a:rPr sz="2800" spc="635" dirty="0">
                <a:latin typeface="Times New Roman"/>
                <a:cs typeface="Times New Roman"/>
              </a:rPr>
              <a:t> </a:t>
            </a:r>
            <a:r>
              <a:rPr sz="2800" dirty="0">
                <a:latin typeface="Aptos"/>
                <a:cs typeface="Aptos"/>
              </a:rPr>
              <a:t>network</a:t>
            </a:r>
            <a:r>
              <a:rPr sz="2800" spc="635" dirty="0">
                <a:latin typeface="Times New Roman"/>
                <a:cs typeface="Times New Roman"/>
              </a:rPr>
              <a:t> </a:t>
            </a:r>
            <a:r>
              <a:rPr sz="2800" dirty="0">
                <a:latin typeface="Aptos"/>
                <a:cs typeface="Aptos"/>
              </a:rPr>
              <a:t>into</a:t>
            </a:r>
            <a:r>
              <a:rPr sz="2800" spc="640" dirty="0">
                <a:latin typeface="Times New Roman"/>
                <a:cs typeface="Times New Roman"/>
              </a:rPr>
              <a:t> </a:t>
            </a:r>
            <a:r>
              <a:rPr sz="2800" spc="-10" dirty="0">
                <a:latin typeface="Aptos"/>
                <a:cs typeface="Aptos"/>
              </a:rPr>
              <a:t>receiving</a:t>
            </a:r>
            <a:r>
              <a:rPr sz="2800" spc="-10" dirty="0">
                <a:latin typeface="Times New Roman"/>
                <a:cs typeface="Times New Roman"/>
              </a:rPr>
              <a:t> </a:t>
            </a:r>
            <a:r>
              <a:rPr sz="2800" dirty="0">
                <a:latin typeface="Aptos"/>
                <a:cs typeface="Aptos"/>
              </a:rPr>
              <a:t>network.</a:t>
            </a:r>
            <a:r>
              <a:rPr sz="2800" spc="180" dirty="0">
                <a:latin typeface="Times New Roman"/>
                <a:cs typeface="Times New Roman"/>
              </a:rPr>
              <a:t>  </a:t>
            </a:r>
            <a:r>
              <a:rPr sz="2800" dirty="0">
                <a:latin typeface="Aptos"/>
                <a:cs typeface="Aptos"/>
              </a:rPr>
              <a:t>-</a:t>
            </a:r>
            <a:r>
              <a:rPr sz="2800" spc="185" dirty="0">
                <a:latin typeface="Times New Roman"/>
                <a:cs typeface="Times New Roman"/>
              </a:rPr>
              <a:t>  </a:t>
            </a:r>
            <a:r>
              <a:rPr sz="2800" dirty="0">
                <a:latin typeface="Aptos"/>
                <a:cs typeface="Aptos"/>
              </a:rPr>
              <a:t>Gateways</a:t>
            </a:r>
            <a:r>
              <a:rPr sz="2800" spc="180" dirty="0">
                <a:latin typeface="Times New Roman"/>
                <a:cs typeface="Times New Roman"/>
              </a:rPr>
              <a:t>  </a:t>
            </a:r>
            <a:r>
              <a:rPr sz="2800" dirty="0">
                <a:latin typeface="Aptos"/>
                <a:cs typeface="Aptos"/>
              </a:rPr>
              <a:t>make</a:t>
            </a:r>
            <a:r>
              <a:rPr sz="2800" spc="195" dirty="0">
                <a:latin typeface="Times New Roman"/>
                <a:cs typeface="Times New Roman"/>
              </a:rPr>
              <a:t>  </a:t>
            </a:r>
            <a:r>
              <a:rPr sz="2800" dirty="0">
                <a:latin typeface="Aptos"/>
                <a:cs typeface="Aptos"/>
              </a:rPr>
              <a:t>communication</a:t>
            </a:r>
            <a:r>
              <a:rPr sz="2800" spc="175" dirty="0">
                <a:latin typeface="Times New Roman"/>
                <a:cs typeface="Times New Roman"/>
              </a:rPr>
              <a:t>  </a:t>
            </a:r>
            <a:r>
              <a:rPr sz="2800" dirty="0">
                <a:latin typeface="Aptos"/>
                <a:cs typeface="Aptos"/>
              </a:rPr>
              <a:t>possible</a:t>
            </a:r>
            <a:r>
              <a:rPr sz="2800" spc="180" dirty="0">
                <a:latin typeface="Times New Roman"/>
                <a:cs typeface="Times New Roman"/>
              </a:rPr>
              <a:t>  </a:t>
            </a:r>
            <a:r>
              <a:rPr sz="2800" spc="-10" dirty="0">
                <a:latin typeface="Aptos"/>
                <a:cs typeface="Aptos"/>
              </a:rPr>
              <a:t>between</a:t>
            </a:r>
            <a:r>
              <a:rPr sz="2800" spc="-10" dirty="0">
                <a:latin typeface="Times New Roman"/>
                <a:cs typeface="Times New Roman"/>
              </a:rPr>
              <a:t> </a:t>
            </a:r>
            <a:r>
              <a:rPr sz="2800" dirty="0">
                <a:latin typeface="Aptos"/>
                <a:cs typeface="Aptos"/>
              </a:rPr>
              <a:t>different</a:t>
            </a:r>
            <a:r>
              <a:rPr sz="2800" spc="30" dirty="0">
                <a:latin typeface="Times New Roman"/>
                <a:cs typeface="Times New Roman"/>
              </a:rPr>
              <a:t> </a:t>
            </a:r>
            <a:r>
              <a:rPr sz="2800" dirty="0">
                <a:latin typeface="Aptos"/>
                <a:cs typeface="Aptos"/>
              </a:rPr>
              <a:t>architecture</a:t>
            </a:r>
            <a:r>
              <a:rPr sz="2800" spc="35" dirty="0">
                <a:latin typeface="Times New Roman"/>
                <a:cs typeface="Times New Roman"/>
              </a:rPr>
              <a:t> </a:t>
            </a:r>
            <a:r>
              <a:rPr sz="2800" dirty="0">
                <a:latin typeface="Aptos"/>
                <a:cs typeface="Aptos"/>
              </a:rPr>
              <a:t>and</a:t>
            </a:r>
            <a:r>
              <a:rPr sz="2800" spc="60" dirty="0">
                <a:latin typeface="Times New Roman"/>
                <a:cs typeface="Times New Roman"/>
              </a:rPr>
              <a:t> </a:t>
            </a:r>
            <a:r>
              <a:rPr sz="2800" dirty="0">
                <a:latin typeface="Aptos"/>
                <a:cs typeface="Aptos"/>
              </a:rPr>
              <a:t>environments.</a:t>
            </a:r>
            <a:r>
              <a:rPr sz="2800" spc="50" dirty="0">
                <a:latin typeface="Times New Roman"/>
                <a:cs typeface="Times New Roman"/>
              </a:rPr>
              <a:t> </a:t>
            </a:r>
            <a:r>
              <a:rPr sz="2800" dirty="0">
                <a:latin typeface="Aptos"/>
                <a:cs typeface="Aptos"/>
              </a:rPr>
              <a:t>-</a:t>
            </a:r>
            <a:r>
              <a:rPr sz="2800" spc="45" dirty="0">
                <a:latin typeface="Times New Roman"/>
                <a:cs typeface="Times New Roman"/>
              </a:rPr>
              <a:t> </a:t>
            </a:r>
            <a:r>
              <a:rPr sz="2800" dirty="0">
                <a:latin typeface="Aptos"/>
                <a:cs typeface="Aptos"/>
              </a:rPr>
              <a:t>Gateways</a:t>
            </a:r>
            <a:r>
              <a:rPr sz="2800" spc="35" dirty="0">
                <a:latin typeface="Times New Roman"/>
                <a:cs typeface="Times New Roman"/>
              </a:rPr>
              <a:t> </a:t>
            </a:r>
            <a:r>
              <a:rPr sz="2800" dirty="0">
                <a:latin typeface="Aptos"/>
                <a:cs typeface="Aptos"/>
              </a:rPr>
              <a:t>having</a:t>
            </a:r>
            <a:r>
              <a:rPr sz="2800" spc="35" dirty="0">
                <a:latin typeface="Times New Roman"/>
                <a:cs typeface="Times New Roman"/>
              </a:rPr>
              <a:t> </a:t>
            </a:r>
            <a:r>
              <a:rPr sz="2800" spc="-10" dirty="0">
                <a:latin typeface="Aptos"/>
                <a:cs typeface="Aptos"/>
              </a:rPr>
              <a:t>higher</a:t>
            </a:r>
            <a:r>
              <a:rPr sz="2800" spc="-10" dirty="0">
                <a:latin typeface="Times New Roman"/>
                <a:cs typeface="Times New Roman"/>
              </a:rPr>
              <a:t> </a:t>
            </a:r>
            <a:r>
              <a:rPr sz="2800" spc="-20" dirty="0">
                <a:latin typeface="Aptos"/>
                <a:cs typeface="Aptos"/>
              </a:rPr>
              <a:t>layer</a:t>
            </a:r>
            <a:r>
              <a:rPr sz="2800" spc="-130" dirty="0">
                <a:latin typeface="Times New Roman"/>
                <a:cs typeface="Times New Roman"/>
              </a:rPr>
              <a:t> </a:t>
            </a:r>
            <a:r>
              <a:rPr sz="2800" spc="-20" dirty="0">
                <a:latin typeface="Aptos"/>
                <a:cs typeface="Aptos"/>
              </a:rPr>
              <a:t>functionalities</a:t>
            </a:r>
            <a:r>
              <a:rPr sz="2800" spc="-130" dirty="0">
                <a:latin typeface="Times New Roman"/>
                <a:cs typeface="Times New Roman"/>
              </a:rPr>
              <a:t> </a:t>
            </a:r>
            <a:r>
              <a:rPr sz="2800" spc="-10" dirty="0">
                <a:latin typeface="Aptos"/>
                <a:cs typeface="Aptos"/>
              </a:rPr>
              <a:t>and</a:t>
            </a:r>
            <a:r>
              <a:rPr sz="2800" spc="-120" dirty="0">
                <a:latin typeface="Times New Roman"/>
                <a:cs typeface="Times New Roman"/>
              </a:rPr>
              <a:t> </a:t>
            </a:r>
            <a:r>
              <a:rPr sz="2800" spc="-25" dirty="0">
                <a:latin typeface="Aptos"/>
                <a:cs typeface="Aptos"/>
              </a:rPr>
              <a:t>works</a:t>
            </a:r>
            <a:r>
              <a:rPr sz="2800" spc="-110" dirty="0">
                <a:latin typeface="Times New Roman"/>
                <a:cs typeface="Times New Roman"/>
              </a:rPr>
              <a:t> </a:t>
            </a:r>
            <a:r>
              <a:rPr sz="2800" dirty="0">
                <a:latin typeface="Aptos"/>
                <a:cs typeface="Aptos"/>
              </a:rPr>
              <a:t>on</a:t>
            </a:r>
            <a:r>
              <a:rPr sz="2800" spc="-125" dirty="0">
                <a:latin typeface="Times New Roman"/>
                <a:cs typeface="Times New Roman"/>
              </a:rPr>
              <a:t> </a:t>
            </a:r>
            <a:r>
              <a:rPr sz="2800" spc="-20" dirty="0">
                <a:latin typeface="Aptos"/>
                <a:cs typeface="Aptos"/>
              </a:rPr>
              <a:t>multiple</a:t>
            </a:r>
            <a:r>
              <a:rPr sz="2800" spc="-145" dirty="0">
                <a:latin typeface="Times New Roman"/>
                <a:cs typeface="Times New Roman"/>
              </a:rPr>
              <a:t> </a:t>
            </a:r>
            <a:r>
              <a:rPr sz="2800" spc="-20" dirty="0">
                <a:latin typeface="Aptos"/>
                <a:cs typeface="Aptos"/>
              </a:rPr>
              <a:t>layer</a:t>
            </a:r>
            <a:r>
              <a:rPr sz="2800" spc="-125" dirty="0">
                <a:latin typeface="Times New Roman"/>
                <a:cs typeface="Times New Roman"/>
              </a:rPr>
              <a:t> </a:t>
            </a:r>
            <a:r>
              <a:rPr sz="2800" spc="-10" dirty="0">
                <a:latin typeface="Aptos"/>
                <a:cs typeface="Aptos"/>
              </a:rPr>
              <a:t>protocols.</a:t>
            </a:r>
            <a:endParaRPr sz="2800">
              <a:latin typeface="Aptos"/>
              <a:cs typeface="Apto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439156" y="1532635"/>
            <a:ext cx="3195955" cy="434340"/>
          </a:xfrm>
          <a:custGeom>
            <a:avLst/>
            <a:gdLst/>
            <a:ahLst/>
            <a:cxnLst/>
            <a:rect l="l" t="t" r="r" b="b"/>
            <a:pathLst>
              <a:path w="3195954" h="434339">
                <a:moveTo>
                  <a:pt x="3195828" y="0"/>
                </a:moveTo>
                <a:lnTo>
                  <a:pt x="3195828" y="0"/>
                </a:lnTo>
                <a:lnTo>
                  <a:pt x="0" y="0"/>
                </a:lnTo>
                <a:lnTo>
                  <a:pt x="0" y="434340"/>
                </a:lnTo>
                <a:lnTo>
                  <a:pt x="3195828" y="434340"/>
                </a:lnTo>
                <a:lnTo>
                  <a:pt x="3195828" y="0"/>
                </a:lnTo>
                <a:close/>
              </a:path>
            </a:pathLst>
          </a:custGeom>
          <a:solidFill>
            <a:srgbClr val="FFFF00"/>
          </a:solidFill>
        </p:spPr>
        <p:txBody>
          <a:bodyPr wrap="square" lIns="0" tIns="0" rIns="0" bIns="0" rtlCol="0"/>
          <a:lstStyle/>
          <a:p>
            <a:endParaRPr/>
          </a:p>
        </p:txBody>
      </p:sp>
      <p:sp>
        <p:nvSpPr>
          <p:cNvPr id="3" name="object 3"/>
          <p:cNvSpPr txBox="1"/>
          <p:nvPr/>
        </p:nvSpPr>
        <p:spPr>
          <a:xfrm>
            <a:off x="916941" y="348220"/>
            <a:ext cx="10358755" cy="3140710"/>
          </a:xfrm>
          <a:prstGeom prst="rect">
            <a:avLst/>
          </a:prstGeom>
        </p:spPr>
        <p:txBody>
          <a:bodyPr vert="horz" wrap="square" lIns="0" tIns="54610" rIns="0" bIns="0" rtlCol="0">
            <a:spAutoFit/>
          </a:bodyPr>
          <a:lstStyle/>
          <a:p>
            <a:pPr marL="12700" marR="5080" algn="just">
              <a:lnSpc>
                <a:spcPct val="90000"/>
              </a:lnSpc>
              <a:spcBef>
                <a:spcPts val="430"/>
              </a:spcBef>
            </a:pPr>
            <a:r>
              <a:rPr sz="2800" dirty="0">
                <a:latin typeface="Aptos"/>
                <a:cs typeface="Aptos"/>
              </a:rPr>
              <a:t>7.</a:t>
            </a:r>
            <a:r>
              <a:rPr sz="2800" spc="95" dirty="0">
                <a:latin typeface="Times New Roman"/>
                <a:cs typeface="Times New Roman"/>
              </a:rPr>
              <a:t>  </a:t>
            </a:r>
            <a:r>
              <a:rPr sz="2800" spc="-25" dirty="0">
                <a:latin typeface="Aptos"/>
                <a:cs typeface="Aptos"/>
              </a:rPr>
              <a:t>Wi-</a:t>
            </a:r>
            <a:r>
              <a:rPr sz="2800" dirty="0">
                <a:latin typeface="Aptos"/>
                <a:cs typeface="Aptos"/>
              </a:rPr>
              <a:t>Fi</a:t>
            </a:r>
            <a:r>
              <a:rPr sz="2800" spc="90" dirty="0">
                <a:latin typeface="Times New Roman"/>
                <a:cs typeface="Times New Roman"/>
              </a:rPr>
              <a:t>  </a:t>
            </a:r>
            <a:r>
              <a:rPr sz="2800" b="1" dirty="0">
                <a:latin typeface="Aptos"/>
                <a:cs typeface="Aptos"/>
              </a:rPr>
              <a:t>(Wireless</a:t>
            </a:r>
            <a:r>
              <a:rPr sz="2800" spc="95" dirty="0">
                <a:latin typeface="Times New Roman"/>
                <a:cs typeface="Times New Roman"/>
              </a:rPr>
              <a:t>  </a:t>
            </a:r>
            <a:r>
              <a:rPr sz="2800" b="1" dirty="0">
                <a:latin typeface="Aptos"/>
                <a:cs typeface="Aptos"/>
              </a:rPr>
              <a:t>Fidelity):-</a:t>
            </a:r>
            <a:r>
              <a:rPr sz="2800" spc="90" dirty="0">
                <a:latin typeface="Times New Roman"/>
                <a:cs typeface="Times New Roman"/>
              </a:rPr>
              <a:t>  </a:t>
            </a:r>
            <a:r>
              <a:rPr sz="2800" dirty="0">
                <a:latin typeface="Aptos"/>
                <a:cs typeface="Aptos"/>
              </a:rPr>
              <a:t>The</a:t>
            </a:r>
            <a:r>
              <a:rPr sz="2800" spc="90" dirty="0">
                <a:latin typeface="Times New Roman"/>
                <a:cs typeface="Times New Roman"/>
              </a:rPr>
              <a:t>  </a:t>
            </a:r>
            <a:r>
              <a:rPr sz="2800" dirty="0">
                <a:latin typeface="Aptos"/>
                <a:cs typeface="Aptos"/>
              </a:rPr>
              <a:t>term</a:t>
            </a:r>
            <a:r>
              <a:rPr sz="2800" spc="90" dirty="0">
                <a:latin typeface="Times New Roman"/>
                <a:cs typeface="Times New Roman"/>
              </a:rPr>
              <a:t>  </a:t>
            </a:r>
            <a:r>
              <a:rPr sz="2800" spc="-25" dirty="0">
                <a:latin typeface="Aptos"/>
                <a:cs typeface="Aptos"/>
              </a:rPr>
              <a:t>Wi-</a:t>
            </a:r>
            <a:r>
              <a:rPr sz="2800" dirty="0">
                <a:latin typeface="Aptos"/>
                <a:cs typeface="Aptos"/>
              </a:rPr>
              <a:t>Fi</a:t>
            </a:r>
            <a:r>
              <a:rPr sz="2800" spc="90" dirty="0">
                <a:latin typeface="Times New Roman"/>
                <a:cs typeface="Times New Roman"/>
              </a:rPr>
              <a:t>  </a:t>
            </a:r>
            <a:r>
              <a:rPr sz="2800" dirty="0">
                <a:latin typeface="Aptos"/>
                <a:cs typeface="Aptos"/>
              </a:rPr>
              <a:t>suggests</a:t>
            </a:r>
            <a:r>
              <a:rPr sz="2800" spc="90" dirty="0">
                <a:latin typeface="Times New Roman"/>
                <a:cs typeface="Times New Roman"/>
              </a:rPr>
              <a:t>  </a:t>
            </a:r>
            <a:r>
              <a:rPr sz="2800" spc="-10" dirty="0">
                <a:latin typeface="Aptos"/>
                <a:cs typeface="Aptos"/>
              </a:rPr>
              <a:t>wireless</a:t>
            </a:r>
            <a:r>
              <a:rPr sz="2800" spc="-10" dirty="0">
                <a:latin typeface="Times New Roman"/>
                <a:cs typeface="Times New Roman"/>
              </a:rPr>
              <a:t> </a:t>
            </a:r>
            <a:r>
              <a:rPr sz="2800" dirty="0">
                <a:latin typeface="Aptos"/>
                <a:cs typeface="Aptos"/>
              </a:rPr>
              <a:t>Fidelity.</a:t>
            </a:r>
            <a:r>
              <a:rPr sz="2800" spc="254" dirty="0">
                <a:latin typeface="Times New Roman"/>
                <a:cs typeface="Times New Roman"/>
              </a:rPr>
              <a:t>  </a:t>
            </a:r>
            <a:r>
              <a:rPr sz="2800" dirty="0">
                <a:latin typeface="Aptos"/>
                <a:cs typeface="Aptos"/>
              </a:rPr>
              <a:t>It</a:t>
            </a:r>
            <a:r>
              <a:rPr sz="2800" spc="250" dirty="0">
                <a:latin typeface="Times New Roman"/>
                <a:cs typeface="Times New Roman"/>
              </a:rPr>
              <a:t>  </a:t>
            </a:r>
            <a:r>
              <a:rPr sz="2800" dirty="0">
                <a:latin typeface="Aptos"/>
                <a:cs typeface="Aptos"/>
              </a:rPr>
              <a:t>is</a:t>
            </a:r>
            <a:r>
              <a:rPr sz="2800" spc="260" dirty="0">
                <a:latin typeface="Times New Roman"/>
                <a:cs typeface="Times New Roman"/>
              </a:rPr>
              <a:t>  </a:t>
            </a:r>
            <a:r>
              <a:rPr sz="2800" dirty="0">
                <a:latin typeface="Aptos"/>
                <a:cs typeface="Aptos"/>
              </a:rPr>
              <a:t>hardware</a:t>
            </a:r>
            <a:r>
              <a:rPr sz="2800" spc="260" dirty="0">
                <a:latin typeface="Times New Roman"/>
                <a:cs typeface="Times New Roman"/>
              </a:rPr>
              <a:t>  </a:t>
            </a:r>
            <a:r>
              <a:rPr sz="2800" dirty="0">
                <a:latin typeface="Aptos"/>
                <a:cs typeface="Aptos"/>
              </a:rPr>
              <a:t>and</a:t>
            </a:r>
            <a:r>
              <a:rPr sz="2800" spc="260" dirty="0">
                <a:latin typeface="Times New Roman"/>
                <a:cs typeface="Times New Roman"/>
              </a:rPr>
              <a:t>  </a:t>
            </a:r>
            <a:r>
              <a:rPr sz="2800" dirty="0">
                <a:latin typeface="Aptos"/>
                <a:cs typeface="Aptos"/>
              </a:rPr>
              <a:t>software</a:t>
            </a:r>
            <a:r>
              <a:rPr sz="2800" spc="254" dirty="0">
                <a:latin typeface="Times New Roman"/>
                <a:cs typeface="Times New Roman"/>
              </a:rPr>
              <a:t>  </a:t>
            </a:r>
            <a:r>
              <a:rPr sz="2800" dirty="0">
                <a:latin typeface="Aptos"/>
                <a:cs typeface="Aptos"/>
              </a:rPr>
              <a:t>devices.</a:t>
            </a:r>
            <a:r>
              <a:rPr sz="2800" spc="260" dirty="0">
                <a:latin typeface="Times New Roman"/>
                <a:cs typeface="Times New Roman"/>
              </a:rPr>
              <a:t>  </a:t>
            </a:r>
            <a:r>
              <a:rPr sz="2800" dirty="0">
                <a:latin typeface="Aptos"/>
                <a:cs typeface="Aptos"/>
              </a:rPr>
              <a:t>It</a:t>
            </a:r>
            <a:r>
              <a:rPr sz="2800" spc="254" dirty="0">
                <a:latin typeface="Times New Roman"/>
                <a:cs typeface="Times New Roman"/>
              </a:rPr>
              <a:t>  </a:t>
            </a:r>
            <a:r>
              <a:rPr sz="2800" dirty="0">
                <a:latin typeface="Aptos"/>
                <a:cs typeface="Aptos"/>
              </a:rPr>
              <a:t>is</a:t>
            </a:r>
            <a:r>
              <a:rPr sz="2800" spc="254" dirty="0">
                <a:latin typeface="Times New Roman"/>
                <a:cs typeface="Times New Roman"/>
              </a:rPr>
              <a:t>  </a:t>
            </a:r>
            <a:r>
              <a:rPr sz="2800" spc="-10" dirty="0">
                <a:latin typeface="Aptos"/>
                <a:cs typeface="Aptos"/>
              </a:rPr>
              <a:t>wireless</a:t>
            </a:r>
            <a:r>
              <a:rPr sz="2800" spc="-10" dirty="0">
                <a:latin typeface="Times New Roman"/>
                <a:cs typeface="Times New Roman"/>
              </a:rPr>
              <a:t> </a:t>
            </a:r>
            <a:r>
              <a:rPr sz="2800" dirty="0">
                <a:latin typeface="Aptos"/>
                <a:cs typeface="Aptos"/>
              </a:rPr>
              <a:t>technology</a:t>
            </a:r>
            <a:r>
              <a:rPr sz="2800" spc="-65" dirty="0">
                <a:latin typeface="Times New Roman"/>
                <a:cs typeface="Times New Roman"/>
              </a:rPr>
              <a:t> </a:t>
            </a:r>
            <a:r>
              <a:rPr sz="2800" dirty="0">
                <a:latin typeface="Aptos"/>
                <a:cs typeface="Aptos"/>
              </a:rPr>
              <a:t>and</a:t>
            </a:r>
            <a:r>
              <a:rPr sz="2800" spc="-75" dirty="0">
                <a:latin typeface="Times New Roman"/>
                <a:cs typeface="Times New Roman"/>
              </a:rPr>
              <a:t> </a:t>
            </a:r>
            <a:r>
              <a:rPr sz="2800" dirty="0">
                <a:latin typeface="Aptos"/>
                <a:cs typeface="Aptos"/>
              </a:rPr>
              <a:t>network</a:t>
            </a:r>
            <a:r>
              <a:rPr sz="2800" spc="-55" dirty="0">
                <a:latin typeface="Times New Roman"/>
                <a:cs typeface="Times New Roman"/>
              </a:rPr>
              <a:t> </a:t>
            </a:r>
            <a:r>
              <a:rPr sz="2800" dirty="0">
                <a:latin typeface="Aptos"/>
                <a:cs typeface="Aptos"/>
              </a:rPr>
              <a:t>connecting</a:t>
            </a:r>
            <a:r>
              <a:rPr sz="2800" spc="-70" dirty="0">
                <a:latin typeface="Times New Roman"/>
                <a:cs typeface="Times New Roman"/>
              </a:rPr>
              <a:t> </a:t>
            </a:r>
            <a:r>
              <a:rPr sz="2800" dirty="0">
                <a:latin typeface="Aptos"/>
                <a:cs typeface="Aptos"/>
              </a:rPr>
              <a:t>device.</a:t>
            </a:r>
            <a:r>
              <a:rPr sz="2800" spc="-75" dirty="0">
                <a:latin typeface="Times New Roman"/>
                <a:cs typeface="Times New Roman"/>
              </a:rPr>
              <a:t> </a:t>
            </a:r>
            <a:r>
              <a:rPr sz="2800" spc="-20" dirty="0">
                <a:latin typeface="Aptos"/>
                <a:cs typeface="Aptos"/>
              </a:rPr>
              <a:t>Wi-</a:t>
            </a:r>
            <a:r>
              <a:rPr sz="2800" dirty="0">
                <a:latin typeface="Aptos"/>
                <a:cs typeface="Aptos"/>
              </a:rPr>
              <a:t>Fi</a:t>
            </a:r>
            <a:r>
              <a:rPr sz="2800" spc="-80" dirty="0">
                <a:latin typeface="Times New Roman"/>
                <a:cs typeface="Times New Roman"/>
              </a:rPr>
              <a:t> </a:t>
            </a:r>
            <a:r>
              <a:rPr sz="2800" dirty="0">
                <a:latin typeface="Aptos"/>
                <a:cs typeface="Aptos"/>
              </a:rPr>
              <a:t>is</a:t>
            </a:r>
            <a:r>
              <a:rPr sz="2800" spc="-70" dirty="0">
                <a:latin typeface="Times New Roman"/>
                <a:cs typeface="Times New Roman"/>
              </a:rPr>
              <a:t> </a:t>
            </a:r>
            <a:r>
              <a:rPr sz="2800" dirty="0">
                <a:latin typeface="Aptos"/>
                <a:cs typeface="Aptos"/>
              </a:rPr>
              <a:t>not</a:t>
            </a:r>
            <a:r>
              <a:rPr sz="2800" spc="-65" dirty="0">
                <a:latin typeface="Times New Roman"/>
                <a:cs typeface="Times New Roman"/>
              </a:rPr>
              <a:t> </a:t>
            </a:r>
            <a:r>
              <a:rPr sz="2800" dirty="0">
                <a:latin typeface="Aptos"/>
                <a:cs typeface="Aptos"/>
              </a:rPr>
              <a:t>a</a:t>
            </a:r>
            <a:r>
              <a:rPr sz="2800" spc="-70" dirty="0">
                <a:latin typeface="Times New Roman"/>
                <a:cs typeface="Times New Roman"/>
              </a:rPr>
              <a:t> </a:t>
            </a:r>
            <a:r>
              <a:rPr sz="2800" spc="-10" dirty="0">
                <a:latin typeface="Aptos"/>
                <a:cs typeface="Aptos"/>
              </a:rPr>
              <a:t>technical</a:t>
            </a:r>
            <a:r>
              <a:rPr sz="2800" spc="-10" dirty="0">
                <a:latin typeface="Times New Roman"/>
                <a:cs typeface="Times New Roman"/>
              </a:rPr>
              <a:t> </a:t>
            </a:r>
            <a:r>
              <a:rPr sz="2800" dirty="0">
                <a:latin typeface="Aptos"/>
                <a:cs typeface="Aptos"/>
              </a:rPr>
              <a:t>term.</a:t>
            </a:r>
            <a:r>
              <a:rPr sz="2800" spc="300" dirty="0">
                <a:latin typeface="Times New Roman"/>
                <a:cs typeface="Times New Roman"/>
              </a:rPr>
              <a:t> </a:t>
            </a:r>
            <a:r>
              <a:rPr sz="2800" dirty="0">
                <a:latin typeface="Aptos"/>
                <a:cs typeface="Aptos"/>
              </a:rPr>
              <a:t>The</a:t>
            </a:r>
            <a:r>
              <a:rPr sz="2800" spc="310" dirty="0">
                <a:latin typeface="Times New Roman"/>
                <a:cs typeface="Times New Roman"/>
              </a:rPr>
              <a:t> </a:t>
            </a:r>
            <a:r>
              <a:rPr sz="2800" dirty="0">
                <a:latin typeface="Aptos"/>
                <a:cs typeface="Aptos"/>
              </a:rPr>
              <a:t>technical</a:t>
            </a:r>
            <a:r>
              <a:rPr sz="2800" spc="310" dirty="0">
                <a:latin typeface="Times New Roman"/>
                <a:cs typeface="Times New Roman"/>
              </a:rPr>
              <a:t> </a:t>
            </a:r>
            <a:r>
              <a:rPr sz="2800" dirty="0">
                <a:latin typeface="Aptos"/>
                <a:cs typeface="Aptos"/>
              </a:rPr>
              <a:t>term</a:t>
            </a:r>
            <a:r>
              <a:rPr sz="2800" spc="305" dirty="0">
                <a:latin typeface="Times New Roman"/>
                <a:cs typeface="Times New Roman"/>
              </a:rPr>
              <a:t> </a:t>
            </a:r>
            <a:r>
              <a:rPr sz="2800" dirty="0">
                <a:latin typeface="Aptos"/>
                <a:cs typeface="Aptos"/>
              </a:rPr>
              <a:t>of</a:t>
            </a:r>
            <a:r>
              <a:rPr sz="2800" spc="320" dirty="0">
                <a:latin typeface="Times New Roman"/>
                <a:cs typeface="Times New Roman"/>
              </a:rPr>
              <a:t> </a:t>
            </a:r>
            <a:r>
              <a:rPr sz="2800" b="1" spc="-10" dirty="0">
                <a:latin typeface="Aptos"/>
                <a:cs typeface="Aptos"/>
              </a:rPr>
              <a:t>Wi-</a:t>
            </a:r>
            <a:r>
              <a:rPr sz="2800" b="1" dirty="0">
                <a:latin typeface="Aptos"/>
                <a:cs typeface="Aptos"/>
              </a:rPr>
              <a:t>Fi</a:t>
            </a:r>
            <a:r>
              <a:rPr sz="2800" spc="325" dirty="0">
                <a:latin typeface="Times New Roman"/>
                <a:cs typeface="Times New Roman"/>
              </a:rPr>
              <a:t> </a:t>
            </a:r>
            <a:r>
              <a:rPr sz="2800" b="1" dirty="0">
                <a:latin typeface="Aptos"/>
                <a:cs typeface="Aptos"/>
              </a:rPr>
              <a:t>is</a:t>
            </a:r>
            <a:r>
              <a:rPr sz="2800" spc="305" dirty="0">
                <a:latin typeface="Times New Roman"/>
                <a:cs typeface="Times New Roman"/>
              </a:rPr>
              <a:t> </a:t>
            </a:r>
            <a:r>
              <a:rPr sz="2800" b="1" dirty="0">
                <a:latin typeface="Aptos"/>
                <a:cs typeface="Aptos"/>
              </a:rPr>
              <a:t>"IEEE802.11</a:t>
            </a:r>
            <a:r>
              <a:rPr sz="2800" dirty="0">
                <a:latin typeface="Aptos"/>
                <a:cs typeface="Aptos"/>
              </a:rPr>
              <a:t>"</a:t>
            </a:r>
            <a:r>
              <a:rPr sz="2800" spc="310" dirty="0">
                <a:latin typeface="Times New Roman"/>
                <a:cs typeface="Times New Roman"/>
              </a:rPr>
              <a:t> </a:t>
            </a:r>
            <a:r>
              <a:rPr sz="2800" dirty="0">
                <a:latin typeface="Aptos"/>
                <a:cs typeface="Aptos"/>
              </a:rPr>
              <a:t>-</a:t>
            </a:r>
            <a:r>
              <a:rPr sz="2800" spc="300" dirty="0">
                <a:latin typeface="Times New Roman"/>
                <a:cs typeface="Times New Roman"/>
              </a:rPr>
              <a:t> </a:t>
            </a:r>
            <a:r>
              <a:rPr sz="2800" dirty="0">
                <a:latin typeface="Aptos"/>
                <a:cs typeface="Aptos"/>
              </a:rPr>
              <a:t>It</a:t>
            </a:r>
            <a:r>
              <a:rPr sz="2800" spc="305" dirty="0">
                <a:latin typeface="Times New Roman"/>
                <a:cs typeface="Times New Roman"/>
              </a:rPr>
              <a:t> </a:t>
            </a:r>
            <a:r>
              <a:rPr sz="2800" dirty="0">
                <a:latin typeface="Aptos"/>
                <a:cs typeface="Aptos"/>
              </a:rPr>
              <a:t>has</a:t>
            </a:r>
            <a:r>
              <a:rPr sz="2800" spc="305" dirty="0">
                <a:latin typeface="Times New Roman"/>
                <a:cs typeface="Times New Roman"/>
              </a:rPr>
              <a:t> </a:t>
            </a:r>
            <a:r>
              <a:rPr sz="2800" spc="-10" dirty="0">
                <a:latin typeface="Aptos"/>
                <a:cs typeface="Aptos"/>
              </a:rPr>
              <a:t>limited</a:t>
            </a:r>
            <a:r>
              <a:rPr sz="2800" spc="-10" dirty="0">
                <a:latin typeface="Times New Roman"/>
                <a:cs typeface="Times New Roman"/>
              </a:rPr>
              <a:t> </a:t>
            </a:r>
            <a:r>
              <a:rPr sz="2800" dirty="0">
                <a:latin typeface="Aptos"/>
                <a:cs typeface="Aptos"/>
              </a:rPr>
              <a:t>range.</a:t>
            </a:r>
            <a:r>
              <a:rPr sz="2800" spc="420" dirty="0">
                <a:latin typeface="Times New Roman"/>
                <a:cs typeface="Times New Roman"/>
              </a:rPr>
              <a:t> </a:t>
            </a:r>
            <a:r>
              <a:rPr sz="2800" dirty="0">
                <a:latin typeface="Aptos"/>
                <a:cs typeface="Aptos"/>
              </a:rPr>
              <a:t>-</a:t>
            </a:r>
            <a:r>
              <a:rPr sz="2800" spc="425" dirty="0">
                <a:latin typeface="Times New Roman"/>
                <a:cs typeface="Times New Roman"/>
              </a:rPr>
              <a:t> </a:t>
            </a:r>
            <a:r>
              <a:rPr sz="2800" spc="-25" dirty="0">
                <a:latin typeface="Aptos"/>
                <a:cs typeface="Aptos"/>
              </a:rPr>
              <a:t>Wi-</a:t>
            </a:r>
            <a:r>
              <a:rPr sz="2800" dirty="0">
                <a:latin typeface="Aptos"/>
                <a:cs typeface="Aptos"/>
              </a:rPr>
              <a:t>Fi</a:t>
            </a:r>
            <a:r>
              <a:rPr sz="2800" spc="405" dirty="0">
                <a:latin typeface="Times New Roman"/>
                <a:cs typeface="Times New Roman"/>
              </a:rPr>
              <a:t> </a:t>
            </a:r>
            <a:r>
              <a:rPr sz="2800" dirty="0">
                <a:latin typeface="Aptos"/>
                <a:cs typeface="Aptos"/>
              </a:rPr>
              <a:t>is</a:t>
            </a:r>
            <a:r>
              <a:rPr sz="2800" spc="415" dirty="0">
                <a:latin typeface="Times New Roman"/>
                <a:cs typeface="Times New Roman"/>
              </a:rPr>
              <a:t> </a:t>
            </a:r>
            <a:r>
              <a:rPr sz="2800" dirty="0">
                <a:latin typeface="Aptos"/>
                <a:cs typeface="Aptos"/>
              </a:rPr>
              <a:t>used</a:t>
            </a:r>
            <a:r>
              <a:rPr sz="2800" spc="425" dirty="0">
                <a:latin typeface="Times New Roman"/>
                <a:cs typeface="Times New Roman"/>
              </a:rPr>
              <a:t> </a:t>
            </a:r>
            <a:r>
              <a:rPr sz="2800" dirty="0">
                <a:latin typeface="Aptos"/>
                <a:cs typeface="Aptos"/>
              </a:rPr>
              <a:t>in</a:t>
            </a:r>
            <a:r>
              <a:rPr sz="2800" spc="395" dirty="0">
                <a:latin typeface="Times New Roman"/>
                <a:cs typeface="Times New Roman"/>
              </a:rPr>
              <a:t> </a:t>
            </a:r>
            <a:r>
              <a:rPr sz="2800" dirty="0">
                <a:latin typeface="Aptos"/>
                <a:cs typeface="Aptos"/>
              </a:rPr>
              <a:t>many</a:t>
            </a:r>
            <a:r>
              <a:rPr sz="2800" spc="415" dirty="0">
                <a:latin typeface="Times New Roman"/>
                <a:cs typeface="Times New Roman"/>
              </a:rPr>
              <a:t> </a:t>
            </a:r>
            <a:r>
              <a:rPr sz="2800" dirty="0">
                <a:latin typeface="Aptos"/>
                <a:cs typeface="Aptos"/>
              </a:rPr>
              <a:t>personal</a:t>
            </a:r>
            <a:r>
              <a:rPr sz="2800" spc="434" dirty="0">
                <a:latin typeface="Times New Roman"/>
                <a:cs typeface="Times New Roman"/>
              </a:rPr>
              <a:t> </a:t>
            </a:r>
            <a:r>
              <a:rPr sz="2800" dirty="0">
                <a:latin typeface="Aptos"/>
                <a:cs typeface="Aptos"/>
              </a:rPr>
              <a:t>computers,</a:t>
            </a:r>
            <a:r>
              <a:rPr sz="2800" spc="425" dirty="0">
                <a:latin typeface="Times New Roman"/>
                <a:cs typeface="Times New Roman"/>
              </a:rPr>
              <a:t> </a:t>
            </a:r>
            <a:r>
              <a:rPr sz="2800" dirty="0">
                <a:latin typeface="Aptos"/>
                <a:cs typeface="Aptos"/>
              </a:rPr>
              <a:t>video</a:t>
            </a:r>
            <a:r>
              <a:rPr sz="2800" spc="425" dirty="0">
                <a:latin typeface="Times New Roman"/>
                <a:cs typeface="Times New Roman"/>
              </a:rPr>
              <a:t> </a:t>
            </a:r>
            <a:r>
              <a:rPr sz="2800" spc="-20" dirty="0">
                <a:latin typeface="Aptos"/>
                <a:cs typeface="Aptos"/>
              </a:rPr>
              <a:t>game</a:t>
            </a:r>
            <a:r>
              <a:rPr sz="2800" spc="-20" dirty="0">
                <a:latin typeface="Times New Roman"/>
                <a:cs typeface="Times New Roman"/>
              </a:rPr>
              <a:t> </a:t>
            </a:r>
            <a:r>
              <a:rPr sz="2800" dirty="0">
                <a:latin typeface="Aptos"/>
                <a:cs typeface="Aptos"/>
              </a:rPr>
              <a:t>consoles,</a:t>
            </a:r>
            <a:r>
              <a:rPr sz="2800" spc="655" dirty="0">
                <a:latin typeface="Times New Roman"/>
                <a:cs typeface="Times New Roman"/>
              </a:rPr>
              <a:t> </a:t>
            </a:r>
            <a:r>
              <a:rPr sz="2800" dirty="0">
                <a:latin typeface="Aptos"/>
                <a:cs typeface="Aptos"/>
              </a:rPr>
              <a:t>MP3</a:t>
            </a:r>
            <a:r>
              <a:rPr sz="2800" spc="655" dirty="0">
                <a:latin typeface="Times New Roman"/>
                <a:cs typeface="Times New Roman"/>
              </a:rPr>
              <a:t> </a:t>
            </a:r>
            <a:r>
              <a:rPr sz="2800" dirty="0">
                <a:latin typeface="Aptos"/>
                <a:cs typeface="Aptos"/>
              </a:rPr>
              <a:t>players,</a:t>
            </a:r>
            <a:r>
              <a:rPr sz="2800" spc="655" dirty="0">
                <a:latin typeface="Times New Roman"/>
                <a:cs typeface="Times New Roman"/>
              </a:rPr>
              <a:t> </a:t>
            </a:r>
            <a:r>
              <a:rPr sz="2800" dirty="0">
                <a:latin typeface="Aptos"/>
                <a:cs typeface="Aptos"/>
              </a:rPr>
              <a:t>smart</a:t>
            </a:r>
            <a:r>
              <a:rPr sz="2800" spc="655" dirty="0">
                <a:latin typeface="Times New Roman"/>
                <a:cs typeface="Times New Roman"/>
              </a:rPr>
              <a:t> </a:t>
            </a:r>
            <a:r>
              <a:rPr sz="2800" dirty="0">
                <a:latin typeface="Aptos"/>
                <a:cs typeface="Aptos"/>
              </a:rPr>
              <a:t>phones,</a:t>
            </a:r>
            <a:r>
              <a:rPr sz="2800" spc="660" dirty="0">
                <a:latin typeface="Times New Roman"/>
                <a:cs typeface="Times New Roman"/>
              </a:rPr>
              <a:t> </a:t>
            </a:r>
            <a:r>
              <a:rPr sz="2800" dirty="0">
                <a:latin typeface="Aptos"/>
                <a:cs typeface="Aptos"/>
              </a:rPr>
              <a:t>printers,</a:t>
            </a:r>
            <a:r>
              <a:rPr sz="2800" spc="655" dirty="0">
                <a:latin typeface="Times New Roman"/>
                <a:cs typeface="Times New Roman"/>
              </a:rPr>
              <a:t> </a:t>
            </a:r>
            <a:r>
              <a:rPr sz="2800" dirty="0">
                <a:latin typeface="Aptos"/>
                <a:cs typeface="Aptos"/>
              </a:rPr>
              <a:t>digital</a:t>
            </a:r>
            <a:r>
              <a:rPr sz="2800" spc="645" dirty="0">
                <a:latin typeface="Times New Roman"/>
                <a:cs typeface="Times New Roman"/>
              </a:rPr>
              <a:t> </a:t>
            </a:r>
            <a:r>
              <a:rPr sz="2800" spc="-10" dirty="0">
                <a:latin typeface="Aptos"/>
                <a:cs typeface="Aptos"/>
              </a:rPr>
              <a:t>camera,</a:t>
            </a:r>
            <a:r>
              <a:rPr sz="2800" spc="-10" dirty="0">
                <a:latin typeface="Times New Roman"/>
                <a:cs typeface="Times New Roman"/>
              </a:rPr>
              <a:t> </a:t>
            </a:r>
            <a:r>
              <a:rPr sz="2800" dirty="0">
                <a:latin typeface="Aptos"/>
                <a:cs typeface="Aptos"/>
              </a:rPr>
              <a:t>laptops</a:t>
            </a:r>
            <a:r>
              <a:rPr sz="2800" spc="495" dirty="0">
                <a:latin typeface="Times New Roman"/>
                <a:cs typeface="Times New Roman"/>
              </a:rPr>
              <a:t> </a:t>
            </a:r>
            <a:r>
              <a:rPr sz="2800" dirty="0">
                <a:latin typeface="Aptos"/>
                <a:cs typeface="Aptos"/>
              </a:rPr>
              <a:t>computers</a:t>
            </a:r>
            <a:r>
              <a:rPr sz="2800" spc="500" dirty="0">
                <a:latin typeface="Times New Roman"/>
                <a:cs typeface="Times New Roman"/>
              </a:rPr>
              <a:t> </a:t>
            </a:r>
            <a:r>
              <a:rPr sz="2800" dirty="0">
                <a:latin typeface="Aptos"/>
                <a:cs typeface="Aptos"/>
              </a:rPr>
              <a:t>and</a:t>
            </a:r>
            <a:r>
              <a:rPr sz="2800" spc="490" dirty="0">
                <a:latin typeface="Times New Roman"/>
                <a:cs typeface="Times New Roman"/>
              </a:rPr>
              <a:t> </a:t>
            </a:r>
            <a:r>
              <a:rPr sz="2800" dirty="0">
                <a:latin typeface="Aptos"/>
                <a:cs typeface="Aptos"/>
              </a:rPr>
              <a:t>other</a:t>
            </a:r>
            <a:r>
              <a:rPr sz="2800" spc="490" dirty="0">
                <a:latin typeface="Times New Roman"/>
                <a:cs typeface="Times New Roman"/>
              </a:rPr>
              <a:t> </a:t>
            </a:r>
            <a:r>
              <a:rPr sz="2800" dirty="0">
                <a:latin typeface="Aptos"/>
                <a:cs typeface="Aptos"/>
              </a:rPr>
              <a:t>devices.</a:t>
            </a:r>
            <a:r>
              <a:rPr sz="2800" spc="484" dirty="0">
                <a:latin typeface="Times New Roman"/>
                <a:cs typeface="Times New Roman"/>
              </a:rPr>
              <a:t> </a:t>
            </a:r>
            <a:r>
              <a:rPr sz="2800" dirty="0">
                <a:latin typeface="Aptos"/>
                <a:cs typeface="Aptos"/>
              </a:rPr>
              <a:t>-</a:t>
            </a:r>
            <a:r>
              <a:rPr sz="2800" spc="480" dirty="0">
                <a:latin typeface="Times New Roman"/>
                <a:cs typeface="Times New Roman"/>
              </a:rPr>
              <a:t> </a:t>
            </a:r>
            <a:r>
              <a:rPr sz="2800" spc="-25" dirty="0">
                <a:latin typeface="Aptos"/>
                <a:cs typeface="Aptos"/>
              </a:rPr>
              <a:t>Wi-</a:t>
            </a:r>
            <a:r>
              <a:rPr sz="2800" dirty="0">
                <a:latin typeface="Aptos"/>
                <a:cs typeface="Aptos"/>
              </a:rPr>
              <a:t>Fi</a:t>
            </a:r>
            <a:r>
              <a:rPr sz="2800" spc="484" dirty="0">
                <a:latin typeface="Times New Roman"/>
                <a:cs typeface="Times New Roman"/>
              </a:rPr>
              <a:t> </a:t>
            </a:r>
            <a:r>
              <a:rPr sz="2800" dirty="0">
                <a:latin typeface="Aptos"/>
                <a:cs typeface="Aptos"/>
              </a:rPr>
              <a:t>is</a:t>
            </a:r>
            <a:r>
              <a:rPr sz="2800" spc="495" dirty="0">
                <a:latin typeface="Times New Roman"/>
                <a:cs typeface="Times New Roman"/>
              </a:rPr>
              <a:t> </a:t>
            </a:r>
            <a:r>
              <a:rPr sz="2800" dirty="0">
                <a:latin typeface="Aptos"/>
                <a:cs typeface="Aptos"/>
              </a:rPr>
              <a:t>used</a:t>
            </a:r>
            <a:r>
              <a:rPr sz="2800" spc="500" dirty="0">
                <a:latin typeface="Times New Roman"/>
                <a:cs typeface="Times New Roman"/>
              </a:rPr>
              <a:t> </a:t>
            </a:r>
            <a:r>
              <a:rPr sz="2800" dirty="0">
                <a:latin typeface="Aptos"/>
                <a:cs typeface="Aptos"/>
              </a:rPr>
              <a:t>to</a:t>
            </a:r>
            <a:r>
              <a:rPr sz="2800" spc="500" dirty="0">
                <a:latin typeface="Times New Roman"/>
                <a:cs typeface="Times New Roman"/>
              </a:rPr>
              <a:t> </a:t>
            </a:r>
            <a:r>
              <a:rPr sz="2800" spc="-10" dirty="0">
                <a:latin typeface="Aptos"/>
                <a:cs typeface="Aptos"/>
              </a:rPr>
              <a:t>create</a:t>
            </a:r>
            <a:r>
              <a:rPr sz="2800" spc="-10" dirty="0">
                <a:latin typeface="Times New Roman"/>
                <a:cs typeface="Times New Roman"/>
              </a:rPr>
              <a:t> </a:t>
            </a:r>
            <a:r>
              <a:rPr sz="2800" spc="-20" dirty="0">
                <a:latin typeface="Aptos"/>
                <a:cs typeface="Aptos"/>
              </a:rPr>
              <a:t>wireless</a:t>
            </a:r>
            <a:r>
              <a:rPr sz="2800" spc="-155" dirty="0">
                <a:latin typeface="Times New Roman"/>
                <a:cs typeface="Times New Roman"/>
              </a:rPr>
              <a:t> </a:t>
            </a:r>
            <a:r>
              <a:rPr sz="2800" dirty="0">
                <a:latin typeface="Aptos"/>
                <a:cs typeface="Aptos"/>
              </a:rPr>
              <a:t>LAN</a:t>
            </a:r>
            <a:r>
              <a:rPr sz="2800" spc="-155" dirty="0">
                <a:latin typeface="Times New Roman"/>
                <a:cs typeface="Times New Roman"/>
              </a:rPr>
              <a:t> </a:t>
            </a:r>
            <a:r>
              <a:rPr sz="2800" dirty="0">
                <a:latin typeface="Aptos"/>
                <a:cs typeface="Aptos"/>
              </a:rPr>
              <a:t>to</a:t>
            </a:r>
            <a:r>
              <a:rPr sz="2800" spc="-145" dirty="0">
                <a:latin typeface="Times New Roman"/>
                <a:cs typeface="Times New Roman"/>
              </a:rPr>
              <a:t> </a:t>
            </a:r>
            <a:r>
              <a:rPr sz="2800" spc="-10" dirty="0">
                <a:latin typeface="Aptos"/>
                <a:cs typeface="Aptos"/>
              </a:rPr>
              <a:t>connect</a:t>
            </a:r>
            <a:r>
              <a:rPr sz="2800" spc="-135" dirty="0">
                <a:latin typeface="Times New Roman"/>
                <a:cs typeface="Times New Roman"/>
              </a:rPr>
              <a:t> </a:t>
            </a:r>
            <a:r>
              <a:rPr sz="2800" spc="-10" dirty="0">
                <a:latin typeface="Aptos"/>
                <a:cs typeface="Aptos"/>
              </a:rPr>
              <a:t>computer</a:t>
            </a:r>
            <a:r>
              <a:rPr sz="2800" spc="-130" dirty="0">
                <a:latin typeface="Times New Roman"/>
                <a:cs typeface="Times New Roman"/>
              </a:rPr>
              <a:t> </a:t>
            </a:r>
            <a:r>
              <a:rPr sz="2800" spc="-10" dirty="0">
                <a:latin typeface="Aptos"/>
                <a:cs typeface="Aptos"/>
              </a:rPr>
              <a:t>system.</a:t>
            </a:r>
            <a:endParaRPr sz="2800">
              <a:latin typeface="Aptos"/>
              <a:cs typeface="Apto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434083" y="623567"/>
            <a:ext cx="1515110" cy="434340"/>
          </a:xfrm>
          <a:custGeom>
            <a:avLst/>
            <a:gdLst/>
            <a:ahLst/>
            <a:cxnLst/>
            <a:rect l="l" t="t" r="r" b="b"/>
            <a:pathLst>
              <a:path w="1515110" h="434340">
                <a:moveTo>
                  <a:pt x="1514855" y="0"/>
                </a:moveTo>
                <a:lnTo>
                  <a:pt x="0" y="0"/>
                </a:lnTo>
                <a:lnTo>
                  <a:pt x="0" y="434339"/>
                </a:lnTo>
                <a:lnTo>
                  <a:pt x="1514855" y="434339"/>
                </a:lnTo>
                <a:lnTo>
                  <a:pt x="1514855" y="0"/>
                </a:lnTo>
                <a:close/>
              </a:path>
            </a:pathLst>
          </a:custGeom>
          <a:solidFill>
            <a:srgbClr val="FFFF00"/>
          </a:solidFill>
        </p:spPr>
        <p:txBody>
          <a:bodyPr wrap="square" lIns="0" tIns="0" rIns="0" bIns="0" rtlCol="0"/>
          <a:lstStyle/>
          <a:p>
            <a:endParaRPr/>
          </a:p>
        </p:txBody>
      </p:sp>
      <p:sp>
        <p:nvSpPr>
          <p:cNvPr id="3" name="object 3"/>
          <p:cNvSpPr txBox="1"/>
          <p:nvPr/>
        </p:nvSpPr>
        <p:spPr>
          <a:xfrm>
            <a:off x="916941" y="590740"/>
            <a:ext cx="10360660" cy="1604645"/>
          </a:xfrm>
          <a:prstGeom prst="rect">
            <a:avLst/>
          </a:prstGeom>
        </p:spPr>
        <p:txBody>
          <a:bodyPr vert="horz" wrap="square" lIns="0" tIns="55244" rIns="0" bIns="0" rtlCol="0">
            <a:spAutoFit/>
          </a:bodyPr>
          <a:lstStyle/>
          <a:p>
            <a:pPr marL="12700" marR="5080" algn="just">
              <a:lnSpc>
                <a:spcPct val="90000"/>
              </a:lnSpc>
              <a:spcBef>
                <a:spcPts val="434"/>
              </a:spcBef>
            </a:pPr>
            <a:r>
              <a:rPr sz="2800" dirty="0">
                <a:latin typeface="Aptos"/>
                <a:cs typeface="Aptos"/>
              </a:rPr>
              <a:t>8.</a:t>
            </a:r>
            <a:r>
              <a:rPr sz="2800" spc="90" dirty="0">
                <a:latin typeface="Times New Roman"/>
                <a:cs typeface="Times New Roman"/>
              </a:rPr>
              <a:t>  </a:t>
            </a:r>
            <a:r>
              <a:rPr sz="2800" b="1" dirty="0">
                <a:latin typeface="Aptos"/>
                <a:cs typeface="Aptos"/>
              </a:rPr>
              <a:t>Bluetooth:</a:t>
            </a:r>
            <a:r>
              <a:rPr sz="2800" spc="100" dirty="0">
                <a:latin typeface="Times New Roman"/>
                <a:cs typeface="Times New Roman"/>
              </a:rPr>
              <a:t>  </a:t>
            </a:r>
            <a:r>
              <a:rPr sz="2800" dirty="0">
                <a:latin typeface="Aptos"/>
                <a:cs typeface="Aptos"/>
              </a:rPr>
              <a:t>Bluetooth</a:t>
            </a:r>
            <a:r>
              <a:rPr sz="2800" spc="85" dirty="0">
                <a:latin typeface="Times New Roman"/>
                <a:cs typeface="Times New Roman"/>
              </a:rPr>
              <a:t>  </a:t>
            </a:r>
            <a:r>
              <a:rPr sz="2800" dirty="0">
                <a:latin typeface="Aptos"/>
                <a:cs typeface="Aptos"/>
              </a:rPr>
              <a:t>is</a:t>
            </a:r>
            <a:r>
              <a:rPr sz="2800" spc="95" dirty="0">
                <a:latin typeface="Times New Roman"/>
                <a:cs typeface="Times New Roman"/>
              </a:rPr>
              <a:t>  </a:t>
            </a:r>
            <a:r>
              <a:rPr sz="2800" dirty="0">
                <a:latin typeface="Aptos"/>
                <a:cs typeface="Aptos"/>
              </a:rPr>
              <a:t>a</a:t>
            </a:r>
            <a:r>
              <a:rPr sz="2800" spc="90" dirty="0">
                <a:latin typeface="Times New Roman"/>
                <a:cs typeface="Times New Roman"/>
              </a:rPr>
              <a:t>  </a:t>
            </a:r>
            <a:r>
              <a:rPr sz="2800" dirty="0">
                <a:latin typeface="Aptos"/>
                <a:cs typeface="Aptos"/>
              </a:rPr>
              <a:t>wireless</a:t>
            </a:r>
            <a:r>
              <a:rPr sz="2800" spc="85" dirty="0">
                <a:latin typeface="Times New Roman"/>
                <a:cs typeface="Times New Roman"/>
              </a:rPr>
              <a:t>  </a:t>
            </a:r>
            <a:r>
              <a:rPr sz="2800" dirty="0">
                <a:latin typeface="Aptos"/>
                <a:cs typeface="Aptos"/>
              </a:rPr>
              <a:t>technology</a:t>
            </a:r>
            <a:r>
              <a:rPr sz="2800" spc="100" dirty="0">
                <a:latin typeface="Times New Roman"/>
                <a:cs typeface="Times New Roman"/>
              </a:rPr>
              <a:t>  </a:t>
            </a:r>
            <a:r>
              <a:rPr sz="2800" dirty="0">
                <a:latin typeface="Aptos"/>
                <a:cs typeface="Aptos"/>
              </a:rPr>
              <a:t>standard</a:t>
            </a:r>
            <a:r>
              <a:rPr sz="2800" spc="90" dirty="0">
                <a:latin typeface="Times New Roman"/>
                <a:cs typeface="Times New Roman"/>
              </a:rPr>
              <a:t>  </a:t>
            </a:r>
            <a:r>
              <a:rPr sz="2800" spc="-25" dirty="0">
                <a:latin typeface="Aptos"/>
                <a:cs typeface="Aptos"/>
              </a:rPr>
              <a:t>for</a:t>
            </a:r>
            <a:r>
              <a:rPr sz="2800" spc="-25" dirty="0">
                <a:latin typeface="Times New Roman"/>
                <a:cs typeface="Times New Roman"/>
              </a:rPr>
              <a:t> </a:t>
            </a:r>
            <a:r>
              <a:rPr sz="2800" dirty="0">
                <a:latin typeface="Aptos"/>
                <a:cs typeface="Aptos"/>
              </a:rPr>
              <a:t>exchange</a:t>
            </a:r>
            <a:r>
              <a:rPr sz="2800" spc="95" dirty="0">
                <a:latin typeface="Times New Roman"/>
                <a:cs typeface="Times New Roman"/>
              </a:rPr>
              <a:t> </a:t>
            </a:r>
            <a:r>
              <a:rPr sz="2800" dirty="0">
                <a:latin typeface="Aptos"/>
                <a:cs typeface="Aptos"/>
              </a:rPr>
              <a:t>data</a:t>
            </a:r>
            <a:r>
              <a:rPr sz="2800" spc="95" dirty="0">
                <a:latin typeface="Times New Roman"/>
                <a:cs typeface="Times New Roman"/>
              </a:rPr>
              <a:t> </a:t>
            </a:r>
            <a:r>
              <a:rPr sz="2800" dirty="0">
                <a:latin typeface="Aptos"/>
                <a:cs typeface="Aptos"/>
              </a:rPr>
              <a:t>over</a:t>
            </a:r>
            <a:r>
              <a:rPr sz="2800" spc="95" dirty="0">
                <a:latin typeface="Times New Roman"/>
                <a:cs typeface="Times New Roman"/>
              </a:rPr>
              <a:t> </a:t>
            </a:r>
            <a:r>
              <a:rPr sz="2800" dirty="0">
                <a:latin typeface="Aptos"/>
                <a:cs typeface="Aptos"/>
              </a:rPr>
              <a:t>short</a:t>
            </a:r>
            <a:r>
              <a:rPr sz="2800" spc="100" dirty="0">
                <a:latin typeface="Times New Roman"/>
                <a:cs typeface="Times New Roman"/>
              </a:rPr>
              <a:t> </a:t>
            </a:r>
            <a:r>
              <a:rPr sz="2800" dirty="0">
                <a:latin typeface="Aptos"/>
                <a:cs typeface="Aptos"/>
              </a:rPr>
              <a:t>distance</a:t>
            </a:r>
            <a:r>
              <a:rPr sz="2800" spc="90" dirty="0">
                <a:latin typeface="Times New Roman"/>
                <a:cs typeface="Times New Roman"/>
              </a:rPr>
              <a:t> </a:t>
            </a:r>
            <a:r>
              <a:rPr sz="2800" dirty="0">
                <a:latin typeface="Aptos"/>
                <a:cs typeface="Aptos"/>
              </a:rPr>
              <a:t>from</a:t>
            </a:r>
            <a:r>
              <a:rPr sz="2800" spc="90" dirty="0">
                <a:latin typeface="Times New Roman"/>
                <a:cs typeface="Times New Roman"/>
              </a:rPr>
              <a:t> </a:t>
            </a:r>
            <a:r>
              <a:rPr sz="2800" dirty="0">
                <a:latin typeface="Aptos"/>
                <a:cs typeface="Aptos"/>
              </a:rPr>
              <a:t>fixed</a:t>
            </a:r>
            <a:r>
              <a:rPr sz="2800" spc="105" dirty="0">
                <a:latin typeface="Times New Roman"/>
                <a:cs typeface="Times New Roman"/>
              </a:rPr>
              <a:t> </a:t>
            </a:r>
            <a:r>
              <a:rPr sz="2800" dirty="0">
                <a:latin typeface="Aptos"/>
                <a:cs typeface="Aptos"/>
              </a:rPr>
              <a:t>and</a:t>
            </a:r>
            <a:r>
              <a:rPr sz="2800" spc="85" dirty="0">
                <a:latin typeface="Times New Roman"/>
                <a:cs typeface="Times New Roman"/>
              </a:rPr>
              <a:t> </a:t>
            </a:r>
            <a:r>
              <a:rPr sz="2800" dirty="0">
                <a:latin typeface="Aptos"/>
                <a:cs typeface="Aptos"/>
              </a:rPr>
              <a:t>mobile</a:t>
            </a:r>
            <a:r>
              <a:rPr sz="2800" spc="90" dirty="0">
                <a:latin typeface="Times New Roman"/>
                <a:cs typeface="Times New Roman"/>
              </a:rPr>
              <a:t> </a:t>
            </a:r>
            <a:r>
              <a:rPr sz="2800" spc="-10" dirty="0">
                <a:latin typeface="Aptos"/>
                <a:cs typeface="Aptos"/>
              </a:rPr>
              <a:t>devices.</a:t>
            </a:r>
            <a:r>
              <a:rPr sz="2800" spc="-10" dirty="0">
                <a:latin typeface="Times New Roman"/>
                <a:cs typeface="Times New Roman"/>
              </a:rPr>
              <a:t> </a:t>
            </a:r>
            <a:r>
              <a:rPr sz="2800" spc="-10" dirty="0">
                <a:latin typeface="Aptos"/>
                <a:cs typeface="Aptos"/>
              </a:rPr>
              <a:t>Bluetooth</a:t>
            </a:r>
            <a:r>
              <a:rPr sz="2800" spc="-165" dirty="0">
                <a:latin typeface="Times New Roman"/>
                <a:cs typeface="Times New Roman"/>
              </a:rPr>
              <a:t> </a:t>
            </a:r>
            <a:r>
              <a:rPr sz="2800" dirty="0">
                <a:latin typeface="Aptos"/>
                <a:cs typeface="Aptos"/>
              </a:rPr>
              <a:t>is</a:t>
            </a:r>
            <a:r>
              <a:rPr sz="2800" spc="-155" dirty="0">
                <a:latin typeface="Times New Roman"/>
                <a:cs typeface="Times New Roman"/>
              </a:rPr>
              <a:t> </a:t>
            </a:r>
            <a:r>
              <a:rPr sz="2800" dirty="0">
                <a:latin typeface="Aptos"/>
                <a:cs typeface="Aptos"/>
              </a:rPr>
              <a:t>used</a:t>
            </a:r>
            <a:r>
              <a:rPr sz="2800" spc="-130" dirty="0">
                <a:latin typeface="Times New Roman"/>
                <a:cs typeface="Times New Roman"/>
              </a:rPr>
              <a:t> </a:t>
            </a:r>
            <a:r>
              <a:rPr sz="2800" dirty="0">
                <a:latin typeface="Aptos"/>
                <a:cs typeface="Aptos"/>
              </a:rPr>
              <a:t>to</a:t>
            </a:r>
            <a:r>
              <a:rPr sz="2800" spc="-125" dirty="0">
                <a:latin typeface="Times New Roman"/>
                <a:cs typeface="Times New Roman"/>
              </a:rPr>
              <a:t> </a:t>
            </a:r>
            <a:r>
              <a:rPr sz="2800" spc="-20" dirty="0">
                <a:latin typeface="Aptos"/>
                <a:cs typeface="Aptos"/>
              </a:rPr>
              <a:t>create</a:t>
            </a:r>
            <a:r>
              <a:rPr sz="2800" spc="-135" dirty="0">
                <a:latin typeface="Times New Roman"/>
                <a:cs typeface="Times New Roman"/>
              </a:rPr>
              <a:t> </a:t>
            </a:r>
            <a:r>
              <a:rPr sz="2800" spc="-10" dirty="0">
                <a:latin typeface="Aptos"/>
                <a:cs typeface="Aptos"/>
              </a:rPr>
              <a:t>personal</a:t>
            </a:r>
            <a:r>
              <a:rPr sz="2800" spc="-135" dirty="0">
                <a:latin typeface="Times New Roman"/>
                <a:cs typeface="Times New Roman"/>
              </a:rPr>
              <a:t> </a:t>
            </a:r>
            <a:r>
              <a:rPr sz="2800" spc="-10" dirty="0">
                <a:latin typeface="Aptos"/>
                <a:cs typeface="Aptos"/>
              </a:rPr>
              <a:t>area</a:t>
            </a:r>
            <a:r>
              <a:rPr sz="2800" spc="-145" dirty="0">
                <a:latin typeface="Times New Roman"/>
                <a:cs typeface="Times New Roman"/>
              </a:rPr>
              <a:t> </a:t>
            </a:r>
            <a:r>
              <a:rPr sz="2800" spc="-20" dirty="0">
                <a:latin typeface="Aptos"/>
                <a:cs typeface="Aptos"/>
              </a:rPr>
              <a:t>networks</a:t>
            </a:r>
            <a:r>
              <a:rPr sz="2800" spc="-150" dirty="0">
                <a:latin typeface="Times New Roman"/>
                <a:cs typeface="Times New Roman"/>
              </a:rPr>
              <a:t> </a:t>
            </a:r>
            <a:r>
              <a:rPr sz="2800" b="1" spc="-30" dirty="0">
                <a:latin typeface="Aptos"/>
                <a:cs typeface="Aptos"/>
              </a:rPr>
              <a:t>(PANs</a:t>
            </a:r>
            <a:r>
              <a:rPr sz="2800" spc="-30" dirty="0">
                <a:latin typeface="Aptos"/>
                <a:cs typeface="Aptos"/>
              </a:rPr>
              <a:t>)</a:t>
            </a:r>
            <a:r>
              <a:rPr sz="2800" spc="-145" dirty="0">
                <a:latin typeface="Times New Roman"/>
                <a:cs typeface="Times New Roman"/>
              </a:rPr>
              <a:t> </a:t>
            </a:r>
            <a:r>
              <a:rPr sz="2800" dirty="0">
                <a:latin typeface="Aptos"/>
                <a:cs typeface="Aptos"/>
              </a:rPr>
              <a:t>with</a:t>
            </a:r>
            <a:r>
              <a:rPr sz="2800" spc="-150" dirty="0">
                <a:latin typeface="Times New Roman"/>
                <a:cs typeface="Times New Roman"/>
              </a:rPr>
              <a:t> </a:t>
            </a:r>
            <a:r>
              <a:rPr sz="2800" spc="-20" dirty="0">
                <a:latin typeface="Aptos"/>
                <a:cs typeface="Aptos"/>
              </a:rPr>
              <a:t>high</a:t>
            </a:r>
            <a:r>
              <a:rPr sz="2800" spc="-20" dirty="0">
                <a:latin typeface="Times New Roman"/>
                <a:cs typeface="Times New Roman"/>
              </a:rPr>
              <a:t> </a:t>
            </a:r>
            <a:r>
              <a:rPr sz="2800" spc="-20" dirty="0">
                <a:latin typeface="Aptos"/>
                <a:cs typeface="Aptos"/>
              </a:rPr>
              <a:t>levels</a:t>
            </a:r>
            <a:r>
              <a:rPr sz="2800" spc="-135" dirty="0">
                <a:latin typeface="Times New Roman"/>
                <a:cs typeface="Times New Roman"/>
              </a:rPr>
              <a:t> </a:t>
            </a:r>
            <a:r>
              <a:rPr sz="2800" dirty="0">
                <a:latin typeface="Aptos"/>
                <a:cs typeface="Aptos"/>
              </a:rPr>
              <a:t>of</a:t>
            </a:r>
            <a:r>
              <a:rPr sz="2800" spc="-130" dirty="0">
                <a:latin typeface="Times New Roman"/>
                <a:cs typeface="Times New Roman"/>
              </a:rPr>
              <a:t> </a:t>
            </a:r>
            <a:r>
              <a:rPr sz="2800" spc="-10" dirty="0">
                <a:latin typeface="Aptos"/>
                <a:cs typeface="Aptos"/>
              </a:rPr>
              <a:t>security.</a:t>
            </a:r>
            <a:endParaRPr sz="2800">
              <a:latin typeface="Aptos"/>
              <a:cs typeface="Apto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331975" y="716150"/>
            <a:ext cx="1926589" cy="434340"/>
          </a:xfrm>
          <a:prstGeom prst="rect">
            <a:avLst/>
          </a:prstGeom>
          <a:solidFill>
            <a:srgbClr val="FFFF00"/>
          </a:solidFill>
        </p:spPr>
        <p:txBody>
          <a:bodyPr vert="horz" wrap="square" lIns="0" tIns="0" rIns="0" bIns="0" rtlCol="0">
            <a:spAutoFit/>
          </a:bodyPr>
          <a:lstStyle/>
          <a:p>
            <a:pPr>
              <a:lnSpc>
                <a:spcPts val="3200"/>
              </a:lnSpc>
            </a:pPr>
            <a:r>
              <a:rPr sz="2800" b="1" dirty="0">
                <a:latin typeface="Aptos"/>
                <a:cs typeface="Aptos"/>
              </a:rPr>
              <a:t>Infared</a:t>
            </a:r>
            <a:r>
              <a:rPr sz="2800" spc="25" dirty="0">
                <a:latin typeface="Times New Roman"/>
                <a:cs typeface="Times New Roman"/>
              </a:rPr>
              <a:t> </a:t>
            </a:r>
            <a:r>
              <a:rPr sz="2800" b="1" spc="-10" dirty="0">
                <a:latin typeface="Aptos"/>
                <a:cs typeface="Aptos"/>
              </a:rPr>
              <a:t>(IR):</a:t>
            </a:r>
            <a:endParaRPr sz="2800">
              <a:latin typeface="Aptos"/>
              <a:cs typeface="Aptos"/>
            </a:endParaRPr>
          </a:p>
        </p:txBody>
      </p:sp>
      <p:sp>
        <p:nvSpPr>
          <p:cNvPr id="3" name="object 3"/>
          <p:cNvSpPr txBox="1"/>
          <p:nvPr/>
        </p:nvSpPr>
        <p:spPr>
          <a:xfrm>
            <a:off x="916941" y="683755"/>
            <a:ext cx="10357485" cy="452120"/>
          </a:xfrm>
          <a:prstGeom prst="rect">
            <a:avLst/>
          </a:prstGeom>
        </p:spPr>
        <p:txBody>
          <a:bodyPr vert="horz" wrap="square" lIns="0" tIns="12065" rIns="0" bIns="0" rtlCol="0">
            <a:spAutoFit/>
          </a:bodyPr>
          <a:lstStyle/>
          <a:p>
            <a:pPr marL="12700">
              <a:lnSpc>
                <a:spcPct val="100000"/>
              </a:lnSpc>
              <a:spcBef>
                <a:spcPts val="95"/>
              </a:spcBef>
              <a:tabLst>
                <a:tab pos="2341245" algn="l"/>
              </a:tabLst>
            </a:pPr>
            <a:r>
              <a:rPr sz="2800" spc="-25" dirty="0">
                <a:latin typeface="Aptos"/>
                <a:cs typeface="Aptos"/>
              </a:rPr>
              <a:t>9.</a:t>
            </a:r>
            <a:r>
              <a:rPr sz="2800" dirty="0">
                <a:latin typeface="Times New Roman"/>
                <a:cs typeface="Times New Roman"/>
              </a:rPr>
              <a:t>	</a:t>
            </a:r>
            <a:r>
              <a:rPr sz="2800" dirty="0">
                <a:latin typeface="Aptos"/>
                <a:cs typeface="Aptos"/>
              </a:rPr>
              <a:t>Infared</a:t>
            </a:r>
            <a:r>
              <a:rPr sz="2800" spc="60" dirty="0">
                <a:latin typeface="Times New Roman"/>
                <a:cs typeface="Times New Roman"/>
              </a:rPr>
              <a:t> </a:t>
            </a:r>
            <a:r>
              <a:rPr sz="2800" dirty="0">
                <a:latin typeface="Aptos"/>
                <a:cs typeface="Aptos"/>
              </a:rPr>
              <a:t>(IR)</a:t>
            </a:r>
            <a:r>
              <a:rPr sz="2800" spc="60" dirty="0">
                <a:latin typeface="Times New Roman"/>
                <a:cs typeface="Times New Roman"/>
              </a:rPr>
              <a:t> </a:t>
            </a:r>
            <a:r>
              <a:rPr sz="2800" dirty="0">
                <a:latin typeface="Aptos"/>
                <a:cs typeface="Aptos"/>
              </a:rPr>
              <a:t>light</a:t>
            </a:r>
            <a:r>
              <a:rPr sz="2800" spc="45" dirty="0">
                <a:latin typeface="Times New Roman"/>
                <a:cs typeface="Times New Roman"/>
              </a:rPr>
              <a:t> </a:t>
            </a:r>
            <a:r>
              <a:rPr sz="2800" dirty="0">
                <a:latin typeface="Aptos"/>
                <a:cs typeface="Aptos"/>
              </a:rPr>
              <a:t>is</a:t>
            </a:r>
            <a:r>
              <a:rPr sz="2800" spc="50" dirty="0">
                <a:latin typeface="Times New Roman"/>
                <a:cs typeface="Times New Roman"/>
              </a:rPr>
              <a:t> </a:t>
            </a:r>
            <a:r>
              <a:rPr sz="2800" dirty="0">
                <a:latin typeface="Aptos"/>
                <a:cs typeface="Aptos"/>
              </a:rPr>
              <a:t>electromagnetic</a:t>
            </a:r>
            <a:r>
              <a:rPr sz="2800" spc="65" dirty="0">
                <a:latin typeface="Times New Roman"/>
                <a:cs typeface="Times New Roman"/>
              </a:rPr>
              <a:t> </a:t>
            </a:r>
            <a:r>
              <a:rPr sz="2800" dirty="0">
                <a:latin typeface="Aptos"/>
                <a:cs typeface="Aptos"/>
              </a:rPr>
              <a:t>radiation</a:t>
            </a:r>
            <a:r>
              <a:rPr sz="2800" spc="40" dirty="0">
                <a:latin typeface="Times New Roman"/>
                <a:cs typeface="Times New Roman"/>
              </a:rPr>
              <a:t> </a:t>
            </a:r>
            <a:r>
              <a:rPr sz="2800" dirty="0">
                <a:latin typeface="Aptos"/>
                <a:cs typeface="Aptos"/>
              </a:rPr>
              <a:t>with</a:t>
            </a:r>
            <a:r>
              <a:rPr sz="2800" spc="45" dirty="0">
                <a:latin typeface="Times New Roman"/>
                <a:cs typeface="Times New Roman"/>
              </a:rPr>
              <a:t> </a:t>
            </a:r>
            <a:r>
              <a:rPr sz="2800" spc="-50" dirty="0">
                <a:latin typeface="Aptos"/>
                <a:cs typeface="Aptos"/>
              </a:rPr>
              <a:t>a</a:t>
            </a:r>
            <a:endParaRPr sz="2800">
              <a:latin typeface="Aptos"/>
              <a:cs typeface="Aptos"/>
            </a:endParaRPr>
          </a:p>
        </p:txBody>
      </p:sp>
      <p:sp>
        <p:nvSpPr>
          <p:cNvPr id="4" name="object 4"/>
          <p:cNvSpPr txBox="1"/>
          <p:nvPr/>
        </p:nvSpPr>
        <p:spPr>
          <a:xfrm>
            <a:off x="916940" y="1068057"/>
            <a:ext cx="10358120" cy="1604010"/>
          </a:xfrm>
          <a:prstGeom prst="rect">
            <a:avLst/>
          </a:prstGeom>
        </p:spPr>
        <p:txBody>
          <a:bodyPr vert="horz" wrap="square" lIns="0" tIns="60960" rIns="0" bIns="0" rtlCol="0">
            <a:spAutoFit/>
          </a:bodyPr>
          <a:lstStyle/>
          <a:p>
            <a:pPr marL="12700" marR="5080" algn="just">
              <a:lnSpc>
                <a:spcPts val="3020"/>
              </a:lnSpc>
              <a:spcBef>
                <a:spcPts val="480"/>
              </a:spcBef>
            </a:pPr>
            <a:r>
              <a:rPr sz="2800" dirty="0">
                <a:latin typeface="Aptos"/>
                <a:cs typeface="Aptos"/>
              </a:rPr>
              <a:t>wavelength</a:t>
            </a:r>
            <a:r>
              <a:rPr sz="2800" spc="-10" dirty="0">
                <a:latin typeface="Times New Roman"/>
                <a:cs typeface="Times New Roman"/>
              </a:rPr>
              <a:t> </a:t>
            </a:r>
            <a:r>
              <a:rPr sz="2800" dirty="0">
                <a:latin typeface="Aptos"/>
                <a:cs typeface="Aptos"/>
              </a:rPr>
              <a:t>longer</a:t>
            </a:r>
            <a:r>
              <a:rPr sz="2800" spc="15" dirty="0">
                <a:latin typeface="Times New Roman"/>
                <a:cs typeface="Times New Roman"/>
              </a:rPr>
              <a:t> </a:t>
            </a:r>
            <a:r>
              <a:rPr sz="2800" dirty="0">
                <a:latin typeface="Aptos"/>
                <a:cs typeface="Aptos"/>
              </a:rPr>
              <a:t>than</a:t>
            </a:r>
            <a:r>
              <a:rPr sz="2800" spc="-10" dirty="0">
                <a:latin typeface="Times New Roman"/>
                <a:cs typeface="Times New Roman"/>
              </a:rPr>
              <a:t> </a:t>
            </a:r>
            <a:r>
              <a:rPr sz="2800" dirty="0">
                <a:latin typeface="Aptos"/>
                <a:cs typeface="Aptos"/>
              </a:rPr>
              <a:t>that</a:t>
            </a:r>
            <a:r>
              <a:rPr sz="2800" spc="10" dirty="0">
                <a:latin typeface="Times New Roman"/>
                <a:cs typeface="Times New Roman"/>
              </a:rPr>
              <a:t> </a:t>
            </a:r>
            <a:r>
              <a:rPr sz="2800" dirty="0">
                <a:latin typeface="Aptos"/>
                <a:cs typeface="Aptos"/>
              </a:rPr>
              <a:t>of</a:t>
            </a:r>
            <a:r>
              <a:rPr sz="2800" spc="-5" dirty="0">
                <a:latin typeface="Times New Roman"/>
                <a:cs typeface="Times New Roman"/>
              </a:rPr>
              <a:t> </a:t>
            </a:r>
            <a:r>
              <a:rPr sz="2800" dirty="0">
                <a:latin typeface="Aptos"/>
                <a:cs typeface="Aptos"/>
              </a:rPr>
              <a:t>visible</a:t>
            </a:r>
            <a:r>
              <a:rPr sz="2800" spc="15" dirty="0">
                <a:latin typeface="Times New Roman"/>
                <a:cs typeface="Times New Roman"/>
              </a:rPr>
              <a:t> </a:t>
            </a:r>
            <a:r>
              <a:rPr sz="2800" dirty="0">
                <a:latin typeface="Aptos"/>
                <a:cs typeface="Aptos"/>
              </a:rPr>
              <a:t>light</a:t>
            </a:r>
            <a:r>
              <a:rPr sz="2800" spc="-10" dirty="0">
                <a:latin typeface="Times New Roman"/>
                <a:cs typeface="Times New Roman"/>
              </a:rPr>
              <a:t> </a:t>
            </a:r>
            <a:r>
              <a:rPr sz="2800" dirty="0">
                <a:latin typeface="Aptos"/>
                <a:cs typeface="Aptos"/>
              </a:rPr>
              <a:t>and</a:t>
            </a:r>
            <a:r>
              <a:rPr sz="2800" spc="20" dirty="0">
                <a:latin typeface="Times New Roman"/>
                <a:cs typeface="Times New Roman"/>
              </a:rPr>
              <a:t> </a:t>
            </a:r>
            <a:r>
              <a:rPr sz="2800" dirty="0">
                <a:latin typeface="Aptos"/>
                <a:cs typeface="Aptos"/>
              </a:rPr>
              <a:t>below</a:t>
            </a:r>
            <a:r>
              <a:rPr sz="2800" dirty="0">
                <a:latin typeface="Times New Roman"/>
                <a:cs typeface="Times New Roman"/>
              </a:rPr>
              <a:t> </a:t>
            </a:r>
            <a:r>
              <a:rPr sz="2800" dirty="0">
                <a:latin typeface="Aptos"/>
                <a:cs typeface="Aptos"/>
              </a:rPr>
              <a:t>the</a:t>
            </a:r>
            <a:r>
              <a:rPr sz="2800" spc="-10" dirty="0">
                <a:latin typeface="Times New Roman"/>
                <a:cs typeface="Times New Roman"/>
              </a:rPr>
              <a:t> </a:t>
            </a:r>
            <a:r>
              <a:rPr sz="2800" dirty="0">
                <a:latin typeface="Aptos"/>
                <a:cs typeface="Aptos"/>
              </a:rPr>
              <a:t>red</a:t>
            </a:r>
            <a:r>
              <a:rPr sz="2800" spc="10" dirty="0">
                <a:latin typeface="Times New Roman"/>
                <a:cs typeface="Times New Roman"/>
              </a:rPr>
              <a:t> </a:t>
            </a:r>
            <a:r>
              <a:rPr sz="2800" spc="-10" dirty="0">
                <a:latin typeface="Aptos"/>
                <a:cs typeface="Aptos"/>
              </a:rPr>
              <a:t>light.</a:t>
            </a:r>
            <a:r>
              <a:rPr sz="2800" spc="-10" dirty="0">
                <a:latin typeface="Times New Roman"/>
                <a:cs typeface="Times New Roman"/>
              </a:rPr>
              <a:t> </a:t>
            </a:r>
            <a:r>
              <a:rPr sz="2800" dirty="0">
                <a:latin typeface="Aptos"/>
                <a:cs typeface="Aptos"/>
              </a:rPr>
              <a:t>These</a:t>
            </a:r>
            <a:r>
              <a:rPr sz="2800" spc="665" dirty="0">
                <a:latin typeface="Times New Roman"/>
                <a:cs typeface="Times New Roman"/>
              </a:rPr>
              <a:t>  </a:t>
            </a:r>
            <a:r>
              <a:rPr sz="2800" dirty="0">
                <a:latin typeface="Aptos"/>
                <a:cs typeface="Aptos"/>
              </a:rPr>
              <a:t>wavelengths</a:t>
            </a:r>
            <a:r>
              <a:rPr sz="2800" spc="670" dirty="0">
                <a:latin typeface="Times New Roman"/>
                <a:cs typeface="Times New Roman"/>
              </a:rPr>
              <a:t>  </a:t>
            </a:r>
            <a:r>
              <a:rPr sz="2800" dirty="0">
                <a:latin typeface="Aptos"/>
                <a:cs typeface="Aptos"/>
              </a:rPr>
              <a:t>correspond</a:t>
            </a:r>
            <a:r>
              <a:rPr sz="2800" spc="670" dirty="0">
                <a:latin typeface="Times New Roman"/>
                <a:cs typeface="Times New Roman"/>
              </a:rPr>
              <a:t>  </a:t>
            </a:r>
            <a:r>
              <a:rPr sz="2800" dirty="0">
                <a:latin typeface="Aptos"/>
                <a:cs typeface="Aptos"/>
              </a:rPr>
              <a:t>to</a:t>
            </a:r>
            <a:r>
              <a:rPr sz="2800" spc="670" dirty="0">
                <a:latin typeface="Times New Roman"/>
                <a:cs typeface="Times New Roman"/>
              </a:rPr>
              <a:t>  </a:t>
            </a:r>
            <a:r>
              <a:rPr sz="2800" dirty="0">
                <a:latin typeface="Aptos"/>
                <a:cs typeface="Aptos"/>
              </a:rPr>
              <a:t>a</a:t>
            </a:r>
            <a:r>
              <a:rPr sz="2800" spc="670" dirty="0">
                <a:latin typeface="Times New Roman"/>
                <a:cs typeface="Times New Roman"/>
              </a:rPr>
              <a:t>  </a:t>
            </a:r>
            <a:r>
              <a:rPr sz="2800" dirty="0">
                <a:latin typeface="Aptos"/>
                <a:cs typeface="Aptos"/>
              </a:rPr>
              <a:t>frequency</a:t>
            </a:r>
            <a:r>
              <a:rPr sz="2800" spc="670" dirty="0">
                <a:latin typeface="Times New Roman"/>
                <a:cs typeface="Times New Roman"/>
              </a:rPr>
              <a:t>  </a:t>
            </a:r>
            <a:r>
              <a:rPr sz="2800" dirty="0">
                <a:latin typeface="Aptos"/>
                <a:cs typeface="Aptos"/>
              </a:rPr>
              <a:t>range</a:t>
            </a:r>
            <a:r>
              <a:rPr sz="2800" spc="665" dirty="0">
                <a:latin typeface="Times New Roman"/>
                <a:cs typeface="Times New Roman"/>
              </a:rPr>
              <a:t>  </a:t>
            </a:r>
            <a:r>
              <a:rPr sz="2800" spc="-25" dirty="0">
                <a:latin typeface="Aptos"/>
                <a:cs typeface="Aptos"/>
              </a:rPr>
              <a:t>of</a:t>
            </a:r>
            <a:r>
              <a:rPr sz="2800" spc="-25" dirty="0">
                <a:latin typeface="Times New Roman"/>
                <a:cs typeface="Times New Roman"/>
              </a:rPr>
              <a:t> </a:t>
            </a:r>
            <a:r>
              <a:rPr sz="2800" spc="-20" dirty="0">
                <a:latin typeface="Aptos"/>
                <a:cs typeface="Aptos"/>
              </a:rPr>
              <a:t>approximately</a:t>
            </a:r>
            <a:r>
              <a:rPr sz="2800" spc="-75" dirty="0">
                <a:latin typeface="Times New Roman"/>
                <a:cs typeface="Times New Roman"/>
              </a:rPr>
              <a:t> </a:t>
            </a:r>
            <a:r>
              <a:rPr sz="2800" dirty="0">
                <a:latin typeface="Aptos"/>
                <a:cs typeface="Aptos"/>
              </a:rPr>
              <a:t>100</a:t>
            </a:r>
            <a:r>
              <a:rPr sz="2800" spc="-60" dirty="0">
                <a:latin typeface="Times New Roman"/>
                <a:cs typeface="Times New Roman"/>
              </a:rPr>
              <a:t> </a:t>
            </a:r>
            <a:r>
              <a:rPr sz="2800" dirty="0">
                <a:latin typeface="Aptos"/>
                <a:cs typeface="Aptos"/>
              </a:rPr>
              <a:t>GHz</a:t>
            </a:r>
            <a:r>
              <a:rPr sz="2800" spc="-75" dirty="0">
                <a:latin typeface="Times New Roman"/>
                <a:cs typeface="Times New Roman"/>
              </a:rPr>
              <a:t> </a:t>
            </a:r>
            <a:r>
              <a:rPr sz="2800" dirty="0">
                <a:latin typeface="Aptos"/>
                <a:cs typeface="Aptos"/>
              </a:rPr>
              <a:t>to</a:t>
            </a:r>
            <a:r>
              <a:rPr sz="2800" spc="-50" dirty="0">
                <a:latin typeface="Times New Roman"/>
                <a:cs typeface="Times New Roman"/>
              </a:rPr>
              <a:t> </a:t>
            </a:r>
            <a:r>
              <a:rPr sz="2800" dirty="0">
                <a:latin typeface="Aptos"/>
                <a:cs typeface="Aptos"/>
              </a:rPr>
              <a:t>100</a:t>
            </a:r>
            <a:r>
              <a:rPr sz="2800" spc="-75" dirty="0">
                <a:latin typeface="Times New Roman"/>
                <a:cs typeface="Times New Roman"/>
              </a:rPr>
              <a:t> </a:t>
            </a:r>
            <a:r>
              <a:rPr sz="2800" dirty="0">
                <a:latin typeface="Aptos"/>
                <a:cs typeface="Aptos"/>
              </a:rPr>
              <a:t>THz</a:t>
            </a:r>
            <a:r>
              <a:rPr sz="2800" spc="-70" dirty="0">
                <a:latin typeface="Times New Roman"/>
                <a:cs typeface="Times New Roman"/>
              </a:rPr>
              <a:t> </a:t>
            </a:r>
            <a:r>
              <a:rPr sz="2800" dirty="0">
                <a:latin typeface="Aptos"/>
                <a:cs typeface="Aptos"/>
              </a:rPr>
              <a:t>and</a:t>
            </a:r>
            <a:r>
              <a:rPr sz="2800" spc="-65" dirty="0">
                <a:latin typeface="Times New Roman"/>
                <a:cs typeface="Times New Roman"/>
              </a:rPr>
              <a:t> </a:t>
            </a:r>
            <a:r>
              <a:rPr sz="2800" dirty="0">
                <a:latin typeface="Aptos"/>
                <a:cs typeface="Aptos"/>
              </a:rPr>
              <a:t>include</a:t>
            </a:r>
            <a:r>
              <a:rPr sz="2800" spc="-55" dirty="0">
                <a:latin typeface="Times New Roman"/>
                <a:cs typeface="Times New Roman"/>
              </a:rPr>
              <a:t> </a:t>
            </a:r>
            <a:r>
              <a:rPr sz="2800" dirty="0">
                <a:latin typeface="Aptos"/>
                <a:cs typeface="Aptos"/>
              </a:rPr>
              <a:t>most</a:t>
            </a:r>
            <a:r>
              <a:rPr sz="2800" spc="-90" dirty="0">
                <a:latin typeface="Times New Roman"/>
                <a:cs typeface="Times New Roman"/>
              </a:rPr>
              <a:t> </a:t>
            </a:r>
            <a:r>
              <a:rPr sz="2800" dirty="0">
                <a:latin typeface="Aptos"/>
                <a:cs typeface="Aptos"/>
              </a:rPr>
              <a:t>of</a:t>
            </a:r>
            <a:r>
              <a:rPr sz="2800" spc="-70" dirty="0">
                <a:latin typeface="Times New Roman"/>
                <a:cs typeface="Times New Roman"/>
              </a:rPr>
              <a:t> </a:t>
            </a:r>
            <a:r>
              <a:rPr sz="2800" dirty="0">
                <a:latin typeface="Aptos"/>
                <a:cs typeface="Aptos"/>
              </a:rPr>
              <a:t>the</a:t>
            </a:r>
            <a:r>
              <a:rPr sz="2800" spc="-80" dirty="0">
                <a:latin typeface="Times New Roman"/>
                <a:cs typeface="Times New Roman"/>
              </a:rPr>
              <a:t> </a:t>
            </a:r>
            <a:r>
              <a:rPr sz="2800" spc="-10" dirty="0">
                <a:latin typeface="Aptos"/>
                <a:cs typeface="Aptos"/>
              </a:rPr>
              <a:t>thermal</a:t>
            </a:r>
            <a:r>
              <a:rPr sz="2800" spc="-10" dirty="0">
                <a:latin typeface="Times New Roman"/>
                <a:cs typeface="Times New Roman"/>
              </a:rPr>
              <a:t> </a:t>
            </a:r>
            <a:r>
              <a:rPr sz="2800" spc="-30" dirty="0">
                <a:latin typeface="Aptos"/>
                <a:cs typeface="Aptos"/>
              </a:rPr>
              <a:t>radiation</a:t>
            </a:r>
            <a:r>
              <a:rPr sz="2800" spc="-145" dirty="0">
                <a:latin typeface="Times New Roman"/>
                <a:cs typeface="Times New Roman"/>
              </a:rPr>
              <a:t> </a:t>
            </a:r>
            <a:r>
              <a:rPr sz="2800" spc="-20" dirty="0">
                <a:latin typeface="Aptos"/>
                <a:cs typeface="Aptos"/>
              </a:rPr>
              <a:t>emitted</a:t>
            </a:r>
            <a:r>
              <a:rPr sz="2800" spc="-140" dirty="0">
                <a:latin typeface="Times New Roman"/>
                <a:cs typeface="Times New Roman"/>
              </a:rPr>
              <a:t> </a:t>
            </a:r>
            <a:r>
              <a:rPr sz="2800" spc="-10" dirty="0">
                <a:latin typeface="Aptos"/>
                <a:cs typeface="Aptos"/>
              </a:rPr>
              <a:t>by</a:t>
            </a:r>
            <a:r>
              <a:rPr sz="2800" spc="-140" dirty="0">
                <a:latin typeface="Times New Roman"/>
                <a:cs typeface="Times New Roman"/>
              </a:rPr>
              <a:t> </a:t>
            </a:r>
            <a:r>
              <a:rPr sz="2800" spc="-10" dirty="0">
                <a:latin typeface="Aptos"/>
                <a:cs typeface="Aptos"/>
              </a:rPr>
              <a:t>objects</a:t>
            </a:r>
            <a:r>
              <a:rPr sz="2800" spc="-120" dirty="0">
                <a:latin typeface="Times New Roman"/>
                <a:cs typeface="Times New Roman"/>
              </a:rPr>
              <a:t> </a:t>
            </a:r>
            <a:r>
              <a:rPr sz="2800" spc="-10" dirty="0">
                <a:latin typeface="Aptos"/>
                <a:cs typeface="Aptos"/>
              </a:rPr>
              <a:t>near</a:t>
            </a:r>
            <a:r>
              <a:rPr sz="2800" spc="-135" dirty="0">
                <a:latin typeface="Times New Roman"/>
                <a:cs typeface="Times New Roman"/>
              </a:rPr>
              <a:t> </a:t>
            </a:r>
            <a:r>
              <a:rPr sz="2800" spc="-10" dirty="0">
                <a:latin typeface="Aptos"/>
                <a:cs typeface="Aptos"/>
              </a:rPr>
              <a:t>room.</a:t>
            </a:r>
            <a:endParaRPr sz="2800">
              <a:latin typeface="Aptos"/>
              <a:cs typeface="Apto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385686"/>
            <a:ext cx="10358120" cy="3349625"/>
          </a:xfrm>
          <a:prstGeom prst="rect">
            <a:avLst/>
          </a:prstGeom>
        </p:spPr>
        <p:txBody>
          <a:bodyPr vert="horz" wrap="square" lIns="0" tIns="94615" rIns="0" bIns="0" rtlCol="0">
            <a:spAutoFit/>
          </a:bodyPr>
          <a:lstStyle/>
          <a:p>
            <a:pPr marL="12700" marR="5080" algn="just">
              <a:lnSpc>
                <a:spcPts val="2690"/>
              </a:lnSpc>
              <a:spcBef>
                <a:spcPts val="745"/>
              </a:spcBef>
            </a:pPr>
            <a:r>
              <a:rPr sz="2800" dirty="0">
                <a:latin typeface="Aptos"/>
                <a:cs typeface="Aptos"/>
              </a:rPr>
              <a:t>Some</a:t>
            </a:r>
            <a:r>
              <a:rPr sz="2800" spc="135" dirty="0">
                <a:latin typeface="Times New Roman"/>
                <a:cs typeface="Times New Roman"/>
              </a:rPr>
              <a:t>  </a:t>
            </a:r>
            <a:r>
              <a:rPr sz="2800" dirty="0">
                <a:latin typeface="Aptos"/>
                <a:cs typeface="Aptos"/>
              </a:rPr>
              <a:t>basic</a:t>
            </a:r>
            <a:r>
              <a:rPr sz="2800" spc="135" dirty="0">
                <a:latin typeface="Times New Roman"/>
                <a:cs typeface="Times New Roman"/>
              </a:rPr>
              <a:t>  </a:t>
            </a:r>
            <a:r>
              <a:rPr sz="2800" dirty="0">
                <a:latin typeface="Aptos"/>
                <a:cs typeface="Aptos"/>
              </a:rPr>
              <a:t>terms</a:t>
            </a:r>
            <a:r>
              <a:rPr sz="2800" spc="135" dirty="0">
                <a:latin typeface="Times New Roman"/>
                <a:cs typeface="Times New Roman"/>
              </a:rPr>
              <a:t>  </a:t>
            </a:r>
            <a:r>
              <a:rPr sz="2800" dirty="0">
                <a:latin typeface="Aptos"/>
                <a:cs typeface="Aptos"/>
              </a:rPr>
              <a:t>Internet</a:t>
            </a:r>
            <a:r>
              <a:rPr sz="2800" spc="135" dirty="0">
                <a:latin typeface="Times New Roman"/>
                <a:cs typeface="Times New Roman"/>
              </a:rPr>
              <a:t>  </a:t>
            </a:r>
            <a:r>
              <a:rPr sz="2800" dirty="0">
                <a:latin typeface="Aptos"/>
                <a:cs typeface="Aptos"/>
              </a:rPr>
              <a:t>The</a:t>
            </a:r>
            <a:r>
              <a:rPr sz="2800" spc="135" dirty="0">
                <a:latin typeface="Times New Roman"/>
                <a:cs typeface="Times New Roman"/>
              </a:rPr>
              <a:t>  </a:t>
            </a:r>
            <a:r>
              <a:rPr sz="2800" dirty="0">
                <a:latin typeface="Aptos"/>
                <a:cs typeface="Aptos"/>
              </a:rPr>
              <a:t>Internet</a:t>
            </a:r>
            <a:r>
              <a:rPr sz="2800" spc="125" dirty="0">
                <a:latin typeface="Times New Roman"/>
                <a:cs typeface="Times New Roman"/>
              </a:rPr>
              <a:t>  </a:t>
            </a:r>
            <a:r>
              <a:rPr sz="2800" dirty="0">
                <a:latin typeface="Aptos"/>
                <a:cs typeface="Aptos"/>
              </a:rPr>
              <a:t>is</a:t>
            </a:r>
            <a:r>
              <a:rPr sz="2800" spc="140" dirty="0">
                <a:latin typeface="Times New Roman"/>
                <a:cs typeface="Times New Roman"/>
              </a:rPr>
              <a:t>  </a:t>
            </a:r>
            <a:r>
              <a:rPr sz="2800" dirty="0">
                <a:latin typeface="Aptos"/>
                <a:cs typeface="Aptos"/>
              </a:rPr>
              <a:t>an</a:t>
            </a:r>
            <a:r>
              <a:rPr sz="2800" spc="125" dirty="0">
                <a:latin typeface="Times New Roman"/>
                <a:cs typeface="Times New Roman"/>
              </a:rPr>
              <a:t>  </a:t>
            </a:r>
            <a:r>
              <a:rPr sz="2800" spc="-10" dirty="0">
                <a:latin typeface="Aptos"/>
                <a:cs typeface="Aptos"/>
              </a:rPr>
              <a:t>interconnected</a:t>
            </a:r>
            <a:r>
              <a:rPr sz="2800" spc="-10" dirty="0">
                <a:latin typeface="Times New Roman"/>
                <a:cs typeface="Times New Roman"/>
              </a:rPr>
              <a:t> </a:t>
            </a:r>
            <a:r>
              <a:rPr sz="2800" spc="-20" dirty="0">
                <a:latin typeface="Aptos"/>
                <a:cs typeface="Aptos"/>
              </a:rPr>
              <a:t>network</a:t>
            </a:r>
            <a:r>
              <a:rPr sz="2800" spc="-125" dirty="0">
                <a:latin typeface="Times New Roman"/>
                <a:cs typeface="Times New Roman"/>
              </a:rPr>
              <a:t> </a:t>
            </a:r>
            <a:r>
              <a:rPr sz="2800" dirty="0">
                <a:latin typeface="Aptos"/>
                <a:cs typeface="Aptos"/>
              </a:rPr>
              <a:t>of</a:t>
            </a:r>
            <a:r>
              <a:rPr sz="2800" spc="-130" dirty="0">
                <a:latin typeface="Times New Roman"/>
                <a:cs typeface="Times New Roman"/>
              </a:rPr>
              <a:t> </a:t>
            </a:r>
            <a:r>
              <a:rPr sz="2800" spc="-20" dirty="0">
                <a:latin typeface="Aptos"/>
                <a:cs typeface="Aptos"/>
              </a:rPr>
              <a:t>thousands</a:t>
            </a:r>
            <a:r>
              <a:rPr sz="2800" spc="-100" dirty="0">
                <a:latin typeface="Times New Roman"/>
                <a:cs typeface="Times New Roman"/>
              </a:rPr>
              <a:t> </a:t>
            </a:r>
            <a:r>
              <a:rPr sz="2800" dirty="0">
                <a:latin typeface="Aptos"/>
                <a:cs typeface="Aptos"/>
              </a:rPr>
              <a:t>of</a:t>
            </a:r>
            <a:r>
              <a:rPr sz="2800" spc="-130" dirty="0">
                <a:latin typeface="Times New Roman"/>
                <a:cs typeface="Times New Roman"/>
              </a:rPr>
              <a:t> </a:t>
            </a:r>
            <a:r>
              <a:rPr sz="2800" spc="-25" dirty="0">
                <a:latin typeface="Aptos"/>
                <a:cs typeface="Aptos"/>
              </a:rPr>
              <a:t>networks</a:t>
            </a:r>
            <a:r>
              <a:rPr sz="2800" spc="-125" dirty="0">
                <a:latin typeface="Times New Roman"/>
                <a:cs typeface="Times New Roman"/>
              </a:rPr>
              <a:t> </a:t>
            </a:r>
            <a:r>
              <a:rPr sz="2800" dirty="0">
                <a:latin typeface="Aptos"/>
                <a:cs typeface="Aptos"/>
              </a:rPr>
              <a:t>and</a:t>
            </a:r>
            <a:r>
              <a:rPr sz="2800" spc="-120" dirty="0">
                <a:latin typeface="Times New Roman"/>
                <a:cs typeface="Times New Roman"/>
              </a:rPr>
              <a:t> </a:t>
            </a:r>
            <a:r>
              <a:rPr sz="2800" spc="-20" dirty="0">
                <a:latin typeface="Aptos"/>
                <a:cs typeface="Aptos"/>
              </a:rPr>
              <a:t>millions</a:t>
            </a:r>
            <a:r>
              <a:rPr sz="2800" spc="-120" dirty="0">
                <a:latin typeface="Times New Roman"/>
                <a:cs typeface="Times New Roman"/>
              </a:rPr>
              <a:t> </a:t>
            </a:r>
            <a:r>
              <a:rPr sz="2800" dirty="0">
                <a:latin typeface="Aptos"/>
                <a:cs typeface="Aptos"/>
              </a:rPr>
              <a:t>of</a:t>
            </a:r>
            <a:r>
              <a:rPr sz="2800" spc="-114" dirty="0">
                <a:latin typeface="Times New Roman"/>
                <a:cs typeface="Times New Roman"/>
              </a:rPr>
              <a:t> </a:t>
            </a:r>
            <a:r>
              <a:rPr sz="2800" spc="-20" dirty="0">
                <a:latin typeface="Aptos"/>
                <a:cs typeface="Aptos"/>
              </a:rPr>
              <a:t>computers</a:t>
            </a:r>
            <a:r>
              <a:rPr sz="2800" spc="-130" dirty="0">
                <a:latin typeface="Times New Roman"/>
                <a:cs typeface="Times New Roman"/>
              </a:rPr>
              <a:t> </a:t>
            </a:r>
            <a:r>
              <a:rPr sz="2800" spc="-10" dirty="0">
                <a:latin typeface="Aptos"/>
                <a:cs typeface="Aptos"/>
              </a:rPr>
              <a:t>linking</a:t>
            </a:r>
            <a:r>
              <a:rPr sz="2800" spc="-10" dirty="0">
                <a:latin typeface="Times New Roman"/>
                <a:cs typeface="Times New Roman"/>
              </a:rPr>
              <a:t> </a:t>
            </a:r>
            <a:r>
              <a:rPr sz="2800" dirty="0">
                <a:latin typeface="Aptos"/>
                <a:cs typeface="Aptos"/>
              </a:rPr>
              <a:t>business,</a:t>
            </a:r>
            <a:r>
              <a:rPr sz="2800" spc="470" dirty="0">
                <a:latin typeface="Times New Roman"/>
                <a:cs typeface="Times New Roman"/>
              </a:rPr>
              <a:t>  </a:t>
            </a:r>
            <a:r>
              <a:rPr sz="2800" dirty="0">
                <a:latin typeface="Aptos"/>
                <a:cs typeface="Aptos"/>
              </a:rPr>
              <a:t>education</a:t>
            </a:r>
            <a:r>
              <a:rPr sz="2800" spc="465" dirty="0">
                <a:latin typeface="Times New Roman"/>
                <a:cs typeface="Times New Roman"/>
              </a:rPr>
              <a:t>  </a:t>
            </a:r>
            <a:r>
              <a:rPr sz="2800" dirty="0">
                <a:latin typeface="Aptos"/>
                <a:cs typeface="Aptos"/>
              </a:rPr>
              <a:t>institutions,</a:t>
            </a:r>
            <a:r>
              <a:rPr sz="2800" spc="465" dirty="0">
                <a:latin typeface="Times New Roman"/>
                <a:cs typeface="Times New Roman"/>
              </a:rPr>
              <a:t>  </a:t>
            </a:r>
            <a:r>
              <a:rPr sz="2800" dirty="0">
                <a:latin typeface="Aptos"/>
                <a:cs typeface="Aptos"/>
              </a:rPr>
              <a:t>government</a:t>
            </a:r>
            <a:r>
              <a:rPr sz="2800" spc="459" dirty="0">
                <a:latin typeface="Times New Roman"/>
                <a:cs typeface="Times New Roman"/>
              </a:rPr>
              <a:t>  </a:t>
            </a:r>
            <a:r>
              <a:rPr sz="2800" dirty="0">
                <a:latin typeface="Aptos"/>
                <a:cs typeface="Aptos"/>
              </a:rPr>
              <a:t>agencies,</a:t>
            </a:r>
            <a:r>
              <a:rPr sz="2800" spc="470" dirty="0">
                <a:latin typeface="Times New Roman"/>
                <a:cs typeface="Times New Roman"/>
              </a:rPr>
              <a:t>  </a:t>
            </a:r>
            <a:r>
              <a:rPr sz="2800" spc="-25" dirty="0">
                <a:latin typeface="Aptos"/>
                <a:cs typeface="Aptos"/>
              </a:rPr>
              <a:t>and</a:t>
            </a:r>
            <a:r>
              <a:rPr sz="2800" spc="-25" dirty="0">
                <a:latin typeface="Times New Roman"/>
                <a:cs typeface="Times New Roman"/>
              </a:rPr>
              <a:t> </a:t>
            </a:r>
            <a:r>
              <a:rPr sz="2800" spc="-10" dirty="0">
                <a:latin typeface="Aptos"/>
                <a:cs typeface="Aptos"/>
              </a:rPr>
              <a:t>individuals</a:t>
            </a:r>
            <a:r>
              <a:rPr sz="2800" spc="-135" dirty="0">
                <a:latin typeface="Times New Roman"/>
                <a:cs typeface="Times New Roman"/>
              </a:rPr>
              <a:t> </a:t>
            </a:r>
            <a:r>
              <a:rPr sz="2800" spc="-45" dirty="0">
                <a:latin typeface="Aptos"/>
                <a:cs typeface="Aptos"/>
              </a:rPr>
              <a:t>together.</a:t>
            </a:r>
            <a:r>
              <a:rPr sz="2800" spc="-120" dirty="0">
                <a:latin typeface="Times New Roman"/>
                <a:cs typeface="Times New Roman"/>
              </a:rPr>
              <a:t> </a:t>
            </a:r>
            <a:r>
              <a:rPr sz="2800" spc="-10" dirty="0">
                <a:latin typeface="Aptos"/>
                <a:cs typeface="Aptos"/>
              </a:rPr>
              <a:t>Used</a:t>
            </a:r>
            <a:r>
              <a:rPr sz="2800" spc="-114" dirty="0">
                <a:latin typeface="Times New Roman"/>
                <a:cs typeface="Times New Roman"/>
              </a:rPr>
              <a:t> </a:t>
            </a:r>
            <a:r>
              <a:rPr sz="2800" dirty="0">
                <a:latin typeface="Aptos"/>
                <a:cs typeface="Aptos"/>
              </a:rPr>
              <a:t>/</a:t>
            </a:r>
            <a:r>
              <a:rPr sz="2800" spc="-130" dirty="0">
                <a:latin typeface="Times New Roman"/>
                <a:cs typeface="Times New Roman"/>
              </a:rPr>
              <a:t> </a:t>
            </a:r>
            <a:r>
              <a:rPr sz="2800" spc="-25" dirty="0">
                <a:latin typeface="Aptos"/>
                <a:cs typeface="Aptos"/>
              </a:rPr>
              <a:t>application</a:t>
            </a:r>
            <a:r>
              <a:rPr sz="2800" spc="-140" dirty="0">
                <a:latin typeface="Times New Roman"/>
                <a:cs typeface="Times New Roman"/>
              </a:rPr>
              <a:t> </a:t>
            </a:r>
            <a:r>
              <a:rPr sz="2800" dirty="0">
                <a:latin typeface="Aptos"/>
                <a:cs typeface="Aptos"/>
              </a:rPr>
              <a:t>of</a:t>
            </a:r>
            <a:r>
              <a:rPr sz="2800" spc="-130" dirty="0">
                <a:latin typeface="Times New Roman"/>
                <a:cs typeface="Times New Roman"/>
              </a:rPr>
              <a:t> </a:t>
            </a:r>
            <a:r>
              <a:rPr sz="2800" spc="-10" dirty="0">
                <a:latin typeface="Aptos"/>
                <a:cs typeface="Aptos"/>
              </a:rPr>
              <a:t>internet</a:t>
            </a:r>
            <a:endParaRPr sz="2800">
              <a:latin typeface="Aptos"/>
              <a:cs typeface="Aptos"/>
            </a:endParaRPr>
          </a:p>
          <a:p>
            <a:pPr marL="527685" indent="-515620">
              <a:lnSpc>
                <a:spcPct val="100000"/>
              </a:lnSpc>
              <a:spcBef>
                <a:spcPts val="340"/>
              </a:spcBef>
              <a:buAutoNum type="arabicPeriod"/>
              <a:tabLst>
                <a:tab pos="527685" algn="l"/>
                <a:tab pos="528320" algn="l"/>
              </a:tabLst>
            </a:pPr>
            <a:r>
              <a:rPr sz="2800" spc="-20" dirty="0">
                <a:latin typeface="Aptos"/>
                <a:cs typeface="Aptos"/>
              </a:rPr>
              <a:t>Search</a:t>
            </a:r>
            <a:r>
              <a:rPr sz="2800" spc="-120" dirty="0">
                <a:latin typeface="Times New Roman"/>
                <a:cs typeface="Times New Roman"/>
              </a:rPr>
              <a:t> </a:t>
            </a:r>
            <a:r>
              <a:rPr sz="2800" spc="-10" dirty="0">
                <a:latin typeface="Aptos"/>
                <a:cs typeface="Aptos"/>
              </a:rPr>
              <a:t>information</a:t>
            </a:r>
            <a:endParaRPr sz="2800">
              <a:latin typeface="Aptos"/>
              <a:cs typeface="Aptos"/>
            </a:endParaRPr>
          </a:p>
          <a:p>
            <a:pPr marL="527685" indent="-515620">
              <a:lnSpc>
                <a:spcPct val="100000"/>
              </a:lnSpc>
              <a:spcBef>
                <a:spcPts val="335"/>
              </a:spcBef>
              <a:buAutoNum type="arabicPeriod"/>
              <a:tabLst>
                <a:tab pos="527685" algn="l"/>
                <a:tab pos="528320" algn="l"/>
              </a:tabLst>
            </a:pPr>
            <a:r>
              <a:rPr sz="2800" spc="-20" dirty="0">
                <a:latin typeface="Aptos"/>
                <a:cs typeface="Aptos"/>
              </a:rPr>
              <a:t>E-</a:t>
            </a:r>
            <a:r>
              <a:rPr sz="2800" spc="-10" dirty="0">
                <a:latin typeface="Aptos"/>
                <a:cs typeface="Aptos"/>
              </a:rPr>
              <a:t>mail</a:t>
            </a:r>
            <a:r>
              <a:rPr sz="2800" spc="-140" dirty="0">
                <a:latin typeface="Times New Roman"/>
                <a:cs typeface="Times New Roman"/>
              </a:rPr>
              <a:t> </a:t>
            </a:r>
            <a:r>
              <a:rPr sz="2800" spc="-10" dirty="0">
                <a:latin typeface="Aptos"/>
                <a:cs typeface="Aptos"/>
              </a:rPr>
              <a:t>service</a:t>
            </a:r>
            <a:endParaRPr sz="2800">
              <a:latin typeface="Aptos"/>
              <a:cs typeface="Aptos"/>
            </a:endParaRPr>
          </a:p>
          <a:p>
            <a:pPr marL="527685" indent="-515620">
              <a:lnSpc>
                <a:spcPct val="100000"/>
              </a:lnSpc>
              <a:spcBef>
                <a:spcPts val="325"/>
              </a:spcBef>
              <a:buAutoNum type="arabicPeriod"/>
              <a:tabLst>
                <a:tab pos="527685" algn="l"/>
                <a:tab pos="528320" algn="l"/>
              </a:tabLst>
            </a:pPr>
            <a:r>
              <a:rPr sz="2800" spc="-10" dirty="0">
                <a:latin typeface="Aptos"/>
                <a:cs typeface="Aptos"/>
              </a:rPr>
              <a:t>Communication</a:t>
            </a:r>
            <a:endParaRPr sz="2800">
              <a:latin typeface="Aptos"/>
              <a:cs typeface="Aptos"/>
            </a:endParaRPr>
          </a:p>
          <a:p>
            <a:pPr marL="527685" indent="-515620">
              <a:lnSpc>
                <a:spcPct val="100000"/>
              </a:lnSpc>
              <a:spcBef>
                <a:spcPts val="325"/>
              </a:spcBef>
              <a:buAutoNum type="arabicPeriod"/>
              <a:tabLst>
                <a:tab pos="527685" algn="l"/>
                <a:tab pos="528320" algn="l"/>
              </a:tabLst>
            </a:pPr>
            <a:r>
              <a:rPr sz="2800" spc="-20" dirty="0">
                <a:latin typeface="Aptos"/>
                <a:cs typeface="Aptos"/>
              </a:rPr>
              <a:t>File</a:t>
            </a:r>
            <a:r>
              <a:rPr sz="2800" spc="-150" dirty="0">
                <a:latin typeface="Times New Roman"/>
                <a:cs typeface="Times New Roman"/>
              </a:rPr>
              <a:t> </a:t>
            </a:r>
            <a:r>
              <a:rPr sz="2800" spc="-10" dirty="0">
                <a:latin typeface="Aptos"/>
                <a:cs typeface="Aptos"/>
              </a:rPr>
              <a:t>Transfer</a:t>
            </a:r>
            <a:endParaRPr sz="2800">
              <a:latin typeface="Aptos"/>
              <a:cs typeface="Aptos"/>
            </a:endParaRPr>
          </a:p>
        </p:txBody>
      </p:sp>
      <p:sp>
        <p:nvSpPr>
          <p:cNvPr id="3" name="object 3"/>
          <p:cNvSpPr txBox="1"/>
          <p:nvPr/>
        </p:nvSpPr>
        <p:spPr>
          <a:xfrm>
            <a:off x="1444751" y="3784343"/>
            <a:ext cx="2654935" cy="434340"/>
          </a:xfrm>
          <a:prstGeom prst="rect">
            <a:avLst/>
          </a:prstGeom>
          <a:solidFill>
            <a:srgbClr val="FFFF00"/>
          </a:solidFill>
        </p:spPr>
        <p:txBody>
          <a:bodyPr vert="horz" wrap="square" lIns="0" tIns="0" rIns="0" bIns="0" rtlCol="0">
            <a:spAutoFit/>
          </a:bodyPr>
          <a:lstStyle/>
          <a:p>
            <a:pPr>
              <a:lnSpc>
                <a:spcPts val="3210"/>
              </a:lnSpc>
            </a:pPr>
            <a:r>
              <a:rPr sz="2800" b="1" spc="-20" dirty="0">
                <a:latin typeface="Aptos"/>
                <a:cs typeface="Aptos"/>
              </a:rPr>
              <a:t>Remote</a:t>
            </a:r>
            <a:r>
              <a:rPr sz="2800" spc="-160" dirty="0">
                <a:latin typeface="Times New Roman"/>
                <a:cs typeface="Times New Roman"/>
              </a:rPr>
              <a:t> </a:t>
            </a:r>
            <a:r>
              <a:rPr sz="2800" b="1" dirty="0">
                <a:latin typeface="Aptos"/>
                <a:cs typeface="Aptos"/>
              </a:rPr>
              <a:t>login</a:t>
            </a:r>
            <a:r>
              <a:rPr sz="2800" spc="-135" dirty="0">
                <a:latin typeface="Times New Roman"/>
                <a:cs typeface="Times New Roman"/>
              </a:rPr>
              <a:t> </a:t>
            </a:r>
            <a:r>
              <a:rPr sz="2800" b="1" spc="-50" dirty="0">
                <a:latin typeface="Aptos"/>
                <a:cs typeface="Aptos"/>
              </a:rPr>
              <a:t>/</a:t>
            </a:r>
            <a:endParaRPr sz="2800">
              <a:latin typeface="Aptos"/>
              <a:cs typeface="Aptos"/>
            </a:endParaRPr>
          </a:p>
        </p:txBody>
      </p:sp>
      <p:sp>
        <p:nvSpPr>
          <p:cNvPr id="4" name="object 4"/>
          <p:cNvSpPr txBox="1"/>
          <p:nvPr/>
        </p:nvSpPr>
        <p:spPr>
          <a:xfrm>
            <a:off x="916941" y="3752843"/>
            <a:ext cx="8978900" cy="452120"/>
          </a:xfrm>
          <a:prstGeom prst="rect">
            <a:avLst/>
          </a:prstGeom>
        </p:spPr>
        <p:txBody>
          <a:bodyPr vert="horz" wrap="square" lIns="0" tIns="12065" rIns="0" bIns="0" rtlCol="0">
            <a:spAutoFit/>
          </a:bodyPr>
          <a:lstStyle/>
          <a:p>
            <a:pPr marL="12700">
              <a:lnSpc>
                <a:spcPct val="100000"/>
              </a:lnSpc>
              <a:spcBef>
                <a:spcPts val="95"/>
              </a:spcBef>
              <a:tabLst>
                <a:tab pos="3182620" algn="l"/>
              </a:tabLst>
            </a:pPr>
            <a:r>
              <a:rPr sz="2800" b="1" spc="-25" dirty="0">
                <a:latin typeface="Aptos"/>
                <a:cs typeface="Aptos"/>
              </a:rPr>
              <a:t>5.</a:t>
            </a:r>
            <a:r>
              <a:rPr sz="2800" dirty="0">
                <a:latin typeface="Times New Roman"/>
                <a:cs typeface="Times New Roman"/>
              </a:rPr>
              <a:t>	</a:t>
            </a:r>
            <a:r>
              <a:rPr sz="2800" dirty="0">
                <a:solidFill>
                  <a:srgbClr val="FF0000"/>
                </a:solidFill>
                <a:latin typeface="Aptos"/>
                <a:cs typeface="Aptos"/>
              </a:rPr>
              <a:t>eg&gt;</a:t>
            </a:r>
            <a:r>
              <a:rPr sz="2800" spc="-165" dirty="0">
                <a:solidFill>
                  <a:srgbClr val="FF0000"/>
                </a:solidFill>
                <a:latin typeface="Times New Roman"/>
                <a:cs typeface="Times New Roman"/>
              </a:rPr>
              <a:t> </a:t>
            </a:r>
            <a:r>
              <a:rPr sz="2800" spc="-10" dirty="0">
                <a:solidFill>
                  <a:srgbClr val="FF0000"/>
                </a:solidFill>
                <a:latin typeface="Aptos"/>
                <a:cs typeface="Aptos"/>
              </a:rPr>
              <a:t>any</a:t>
            </a:r>
            <a:r>
              <a:rPr sz="2800" spc="-145" dirty="0">
                <a:solidFill>
                  <a:srgbClr val="FF0000"/>
                </a:solidFill>
                <a:latin typeface="Times New Roman"/>
                <a:cs typeface="Times New Roman"/>
              </a:rPr>
              <a:t> </a:t>
            </a:r>
            <a:r>
              <a:rPr sz="2800" spc="-30" dirty="0">
                <a:solidFill>
                  <a:srgbClr val="FF0000"/>
                </a:solidFill>
                <a:latin typeface="Aptos"/>
                <a:cs typeface="Aptos"/>
              </a:rPr>
              <a:t>desk,team</a:t>
            </a:r>
            <a:r>
              <a:rPr sz="2800" spc="-130" dirty="0">
                <a:solidFill>
                  <a:srgbClr val="FF0000"/>
                </a:solidFill>
                <a:latin typeface="Times New Roman"/>
                <a:cs typeface="Times New Roman"/>
              </a:rPr>
              <a:t> </a:t>
            </a:r>
            <a:r>
              <a:rPr sz="2800" spc="-20" dirty="0">
                <a:solidFill>
                  <a:srgbClr val="FF0000"/>
                </a:solidFill>
                <a:latin typeface="Aptos"/>
                <a:cs typeface="Aptos"/>
              </a:rPr>
              <a:t>viwer</a:t>
            </a:r>
            <a:r>
              <a:rPr sz="2800" spc="-155" dirty="0">
                <a:solidFill>
                  <a:srgbClr val="FF0000"/>
                </a:solidFill>
                <a:latin typeface="Times New Roman"/>
                <a:cs typeface="Times New Roman"/>
              </a:rPr>
              <a:t> </a:t>
            </a:r>
            <a:r>
              <a:rPr sz="2800" spc="-10" dirty="0">
                <a:solidFill>
                  <a:srgbClr val="FF0000"/>
                </a:solidFill>
                <a:latin typeface="Aptos"/>
                <a:cs typeface="Aptos"/>
              </a:rPr>
              <a:t>,google</a:t>
            </a:r>
            <a:r>
              <a:rPr sz="2800" spc="-135" dirty="0">
                <a:solidFill>
                  <a:srgbClr val="FF0000"/>
                </a:solidFill>
                <a:latin typeface="Times New Roman"/>
                <a:cs typeface="Times New Roman"/>
              </a:rPr>
              <a:t> </a:t>
            </a:r>
            <a:r>
              <a:rPr sz="2800" spc="-20" dirty="0">
                <a:solidFill>
                  <a:srgbClr val="FF0000"/>
                </a:solidFill>
                <a:latin typeface="Aptos"/>
                <a:cs typeface="Aptos"/>
              </a:rPr>
              <a:t>meet</a:t>
            </a:r>
            <a:endParaRPr sz="2800">
              <a:latin typeface="Aptos"/>
              <a:cs typeface="Aptos"/>
            </a:endParaRPr>
          </a:p>
        </p:txBody>
      </p:sp>
      <p:sp>
        <p:nvSpPr>
          <p:cNvPr id="5" name="object 5"/>
          <p:cNvSpPr txBox="1"/>
          <p:nvPr/>
        </p:nvSpPr>
        <p:spPr>
          <a:xfrm>
            <a:off x="916941" y="4178422"/>
            <a:ext cx="7524115" cy="1899920"/>
          </a:xfrm>
          <a:prstGeom prst="rect">
            <a:avLst/>
          </a:prstGeom>
        </p:spPr>
        <p:txBody>
          <a:bodyPr vert="horz" wrap="square" lIns="0" tIns="54610" rIns="0" bIns="0" rtlCol="0">
            <a:spAutoFit/>
          </a:bodyPr>
          <a:lstStyle/>
          <a:p>
            <a:pPr marL="527685" indent="-515620">
              <a:lnSpc>
                <a:spcPct val="100000"/>
              </a:lnSpc>
              <a:spcBef>
                <a:spcPts val="430"/>
              </a:spcBef>
              <a:buAutoNum type="arabicPeriod" startAt="6"/>
              <a:tabLst>
                <a:tab pos="527685" algn="l"/>
                <a:tab pos="528320" algn="l"/>
              </a:tabLst>
            </a:pPr>
            <a:r>
              <a:rPr sz="2800" spc="-25" dirty="0">
                <a:latin typeface="Aptos"/>
                <a:cs typeface="Aptos"/>
              </a:rPr>
              <a:t>Publishing</a:t>
            </a:r>
            <a:r>
              <a:rPr sz="2800" spc="-130" dirty="0">
                <a:latin typeface="Times New Roman"/>
                <a:cs typeface="Times New Roman"/>
              </a:rPr>
              <a:t> </a:t>
            </a:r>
            <a:r>
              <a:rPr sz="2800" dirty="0">
                <a:latin typeface="Aptos"/>
                <a:cs typeface="Aptos"/>
              </a:rPr>
              <a:t>of</a:t>
            </a:r>
            <a:r>
              <a:rPr sz="2800" spc="-125" dirty="0">
                <a:latin typeface="Times New Roman"/>
                <a:cs typeface="Times New Roman"/>
              </a:rPr>
              <a:t> </a:t>
            </a:r>
            <a:r>
              <a:rPr sz="2800" spc="-20" dirty="0">
                <a:latin typeface="Aptos"/>
                <a:cs typeface="Aptos"/>
              </a:rPr>
              <a:t>articles,</a:t>
            </a:r>
            <a:r>
              <a:rPr sz="2800" spc="-130" dirty="0">
                <a:latin typeface="Times New Roman"/>
                <a:cs typeface="Times New Roman"/>
              </a:rPr>
              <a:t> </a:t>
            </a:r>
            <a:r>
              <a:rPr sz="2800" spc="-25" dirty="0">
                <a:latin typeface="Aptos"/>
                <a:cs typeface="Aptos"/>
              </a:rPr>
              <a:t>reports,</a:t>
            </a:r>
            <a:r>
              <a:rPr sz="2800" spc="-114" dirty="0">
                <a:latin typeface="Times New Roman"/>
                <a:cs typeface="Times New Roman"/>
              </a:rPr>
              <a:t> </a:t>
            </a:r>
            <a:r>
              <a:rPr sz="2800" spc="-10" dirty="0">
                <a:latin typeface="Aptos"/>
                <a:cs typeface="Aptos"/>
              </a:rPr>
              <a:t>and</a:t>
            </a:r>
            <a:r>
              <a:rPr sz="2800" spc="-130" dirty="0">
                <a:latin typeface="Times New Roman"/>
                <a:cs typeface="Times New Roman"/>
              </a:rPr>
              <a:t> </a:t>
            </a:r>
            <a:r>
              <a:rPr sz="2800" spc="-10" dirty="0">
                <a:latin typeface="Aptos"/>
                <a:cs typeface="Aptos"/>
              </a:rPr>
              <a:t>newsletter.</a:t>
            </a:r>
            <a:endParaRPr sz="2800">
              <a:latin typeface="Aptos"/>
              <a:cs typeface="Aptos"/>
            </a:endParaRPr>
          </a:p>
          <a:p>
            <a:pPr marL="527685" indent="-515620">
              <a:lnSpc>
                <a:spcPct val="100000"/>
              </a:lnSpc>
              <a:spcBef>
                <a:spcPts val="325"/>
              </a:spcBef>
              <a:buAutoNum type="arabicPeriod" startAt="6"/>
              <a:tabLst>
                <a:tab pos="527685" algn="l"/>
                <a:tab pos="528320" algn="l"/>
              </a:tabLst>
            </a:pPr>
            <a:r>
              <a:rPr sz="2800" spc="-20" dirty="0">
                <a:latin typeface="Aptos"/>
                <a:cs typeface="Aptos"/>
              </a:rPr>
              <a:t>Online</a:t>
            </a:r>
            <a:r>
              <a:rPr sz="2800" spc="-120" dirty="0">
                <a:latin typeface="Times New Roman"/>
                <a:cs typeface="Times New Roman"/>
              </a:rPr>
              <a:t> </a:t>
            </a:r>
            <a:r>
              <a:rPr sz="2800" spc="-10" dirty="0">
                <a:latin typeface="Aptos"/>
                <a:cs typeface="Aptos"/>
              </a:rPr>
              <a:t>education</a:t>
            </a:r>
            <a:endParaRPr sz="2800">
              <a:latin typeface="Aptos"/>
              <a:cs typeface="Aptos"/>
            </a:endParaRPr>
          </a:p>
          <a:p>
            <a:pPr marL="527685" indent="-515620">
              <a:lnSpc>
                <a:spcPct val="100000"/>
              </a:lnSpc>
              <a:spcBef>
                <a:spcPts val="335"/>
              </a:spcBef>
              <a:buAutoNum type="arabicPeriod" startAt="6"/>
              <a:tabLst>
                <a:tab pos="527685" algn="l"/>
                <a:tab pos="528320" algn="l"/>
              </a:tabLst>
            </a:pPr>
            <a:r>
              <a:rPr sz="2800" spc="-20" dirty="0">
                <a:latin typeface="Aptos"/>
                <a:cs typeface="Aptos"/>
              </a:rPr>
              <a:t>Online</a:t>
            </a:r>
            <a:r>
              <a:rPr sz="2800" spc="-120" dirty="0">
                <a:latin typeface="Times New Roman"/>
                <a:cs typeface="Times New Roman"/>
              </a:rPr>
              <a:t> </a:t>
            </a:r>
            <a:r>
              <a:rPr sz="2800" spc="-10" dirty="0">
                <a:latin typeface="Aptos"/>
                <a:cs typeface="Aptos"/>
              </a:rPr>
              <a:t>shopping.</a:t>
            </a:r>
            <a:endParaRPr sz="2800">
              <a:latin typeface="Aptos"/>
              <a:cs typeface="Aptos"/>
            </a:endParaRPr>
          </a:p>
          <a:p>
            <a:pPr marL="527685" indent="-515620">
              <a:lnSpc>
                <a:spcPct val="100000"/>
              </a:lnSpc>
              <a:spcBef>
                <a:spcPts val="325"/>
              </a:spcBef>
              <a:buAutoNum type="arabicPeriod" startAt="6"/>
              <a:tabLst>
                <a:tab pos="527685" algn="l"/>
                <a:tab pos="528320" algn="l"/>
              </a:tabLst>
            </a:pPr>
            <a:r>
              <a:rPr sz="2800" dirty="0">
                <a:latin typeface="Aptos"/>
                <a:cs typeface="Aptos"/>
              </a:rPr>
              <a:t>9.</a:t>
            </a:r>
            <a:r>
              <a:rPr sz="2800" spc="-150" dirty="0">
                <a:latin typeface="Times New Roman"/>
                <a:cs typeface="Times New Roman"/>
              </a:rPr>
              <a:t> </a:t>
            </a:r>
            <a:r>
              <a:rPr sz="2800" spc="-10" dirty="0">
                <a:latin typeface="Aptos"/>
                <a:cs typeface="Aptos"/>
              </a:rPr>
              <a:t>Entertainment.</a:t>
            </a:r>
            <a:endParaRPr sz="2800">
              <a:latin typeface="Aptos"/>
              <a:cs typeface="Apto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1" y="303389"/>
            <a:ext cx="2875915" cy="696595"/>
          </a:xfrm>
          <a:prstGeom prst="rect">
            <a:avLst/>
          </a:prstGeom>
        </p:spPr>
        <p:txBody>
          <a:bodyPr vert="horz" wrap="square" lIns="0" tIns="13335" rIns="0" bIns="0" rtlCol="0">
            <a:spAutoFit/>
          </a:bodyPr>
          <a:lstStyle/>
          <a:p>
            <a:pPr marL="12700">
              <a:lnSpc>
                <a:spcPct val="100000"/>
              </a:lnSpc>
              <a:spcBef>
                <a:spcPts val="105"/>
              </a:spcBef>
            </a:pPr>
            <a:r>
              <a:rPr dirty="0"/>
              <a:t>IP</a:t>
            </a:r>
            <a:r>
              <a:rPr spc="-250" dirty="0">
                <a:latin typeface="Times New Roman"/>
                <a:cs typeface="Times New Roman"/>
              </a:rPr>
              <a:t> </a:t>
            </a:r>
            <a:r>
              <a:rPr spc="-10" dirty="0"/>
              <a:t>ADDRESS</a:t>
            </a:r>
          </a:p>
        </p:txBody>
      </p:sp>
      <p:sp>
        <p:nvSpPr>
          <p:cNvPr id="3" name="object 3"/>
          <p:cNvSpPr txBox="1"/>
          <p:nvPr/>
        </p:nvSpPr>
        <p:spPr>
          <a:xfrm>
            <a:off x="916941" y="1181167"/>
            <a:ext cx="10358120"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Aptos"/>
                <a:cs typeface="Aptos"/>
              </a:rPr>
              <a:t>An</a:t>
            </a:r>
            <a:r>
              <a:rPr sz="2400" spc="45" dirty="0">
                <a:latin typeface="Times New Roman"/>
                <a:cs typeface="Times New Roman"/>
              </a:rPr>
              <a:t> </a:t>
            </a:r>
            <a:r>
              <a:rPr sz="2400" dirty="0">
                <a:latin typeface="Aptos"/>
                <a:cs typeface="Aptos"/>
              </a:rPr>
              <a:t>IP</a:t>
            </a:r>
            <a:r>
              <a:rPr sz="2400" spc="50" dirty="0">
                <a:latin typeface="Times New Roman"/>
                <a:cs typeface="Times New Roman"/>
              </a:rPr>
              <a:t> </a:t>
            </a:r>
            <a:r>
              <a:rPr sz="2400" dirty="0">
                <a:latin typeface="Aptos"/>
                <a:cs typeface="Aptos"/>
              </a:rPr>
              <a:t>address</a:t>
            </a:r>
            <a:r>
              <a:rPr sz="2400" spc="55" dirty="0">
                <a:latin typeface="Times New Roman"/>
                <a:cs typeface="Times New Roman"/>
              </a:rPr>
              <a:t> </a:t>
            </a:r>
            <a:r>
              <a:rPr sz="2400" dirty="0">
                <a:latin typeface="Aptos"/>
                <a:cs typeface="Aptos"/>
              </a:rPr>
              <a:t>is</a:t>
            </a:r>
            <a:r>
              <a:rPr sz="2400" spc="50" dirty="0">
                <a:latin typeface="Times New Roman"/>
                <a:cs typeface="Times New Roman"/>
              </a:rPr>
              <a:t> </a:t>
            </a:r>
            <a:r>
              <a:rPr sz="2400" dirty="0">
                <a:latin typeface="Aptos"/>
                <a:cs typeface="Aptos"/>
              </a:rPr>
              <a:t>a</a:t>
            </a:r>
            <a:r>
              <a:rPr sz="2400" spc="40" dirty="0">
                <a:latin typeface="Times New Roman"/>
                <a:cs typeface="Times New Roman"/>
              </a:rPr>
              <a:t> </a:t>
            </a:r>
            <a:r>
              <a:rPr sz="2400" dirty="0">
                <a:latin typeface="Aptos"/>
                <a:cs typeface="Aptos"/>
              </a:rPr>
              <a:t>unique</a:t>
            </a:r>
            <a:r>
              <a:rPr sz="2400" spc="50" dirty="0">
                <a:latin typeface="Times New Roman"/>
                <a:cs typeface="Times New Roman"/>
              </a:rPr>
              <a:t> </a:t>
            </a:r>
            <a:r>
              <a:rPr sz="2400" dirty="0">
                <a:latin typeface="Aptos"/>
                <a:cs typeface="Aptos"/>
              </a:rPr>
              <a:t>numerical</a:t>
            </a:r>
            <a:r>
              <a:rPr sz="2400" spc="45" dirty="0">
                <a:latin typeface="Times New Roman"/>
                <a:cs typeface="Times New Roman"/>
              </a:rPr>
              <a:t> </a:t>
            </a:r>
            <a:r>
              <a:rPr sz="2400" dirty="0">
                <a:latin typeface="Aptos"/>
                <a:cs typeface="Aptos"/>
              </a:rPr>
              <a:t>label</a:t>
            </a:r>
            <a:r>
              <a:rPr sz="2400" spc="50" dirty="0">
                <a:latin typeface="Times New Roman"/>
                <a:cs typeface="Times New Roman"/>
              </a:rPr>
              <a:t> </a:t>
            </a:r>
            <a:r>
              <a:rPr sz="2400" dirty="0">
                <a:latin typeface="Aptos"/>
                <a:cs typeface="Aptos"/>
              </a:rPr>
              <a:t>assigned</a:t>
            </a:r>
            <a:r>
              <a:rPr sz="2400" spc="45" dirty="0">
                <a:latin typeface="Times New Roman"/>
                <a:cs typeface="Times New Roman"/>
              </a:rPr>
              <a:t> </a:t>
            </a:r>
            <a:r>
              <a:rPr sz="2400" dirty="0">
                <a:latin typeface="Aptos"/>
                <a:cs typeface="Aptos"/>
              </a:rPr>
              <a:t>to</a:t>
            </a:r>
            <a:r>
              <a:rPr sz="2400" spc="50" dirty="0">
                <a:latin typeface="Times New Roman"/>
                <a:cs typeface="Times New Roman"/>
              </a:rPr>
              <a:t> </a:t>
            </a:r>
            <a:r>
              <a:rPr sz="2400" dirty="0">
                <a:latin typeface="Aptos"/>
                <a:cs typeface="Aptos"/>
              </a:rPr>
              <a:t>each</a:t>
            </a:r>
            <a:r>
              <a:rPr sz="2400" spc="55" dirty="0">
                <a:latin typeface="Times New Roman"/>
                <a:cs typeface="Times New Roman"/>
              </a:rPr>
              <a:t> </a:t>
            </a:r>
            <a:r>
              <a:rPr sz="2400" dirty="0">
                <a:latin typeface="Aptos"/>
                <a:cs typeface="Aptos"/>
              </a:rPr>
              <a:t>device</a:t>
            </a:r>
            <a:r>
              <a:rPr sz="2400" spc="55" dirty="0">
                <a:latin typeface="Times New Roman"/>
                <a:cs typeface="Times New Roman"/>
              </a:rPr>
              <a:t> </a:t>
            </a:r>
            <a:r>
              <a:rPr sz="2400" spc="-10" dirty="0">
                <a:latin typeface="Aptos"/>
                <a:cs typeface="Aptos"/>
              </a:rPr>
              <a:t>connected</a:t>
            </a:r>
            <a:endParaRPr sz="2400">
              <a:latin typeface="Aptos"/>
              <a:cs typeface="Aptos"/>
            </a:endParaRPr>
          </a:p>
        </p:txBody>
      </p:sp>
      <p:sp>
        <p:nvSpPr>
          <p:cNvPr id="4" name="object 4"/>
          <p:cNvSpPr txBox="1"/>
          <p:nvPr/>
        </p:nvSpPr>
        <p:spPr>
          <a:xfrm>
            <a:off x="916940" y="1437199"/>
            <a:ext cx="10359390"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Aptos"/>
                <a:cs typeface="Aptos"/>
              </a:rPr>
              <a:t>to</a:t>
            </a:r>
            <a:r>
              <a:rPr sz="2400" spc="160" dirty="0">
                <a:latin typeface="Times New Roman"/>
                <a:cs typeface="Times New Roman"/>
              </a:rPr>
              <a:t> </a:t>
            </a:r>
            <a:r>
              <a:rPr sz="2400" dirty="0">
                <a:latin typeface="Aptos"/>
                <a:cs typeface="Aptos"/>
              </a:rPr>
              <a:t>a</a:t>
            </a:r>
            <a:r>
              <a:rPr sz="2400" spc="160" dirty="0">
                <a:latin typeface="Times New Roman"/>
                <a:cs typeface="Times New Roman"/>
              </a:rPr>
              <a:t> </a:t>
            </a:r>
            <a:r>
              <a:rPr sz="2400" dirty="0">
                <a:latin typeface="Aptos"/>
                <a:cs typeface="Aptos"/>
              </a:rPr>
              <a:t>computer</a:t>
            </a:r>
            <a:r>
              <a:rPr sz="2400" spc="160" dirty="0">
                <a:latin typeface="Times New Roman"/>
                <a:cs typeface="Times New Roman"/>
              </a:rPr>
              <a:t> </a:t>
            </a:r>
            <a:r>
              <a:rPr sz="2400" dirty="0">
                <a:latin typeface="Aptos"/>
                <a:cs typeface="Aptos"/>
              </a:rPr>
              <a:t>network</a:t>
            </a:r>
            <a:r>
              <a:rPr sz="2400" spc="165" dirty="0">
                <a:latin typeface="Times New Roman"/>
                <a:cs typeface="Times New Roman"/>
              </a:rPr>
              <a:t> </a:t>
            </a:r>
            <a:r>
              <a:rPr sz="2400" dirty="0">
                <a:latin typeface="Aptos"/>
                <a:cs typeface="Aptos"/>
              </a:rPr>
              <a:t>that</a:t>
            </a:r>
            <a:r>
              <a:rPr sz="2400" spc="170" dirty="0">
                <a:latin typeface="Times New Roman"/>
                <a:cs typeface="Times New Roman"/>
              </a:rPr>
              <a:t> </a:t>
            </a:r>
            <a:r>
              <a:rPr sz="2400" dirty="0">
                <a:latin typeface="Aptos"/>
                <a:cs typeface="Aptos"/>
              </a:rPr>
              <a:t>uses</a:t>
            </a:r>
            <a:r>
              <a:rPr sz="2400" spc="145" dirty="0">
                <a:latin typeface="Times New Roman"/>
                <a:cs typeface="Times New Roman"/>
              </a:rPr>
              <a:t> </a:t>
            </a:r>
            <a:r>
              <a:rPr sz="2400" dirty="0">
                <a:latin typeface="Aptos"/>
                <a:cs typeface="Aptos"/>
              </a:rPr>
              <a:t>the</a:t>
            </a:r>
            <a:r>
              <a:rPr sz="2400" spc="160" dirty="0">
                <a:latin typeface="Times New Roman"/>
                <a:cs typeface="Times New Roman"/>
              </a:rPr>
              <a:t> </a:t>
            </a:r>
            <a:r>
              <a:rPr sz="2400" dirty="0">
                <a:latin typeface="Aptos"/>
                <a:cs typeface="Aptos"/>
              </a:rPr>
              <a:t>Internet</a:t>
            </a:r>
            <a:r>
              <a:rPr sz="2400" spc="165" dirty="0">
                <a:latin typeface="Times New Roman"/>
                <a:cs typeface="Times New Roman"/>
              </a:rPr>
              <a:t> </a:t>
            </a:r>
            <a:r>
              <a:rPr sz="2400" dirty="0">
                <a:latin typeface="Aptos"/>
                <a:cs typeface="Aptos"/>
              </a:rPr>
              <a:t>Protocol</a:t>
            </a:r>
            <a:r>
              <a:rPr sz="2400" spc="170" dirty="0">
                <a:latin typeface="Times New Roman"/>
                <a:cs typeface="Times New Roman"/>
              </a:rPr>
              <a:t> </a:t>
            </a:r>
            <a:r>
              <a:rPr sz="2400" dirty="0">
                <a:latin typeface="Aptos"/>
                <a:cs typeface="Aptos"/>
              </a:rPr>
              <a:t>for</a:t>
            </a:r>
            <a:r>
              <a:rPr sz="2400" spc="165" dirty="0">
                <a:latin typeface="Times New Roman"/>
                <a:cs typeface="Times New Roman"/>
              </a:rPr>
              <a:t> </a:t>
            </a:r>
            <a:r>
              <a:rPr sz="2400" dirty="0">
                <a:latin typeface="Aptos"/>
                <a:cs typeface="Aptos"/>
              </a:rPr>
              <a:t>communication.</a:t>
            </a:r>
            <a:r>
              <a:rPr sz="2400" spc="175" dirty="0">
                <a:latin typeface="Times New Roman"/>
                <a:cs typeface="Times New Roman"/>
              </a:rPr>
              <a:t> </a:t>
            </a:r>
            <a:r>
              <a:rPr sz="2400" spc="-50" dirty="0">
                <a:latin typeface="Aptos"/>
                <a:cs typeface="Aptos"/>
              </a:rPr>
              <a:t>A</a:t>
            </a:r>
            <a:endParaRPr sz="2400">
              <a:latin typeface="Aptos"/>
              <a:cs typeface="Aptos"/>
            </a:endParaRPr>
          </a:p>
        </p:txBody>
      </p:sp>
      <p:sp>
        <p:nvSpPr>
          <p:cNvPr id="5" name="object 5"/>
          <p:cNvSpPr txBox="1"/>
          <p:nvPr/>
        </p:nvSpPr>
        <p:spPr>
          <a:xfrm>
            <a:off x="916940" y="1693918"/>
            <a:ext cx="1035875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Aptos"/>
                <a:cs typeface="Aptos"/>
              </a:rPr>
              <a:t>subnet,</a:t>
            </a:r>
            <a:r>
              <a:rPr sz="2400" spc="280" dirty="0">
                <a:latin typeface="Times New Roman"/>
                <a:cs typeface="Times New Roman"/>
              </a:rPr>
              <a:t> </a:t>
            </a:r>
            <a:r>
              <a:rPr sz="2400" dirty="0">
                <a:latin typeface="Aptos"/>
                <a:cs typeface="Aptos"/>
              </a:rPr>
              <a:t>or</a:t>
            </a:r>
            <a:r>
              <a:rPr sz="2400" spc="270" dirty="0">
                <a:latin typeface="Times New Roman"/>
                <a:cs typeface="Times New Roman"/>
              </a:rPr>
              <a:t> </a:t>
            </a:r>
            <a:r>
              <a:rPr sz="2400" dirty="0">
                <a:latin typeface="Aptos"/>
                <a:cs typeface="Aptos"/>
              </a:rPr>
              <a:t>subnetwork,</a:t>
            </a:r>
            <a:r>
              <a:rPr sz="2400" spc="275" dirty="0">
                <a:latin typeface="Times New Roman"/>
                <a:cs typeface="Times New Roman"/>
              </a:rPr>
              <a:t> </a:t>
            </a:r>
            <a:r>
              <a:rPr sz="2400" dirty="0">
                <a:latin typeface="Aptos"/>
                <a:cs typeface="Aptos"/>
              </a:rPr>
              <a:t>is</a:t>
            </a:r>
            <a:r>
              <a:rPr sz="2400" spc="280" dirty="0">
                <a:latin typeface="Times New Roman"/>
                <a:cs typeface="Times New Roman"/>
              </a:rPr>
              <a:t> </a:t>
            </a:r>
            <a:r>
              <a:rPr sz="2400" dirty="0">
                <a:latin typeface="Aptos"/>
                <a:cs typeface="Aptos"/>
              </a:rPr>
              <a:t>a</a:t>
            </a:r>
            <a:r>
              <a:rPr sz="2400" spc="270" dirty="0">
                <a:latin typeface="Times New Roman"/>
                <a:cs typeface="Times New Roman"/>
              </a:rPr>
              <a:t> </a:t>
            </a:r>
            <a:r>
              <a:rPr sz="2400" dirty="0">
                <a:latin typeface="Aptos"/>
                <a:cs typeface="Aptos"/>
              </a:rPr>
              <a:t>logical</a:t>
            </a:r>
            <a:r>
              <a:rPr sz="2400" spc="275" dirty="0">
                <a:latin typeface="Times New Roman"/>
                <a:cs typeface="Times New Roman"/>
              </a:rPr>
              <a:t> </a:t>
            </a:r>
            <a:r>
              <a:rPr sz="2400" dirty="0">
                <a:latin typeface="Aptos"/>
                <a:cs typeface="Aptos"/>
              </a:rPr>
              <a:t>subdivision</a:t>
            </a:r>
            <a:r>
              <a:rPr sz="2400" spc="280" dirty="0">
                <a:latin typeface="Times New Roman"/>
                <a:cs typeface="Times New Roman"/>
              </a:rPr>
              <a:t> </a:t>
            </a:r>
            <a:r>
              <a:rPr sz="2400" dirty="0">
                <a:latin typeface="Aptos"/>
                <a:cs typeface="Aptos"/>
              </a:rPr>
              <a:t>of</a:t>
            </a:r>
            <a:r>
              <a:rPr sz="2400" spc="280" dirty="0">
                <a:latin typeface="Times New Roman"/>
                <a:cs typeface="Times New Roman"/>
              </a:rPr>
              <a:t> </a:t>
            </a:r>
            <a:r>
              <a:rPr sz="2400" dirty="0">
                <a:latin typeface="Aptos"/>
                <a:cs typeface="Aptos"/>
              </a:rPr>
              <a:t>an</a:t>
            </a:r>
            <a:r>
              <a:rPr sz="2400" spc="280" dirty="0">
                <a:latin typeface="Times New Roman"/>
                <a:cs typeface="Times New Roman"/>
              </a:rPr>
              <a:t> </a:t>
            </a:r>
            <a:r>
              <a:rPr sz="2400" dirty="0">
                <a:latin typeface="Aptos"/>
                <a:cs typeface="Aptos"/>
              </a:rPr>
              <a:t>IP</a:t>
            </a:r>
            <a:r>
              <a:rPr sz="2400" spc="290" dirty="0">
                <a:latin typeface="Times New Roman"/>
                <a:cs typeface="Times New Roman"/>
              </a:rPr>
              <a:t> </a:t>
            </a:r>
            <a:r>
              <a:rPr sz="2400" dirty="0">
                <a:latin typeface="Aptos"/>
                <a:cs typeface="Aptos"/>
              </a:rPr>
              <a:t>network.</a:t>
            </a:r>
            <a:r>
              <a:rPr sz="2400" spc="280" dirty="0">
                <a:latin typeface="Times New Roman"/>
                <a:cs typeface="Times New Roman"/>
              </a:rPr>
              <a:t> </a:t>
            </a:r>
            <a:r>
              <a:rPr sz="2400" spc="-10" dirty="0">
                <a:latin typeface="Aptos"/>
                <a:cs typeface="Aptos"/>
              </a:rPr>
              <a:t>Subnetting</a:t>
            </a:r>
            <a:endParaRPr sz="2400">
              <a:latin typeface="Aptos"/>
              <a:cs typeface="Aptos"/>
            </a:endParaRPr>
          </a:p>
        </p:txBody>
      </p:sp>
      <p:sp>
        <p:nvSpPr>
          <p:cNvPr id="6" name="object 6"/>
          <p:cNvSpPr txBox="1"/>
          <p:nvPr/>
        </p:nvSpPr>
        <p:spPr>
          <a:xfrm>
            <a:off x="916939" y="1949950"/>
            <a:ext cx="1036002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Aptos"/>
                <a:cs typeface="Aptos"/>
              </a:rPr>
              <a:t>allows</a:t>
            </a:r>
            <a:r>
              <a:rPr sz="2400" spc="-114" dirty="0">
                <a:latin typeface="Times New Roman"/>
                <a:cs typeface="Times New Roman"/>
              </a:rPr>
              <a:t> </a:t>
            </a:r>
            <a:r>
              <a:rPr sz="2400" spc="-10" dirty="0">
                <a:latin typeface="Aptos"/>
                <a:cs typeface="Aptos"/>
              </a:rPr>
              <a:t>administrators</a:t>
            </a:r>
            <a:r>
              <a:rPr sz="2400" spc="-95" dirty="0">
                <a:latin typeface="Times New Roman"/>
                <a:cs typeface="Times New Roman"/>
              </a:rPr>
              <a:t> </a:t>
            </a:r>
            <a:r>
              <a:rPr sz="2400" dirty="0">
                <a:latin typeface="Aptos"/>
                <a:cs typeface="Aptos"/>
              </a:rPr>
              <a:t>to</a:t>
            </a:r>
            <a:r>
              <a:rPr sz="2400" spc="-105" dirty="0">
                <a:latin typeface="Times New Roman"/>
                <a:cs typeface="Times New Roman"/>
              </a:rPr>
              <a:t> </a:t>
            </a:r>
            <a:r>
              <a:rPr sz="2400" dirty="0">
                <a:latin typeface="Aptos"/>
                <a:cs typeface="Aptos"/>
              </a:rPr>
              <a:t>divide</a:t>
            </a:r>
            <a:r>
              <a:rPr sz="2400" spc="-110" dirty="0">
                <a:latin typeface="Times New Roman"/>
                <a:cs typeface="Times New Roman"/>
              </a:rPr>
              <a:t> </a:t>
            </a:r>
            <a:r>
              <a:rPr sz="2400" dirty="0">
                <a:latin typeface="Aptos"/>
                <a:cs typeface="Aptos"/>
              </a:rPr>
              <a:t>a</a:t>
            </a:r>
            <a:r>
              <a:rPr sz="2400" spc="-100" dirty="0">
                <a:latin typeface="Times New Roman"/>
                <a:cs typeface="Times New Roman"/>
              </a:rPr>
              <a:t> </a:t>
            </a:r>
            <a:r>
              <a:rPr sz="2400" dirty="0">
                <a:latin typeface="Aptos"/>
                <a:cs typeface="Aptos"/>
              </a:rPr>
              <a:t>larger</a:t>
            </a:r>
            <a:r>
              <a:rPr sz="2400" spc="-95" dirty="0">
                <a:latin typeface="Times New Roman"/>
                <a:cs typeface="Times New Roman"/>
              </a:rPr>
              <a:t> </a:t>
            </a:r>
            <a:r>
              <a:rPr sz="2400" dirty="0">
                <a:latin typeface="Aptos"/>
                <a:cs typeface="Aptos"/>
              </a:rPr>
              <a:t>network</a:t>
            </a:r>
            <a:r>
              <a:rPr sz="2400" spc="-120" dirty="0">
                <a:latin typeface="Times New Roman"/>
                <a:cs typeface="Times New Roman"/>
              </a:rPr>
              <a:t> </a:t>
            </a:r>
            <a:r>
              <a:rPr sz="2400" dirty="0">
                <a:latin typeface="Aptos"/>
                <a:cs typeface="Aptos"/>
              </a:rPr>
              <a:t>into</a:t>
            </a:r>
            <a:r>
              <a:rPr sz="2400" spc="-110" dirty="0">
                <a:latin typeface="Times New Roman"/>
                <a:cs typeface="Times New Roman"/>
              </a:rPr>
              <a:t> </a:t>
            </a:r>
            <a:r>
              <a:rPr sz="2400" spc="-25" dirty="0">
                <a:latin typeface="Aptos"/>
                <a:cs typeface="Aptos"/>
              </a:rPr>
              <a:t>smaller,</a:t>
            </a:r>
            <a:r>
              <a:rPr sz="2400" spc="-100" dirty="0">
                <a:latin typeface="Times New Roman"/>
                <a:cs typeface="Times New Roman"/>
              </a:rPr>
              <a:t> </a:t>
            </a:r>
            <a:r>
              <a:rPr sz="2400" dirty="0">
                <a:latin typeface="Aptos"/>
                <a:cs typeface="Aptos"/>
              </a:rPr>
              <a:t>more</a:t>
            </a:r>
            <a:r>
              <a:rPr sz="2400" spc="-105" dirty="0">
                <a:latin typeface="Times New Roman"/>
                <a:cs typeface="Times New Roman"/>
              </a:rPr>
              <a:t> </a:t>
            </a:r>
            <a:r>
              <a:rPr sz="2400" spc="-10" dirty="0">
                <a:latin typeface="Aptos"/>
                <a:cs typeface="Aptos"/>
              </a:rPr>
              <a:t>manageable</a:t>
            </a:r>
            <a:endParaRPr sz="2400">
              <a:latin typeface="Aptos"/>
              <a:cs typeface="Aptos"/>
            </a:endParaRPr>
          </a:p>
        </p:txBody>
      </p:sp>
      <p:sp>
        <p:nvSpPr>
          <p:cNvPr id="7" name="object 7"/>
          <p:cNvSpPr txBox="1">
            <a:spLocks noGrp="1"/>
          </p:cNvSpPr>
          <p:nvPr>
            <p:ph type="body" idx="1"/>
          </p:nvPr>
        </p:nvSpPr>
        <p:spPr>
          <a:prstGeom prst="rect">
            <a:avLst/>
          </a:prstGeom>
        </p:spPr>
        <p:txBody>
          <a:bodyPr vert="horz" wrap="square" lIns="0" tIns="5080" rIns="0" bIns="0" rtlCol="0">
            <a:spAutoFit/>
          </a:bodyPr>
          <a:lstStyle/>
          <a:p>
            <a:pPr marL="12700" marR="2311400">
              <a:lnSpc>
                <a:spcPct val="102099"/>
              </a:lnSpc>
              <a:spcBef>
                <a:spcPts val="40"/>
              </a:spcBef>
            </a:pPr>
            <a:r>
              <a:rPr spc="-10" dirty="0"/>
              <a:t>segments,</a:t>
            </a:r>
            <a:r>
              <a:rPr spc="-105" dirty="0">
                <a:latin typeface="Times New Roman"/>
                <a:cs typeface="Times New Roman"/>
              </a:rPr>
              <a:t> </a:t>
            </a:r>
            <a:r>
              <a:rPr spc="-10" dirty="0"/>
              <a:t>improving</a:t>
            </a:r>
            <a:r>
              <a:rPr spc="-90" dirty="0">
                <a:latin typeface="Times New Roman"/>
                <a:cs typeface="Times New Roman"/>
              </a:rPr>
              <a:t> </a:t>
            </a:r>
            <a:r>
              <a:rPr spc="-10" dirty="0"/>
              <a:t>network</a:t>
            </a:r>
            <a:r>
              <a:rPr spc="-110" dirty="0">
                <a:latin typeface="Times New Roman"/>
                <a:cs typeface="Times New Roman"/>
              </a:rPr>
              <a:t> </a:t>
            </a:r>
            <a:r>
              <a:rPr spc="-10" dirty="0"/>
              <a:t>organization</a:t>
            </a:r>
            <a:r>
              <a:rPr spc="-100" dirty="0">
                <a:latin typeface="Times New Roman"/>
                <a:cs typeface="Times New Roman"/>
              </a:rPr>
              <a:t> </a:t>
            </a:r>
            <a:r>
              <a:rPr dirty="0"/>
              <a:t>and</a:t>
            </a:r>
            <a:r>
              <a:rPr spc="-105" dirty="0">
                <a:latin typeface="Times New Roman"/>
                <a:cs typeface="Times New Roman"/>
              </a:rPr>
              <a:t> </a:t>
            </a:r>
            <a:r>
              <a:rPr spc="-20" dirty="0"/>
              <a:t>efficiency.</a:t>
            </a:r>
            <a:r>
              <a:rPr spc="-20" dirty="0">
                <a:latin typeface="Times New Roman"/>
                <a:cs typeface="Times New Roman"/>
              </a:rPr>
              <a:t> </a:t>
            </a:r>
            <a:r>
              <a:rPr dirty="0"/>
              <a:t>IP</a:t>
            </a:r>
            <a:r>
              <a:rPr spc="-120" dirty="0">
                <a:latin typeface="Times New Roman"/>
                <a:cs typeface="Times New Roman"/>
              </a:rPr>
              <a:t> </a:t>
            </a:r>
            <a:r>
              <a:rPr spc="-10" dirty="0"/>
              <a:t>Addresses:</a:t>
            </a:r>
          </a:p>
          <a:p>
            <a:pPr marL="12700">
              <a:lnSpc>
                <a:spcPct val="100000"/>
              </a:lnSpc>
              <a:spcBef>
                <a:spcPts val="145"/>
              </a:spcBef>
            </a:pPr>
            <a:r>
              <a:rPr b="1" spc="-10" dirty="0">
                <a:latin typeface="Aptos"/>
                <a:cs typeface="Aptos"/>
              </a:rPr>
              <a:t>Purpose:</a:t>
            </a:r>
          </a:p>
          <a:p>
            <a:pPr marL="12700" marR="5080">
              <a:lnSpc>
                <a:spcPct val="70000"/>
              </a:lnSpc>
              <a:spcBef>
                <a:spcPts val="1065"/>
              </a:spcBef>
            </a:pPr>
            <a:r>
              <a:rPr dirty="0"/>
              <a:t>IP</a:t>
            </a:r>
            <a:r>
              <a:rPr spc="-114" dirty="0">
                <a:latin typeface="Times New Roman"/>
                <a:cs typeface="Times New Roman"/>
              </a:rPr>
              <a:t> </a:t>
            </a:r>
            <a:r>
              <a:rPr spc="-10" dirty="0"/>
              <a:t>addresses</a:t>
            </a:r>
            <a:r>
              <a:rPr spc="-100" dirty="0">
                <a:latin typeface="Times New Roman"/>
                <a:cs typeface="Times New Roman"/>
              </a:rPr>
              <a:t> </a:t>
            </a:r>
            <a:r>
              <a:rPr dirty="0"/>
              <a:t>serve</a:t>
            </a:r>
            <a:r>
              <a:rPr spc="-110" dirty="0">
                <a:latin typeface="Times New Roman"/>
                <a:cs typeface="Times New Roman"/>
              </a:rPr>
              <a:t> </a:t>
            </a:r>
            <a:r>
              <a:rPr dirty="0"/>
              <a:t>as</a:t>
            </a:r>
            <a:r>
              <a:rPr spc="-114" dirty="0">
                <a:latin typeface="Times New Roman"/>
                <a:cs typeface="Times New Roman"/>
              </a:rPr>
              <a:t> </a:t>
            </a:r>
            <a:r>
              <a:rPr spc="-10" dirty="0"/>
              <a:t>identifiers</a:t>
            </a:r>
            <a:r>
              <a:rPr spc="-95" dirty="0">
                <a:latin typeface="Times New Roman"/>
                <a:cs typeface="Times New Roman"/>
              </a:rPr>
              <a:t> </a:t>
            </a:r>
            <a:r>
              <a:rPr spc="-10" dirty="0"/>
              <a:t>for</a:t>
            </a:r>
            <a:r>
              <a:rPr spc="-114" dirty="0">
                <a:latin typeface="Times New Roman"/>
                <a:cs typeface="Times New Roman"/>
              </a:rPr>
              <a:t> </a:t>
            </a:r>
            <a:r>
              <a:rPr dirty="0"/>
              <a:t>devices</a:t>
            </a:r>
            <a:r>
              <a:rPr spc="-105" dirty="0">
                <a:latin typeface="Times New Roman"/>
                <a:cs typeface="Times New Roman"/>
              </a:rPr>
              <a:t> </a:t>
            </a:r>
            <a:r>
              <a:rPr dirty="0"/>
              <a:t>on</a:t>
            </a:r>
            <a:r>
              <a:rPr spc="-100" dirty="0">
                <a:latin typeface="Times New Roman"/>
                <a:cs typeface="Times New Roman"/>
              </a:rPr>
              <a:t> </a:t>
            </a:r>
            <a:r>
              <a:rPr dirty="0"/>
              <a:t>a</a:t>
            </a:r>
            <a:r>
              <a:rPr spc="-125" dirty="0">
                <a:latin typeface="Times New Roman"/>
                <a:cs typeface="Times New Roman"/>
              </a:rPr>
              <a:t> </a:t>
            </a:r>
            <a:r>
              <a:rPr spc="-10" dirty="0"/>
              <a:t>network,</a:t>
            </a:r>
            <a:r>
              <a:rPr spc="-120" dirty="0">
                <a:latin typeface="Times New Roman"/>
                <a:cs typeface="Times New Roman"/>
              </a:rPr>
              <a:t> </a:t>
            </a:r>
            <a:r>
              <a:rPr dirty="0"/>
              <a:t>enabling</a:t>
            </a:r>
            <a:r>
              <a:rPr spc="-90" dirty="0">
                <a:latin typeface="Times New Roman"/>
                <a:cs typeface="Times New Roman"/>
              </a:rPr>
              <a:t> </a:t>
            </a:r>
            <a:r>
              <a:rPr dirty="0"/>
              <a:t>them</a:t>
            </a:r>
            <a:r>
              <a:rPr spc="-110" dirty="0">
                <a:latin typeface="Times New Roman"/>
                <a:cs typeface="Times New Roman"/>
              </a:rPr>
              <a:t> </a:t>
            </a:r>
            <a:r>
              <a:rPr spc="-25" dirty="0"/>
              <a:t>to</a:t>
            </a:r>
            <a:r>
              <a:rPr spc="-25" dirty="0">
                <a:latin typeface="Times New Roman"/>
                <a:cs typeface="Times New Roman"/>
              </a:rPr>
              <a:t> </a:t>
            </a:r>
            <a:r>
              <a:rPr dirty="0"/>
              <a:t>send</a:t>
            </a:r>
            <a:r>
              <a:rPr spc="-114" dirty="0">
                <a:latin typeface="Times New Roman"/>
                <a:cs typeface="Times New Roman"/>
              </a:rPr>
              <a:t> </a:t>
            </a:r>
            <a:r>
              <a:rPr dirty="0"/>
              <a:t>and</a:t>
            </a:r>
            <a:r>
              <a:rPr spc="-135" dirty="0">
                <a:latin typeface="Times New Roman"/>
                <a:cs typeface="Times New Roman"/>
              </a:rPr>
              <a:t> </a:t>
            </a:r>
            <a:r>
              <a:rPr spc="-10" dirty="0"/>
              <a:t>receive</a:t>
            </a:r>
            <a:r>
              <a:rPr spc="-110" dirty="0">
                <a:latin typeface="Times New Roman"/>
                <a:cs typeface="Times New Roman"/>
              </a:rPr>
              <a:t> </a:t>
            </a:r>
            <a:r>
              <a:rPr spc="-20" dirty="0"/>
              <a:t>data.</a:t>
            </a:r>
          </a:p>
          <a:p>
            <a:pPr marL="12700">
              <a:lnSpc>
                <a:spcPct val="100000"/>
              </a:lnSpc>
              <a:spcBef>
                <a:spcPts val="60"/>
              </a:spcBef>
            </a:pPr>
            <a:r>
              <a:rPr b="1" spc="-10" dirty="0">
                <a:latin typeface="Aptos"/>
                <a:cs typeface="Aptos"/>
              </a:rPr>
              <a:t>Format:</a:t>
            </a:r>
          </a:p>
        </p:txBody>
      </p:sp>
      <p:sp>
        <p:nvSpPr>
          <p:cNvPr id="8" name="object 8"/>
          <p:cNvSpPr txBox="1"/>
          <p:nvPr/>
        </p:nvSpPr>
        <p:spPr>
          <a:xfrm>
            <a:off x="916941" y="4378191"/>
            <a:ext cx="924115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Aptos"/>
                <a:cs typeface="Aptos"/>
              </a:rPr>
              <a:t>IP</a:t>
            </a:r>
            <a:r>
              <a:rPr sz="2400" spc="-135" dirty="0">
                <a:latin typeface="Times New Roman"/>
                <a:cs typeface="Times New Roman"/>
              </a:rPr>
              <a:t> </a:t>
            </a:r>
            <a:r>
              <a:rPr sz="2400" spc="-10" dirty="0">
                <a:latin typeface="Aptos"/>
                <a:cs typeface="Aptos"/>
              </a:rPr>
              <a:t>addresses</a:t>
            </a:r>
            <a:r>
              <a:rPr sz="2400" spc="-105" dirty="0">
                <a:latin typeface="Times New Roman"/>
                <a:cs typeface="Times New Roman"/>
              </a:rPr>
              <a:t> </a:t>
            </a:r>
            <a:r>
              <a:rPr sz="2400" spc="-10" dirty="0">
                <a:latin typeface="Aptos"/>
                <a:cs typeface="Aptos"/>
              </a:rPr>
              <a:t>are</a:t>
            </a:r>
            <a:r>
              <a:rPr sz="2400" spc="-125" dirty="0">
                <a:latin typeface="Times New Roman"/>
                <a:cs typeface="Times New Roman"/>
              </a:rPr>
              <a:t> </a:t>
            </a:r>
            <a:r>
              <a:rPr sz="2400" dirty="0">
                <a:latin typeface="Aptos"/>
                <a:cs typeface="Aptos"/>
              </a:rPr>
              <a:t>typically</a:t>
            </a:r>
            <a:r>
              <a:rPr sz="2400" spc="-100" dirty="0">
                <a:latin typeface="Times New Roman"/>
                <a:cs typeface="Times New Roman"/>
              </a:rPr>
              <a:t> </a:t>
            </a:r>
            <a:r>
              <a:rPr sz="2400" spc="-10" dirty="0">
                <a:latin typeface="Aptos"/>
                <a:cs typeface="Aptos"/>
              </a:rPr>
              <a:t>represented</a:t>
            </a:r>
            <a:r>
              <a:rPr sz="2400" spc="-110" dirty="0">
                <a:latin typeface="Times New Roman"/>
                <a:cs typeface="Times New Roman"/>
              </a:rPr>
              <a:t> </a:t>
            </a:r>
            <a:r>
              <a:rPr sz="2400" dirty="0">
                <a:latin typeface="Aptos"/>
                <a:cs typeface="Aptos"/>
              </a:rPr>
              <a:t>in</a:t>
            </a:r>
            <a:r>
              <a:rPr sz="2400" spc="-120" dirty="0">
                <a:latin typeface="Times New Roman"/>
                <a:cs typeface="Times New Roman"/>
              </a:rPr>
              <a:t> </a:t>
            </a:r>
            <a:r>
              <a:rPr sz="2400" dirty="0">
                <a:latin typeface="Aptos"/>
                <a:cs typeface="Aptos"/>
              </a:rPr>
              <a:t>dotted</a:t>
            </a:r>
            <a:r>
              <a:rPr sz="2400" spc="-125" dirty="0">
                <a:latin typeface="Times New Roman"/>
                <a:cs typeface="Times New Roman"/>
              </a:rPr>
              <a:t> </a:t>
            </a:r>
            <a:r>
              <a:rPr sz="2400" dirty="0">
                <a:latin typeface="Aptos"/>
                <a:cs typeface="Aptos"/>
              </a:rPr>
              <a:t>decimal</a:t>
            </a:r>
            <a:r>
              <a:rPr sz="2400" spc="-100" dirty="0">
                <a:latin typeface="Times New Roman"/>
                <a:cs typeface="Times New Roman"/>
              </a:rPr>
              <a:t> </a:t>
            </a:r>
            <a:r>
              <a:rPr sz="2400" spc="-10" dirty="0">
                <a:latin typeface="Aptos"/>
                <a:cs typeface="Aptos"/>
              </a:rPr>
              <a:t>notation</a:t>
            </a:r>
            <a:r>
              <a:rPr sz="2400" spc="-105" dirty="0">
                <a:latin typeface="Times New Roman"/>
                <a:cs typeface="Times New Roman"/>
              </a:rPr>
              <a:t> </a:t>
            </a:r>
            <a:r>
              <a:rPr sz="2400" spc="-10" dirty="0">
                <a:latin typeface="Aptos"/>
                <a:cs typeface="Aptos"/>
              </a:rPr>
              <a:t>(e.g.,</a:t>
            </a:r>
            <a:endParaRPr sz="2400">
              <a:latin typeface="Aptos"/>
              <a:cs typeface="Aptos"/>
            </a:endParaRPr>
          </a:p>
        </p:txBody>
      </p:sp>
      <p:sp>
        <p:nvSpPr>
          <p:cNvPr id="9" name="object 9"/>
          <p:cNvSpPr txBox="1"/>
          <p:nvPr/>
        </p:nvSpPr>
        <p:spPr>
          <a:xfrm>
            <a:off x="916939" y="4634224"/>
            <a:ext cx="9907270" cy="1156335"/>
          </a:xfrm>
          <a:prstGeom prst="rect">
            <a:avLst/>
          </a:prstGeom>
        </p:spPr>
        <p:txBody>
          <a:bodyPr vert="horz" wrap="square" lIns="0" tIns="12700" rIns="0" bIns="0" rtlCol="0">
            <a:spAutoFit/>
          </a:bodyPr>
          <a:lstStyle/>
          <a:p>
            <a:pPr marL="12700">
              <a:lnSpc>
                <a:spcPct val="100000"/>
              </a:lnSpc>
              <a:spcBef>
                <a:spcPts val="100"/>
              </a:spcBef>
            </a:pPr>
            <a:r>
              <a:rPr sz="2400" spc="-10" dirty="0">
                <a:latin typeface="Aptos"/>
                <a:cs typeface="Aptos"/>
              </a:rPr>
              <a:t>192.168.1.1).</a:t>
            </a:r>
            <a:endParaRPr sz="2400">
              <a:latin typeface="Aptos"/>
              <a:cs typeface="Aptos"/>
            </a:endParaRPr>
          </a:p>
          <a:p>
            <a:pPr marL="12700">
              <a:lnSpc>
                <a:spcPct val="100000"/>
              </a:lnSpc>
              <a:spcBef>
                <a:spcPts val="60"/>
              </a:spcBef>
            </a:pPr>
            <a:r>
              <a:rPr sz="2400" b="1" spc="-10" dirty="0">
                <a:latin typeface="Aptos"/>
                <a:cs typeface="Aptos"/>
              </a:rPr>
              <a:t>Types:</a:t>
            </a:r>
            <a:endParaRPr sz="2400">
              <a:latin typeface="Aptos"/>
              <a:cs typeface="Aptos"/>
            </a:endParaRPr>
          </a:p>
          <a:p>
            <a:pPr marL="12700">
              <a:lnSpc>
                <a:spcPct val="100000"/>
              </a:lnSpc>
              <a:spcBef>
                <a:spcPts val="204"/>
              </a:spcBef>
            </a:pPr>
            <a:r>
              <a:rPr sz="2400" spc="-10" dirty="0">
                <a:latin typeface="Aptos"/>
                <a:cs typeface="Aptos"/>
              </a:rPr>
              <a:t>There</a:t>
            </a:r>
            <a:r>
              <a:rPr sz="2400" spc="-125" dirty="0">
                <a:latin typeface="Times New Roman"/>
                <a:cs typeface="Times New Roman"/>
              </a:rPr>
              <a:t> </a:t>
            </a:r>
            <a:r>
              <a:rPr sz="2400" spc="-10" dirty="0">
                <a:latin typeface="Aptos"/>
                <a:cs typeface="Aptos"/>
              </a:rPr>
              <a:t>are</a:t>
            </a:r>
            <a:r>
              <a:rPr sz="2400" spc="-125" dirty="0">
                <a:latin typeface="Times New Roman"/>
                <a:cs typeface="Times New Roman"/>
              </a:rPr>
              <a:t> </a:t>
            </a:r>
            <a:r>
              <a:rPr sz="2400" dirty="0">
                <a:latin typeface="Aptos"/>
                <a:cs typeface="Aptos"/>
              </a:rPr>
              <a:t>two</a:t>
            </a:r>
            <a:r>
              <a:rPr sz="2400" spc="-120" dirty="0">
                <a:latin typeface="Times New Roman"/>
                <a:cs typeface="Times New Roman"/>
              </a:rPr>
              <a:t> </a:t>
            </a:r>
            <a:r>
              <a:rPr sz="2400" dirty="0">
                <a:latin typeface="Aptos"/>
                <a:cs typeface="Aptos"/>
              </a:rPr>
              <a:t>main</a:t>
            </a:r>
            <a:r>
              <a:rPr sz="2400" spc="-125" dirty="0">
                <a:latin typeface="Times New Roman"/>
                <a:cs typeface="Times New Roman"/>
              </a:rPr>
              <a:t> </a:t>
            </a:r>
            <a:r>
              <a:rPr sz="2400" spc="-10" dirty="0">
                <a:latin typeface="Aptos"/>
                <a:cs typeface="Aptos"/>
              </a:rPr>
              <a:t>versions</a:t>
            </a:r>
            <a:r>
              <a:rPr sz="2400" spc="-135" dirty="0">
                <a:latin typeface="Times New Roman"/>
                <a:cs typeface="Times New Roman"/>
              </a:rPr>
              <a:t> </a:t>
            </a:r>
            <a:r>
              <a:rPr sz="2400" dirty="0">
                <a:latin typeface="Aptos"/>
                <a:cs typeface="Aptos"/>
              </a:rPr>
              <a:t>of</a:t>
            </a:r>
            <a:r>
              <a:rPr sz="2400" spc="-110" dirty="0">
                <a:latin typeface="Times New Roman"/>
                <a:cs typeface="Times New Roman"/>
              </a:rPr>
              <a:t> </a:t>
            </a:r>
            <a:r>
              <a:rPr sz="2400" dirty="0">
                <a:latin typeface="Aptos"/>
                <a:cs typeface="Aptos"/>
              </a:rPr>
              <a:t>IP</a:t>
            </a:r>
            <a:r>
              <a:rPr sz="2400" spc="-125" dirty="0">
                <a:latin typeface="Times New Roman"/>
                <a:cs typeface="Times New Roman"/>
              </a:rPr>
              <a:t> </a:t>
            </a:r>
            <a:r>
              <a:rPr sz="2400" spc="-10" dirty="0">
                <a:latin typeface="Aptos"/>
                <a:cs typeface="Aptos"/>
              </a:rPr>
              <a:t>addresses:</a:t>
            </a:r>
            <a:r>
              <a:rPr sz="2400" spc="-114" dirty="0">
                <a:latin typeface="Times New Roman"/>
                <a:cs typeface="Times New Roman"/>
              </a:rPr>
              <a:t> </a:t>
            </a:r>
            <a:r>
              <a:rPr sz="2400" dirty="0">
                <a:latin typeface="Aptos"/>
                <a:cs typeface="Aptos"/>
              </a:rPr>
              <a:t>IPv4</a:t>
            </a:r>
            <a:r>
              <a:rPr sz="2400" spc="-95" dirty="0">
                <a:latin typeface="Times New Roman"/>
                <a:cs typeface="Times New Roman"/>
              </a:rPr>
              <a:t> </a:t>
            </a:r>
            <a:r>
              <a:rPr sz="2400" dirty="0">
                <a:latin typeface="Aptos"/>
                <a:cs typeface="Aptos"/>
              </a:rPr>
              <a:t>(32-bit)</a:t>
            </a:r>
            <a:r>
              <a:rPr sz="2400" spc="-140" dirty="0">
                <a:latin typeface="Times New Roman"/>
                <a:cs typeface="Times New Roman"/>
              </a:rPr>
              <a:t> </a:t>
            </a:r>
            <a:r>
              <a:rPr sz="2400" dirty="0">
                <a:latin typeface="Aptos"/>
                <a:cs typeface="Aptos"/>
              </a:rPr>
              <a:t>and</a:t>
            </a:r>
            <a:r>
              <a:rPr sz="2400" spc="-114" dirty="0">
                <a:latin typeface="Times New Roman"/>
                <a:cs typeface="Times New Roman"/>
              </a:rPr>
              <a:t> </a:t>
            </a:r>
            <a:r>
              <a:rPr sz="2400" dirty="0">
                <a:latin typeface="Aptos"/>
                <a:cs typeface="Aptos"/>
              </a:rPr>
              <a:t>IPv6</a:t>
            </a:r>
            <a:r>
              <a:rPr sz="2400" spc="-95" dirty="0">
                <a:latin typeface="Times New Roman"/>
                <a:cs typeface="Times New Roman"/>
              </a:rPr>
              <a:t> </a:t>
            </a:r>
            <a:r>
              <a:rPr sz="2400" dirty="0">
                <a:latin typeface="Aptos"/>
                <a:cs typeface="Aptos"/>
              </a:rPr>
              <a:t>(128-</a:t>
            </a:r>
            <a:r>
              <a:rPr sz="2400" spc="-10" dirty="0">
                <a:latin typeface="Aptos"/>
                <a:cs typeface="Aptos"/>
              </a:rPr>
              <a:t>bit).</a:t>
            </a:r>
            <a:endParaRPr sz="2400">
              <a:latin typeface="Aptos"/>
              <a:cs typeface="Aptos"/>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444751" y="977138"/>
            <a:ext cx="4192904" cy="434340"/>
          </a:xfrm>
          <a:custGeom>
            <a:avLst/>
            <a:gdLst/>
            <a:ahLst/>
            <a:cxnLst/>
            <a:rect l="l" t="t" r="r" b="b"/>
            <a:pathLst>
              <a:path w="4192904" h="434340">
                <a:moveTo>
                  <a:pt x="4192523" y="0"/>
                </a:moveTo>
                <a:lnTo>
                  <a:pt x="0" y="0"/>
                </a:lnTo>
                <a:lnTo>
                  <a:pt x="0" y="434336"/>
                </a:lnTo>
                <a:lnTo>
                  <a:pt x="4192523" y="434336"/>
                </a:lnTo>
                <a:lnTo>
                  <a:pt x="4192523" y="0"/>
                </a:lnTo>
                <a:close/>
              </a:path>
            </a:pathLst>
          </a:custGeom>
          <a:solidFill>
            <a:srgbClr val="FFFF00"/>
          </a:solidFill>
        </p:spPr>
        <p:txBody>
          <a:bodyPr wrap="square" lIns="0" tIns="0" rIns="0" bIns="0" rtlCol="0"/>
          <a:lstStyle/>
          <a:p>
            <a:endParaRPr/>
          </a:p>
        </p:txBody>
      </p:sp>
      <p:sp>
        <p:nvSpPr>
          <p:cNvPr id="3" name="object 3"/>
          <p:cNvSpPr/>
          <p:nvPr/>
        </p:nvSpPr>
        <p:spPr>
          <a:xfrm>
            <a:off x="1444751" y="1873250"/>
            <a:ext cx="4573905" cy="434340"/>
          </a:xfrm>
          <a:custGeom>
            <a:avLst/>
            <a:gdLst/>
            <a:ahLst/>
            <a:cxnLst/>
            <a:rect l="l" t="t" r="r" b="b"/>
            <a:pathLst>
              <a:path w="4573905" h="434339">
                <a:moveTo>
                  <a:pt x="4573523" y="0"/>
                </a:moveTo>
                <a:lnTo>
                  <a:pt x="0" y="0"/>
                </a:lnTo>
                <a:lnTo>
                  <a:pt x="0" y="434336"/>
                </a:lnTo>
                <a:lnTo>
                  <a:pt x="4573523" y="434336"/>
                </a:lnTo>
                <a:lnTo>
                  <a:pt x="4573523" y="0"/>
                </a:lnTo>
                <a:close/>
              </a:path>
            </a:pathLst>
          </a:custGeom>
          <a:solidFill>
            <a:srgbClr val="FFFF00"/>
          </a:solidFill>
        </p:spPr>
        <p:txBody>
          <a:bodyPr wrap="square" lIns="0" tIns="0" rIns="0" bIns="0" rtlCol="0"/>
          <a:lstStyle/>
          <a:p>
            <a:endParaRPr/>
          </a:p>
        </p:txBody>
      </p:sp>
      <p:sp>
        <p:nvSpPr>
          <p:cNvPr id="4" name="object 4"/>
          <p:cNvSpPr/>
          <p:nvPr/>
        </p:nvSpPr>
        <p:spPr>
          <a:xfrm>
            <a:off x="1444751" y="2773931"/>
            <a:ext cx="4954905" cy="436245"/>
          </a:xfrm>
          <a:custGeom>
            <a:avLst/>
            <a:gdLst/>
            <a:ahLst/>
            <a:cxnLst/>
            <a:rect l="l" t="t" r="r" b="b"/>
            <a:pathLst>
              <a:path w="4954905" h="436244">
                <a:moveTo>
                  <a:pt x="4954523" y="0"/>
                </a:moveTo>
                <a:lnTo>
                  <a:pt x="0" y="0"/>
                </a:lnTo>
                <a:lnTo>
                  <a:pt x="0" y="435863"/>
                </a:lnTo>
                <a:lnTo>
                  <a:pt x="4954523" y="435863"/>
                </a:lnTo>
                <a:lnTo>
                  <a:pt x="4954523" y="0"/>
                </a:lnTo>
                <a:close/>
              </a:path>
            </a:pathLst>
          </a:custGeom>
          <a:solidFill>
            <a:srgbClr val="FFFF00"/>
          </a:solidFill>
        </p:spPr>
        <p:txBody>
          <a:bodyPr wrap="square" lIns="0" tIns="0" rIns="0" bIns="0" rtlCol="0"/>
          <a:lstStyle/>
          <a:p>
            <a:endParaRPr/>
          </a:p>
        </p:txBody>
      </p:sp>
      <p:sp>
        <p:nvSpPr>
          <p:cNvPr id="5" name="object 5"/>
          <p:cNvSpPr txBox="1"/>
          <p:nvPr/>
        </p:nvSpPr>
        <p:spPr>
          <a:xfrm>
            <a:off x="916939" y="348945"/>
            <a:ext cx="10257790" cy="4895215"/>
          </a:xfrm>
          <a:prstGeom prst="rect">
            <a:avLst/>
          </a:prstGeom>
        </p:spPr>
        <p:txBody>
          <a:bodyPr vert="horz" wrap="square" lIns="0" tIns="97155" rIns="0" bIns="0" rtlCol="0">
            <a:spAutoFit/>
          </a:bodyPr>
          <a:lstStyle/>
          <a:p>
            <a:pPr marL="12700">
              <a:lnSpc>
                <a:spcPct val="100000"/>
              </a:lnSpc>
              <a:spcBef>
                <a:spcPts val="765"/>
              </a:spcBef>
            </a:pPr>
            <a:r>
              <a:rPr sz="2800" b="1" spc="-25" dirty="0">
                <a:latin typeface="Aptos"/>
                <a:cs typeface="Aptos"/>
              </a:rPr>
              <a:t>Private</a:t>
            </a:r>
            <a:r>
              <a:rPr sz="2800" spc="-145" dirty="0">
                <a:latin typeface="Times New Roman"/>
                <a:cs typeface="Times New Roman"/>
              </a:rPr>
              <a:t> </a:t>
            </a:r>
            <a:r>
              <a:rPr sz="2800" b="1" spc="-10" dirty="0">
                <a:latin typeface="Aptos"/>
                <a:cs typeface="Aptos"/>
              </a:rPr>
              <a:t>IPv4</a:t>
            </a:r>
            <a:r>
              <a:rPr sz="2800" spc="-130" dirty="0">
                <a:latin typeface="Times New Roman"/>
                <a:cs typeface="Times New Roman"/>
              </a:rPr>
              <a:t> </a:t>
            </a:r>
            <a:r>
              <a:rPr sz="2800" b="1" spc="-10" dirty="0">
                <a:latin typeface="Aptos"/>
                <a:cs typeface="Aptos"/>
              </a:rPr>
              <a:t>Ranges:</a:t>
            </a:r>
            <a:endParaRPr sz="2800">
              <a:latin typeface="Aptos"/>
              <a:cs typeface="Aptos"/>
            </a:endParaRPr>
          </a:p>
          <a:p>
            <a:pPr marL="527685" marR="5080" indent="-515620">
              <a:lnSpc>
                <a:spcPts val="3020"/>
              </a:lnSpc>
              <a:spcBef>
                <a:spcPts val="1045"/>
              </a:spcBef>
              <a:tabLst>
                <a:tab pos="527685" algn="l"/>
                <a:tab pos="1929764" algn="l"/>
              </a:tabLst>
            </a:pPr>
            <a:r>
              <a:rPr sz="2800" b="1" spc="-25" dirty="0">
                <a:latin typeface="Aptos"/>
                <a:cs typeface="Aptos"/>
              </a:rPr>
              <a:t>1.</a:t>
            </a:r>
            <a:r>
              <a:rPr sz="2800" dirty="0">
                <a:latin typeface="Times New Roman"/>
                <a:cs typeface="Times New Roman"/>
              </a:rPr>
              <a:t>	</a:t>
            </a:r>
            <a:r>
              <a:rPr sz="2800" b="1" spc="-10" dirty="0">
                <a:latin typeface="Aptos"/>
                <a:cs typeface="Aptos"/>
              </a:rPr>
              <a:t>10.0.0.0</a:t>
            </a:r>
            <a:r>
              <a:rPr sz="2800" dirty="0">
                <a:latin typeface="Times New Roman"/>
                <a:cs typeface="Times New Roman"/>
              </a:rPr>
              <a:t>	</a:t>
            </a:r>
            <a:r>
              <a:rPr sz="2800" b="1" dirty="0">
                <a:latin typeface="Aptos"/>
                <a:cs typeface="Aptos"/>
              </a:rPr>
              <a:t>to</a:t>
            </a:r>
            <a:r>
              <a:rPr sz="2800" spc="-145" dirty="0">
                <a:latin typeface="Times New Roman"/>
                <a:cs typeface="Times New Roman"/>
              </a:rPr>
              <a:t> </a:t>
            </a:r>
            <a:r>
              <a:rPr sz="2800" b="1" spc="-10" dirty="0">
                <a:latin typeface="Aptos"/>
                <a:cs typeface="Aptos"/>
              </a:rPr>
              <a:t>10.255.255.255:</a:t>
            </a:r>
            <a:r>
              <a:rPr sz="2800" spc="-170" dirty="0">
                <a:latin typeface="Times New Roman"/>
                <a:cs typeface="Times New Roman"/>
              </a:rPr>
              <a:t> </a:t>
            </a:r>
            <a:r>
              <a:rPr sz="2800" dirty="0">
                <a:latin typeface="Aptos"/>
                <a:cs typeface="Aptos"/>
              </a:rPr>
              <a:t>This</a:t>
            </a:r>
            <a:r>
              <a:rPr sz="2800" spc="-125" dirty="0">
                <a:latin typeface="Times New Roman"/>
                <a:cs typeface="Times New Roman"/>
              </a:rPr>
              <a:t> </a:t>
            </a:r>
            <a:r>
              <a:rPr sz="2800" dirty="0">
                <a:latin typeface="Aptos"/>
                <a:cs typeface="Aptos"/>
              </a:rPr>
              <a:t>is</a:t>
            </a:r>
            <a:r>
              <a:rPr sz="2800" spc="-140" dirty="0">
                <a:latin typeface="Times New Roman"/>
                <a:cs typeface="Times New Roman"/>
              </a:rPr>
              <a:t> </a:t>
            </a:r>
            <a:r>
              <a:rPr sz="2800" dirty="0">
                <a:latin typeface="Aptos"/>
                <a:cs typeface="Aptos"/>
              </a:rPr>
              <a:t>a</a:t>
            </a:r>
            <a:r>
              <a:rPr sz="2800" spc="-135" dirty="0">
                <a:latin typeface="Times New Roman"/>
                <a:cs typeface="Times New Roman"/>
              </a:rPr>
              <a:t> </a:t>
            </a:r>
            <a:r>
              <a:rPr sz="2800" b="1" spc="-10" dirty="0">
                <a:latin typeface="Aptos"/>
                <a:cs typeface="Aptos"/>
              </a:rPr>
              <a:t>Class</a:t>
            </a:r>
            <a:r>
              <a:rPr sz="2800" spc="-165" dirty="0">
                <a:latin typeface="Times New Roman"/>
                <a:cs typeface="Times New Roman"/>
              </a:rPr>
              <a:t> </a:t>
            </a:r>
            <a:r>
              <a:rPr sz="2800" b="1" dirty="0">
                <a:latin typeface="Aptos"/>
                <a:cs typeface="Aptos"/>
              </a:rPr>
              <a:t>A</a:t>
            </a:r>
            <a:r>
              <a:rPr sz="2800" spc="-125" dirty="0">
                <a:latin typeface="Times New Roman"/>
                <a:cs typeface="Times New Roman"/>
              </a:rPr>
              <a:t> </a:t>
            </a:r>
            <a:r>
              <a:rPr sz="2800" spc="-20" dirty="0">
                <a:latin typeface="Aptos"/>
                <a:cs typeface="Aptos"/>
              </a:rPr>
              <a:t>network,</a:t>
            </a:r>
            <a:r>
              <a:rPr sz="2800" spc="-125" dirty="0">
                <a:latin typeface="Times New Roman"/>
                <a:cs typeface="Times New Roman"/>
              </a:rPr>
              <a:t> </a:t>
            </a:r>
            <a:r>
              <a:rPr sz="2800" spc="-20" dirty="0">
                <a:latin typeface="Aptos"/>
                <a:cs typeface="Aptos"/>
              </a:rPr>
              <a:t>offering</a:t>
            </a:r>
            <a:r>
              <a:rPr sz="2800" spc="-140" dirty="0">
                <a:latin typeface="Times New Roman"/>
                <a:cs typeface="Times New Roman"/>
              </a:rPr>
              <a:t> </a:t>
            </a:r>
            <a:r>
              <a:rPr sz="2800" spc="-50" dirty="0">
                <a:latin typeface="Aptos"/>
                <a:cs typeface="Aptos"/>
              </a:rPr>
              <a:t>a</a:t>
            </a:r>
            <a:r>
              <a:rPr sz="2800" spc="-50" dirty="0">
                <a:latin typeface="Times New Roman"/>
                <a:cs typeface="Times New Roman"/>
              </a:rPr>
              <a:t> </a:t>
            </a:r>
            <a:r>
              <a:rPr sz="2800" spc="-25" dirty="0">
                <a:latin typeface="Aptos"/>
                <a:cs typeface="Aptos"/>
              </a:rPr>
              <a:t>large</a:t>
            </a:r>
            <a:r>
              <a:rPr sz="2800" spc="-140" dirty="0">
                <a:latin typeface="Times New Roman"/>
                <a:cs typeface="Times New Roman"/>
              </a:rPr>
              <a:t> </a:t>
            </a:r>
            <a:r>
              <a:rPr sz="2800" spc="-20" dirty="0">
                <a:latin typeface="Aptos"/>
                <a:cs typeface="Aptos"/>
              </a:rPr>
              <a:t>number</a:t>
            </a:r>
            <a:r>
              <a:rPr sz="2800" spc="-125" dirty="0">
                <a:latin typeface="Times New Roman"/>
                <a:cs typeface="Times New Roman"/>
              </a:rPr>
              <a:t> </a:t>
            </a:r>
            <a:r>
              <a:rPr sz="2800" dirty="0">
                <a:latin typeface="Aptos"/>
                <a:cs typeface="Aptos"/>
              </a:rPr>
              <a:t>of</a:t>
            </a:r>
            <a:r>
              <a:rPr sz="2800" spc="-145" dirty="0">
                <a:latin typeface="Times New Roman"/>
                <a:cs typeface="Times New Roman"/>
              </a:rPr>
              <a:t> </a:t>
            </a:r>
            <a:r>
              <a:rPr sz="2800" spc="-10" dirty="0">
                <a:latin typeface="Aptos"/>
                <a:cs typeface="Aptos"/>
              </a:rPr>
              <a:t>addresses.</a:t>
            </a:r>
            <a:endParaRPr sz="2800">
              <a:latin typeface="Aptos"/>
              <a:cs typeface="Aptos"/>
            </a:endParaRPr>
          </a:p>
          <a:p>
            <a:pPr marL="527685" marR="1115695" indent="-515620">
              <a:lnSpc>
                <a:spcPts val="3030"/>
              </a:lnSpc>
              <a:spcBef>
                <a:spcPts val="1010"/>
              </a:spcBef>
              <a:tabLst>
                <a:tab pos="527685" algn="l"/>
                <a:tab pos="2309495" algn="l"/>
              </a:tabLst>
            </a:pPr>
            <a:r>
              <a:rPr sz="2800" b="1" spc="-25" dirty="0">
                <a:latin typeface="Aptos"/>
                <a:cs typeface="Aptos"/>
              </a:rPr>
              <a:t>2.</a:t>
            </a:r>
            <a:r>
              <a:rPr sz="2800" dirty="0">
                <a:latin typeface="Times New Roman"/>
                <a:cs typeface="Times New Roman"/>
              </a:rPr>
              <a:t>	</a:t>
            </a:r>
            <a:r>
              <a:rPr sz="2800" b="1" spc="-10" dirty="0">
                <a:latin typeface="Aptos"/>
                <a:cs typeface="Aptos"/>
              </a:rPr>
              <a:t>172.16.0.0</a:t>
            </a:r>
            <a:r>
              <a:rPr sz="2800" dirty="0">
                <a:latin typeface="Times New Roman"/>
                <a:cs typeface="Times New Roman"/>
              </a:rPr>
              <a:t>	</a:t>
            </a:r>
            <a:r>
              <a:rPr sz="2800" b="1" dirty="0">
                <a:latin typeface="Aptos"/>
                <a:cs typeface="Aptos"/>
              </a:rPr>
              <a:t>to</a:t>
            </a:r>
            <a:r>
              <a:rPr sz="2800" spc="-145" dirty="0">
                <a:latin typeface="Times New Roman"/>
                <a:cs typeface="Times New Roman"/>
              </a:rPr>
              <a:t> </a:t>
            </a:r>
            <a:r>
              <a:rPr sz="2800" b="1" spc="-10" dirty="0">
                <a:latin typeface="Aptos"/>
                <a:cs typeface="Aptos"/>
              </a:rPr>
              <a:t>172.31.255.255:</a:t>
            </a:r>
            <a:r>
              <a:rPr sz="2800" spc="-170" dirty="0">
                <a:latin typeface="Times New Roman"/>
                <a:cs typeface="Times New Roman"/>
              </a:rPr>
              <a:t> </a:t>
            </a:r>
            <a:r>
              <a:rPr sz="2800" spc="-10" dirty="0">
                <a:latin typeface="Aptos"/>
                <a:cs typeface="Aptos"/>
              </a:rPr>
              <a:t>This</a:t>
            </a:r>
            <a:r>
              <a:rPr sz="2800" spc="-140" dirty="0">
                <a:latin typeface="Times New Roman"/>
                <a:cs typeface="Times New Roman"/>
              </a:rPr>
              <a:t> </a:t>
            </a:r>
            <a:r>
              <a:rPr sz="2800" dirty="0">
                <a:latin typeface="Aptos"/>
                <a:cs typeface="Aptos"/>
              </a:rPr>
              <a:t>is</a:t>
            </a:r>
            <a:r>
              <a:rPr sz="2800" spc="-145" dirty="0">
                <a:latin typeface="Times New Roman"/>
                <a:cs typeface="Times New Roman"/>
              </a:rPr>
              <a:t> </a:t>
            </a:r>
            <a:r>
              <a:rPr sz="2800" dirty="0">
                <a:latin typeface="Aptos"/>
                <a:cs typeface="Aptos"/>
              </a:rPr>
              <a:t>a</a:t>
            </a:r>
            <a:r>
              <a:rPr sz="2800" spc="-135" dirty="0">
                <a:latin typeface="Times New Roman"/>
                <a:cs typeface="Times New Roman"/>
              </a:rPr>
              <a:t> </a:t>
            </a:r>
            <a:r>
              <a:rPr sz="2800" b="1" spc="-10" dirty="0">
                <a:latin typeface="Aptos"/>
                <a:cs typeface="Aptos"/>
              </a:rPr>
              <a:t>Class</a:t>
            </a:r>
            <a:r>
              <a:rPr sz="2800" spc="-165" dirty="0">
                <a:latin typeface="Times New Roman"/>
                <a:cs typeface="Times New Roman"/>
              </a:rPr>
              <a:t> </a:t>
            </a:r>
            <a:r>
              <a:rPr sz="2800" b="1" dirty="0">
                <a:latin typeface="Aptos"/>
                <a:cs typeface="Aptos"/>
              </a:rPr>
              <a:t>B</a:t>
            </a:r>
            <a:r>
              <a:rPr sz="2800" spc="-130" dirty="0">
                <a:latin typeface="Times New Roman"/>
                <a:cs typeface="Times New Roman"/>
              </a:rPr>
              <a:t> </a:t>
            </a:r>
            <a:r>
              <a:rPr sz="2800" spc="-10" dirty="0">
                <a:latin typeface="Aptos"/>
                <a:cs typeface="Aptos"/>
              </a:rPr>
              <a:t>network,</a:t>
            </a:r>
            <a:r>
              <a:rPr sz="2800" spc="-10" dirty="0">
                <a:latin typeface="Times New Roman"/>
                <a:cs typeface="Times New Roman"/>
              </a:rPr>
              <a:t> </a:t>
            </a:r>
            <a:r>
              <a:rPr sz="2800" spc="-25" dirty="0">
                <a:latin typeface="Aptos"/>
                <a:cs typeface="Aptos"/>
              </a:rPr>
              <a:t>providing</a:t>
            </a:r>
            <a:r>
              <a:rPr sz="2800" spc="-140" dirty="0">
                <a:latin typeface="Times New Roman"/>
                <a:cs typeface="Times New Roman"/>
              </a:rPr>
              <a:t> </a:t>
            </a:r>
            <a:r>
              <a:rPr sz="2800" dirty="0">
                <a:latin typeface="Aptos"/>
                <a:cs typeface="Aptos"/>
              </a:rPr>
              <a:t>a</a:t>
            </a:r>
            <a:r>
              <a:rPr sz="2800" spc="-125" dirty="0">
                <a:latin typeface="Times New Roman"/>
                <a:cs typeface="Times New Roman"/>
              </a:rPr>
              <a:t> </a:t>
            </a:r>
            <a:r>
              <a:rPr sz="2800" spc="-30" dirty="0">
                <a:latin typeface="Aptos"/>
                <a:cs typeface="Aptos"/>
              </a:rPr>
              <a:t>moderate</a:t>
            </a:r>
            <a:r>
              <a:rPr sz="2800" spc="-130" dirty="0">
                <a:latin typeface="Times New Roman"/>
                <a:cs typeface="Times New Roman"/>
              </a:rPr>
              <a:t> </a:t>
            </a:r>
            <a:r>
              <a:rPr sz="2800" spc="-20" dirty="0">
                <a:latin typeface="Aptos"/>
                <a:cs typeface="Aptos"/>
              </a:rPr>
              <a:t>number</a:t>
            </a:r>
            <a:r>
              <a:rPr sz="2800" spc="-120" dirty="0">
                <a:latin typeface="Times New Roman"/>
                <a:cs typeface="Times New Roman"/>
              </a:rPr>
              <a:t> </a:t>
            </a:r>
            <a:r>
              <a:rPr sz="2800" dirty="0">
                <a:latin typeface="Aptos"/>
                <a:cs typeface="Aptos"/>
              </a:rPr>
              <a:t>of</a:t>
            </a:r>
            <a:r>
              <a:rPr sz="2800" spc="-125" dirty="0">
                <a:latin typeface="Times New Roman"/>
                <a:cs typeface="Times New Roman"/>
              </a:rPr>
              <a:t> </a:t>
            </a:r>
            <a:r>
              <a:rPr sz="2800" spc="-10" dirty="0">
                <a:latin typeface="Aptos"/>
                <a:cs typeface="Aptos"/>
              </a:rPr>
              <a:t>addresses.</a:t>
            </a:r>
            <a:endParaRPr sz="2800">
              <a:latin typeface="Aptos"/>
              <a:cs typeface="Aptos"/>
            </a:endParaRPr>
          </a:p>
          <a:p>
            <a:pPr marL="527685" marR="704850" indent="-515620">
              <a:lnSpc>
                <a:spcPts val="3020"/>
              </a:lnSpc>
              <a:spcBef>
                <a:spcPts val="1065"/>
              </a:spcBef>
              <a:tabLst>
                <a:tab pos="527685" algn="l"/>
                <a:tab pos="2500630" algn="l"/>
              </a:tabLst>
            </a:pPr>
            <a:r>
              <a:rPr sz="2800" b="1" spc="-25" dirty="0">
                <a:latin typeface="Aptos"/>
                <a:cs typeface="Aptos"/>
              </a:rPr>
              <a:t>3.</a:t>
            </a:r>
            <a:r>
              <a:rPr sz="2800" dirty="0">
                <a:latin typeface="Times New Roman"/>
                <a:cs typeface="Times New Roman"/>
              </a:rPr>
              <a:t>	</a:t>
            </a:r>
            <a:r>
              <a:rPr sz="2800" b="1" spc="-10" dirty="0">
                <a:latin typeface="Aptos"/>
                <a:cs typeface="Aptos"/>
              </a:rPr>
              <a:t>192.168.0.0</a:t>
            </a:r>
            <a:r>
              <a:rPr sz="2800" dirty="0">
                <a:latin typeface="Times New Roman"/>
                <a:cs typeface="Times New Roman"/>
              </a:rPr>
              <a:t>	</a:t>
            </a:r>
            <a:r>
              <a:rPr sz="2800" b="1" dirty="0">
                <a:latin typeface="Aptos"/>
                <a:cs typeface="Aptos"/>
              </a:rPr>
              <a:t>to</a:t>
            </a:r>
            <a:r>
              <a:rPr sz="2800" spc="-165" dirty="0">
                <a:latin typeface="Times New Roman"/>
                <a:cs typeface="Times New Roman"/>
              </a:rPr>
              <a:t> </a:t>
            </a:r>
            <a:r>
              <a:rPr sz="2800" b="1" spc="-10" dirty="0">
                <a:latin typeface="Aptos"/>
                <a:cs typeface="Aptos"/>
              </a:rPr>
              <a:t>192.168.255.255:</a:t>
            </a:r>
            <a:r>
              <a:rPr sz="2800" spc="-170" dirty="0">
                <a:latin typeface="Times New Roman"/>
                <a:cs typeface="Times New Roman"/>
              </a:rPr>
              <a:t> </a:t>
            </a:r>
            <a:r>
              <a:rPr sz="2800" dirty="0">
                <a:latin typeface="Aptos"/>
                <a:cs typeface="Aptos"/>
              </a:rPr>
              <a:t>This</a:t>
            </a:r>
            <a:r>
              <a:rPr sz="2800" spc="-130" dirty="0">
                <a:latin typeface="Times New Roman"/>
                <a:cs typeface="Times New Roman"/>
              </a:rPr>
              <a:t> </a:t>
            </a:r>
            <a:r>
              <a:rPr sz="2800" dirty="0">
                <a:latin typeface="Aptos"/>
                <a:cs typeface="Aptos"/>
              </a:rPr>
              <a:t>is</a:t>
            </a:r>
            <a:r>
              <a:rPr sz="2800" spc="-150" dirty="0">
                <a:latin typeface="Times New Roman"/>
                <a:cs typeface="Times New Roman"/>
              </a:rPr>
              <a:t> </a:t>
            </a:r>
            <a:r>
              <a:rPr sz="2800" dirty="0">
                <a:latin typeface="Aptos"/>
                <a:cs typeface="Aptos"/>
              </a:rPr>
              <a:t>a</a:t>
            </a:r>
            <a:r>
              <a:rPr sz="2800" spc="-140" dirty="0">
                <a:latin typeface="Times New Roman"/>
                <a:cs typeface="Times New Roman"/>
              </a:rPr>
              <a:t> </a:t>
            </a:r>
            <a:r>
              <a:rPr sz="2800" b="1" spc="-10" dirty="0">
                <a:latin typeface="Aptos"/>
                <a:cs typeface="Aptos"/>
              </a:rPr>
              <a:t>Class</a:t>
            </a:r>
            <a:r>
              <a:rPr sz="2800" spc="-165" dirty="0">
                <a:latin typeface="Times New Roman"/>
                <a:cs typeface="Times New Roman"/>
              </a:rPr>
              <a:t> </a:t>
            </a:r>
            <a:r>
              <a:rPr sz="2800" b="1" dirty="0">
                <a:latin typeface="Aptos"/>
                <a:cs typeface="Aptos"/>
              </a:rPr>
              <a:t>C</a:t>
            </a:r>
            <a:r>
              <a:rPr sz="2800" spc="-130" dirty="0">
                <a:latin typeface="Times New Roman"/>
                <a:cs typeface="Times New Roman"/>
              </a:rPr>
              <a:t> </a:t>
            </a:r>
            <a:r>
              <a:rPr sz="2800" spc="-10" dirty="0">
                <a:latin typeface="Aptos"/>
                <a:cs typeface="Aptos"/>
              </a:rPr>
              <a:t>network,</a:t>
            </a:r>
            <a:r>
              <a:rPr sz="2800" spc="-10" dirty="0">
                <a:latin typeface="Times New Roman"/>
                <a:cs typeface="Times New Roman"/>
              </a:rPr>
              <a:t> </a:t>
            </a:r>
            <a:r>
              <a:rPr sz="2800" spc="-20" dirty="0">
                <a:latin typeface="Aptos"/>
                <a:cs typeface="Aptos"/>
              </a:rPr>
              <a:t>offering</a:t>
            </a:r>
            <a:r>
              <a:rPr sz="2800" spc="-140" dirty="0">
                <a:latin typeface="Times New Roman"/>
                <a:cs typeface="Times New Roman"/>
              </a:rPr>
              <a:t> </a:t>
            </a:r>
            <a:r>
              <a:rPr sz="2800" dirty="0">
                <a:latin typeface="Aptos"/>
                <a:cs typeface="Aptos"/>
              </a:rPr>
              <a:t>a</a:t>
            </a:r>
            <a:r>
              <a:rPr sz="2800" spc="-145" dirty="0">
                <a:latin typeface="Times New Roman"/>
                <a:cs typeface="Times New Roman"/>
              </a:rPr>
              <a:t> </a:t>
            </a:r>
            <a:r>
              <a:rPr sz="2800" spc="-10" dirty="0">
                <a:latin typeface="Aptos"/>
                <a:cs typeface="Aptos"/>
              </a:rPr>
              <a:t>smaller</a:t>
            </a:r>
            <a:r>
              <a:rPr sz="2800" spc="-125" dirty="0">
                <a:latin typeface="Times New Roman"/>
                <a:cs typeface="Times New Roman"/>
              </a:rPr>
              <a:t> </a:t>
            </a:r>
            <a:r>
              <a:rPr sz="2800" spc="-20" dirty="0">
                <a:latin typeface="Aptos"/>
                <a:cs typeface="Aptos"/>
              </a:rPr>
              <a:t>number</a:t>
            </a:r>
            <a:r>
              <a:rPr sz="2800" spc="-135" dirty="0">
                <a:latin typeface="Times New Roman"/>
                <a:cs typeface="Times New Roman"/>
              </a:rPr>
              <a:t> </a:t>
            </a:r>
            <a:r>
              <a:rPr sz="2800" dirty="0">
                <a:latin typeface="Aptos"/>
                <a:cs typeface="Aptos"/>
              </a:rPr>
              <a:t>of</a:t>
            </a:r>
            <a:r>
              <a:rPr sz="2800" spc="-135" dirty="0">
                <a:latin typeface="Times New Roman"/>
                <a:cs typeface="Times New Roman"/>
              </a:rPr>
              <a:t> </a:t>
            </a:r>
            <a:r>
              <a:rPr sz="2800" spc="-10" dirty="0">
                <a:latin typeface="Aptos"/>
                <a:cs typeface="Aptos"/>
              </a:rPr>
              <a:t>addresses.</a:t>
            </a:r>
            <a:endParaRPr sz="2800">
              <a:latin typeface="Aptos"/>
              <a:cs typeface="Aptos"/>
            </a:endParaRPr>
          </a:p>
          <a:p>
            <a:pPr marL="12700" marR="551180">
              <a:lnSpc>
                <a:spcPct val="90000"/>
              </a:lnSpc>
              <a:spcBef>
                <a:spcPts val="960"/>
              </a:spcBef>
            </a:pPr>
            <a:r>
              <a:rPr sz="2800" spc="-10" dirty="0">
                <a:latin typeface="Aptos"/>
                <a:cs typeface="Aptos"/>
              </a:rPr>
              <a:t>These</a:t>
            </a:r>
            <a:r>
              <a:rPr sz="2800" spc="-165" dirty="0">
                <a:latin typeface="Times New Roman"/>
                <a:cs typeface="Times New Roman"/>
              </a:rPr>
              <a:t> </a:t>
            </a:r>
            <a:r>
              <a:rPr sz="2800" spc="-30" dirty="0">
                <a:latin typeface="Aptos"/>
                <a:cs typeface="Aptos"/>
              </a:rPr>
              <a:t>ranges</a:t>
            </a:r>
            <a:r>
              <a:rPr sz="2800" spc="-145" dirty="0">
                <a:latin typeface="Times New Roman"/>
                <a:cs typeface="Times New Roman"/>
              </a:rPr>
              <a:t> </a:t>
            </a:r>
            <a:r>
              <a:rPr sz="2800" spc="-20" dirty="0">
                <a:latin typeface="Aptos"/>
                <a:cs typeface="Aptos"/>
              </a:rPr>
              <a:t>are</a:t>
            </a:r>
            <a:r>
              <a:rPr sz="2800" spc="-155" dirty="0">
                <a:latin typeface="Times New Roman"/>
                <a:cs typeface="Times New Roman"/>
              </a:rPr>
              <a:t> </a:t>
            </a:r>
            <a:r>
              <a:rPr sz="2800" spc="-10" dirty="0">
                <a:latin typeface="Aptos"/>
                <a:cs typeface="Aptos"/>
              </a:rPr>
              <a:t>defined</a:t>
            </a:r>
            <a:r>
              <a:rPr sz="2800" spc="-165" dirty="0">
                <a:latin typeface="Times New Roman"/>
                <a:cs typeface="Times New Roman"/>
              </a:rPr>
              <a:t> </a:t>
            </a:r>
            <a:r>
              <a:rPr sz="2800" dirty="0">
                <a:latin typeface="Aptos"/>
                <a:cs typeface="Aptos"/>
              </a:rPr>
              <a:t>in</a:t>
            </a:r>
            <a:r>
              <a:rPr sz="2800" spc="-175" dirty="0">
                <a:latin typeface="Times New Roman"/>
                <a:cs typeface="Times New Roman"/>
              </a:rPr>
              <a:t> </a:t>
            </a:r>
            <a:r>
              <a:rPr sz="2800" spc="-20" dirty="0">
                <a:latin typeface="Aptos"/>
                <a:cs typeface="Aptos"/>
              </a:rPr>
              <a:t>RFC</a:t>
            </a:r>
            <a:r>
              <a:rPr sz="2800" spc="-155" dirty="0">
                <a:latin typeface="Times New Roman"/>
                <a:cs typeface="Times New Roman"/>
              </a:rPr>
              <a:t> </a:t>
            </a:r>
            <a:r>
              <a:rPr sz="2800" dirty="0">
                <a:latin typeface="Aptos"/>
                <a:cs typeface="Aptos"/>
              </a:rPr>
              <a:t>1918</a:t>
            </a:r>
            <a:r>
              <a:rPr sz="2800" spc="-130" dirty="0">
                <a:latin typeface="Times New Roman"/>
                <a:cs typeface="Times New Roman"/>
              </a:rPr>
              <a:t> </a:t>
            </a:r>
            <a:r>
              <a:rPr sz="2800" dirty="0">
                <a:latin typeface="Aptos"/>
                <a:cs typeface="Aptos"/>
              </a:rPr>
              <a:t>and</a:t>
            </a:r>
            <a:r>
              <a:rPr sz="2800" spc="-145" dirty="0">
                <a:latin typeface="Times New Roman"/>
                <a:cs typeface="Times New Roman"/>
              </a:rPr>
              <a:t> </a:t>
            </a:r>
            <a:r>
              <a:rPr sz="2800" spc="-20" dirty="0">
                <a:latin typeface="Aptos"/>
                <a:cs typeface="Aptos"/>
              </a:rPr>
              <a:t>are</a:t>
            </a:r>
            <a:r>
              <a:rPr sz="2800" spc="-155" dirty="0">
                <a:latin typeface="Times New Roman"/>
                <a:cs typeface="Times New Roman"/>
              </a:rPr>
              <a:t> </a:t>
            </a:r>
            <a:r>
              <a:rPr sz="2800" dirty="0">
                <a:latin typeface="Aptos"/>
                <a:cs typeface="Aptos"/>
              </a:rPr>
              <a:t>not</a:t>
            </a:r>
            <a:r>
              <a:rPr sz="2800" spc="-155" dirty="0">
                <a:latin typeface="Times New Roman"/>
                <a:cs typeface="Times New Roman"/>
              </a:rPr>
              <a:t> </a:t>
            </a:r>
            <a:r>
              <a:rPr sz="2800" spc="-10" dirty="0">
                <a:latin typeface="Aptos"/>
                <a:cs typeface="Aptos"/>
              </a:rPr>
              <a:t>publicly</a:t>
            </a:r>
            <a:r>
              <a:rPr sz="2800" spc="-10" dirty="0">
                <a:latin typeface="Times New Roman"/>
                <a:cs typeface="Times New Roman"/>
              </a:rPr>
              <a:t> </a:t>
            </a:r>
            <a:r>
              <a:rPr sz="2800" spc="-30" dirty="0">
                <a:latin typeface="Aptos"/>
                <a:cs typeface="Aptos"/>
              </a:rPr>
              <a:t>routable.</a:t>
            </a:r>
            <a:r>
              <a:rPr sz="2800" spc="-140" dirty="0">
                <a:latin typeface="Times New Roman"/>
                <a:cs typeface="Times New Roman"/>
              </a:rPr>
              <a:t> </a:t>
            </a:r>
            <a:r>
              <a:rPr sz="2800" spc="-10" dirty="0">
                <a:latin typeface="Aptos"/>
                <a:cs typeface="Aptos"/>
              </a:rPr>
              <a:t>They</a:t>
            </a:r>
            <a:r>
              <a:rPr sz="2800" spc="-125" dirty="0">
                <a:latin typeface="Times New Roman"/>
                <a:cs typeface="Times New Roman"/>
              </a:rPr>
              <a:t> </a:t>
            </a:r>
            <a:r>
              <a:rPr sz="2800" spc="-20" dirty="0">
                <a:latin typeface="Aptos"/>
                <a:cs typeface="Aptos"/>
              </a:rPr>
              <a:t>are</a:t>
            </a:r>
            <a:r>
              <a:rPr sz="2800" spc="-130" dirty="0">
                <a:latin typeface="Times New Roman"/>
                <a:cs typeface="Times New Roman"/>
              </a:rPr>
              <a:t> </a:t>
            </a:r>
            <a:r>
              <a:rPr sz="2800" spc="-10" dirty="0">
                <a:latin typeface="Aptos"/>
                <a:cs typeface="Aptos"/>
              </a:rPr>
              <a:t>used</a:t>
            </a:r>
            <a:r>
              <a:rPr sz="2800" spc="-135" dirty="0">
                <a:latin typeface="Times New Roman"/>
                <a:cs typeface="Times New Roman"/>
              </a:rPr>
              <a:t> </a:t>
            </a:r>
            <a:r>
              <a:rPr sz="2800" spc="-10" dirty="0">
                <a:latin typeface="Aptos"/>
                <a:cs typeface="Aptos"/>
              </a:rPr>
              <a:t>within</a:t>
            </a:r>
            <a:r>
              <a:rPr sz="2800" spc="-145" dirty="0">
                <a:latin typeface="Times New Roman"/>
                <a:cs typeface="Times New Roman"/>
              </a:rPr>
              <a:t> </a:t>
            </a:r>
            <a:r>
              <a:rPr sz="2800" spc="-25" dirty="0">
                <a:latin typeface="Aptos"/>
                <a:cs typeface="Aptos"/>
              </a:rPr>
              <a:t>private</a:t>
            </a:r>
            <a:r>
              <a:rPr sz="2800" spc="-140" dirty="0">
                <a:latin typeface="Times New Roman"/>
                <a:cs typeface="Times New Roman"/>
              </a:rPr>
              <a:t> </a:t>
            </a:r>
            <a:r>
              <a:rPr sz="2800" spc="-30" dirty="0">
                <a:latin typeface="Aptos"/>
                <a:cs typeface="Aptos"/>
              </a:rPr>
              <a:t>networks,</a:t>
            </a:r>
            <a:r>
              <a:rPr sz="2800" spc="-130" dirty="0">
                <a:latin typeface="Times New Roman"/>
                <a:cs typeface="Times New Roman"/>
              </a:rPr>
              <a:t> </a:t>
            </a:r>
            <a:r>
              <a:rPr sz="2800" spc="-10" dirty="0">
                <a:latin typeface="Aptos"/>
                <a:cs typeface="Aptos"/>
              </a:rPr>
              <a:t>such</a:t>
            </a:r>
            <a:r>
              <a:rPr sz="2800" spc="-120" dirty="0">
                <a:latin typeface="Times New Roman"/>
                <a:cs typeface="Times New Roman"/>
              </a:rPr>
              <a:t> </a:t>
            </a:r>
            <a:r>
              <a:rPr sz="2800" dirty="0">
                <a:latin typeface="Aptos"/>
                <a:cs typeface="Aptos"/>
              </a:rPr>
              <a:t>as</a:t>
            </a:r>
            <a:r>
              <a:rPr sz="2800" spc="-135" dirty="0">
                <a:latin typeface="Times New Roman"/>
                <a:cs typeface="Times New Roman"/>
              </a:rPr>
              <a:t> </a:t>
            </a:r>
            <a:r>
              <a:rPr sz="2800" spc="-20" dirty="0">
                <a:latin typeface="Aptos"/>
                <a:cs typeface="Aptos"/>
              </a:rPr>
              <a:t>home</a:t>
            </a:r>
            <a:r>
              <a:rPr sz="2800" spc="-20" dirty="0">
                <a:latin typeface="Times New Roman"/>
                <a:cs typeface="Times New Roman"/>
              </a:rPr>
              <a:t> </a:t>
            </a:r>
            <a:r>
              <a:rPr sz="2800" spc="-25" dirty="0">
                <a:latin typeface="Aptos"/>
                <a:cs typeface="Aptos"/>
              </a:rPr>
              <a:t>networks</a:t>
            </a:r>
            <a:r>
              <a:rPr sz="2800" spc="-125" dirty="0">
                <a:latin typeface="Times New Roman"/>
                <a:cs typeface="Times New Roman"/>
              </a:rPr>
              <a:t> </a:t>
            </a:r>
            <a:r>
              <a:rPr sz="2800" dirty="0">
                <a:latin typeface="Aptos"/>
                <a:cs typeface="Aptos"/>
              </a:rPr>
              <a:t>or</a:t>
            </a:r>
            <a:r>
              <a:rPr sz="2800" spc="-130" dirty="0">
                <a:latin typeface="Times New Roman"/>
                <a:cs typeface="Times New Roman"/>
              </a:rPr>
              <a:t> </a:t>
            </a:r>
            <a:r>
              <a:rPr sz="2800" spc="-30" dirty="0">
                <a:latin typeface="Aptos"/>
                <a:cs typeface="Aptos"/>
              </a:rPr>
              <a:t>corporate</a:t>
            </a:r>
            <a:r>
              <a:rPr sz="2800" spc="-120" dirty="0">
                <a:latin typeface="Times New Roman"/>
                <a:cs typeface="Times New Roman"/>
              </a:rPr>
              <a:t> </a:t>
            </a:r>
            <a:r>
              <a:rPr sz="2800" spc="-30" dirty="0">
                <a:latin typeface="Aptos"/>
                <a:cs typeface="Aptos"/>
              </a:rPr>
              <a:t>networks,</a:t>
            </a:r>
            <a:r>
              <a:rPr sz="2800" spc="-130" dirty="0">
                <a:latin typeface="Times New Roman"/>
                <a:cs typeface="Times New Roman"/>
              </a:rPr>
              <a:t> </a:t>
            </a:r>
            <a:r>
              <a:rPr sz="2800" dirty="0">
                <a:latin typeface="Aptos"/>
                <a:cs typeface="Aptos"/>
              </a:rPr>
              <a:t>to</a:t>
            </a:r>
            <a:r>
              <a:rPr sz="2800" spc="-130" dirty="0">
                <a:latin typeface="Times New Roman"/>
                <a:cs typeface="Times New Roman"/>
              </a:rPr>
              <a:t> </a:t>
            </a:r>
            <a:r>
              <a:rPr sz="2800" spc="-20" dirty="0">
                <a:latin typeface="Aptos"/>
                <a:cs typeface="Aptos"/>
              </a:rPr>
              <a:t>assign</a:t>
            </a:r>
            <a:r>
              <a:rPr sz="2800" spc="-125" dirty="0">
                <a:latin typeface="Times New Roman"/>
                <a:cs typeface="Times New Roman"/>
              </a:rPr>
              <a:t> </a:t>
            </a:r>
            <a:r>
              <a:rPr sz="2800" spc="-20" dirty="0">
                <a:latin typeface="Aptos"/>
                <a:cs typeface="Aptos"/>
              </a:rPr>
              <a:t>addresses</a:t>
            </a:r>
            <a:r>
              <a:rPr sz="2800" spc="-120" dirty="0">
                <a:latin typeface="Times New Roman"/>
                <a:cs typeface="Times New Roman"/>
              </a:rPr>
              <a:t> </a:t>
            </a:r>
            <a:r>
              <a:rPr sz="2800" dirty="0">
                <a:latin typeface="Aptos"/>
                <a:cs typeface="Aptos"/>
              </a:rPr>
              <a:t>to</a:t>
            </a:r>
            <a:r>
              <a:rPr sz="2800" spc="-130" dirty="0">
                <a:latin typeface="Times New Roman"/>
                <a:cs typeface="Times New Roman"/>
              </a:rPr>
              <a:t> </a:t>
            </a:r>
            <a:r>
              <a:rPr sz="2800" spc="-10" dirty="0">
                <a:latin typeface="Aptos"/>
                <a:cs typeface="Aptos"/>
              </a:rPr>
              <a:t>devices</a:t>
            </a:r>
            <a:r>
              <a:rPr sz="2800" spc="-10" dirty="0">
                <a:latin typeface="Times New Roman"/>
                <a:cs typeface="Times New Roman"/>
              </a:rPr>
              <a:t> </a:t>
            </a:r>
            <a:r>
              <a:rPr sz="2800" spc="-20" dirty="0">
                <a:latin typeface="Aptos"/>
                <a:cs typeface="Aptos"/>
              </a:rPr>
              <a:t>that</a:t>
            </a:r>
            <a:r>
              <a:rPr sz="2800" spc="-155" dirty="0">
                <a:latin typeface="Times New Roman"/>
                <a:cs typeface="Times New Roman"/>
              </a:rPr>
              <a:t> </a:t>
            </a:r>
            <a:r>
              <a:rPr sz="2800" dirty="0">
                <a:latin typeface="Aptos"/>
                <a:cs typeface="Aptos"/>
              </a:rPr>
              <a:t>do</a:t>
            </a:r>
            <a:r>
              <a:rPr sz="2800" spc="-145" dirty="0">
                <a:latin typeface="Times New Roman"/>
                <a:cs typeface="Times New Roman"/>
              </a:rPr>
              <a:t> </a:t>
            </a:r>
            <a:r>
              <a:rPr sz="2800" dirty="0">
                <a:latin typeface="Aptos"/>
                <a:cs typeface="Aptos"/>
              </a:rPr>
              <a:t>not</a:t>
            </a:r>
            <a:r>
              <a:rPr sz="2800" spc="-140" dirty="0">
                <a:latin typeface="Times New Roman"/>
                <a:cs typeface="Times New Roman"/>
              </a:rPr>
              <a:t> </a:t>
            </a:r>
            <a:r>
              <a:rPr sz="2800" spc="-20" dirty="0">
                <a:latin typeface="Aptos"/>
                <a:cs typeface="Aptos"/>
              </a:rPr>
              <a:t>need</a:t>
            </a:r>
            <a:r>
              <a:rPr sz="2800" spc="-155" dirty="0">
                <a:latin typeface="Times New Roman"/>
                <a:cs typeface="Times New Roman"/>
              </a:rPr>
              <a:t> </a:t>
            </a:r>
            <a:r>
              <a:rPr sz="2800" spc="-20" dirty="0">
                <a:latin typeface="Aptos"/>
                <a:cs typeface="Aptos"/>
              </a:rPr>
              <a:t>direct</a:t>
            </a:r>
            <a:r>
              <a:rPr sz="2800" spc="-155" dirty="0">
                <a:latin typeface="Times New Roman"/>
                <a:cs typeface="Times New Roman"/>
              </a:rPr>
              <a:t> </a:t>
            </a:r>
            <a:r>
              <a:rPr sz="2800" spc="-10" dirty="0">
                <a:latin typeface="Aptos"/>
                <a:cs typeface="Aptos"/>
              </a:rPr>
              <a:t>access</a:t>
            </a:r>
            <a:r>
              <a:rPr sz="2800" spc="-130" dirty="0">
                <a:latin typeface="Times New Roman"/>
                <a:cs typeface="Times New Roman"/>
              </a:rPr>
              <a:t> </a:t>
            </a:r>
            <a:r>
              <a:rPr sz="2800" dirty="0">
                <a:latin typeface="Aptos"/>
                <a:cs typeface="Aptos"/>
              </a:rPr>
              <a:t>to</a:t>
            </a:r>
            <a:r>
              <a:rPr sz="2800" spc="-140" dirty="0">
                <a:latin typeface="Times New Roman"/>
                <a:cs typeface="Times New Roman"/>
              </a:rPr>
              <a:t> </a:t>
            </a:r>
            <a:r>
              <a:rPr sz="2800" spc="-10" dirty="0">
                <a:latin typeface="Aptos"/>
                <a:cs typeface="Aptos"/>
              </a:rPr>
              <a:t>the</a:t>
            </a:r>
            <a:r>
              <a:rPr sz="2800" spc="-160" dirty="0">
                <a:latin typeface="Times New Roman"/>
                <a:cs typeface="Times New Roman"/>
              </a:rPr>
              <a:t> </a:t>
            </a:r>
            <a:r>
              <a:rPr sz="2800" spc="-10" dirty="0">
                <a:latin typeface="Aptos"/>
                <a:cs typeface="Aptos"/>
              </a:rPr>
              <a:t>internet.</a:t>
            </a:r>
            <a:endParaRPr sz="2800">
              <a:latin typeface="Aptos"/>
              <a:cs typeface="Aptos"/>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29638" y="381000"/>
            <a:ext cx="4632961" cy="410369"/>
          </a:xfrm>
          <a:prstGeom prst="rect">
            <a:avLst/>
          </a:prstGeom>
          <a:solidFill>
            <a:srgbClr val="FFFF00"/>
          </a:solidFill>
        </p:spPr>
        <p:txBody>
          <a:bodyPr vert="horz" wrap="square" lIns="0" tIns="0" rIns="0" bIns="0" rtlCol="0">
            <a:spAutoFit/>
          </a:bodyPr>
          <a:lstStyle/>
          <a:p>
            <a:pPr>
              <a:lnSpc>
                <a:spcPts val="3200"/>
              </a:lnSpc>
            </a:pPr>
            <a:r>
              <a:rPr sz="2800" b="1" spc="-30" dirty="0">
                <a:latin typeface="Aptos"/>
                <a:cs typeface="Aptos"/>
              </a:rPr>
              <a:t>Public</a:t>
            </a:r>
            <a:r>
              <a:rPr sz="2800" spc="-135" dirty="0">
                <a:latin typeface="Times New Roman"/>
                <a:cs typeface="Times New Roman"/>
              </a:rPr>
              <a:t> </a:t>
            </a:r>
            <a:r>
              <a:rPr sz="2800" b="1" spc="-10" dirty="0">
                <a:latin typeface="Aptos"/>
                <a:cs typeface="Aptos"/>
              </a:rPr>
              <a:t>IPv4</a:t>
            </a:r>
            <a:r>
              <a:rPr sz="2800" spc="-135" dirty="0">
                <a:latin typeface="Times New Roman"/>
                <a:cs typeface="Times New Roman"/>
              </a:rPr>
              <a:t> </a:t>
            </a:r>
            <a:r>
              <a:rPr sz="2800" b="1" spc="-10" dirty="0">
                <a:latin typeface="Aptos"/>
                <a:cs typeface="Aptos"/>
              </a:rPr>
              <a:t>Addresses:</a:t>
            </a:r>
            <a:endParaRPr sz="2800" dirty="0">
              <a:latin typeface="Aptos"/>
              <a:cs typeface="Aptos"/>
            </a:endParaRPr>
          </a:p>
        </p:txBody>
      </p:sp>
      <p:sp>
        <p:nvSpPr>
          <p:cNvPr id="3" name="object 3"/>
          <p:cNvSpPr txBox="1"/>
          <p:nvPr/>
        </p:nvSpPr>
        <p:spPr>
          <a:xfrm>
            <a:off x="916941" y="907149"/>
            <a:ext cx="10242550" cy="2994660"/>
          </a:xfrm>
          <a:prstGeom prst="rect">
            <a:avLst/>
          </a:prstGeom>
        </p:spPr>
        <p:txBody>
          <a:bodyPr vert="horz" wrap="square" lIns="0" tIns="66675" rIns="0" bIns="0" rtlCol="0">
            <a:spAutoFit/>
          </a:bodyPr>
          <a:lstStyle/>
          <a:p>
            <a:pPr marL="241300" marR="244475" indent="-228600">
              <a:lnSpc>
                <a:spcPts val="2960"/>
              </a:lnSpc>
              <a:spcBef>
                <a:spcPts val="525"/>
              </a:spcBef>
              <a:buFont typeface="Arial"/>
              <a:buChar char="•"/>
              <a:tabLst>
                <a:tab pos="241300" algn="l"/>
              </a:tabLst>
            </a:pPr>
            <a:r>
              <a:rPr sz="2800" dirty="0">
                <a:latin typeface="Aptos"/>
                <a:cs typeface="Aptos"/>
              </a:rPr>
              <a:t>All</a:t>
            </a:r>
            <a:r>
              <a:rPr sz="2800" spc="-140" dirty="0">
                <a:latin typeface="Times New Roman"/>
                <a:cs typeface="Times New Roman"/>
              </a:rPr>
              <a:t> </a:t>
            </a:r>
            <a:r>
              <a:rPr sz="2800" spc="-10" dirty="0">
                <a:latin typeface="Aptos"/>
                <a:cs typeface="Aptos"/>
              </a:rPr>
              <a:t>other</a:t>
            </a:r>
            <a:r>
              <a:rPr sz="2800" spc="-135" dirty="0">
                <a:latin typeface="Times New Roman"/>
                <a:cs typeface="Times New Roman"/>
              </a:rPr>
              <a:t> </a:t>
            </a:r>
            <a:r>
              <a:rPr sz="2800" dirty="0">
                <a:latin typeface="Aptos"/>
                <a:cs typeface="Aptos"/>
              </a:rPr>
              <a:t>IPv4</a:t>
            </a:r>
            <a:r>
              <a:rPr sz="2800" spc="-120" dirty="0">
                <a:latin typeface="Times New Roman"/>
                <a:cs typeface="Times New Roman"/>
              </a:rPr>
              <a:t> </a:t>
            </a:r>
            <a:r>
              <a:rPr sz="2800" spc="-20" dirty="0">
                <a:latin typeface="Aptos"/>
                <a:cs typeface="Aptos"/>
              </a:rPr>
              <a:t>addresses</a:t>
            </a:r>
            <a:r>
              <a:rPr sz="2800" spc="-130" dirty="0">
                <a:latin typeface="Times New Roman"/>
                <a:cs typeface="Times New Roman"/>
              </a:rPr>
              <a:t> </a:t>
            </a:r>
            <a:r>
              <a:rPr sz="2800" spc="-20" dirty="0">
                <a:latin typeface="Aptos"/>
                <a:cs typeface="Aptos"/>
              </a:rPr>
              <a:t>that</a:t>
            </a:r>
            <a:r>
              <a:rPr sz="2800" spc="-145" dirty="0">
                <a:latin typeface="Times New Roman"/>
                <a:cs typeface="Times New Roman"/>
              </a:rPr>
              <a:t> </a:t>
            </a:r>
            <a:r>
              <a:rPr sz="2800" dirty="0">
                <a:latin typeface="Aptos"/>
                <a:cs typeface="Aptos"/>
              </a:rPr>
              <a:t>do</a:t>
            </a:r>
            <a:r>
              <a:rPr sz="2800" spc="-125" dirty="0">
                <a:latin typeface="Times New Roman"/>
                <a:cs typeface="Times New Roman"/>
              </a:rPr>
              <a:t> </a:t>
            </a:r>
            <a:r>
              <a:rPr sz="2800" spc="-10" dirty="0">
                <a:latin typeface="Aptos"/>
                <a:cs typeface="Aptos"/>
              </a:rPr>
              <a:t>not</a:t>
            </a:r>
            <a:r>
              <a:rPr sz="2800" spc="-145" dirty="0">
                <a:latin typeface="Times New Roman"/>
                <a:cs typeface="Times New Roman"/>
              </a:rPr>
              <a:t> </a:t>
            </a:r>
            <a:r>
              <a:rPr sz="2800" spc="-20" dirty="0">
                <a:latin typeface="Aptos"/>
                <a:cs typeface="Aptos"/>
              </a:rPr>
              <a:t>fall</a:t>
            </a:r>
            <a:r>
              <a:rPr sz="2800" spc="-145" dirty="0">
                <a:latin typeface="Times New Roman"/>
                <a:cs typeface="Times New Roman"/>
              </a:rPr>
              <a:t> </a:t>
            </a:r>
            <a:r>
              <a:rPr sz="2800" spc="-10" dirty="0">
                <a:latin typeface="Aptos"/>
                <a:cs typeface="Aptos"/>
              </a:rPr>
              <a:t>within</a:t>
            </a:r>
            <a:r>
              <a:rPr sz="2800" spc="-160" dirty="0">
                <a:latin typeface="Times New Roman"/>
                <a:cs typeface="Times New Roman"/>
              </a:rPr>
              <a:t> </a:t>
            </a:r>
            <a:r>
              <a:rPr sz="2800" spc="-10" dirty="0">
                <a:latin typeface="Aptos"/>
                <a:cs typeface="Aptos"/>
              </a:rPr>
              <a:t>the</a:t>
            </a:r>
            <a:r>
              <a:rPr sz="2800" spc="-145" dirty="0">
                <a:latin typeface="Times New Roman"/>
                <a:cs typeface="Times New Roman"/>
              </a:rPr>
              <a:t> </a:t>
            </a:r>
            <a:r>
              <a:rPr sz="2800" spc="-20" dirty="0">
                <a:latin typeface="Aptos"/>
                <a:cs typeface="Aptos"/>
              </a:rPr>
              <a:t>private</a:t>
            </a:r>
            <a:r>
              <a:rPr sz="2800" spc="-140" dirty="0">
                <a:latin typeface="Times New Roman"/>
                <a:cs typeface="Times New Roman"/>
              </a:rPr>
              <a:t> </a:t>
            </a:r>
            <a:r>
              <a:rPr sz="2800" spc="-10" dirty="0">
                <a:latin typeface="Aptos"/>
                <a:cs typeface="Aptos"/>
              </a:rPr>
              <a:t>ranges</a:t>
            </a:r>
            <a:r>
              <a:rPr sz="2800" spc="-10" dirty="0">
                <a:latin typeface="Times New Roman"/>
                <a:cs typeface="Times New Roman"/>
              </a:rPr>
              <a:t> </a:t>
            </a:r>
            <a:r>
              <a:rPr sz="2800" spc="-20" dirty="0">
                <a:latin typeface="Aptos"/>
                <a:cs typeface="Aptos"/>
              </a:rPr>
              <a:t>mentioned</a:t>
            </a:r>
            <a:r>
              <a:rPr sz="2800" spc="-114" dirty="0">
                <a:latin typeface="Times New Roman"/>
                <a:cs typeface="Times New Roman"/>
              </a:rPr>
              <a:t> </a:t>
            </a:r>
            <a:r>
              <a:rPr sz="2800" spc="-25" dirty="0">
                <a:latin typeface="Aptos"/>
                <a:cs typeface="Aptos"/>
              </a:rPr>
              <a:t>above</a:t>
            </a:r>
            <a:r>
              <a:rPr sz="2800" spc="-130" dirty="0">
                <a:latin typeface="Times New Roman"/>
                <a:cs typeface="Times New Roman"/>
              </a:rPr>
              <a:t> </a:t>
            </a:r>
            <a:r>
              <a:rPr sz="2800" spc="-20" dirty="0">
                <a:latin typeface="Aptos"/>
                <a:cs typeface="Aptos"/>
              </a:rPr>
              <a:t>are</a:t>
            </a:r>
            <a:r>
              <a:rPr sz="2800" spc="-110" dirty="0">
                <a:latin typeface="Times New Roman"/>
                <a:cs typeface="Times New Roman"/>
              </a:rPr>
              <a:t> </a:t>
            </a:r>
            <a:r>
              <a:rPr sz="2800" spc="-20" dirty="0">
                <a:latin typeface="Aptos"/>
                <a:cs typeface="Aptos"/>
              </a:rPr>
              <a:t>considered</a:t>
            </a:r>
            <a:r>
              <a:rPr sz="2800" spc="-100" dirty="0">
                <a:latin typeface="Times New Roman"/>
                <a:cs typeface="Times New Roman"/>
              </a:rPr>
              <a:t> </a:t>
            </a:r>
            <a:r>
              <a:rPr sz="2800" spc="-10" dirty="0">
                <a:latin typeface="Aptos"/>
                <a:cs typeface="Aptos"/>
              </a:rPr>
              <a:t>public.</a:t>
            </a:r>
            <a:endParaRPr sz="2800">
              <a:latin typeface="Aptos"/>
              <a:cs typeface="Aptos"/>
            </a:endParaRPr>
          </a:p>
          <a:p>
            <a:pPr marL="241300" marR="489584" indent="-228600">
              <a:lnSpc>
                <a:spcPct val="89100"/>
              </a:lnSpc>
              <a:spcBef>
                <a:spcPts val="1075"/>
              </a:spcBef>
              <a:buFont typeface="Arial"/>
              <a:buChar char="•"/>
              <a:tabLst>
                <a:tab pos="241300" algn="l"/>
              </a:tabLst>
            </a:pPr>
            <a:r>
              <a:rPr sz="2800" spc="-10" dirty="0">
                <a:latin typeface="Aptos"/>
                <a:cs typeface="Aptos"/>
              </a:rPr>
              <a:t>These</a:t>
            </a:r>
            <a:r>
              <a:rPr sz="2800" spc="-160" dirty="0">
                <a:latin typeface="Times New Roman"/>
                <a:cs typeface="Times New Roman"/>
              </a:rPr>
              <a:t> </a:t>
            </a:r>
            <a:r>
              <a:rPr sz="2800" spc="-10" dirty="0">
                <a:latin typeface="Aptos"/>
                <a:cs typeface="Aptos"/>
              </a:rPr>
              <a:t>addresses</a:t>
            </a:r>
            <a:r>
              <a:rPr sz="2800" spc="-135" dirty="0">
                <a:latin typeface="Times New Roman"/>
                <a:cs typeface="Times New Roman"/>
              </a:rPr>
              <a:t> </a:t>
            </a:r>
            <a:r>
              <a:rPr sz="2800" spc="-20" dirty="0">
                <a:latin typeface="Aptos"/>
                <a:cs typeface="Aptos"/>
              </a:rPr>
              <a:t>are</a:t>
            </a:r>
            <a:r>
              <a:rPr sz="2800" spc="-155" dirty="0">
                <a:latin typeface="Times New Roman"/>
                <a:cs typeface="Times New Roman"/>
              </a:rPr>
              <a:t> </a:t>
            </a:r>
            <a:r>
              <a:rPr sz="2800" spc="-10" dirty="0">
                <a:latin typeface="Aptos"/>
                <a:cs typeface="Aptos"/>
              </a:rPr>
              <a:t>globally</a:t>
            </a:r>
            <a:r>
              <a:rPr sz="2800" spc="-155" dirty="0">
                <a:latin typeface="Times New Roman"/>
                <a:cs typeface="Times New Roman"/>
              </a:rPr>
              <a:t> </a:t>
            </a:r>
            <a:r>
              <a:rPr sz="2800" spc="-10" dirty="0">
                <a:latin typeface="Aptos"/>
                <a:cs typeface="Aptos"/>
              </a:rPr>
              <a:t>unique</a:t>
            </a:r>
            <a:r>
              <a:rPr sz="2800" spc="-165" dirty="0">
                <a:latin typeface="Times New Roman"/>
                <a:cs typeface="Times New Roman"/>
              </a:rPr>
              <a:t> </a:t>
            </a:r>
            <a:r>
              <a:rPr sz="2800" dirty="0">
                <a:latin typeface="Aptos"/>
                <a:cs typeface="Aptos"/>
              </a:rPr>
              <a:t>and</a:t>
            </a:r>
            <a:r>
              <a:rPr sz="2800" spc="-145" dirty="0">
                <a:latin typeface="Times New Roman"/>
                <a:cs typeface="Times New Roman"/>
              </a:rPr>
              <a:t> </a:t>
            </a:r>
            <a:r>
              <a:rPr sz="2800" spc="-10" dirty="0">
                <a:latin typeface="Aptos"/>
                <a:cs typeface="Aptos"/>
              </a:rPr>
              <a:t>assigned</a:t>
            </a:r>
            <a:r>
              <a:rPr sz="2800" spc="-140" dirty="0">
                <a:latin typeface="Times New Roman"/>
                <a:cs typeface="Times New Roman"/>
              </a:rPr>
              <a:t> </a:t>
            </a:r>
            <a:r>
              <a:rPr sz="2800" spc="-10" dirty="0">
                <a:latin typeface="Aptos"/>
                <a:cs typeface="Aptos"/>
              </a:rPr>
              <a:t>by</a:t>
            </a:r>
            <a:r>
              <a:rPr sz="2800" spc="-165" dirty="0">
                <a:latin typeface="Times New Roman"/>
                <a:cs typeface="Times New Roman"/>
              </a:rPr>
              <a:t> </a:t>
            </a:r>
            <a:r>
              <a:rPr sz="2800" spc="-10" dirty="0">
                <a:latin typeface="Aptos"/>
                <a:cs typeface="Aptos"/>
              </a:rPr>
              <a:t>Regional</a:t>
            </a:r>
            <a:r>
              <a:rPr sz="2800" spc="-10" dirty="0">
                <a:latin typeface="Times New Roman"/>
                <a:cs typeface="Times New Roman"/>
              </a:rPr>
              <a:t> </a:t>
            </a:r>
            <a:r>
              <a:rPr sz="2800" spc="-20" dirty="0">
                <a:latin typeface="Aptos"/>
                <a:cs typeface="Aptos"/>
              </a:rPr>
              <a:t>Internet</a:t>
            </a:r>
            <a:r>
              <a:rPr sz="2800" spc="-155" dirty="0">
                <a:latin typeface="Times New Roman"/>
                <a:cs typeface="Times New Roman"/>
              </a:rPr>
              <a:t> </a:t>
            </a:r>
            <a:r>
              <a:rPr sz="2800" spc="-10" dirty="0">
                <a:latin typeface="Aptos"/>
                <a:cs typeface="Aptos"/>
              </a:rPr>
              <a:t>Registries</a:t>
            </a:r>
            <a:r>
              <a:rPr sz="2800" spc="-130" dirty="0">
                <a:latin typeface="Times New Roman"/>
                <a:cs typeface="Times New Roman"/>
              </a:rPr>
              <a:t> </a:t>
            </a:r>
            <a:r>
              <a:rPr sz="2800" dirty="0">
                <a:latin typeface="Aptos"/>
                <a:cs typeface="Aptos"/>
              </a:rPr>
              <a:t>(RIRs)</a:t>
            </a:r>
            <a:r>
              <a:rPr sz="2800" spc="-114" dirty="0">
                <a:latin typeface="Times New Roman"/>
                <a:cs typeface="Times New Roman"/>
              </a:rPr>
              <a:t> </a:t>
            </a:r>
            <a:r>
              <a:rPr sz="2800" dirty="0">
                <a:latin typeface="Aptos"/>
                <a:cs typeface="Aptos"/>
              </a:rPr>
              <a:t>to</a:t>
            </a:r>
            <a:r>
              <a:rPr sz="2800" spc="-135" dirty="0">
                <a:latin typeface="Times New Roman"/>
                <a:cs typeface="Times New Roman"/>
              </a:rPr>
              <a:t> </a:t>
            </a:r>
            <a:r>
              <a:rPr sz="2800" spc="-25" dirty="0">
                <a:latin typeface="Aptos"/>
                <a:cs typeface="Aptos"/>
              </a:rPr>
              <a:t>organizations</a:t>
            </a:r>
            <a:r>
              <a:rPr sz="2800" spc="-150" dirty="0">
                <a:latin typeface="Times New Roman"/>
                <a:cs typeface="Times New Roman"/>
              </a:rPr>
              <a:t> </a:t>
            </a:r>
            <a:r>
              <a:rPr sz="2800" dirty="0">
                <a:latin typeface="Aptos"/>
                <a:cs typeface="Aptos"/>
              </a:rPr>
              <a:t>and</a:t>
            </a:r>
            <a:r>
              <a:rPr sz="2800" spc="-130" dirty="0">
                <a:latin typeface="Times New Roman"/>
                <a:cs typeface="Times New Roman"/>
              </a:rPr>
              <a:t> </a:t>
            </a:r>
            <a:r>
              <a:rPr sz="2800" spc="-10" dirty="0">
                <a:latin typeface="Aptos"/>
                <a:cs typeface="Aptos"/>
              </a:rPr>
              <a:t>individuals</a:t>
            </a:r>
            <a:r>
              <a:rPr sz="2800" spc="-160" dirty="0">
                <a:latin typeface="Times New Roman"/>
                <a:cs typeface="Times New Roman"/>
              </a:rPr>
              <a:t> </a:t>
            </a:r>
            <a:r>
              <a:rPr sz="2800" spc="-25" dirty="0">
                <a:latin typeface="Aptos"/>
                <a:cs typeface="Aptos"/>
              </a:rPr>
              <a:t>for</a:t>
            </a:r>
            <a:r>
              <a:rPr sz="2800" spc="-25" dirty="0">
                <a:latin typeface="Times New Roman"/>
                <a:cs typeface="Times New Roman"/>
              </a:rPr>
              <a:t> </a:t>
            </a:r>
            <a:r>
              <a:rPr sz="2800" spc="-10" dirty="0">
                <a:latin typeface="Aptos"/>
                <a:cs typeface="Aptos"/>
              </a:rPr>
              <a:t>internet</a:t>
            </a:r>
            <a:r>
              <a:rPr sz="2800" spc="-165" dirty="0">
                <a:latin typeface="Times New Roman"/>
                <a:cs typeface="Times New Roman"/>
              </a:rPr>
              <a:t> </a:t>
            </a:r>
            <a:r>
              <a:rPr sz="2800" spc="-10" dirty="0">
                <a:latin typeface="Aptos"/>
                <a:cs typeface="Aptos"/>
              </a:rPr>
              <a:t>connectivity.</a:t>
            </a:r>
            <a:endParaRPr sz="2800">
              <a:latin typeface="Aptos"/>
              <a:cs typeface="Aptos"/>
            </a:endParaRPr>
          </a:p>
          <a:p>
            <a:pPr marL="241300" marR="5080" indent="-228600">
              <a:lnSpc>
                <a:spcPts val="3020"/>
              </a:lnSpc>
              <a:spcBef>
                <a:spcPts val="975"/>
              </a:spcBef>
              <a:buFont typeface="Arial"/>
              <a:buChar char="•"/>
              <a:tabLst>
                <a:tab pos="241300" algn="l"/>
              </a:tabLst>
            </a:pPr>
            <a:r>
              <a:rPr sz="2800" spc="-25" dirty="0">
                <a:latin typeface="Aptos"/>
                <a:cs typeface="Aptos"/>
              </a:rPr>
              <a:t>Public</a:t>
            </a:r>
            <a:r>
              <a:rPr sz="2800" spc="-135" dirty="0">
                <a:latin typeface="Times New Roman"/>
                <a:cs typeface="Times New Roman"/>
              </a:rPr>
              <a:t> </a:t>
            </a:r>
            <a:r>
              <a:rPr sz="2800" spc="-40" dirty="0">
                <a:latin typeface="Aptos"/>
                <a:cs typeface="Aptos"/>
              </a:rPr>
              <a:t>IPs</a:t>
            </a:r>
            <a:r>
              <a:rPr sz="2800" spc="-130" dirty="0">
                <a:latin typeface="Times New Roman"/>
                <a:cs typeface="Times New Roman"/>
              </a:rPr>
              <a:t> </a:t>
            </a:r>
            <a:r>
              <a:rPr sz="2800" spc="-20" dirty="0">
                <a:latin typeface="Aptos"/>
                <a:cs typeface="Aptos"/>
              </a:rPr>
              <a:t>are</a:t>
            </a:r>
            <a:r>
              <a:rPr sz="2800" spc="-145" dirty="0">
                <a:latin typeface="Times New Roman"/>
                <a:cs typeface="Times New Roman"/>
              </a:rPr>
              <a:t> </a:t>
            </a:r>
            <a:r>
              <a:rPr sz="2800" spc="-10" dirty="0">
                <a:latin typeface="Aptos"/>
                <a:cs typeface="Aptos"/>
              </a:rPr>
              <a:t>necessary</a:t>
            </a:r>
            <a:r>
              <a:rPr sz="2800" spc="-125" dirty="0">
                <a:latin typeface="Times New Roman"/>
                <a:cs typeface="Times New Roman"/>
              </a:rPr>
              <a:t> </a:t>
            </a:r>
            <a:r>
              <a:rPr sz="2800" spc="-10" dirty="0">
                <a:latin typeface="Aptos"/>
                <a:cs typeface="Aptos"/>
              </a:rPr>
              <a:t>for</a:t>
            </a:r>
            <a:r>
              <a:rPr sz="2800" spc="-135" dirty="0">
                <a:latin typeface="Times New Roman"/>
                <a:cs typeface="Times New Roman"/>
              </a:rPr>
              <a:t> </a:t>
            </a:r>
            <a:r>
              <a:rPr sz="2800" spc="-10" dirty="0">
                <a:latin typeface="Aptos"/>
                <a:cs typeface="Aptos"/>
              </a:rPr>
              <a:t>devices</a:t>
            </a:r>
            <a:r>
              <a:rPr sz="2800" spc="-125" dirty="0">
                <a:latin typeface="Times New Roman"/>
                <a:cs typeface="Times New Roman"/>
              </a:rPr>
              <a:t> </a:t>
            </a:r>
            <a:r>
              <a:rPr sz="2800" dirty="0">
                <a:latin typeface="Aptos"/>
                <a:cs typeface="Aptos"/>
              </a:rPr>
              <a:t>to</a:t>
            </a:r>
            <a:r>
              <a:rPr sz="2800" spc="-130" dirty="0">
                <a:latin typeface="Times New Roman"/>
                <a:cs typeface="Times New Roman"/>
              </a:rPr>
              <a:t> </a:t>
            </a:r>
            <a:r>
              <a:rPr sz="2800" spc="-20" dirty="0">
                <a:latin typeface="Aptos"/>
                <a:cs typeface="Aptos"/>
              </a:rPr>
              <a:t>communicate</a:t>
            </a:r>
            <a:r>
              <a:rPr sz="2800" spc="-125" dirty="0">
                <a:latin typeface="Times New Roman"/>
                <a:cs typeface="Times New Roman"/>
              </a:rPr>
              <a:t> </a:t>
            </a:r>
            <a:r>
              <a:rPr sz="2800" spc="-20" dirty="0">
                <a:latin typeface="Aptos"/>
                <a:cs typeface="Aptos"/>
              </a:rPr>
              <a:t>directly</a:t>
            </a:r>
            <a:r>
              <a:rPr sz="2800" spc="-150" dirty="0">
                <a:latin typeface="Times New Roman"/>
                <a:cs typeface="Times New Roman"/>
              </a:rPr>
              <a:t> </a:t>
            </a:r>
            <a:r>
              <a:rPr sz="2800" spc="-20" dirty="0">
                <a:latin typeface="Aptos"/>
                <a:cs typeface="Aptos"/>
              </a:rPr>
              <a:t>with</a:t>
            </a:r>
            <a:r>
              <a:rPr sz="2800" spc="-20" dirty="0">
                <a:latin typeface="Times New Roman"/>
                <a:cs typeface="Times New Roman"/>
              </a:rPr>
              <a:t> </a:t>
            </a:r>
            <a:r>
              <a:rPr sz="2800" spc="-10" dirty="0">
                <a:latin typeface="Aptos"/>
                <a:cs typeface="Aptos"/>
              </a:rPr>
              <a:t>other</a:t>
            </a:r>
            <a:r>
              <a:rPr sz="2800" spc="-150" dirty="0">
                <a:latin typeface="Times New Roman"/>
                <a:cs typeface="Times New Roman"/>
              </a:rPr>
              <a:t> </a:t>
            </a:r>
            <a:r>
              <a:rPr sz="2800" spc="-10" dirty="0">
                <a:latin typeface="Aptos"/>
                <a:cs typeface="Aptos"/>
              </a:rPr>
              <a:t>devices</a:t>
            </a:r>
            <a:r>
              <a:rPr sz="2800" spc="-135" dirty="0">
                <a:latin typeface="Times New Roman"/>
                <a:cs typeface="Times New Roman"/>
              </a:rPr>
              <a:t> </a:t>
            </a:r>
            <a:r>
              <a:rPr sz="2800" dirty="0">
                <a:latin typeface="Aptos"/>
                <a:cs typeface="Aptos"/>
              </a:rPr>
              <a:t>on</a:t>
            </a:r>
            <a:r>
              <a:rPr sz="2800" spc="-145" dirty="0">
                <a:latin typeface="Times New Roman"/>
                <a:cs typeface="Times New Roman"/>
              </a:rPr>
              <a:t> </a:t>
            </a:r>
            <a:r>
              <a:rPr sz="2800" spc="-10" dirty="0">
                <a:latin typeface="Aptos"/>
                <a:cs typeface="Aptos"/>
              </a:rPr>
              <a:t>the</a:t>
            </a:r>
            <a:r>
              <a:rPr sz="2800" spc="-155" dirty="0">
                <a:latin typeface="Times New Roman"/>
                <a:cs typeface="Times New Roman"/>
              </a:rPr>
              <a:t> </a:t>
            </a:r>
            <a:r>
              <a:rPr sz="2800" spc="-10" dirty="0">
                <a:latin typeface="Aptos"/>
                <a:cs typeface="Aptos"/>
              </a:rPr>
              <a:t>internet.</a:t>
            </a:r>
            <a:endParaRPr sz="2800">
              <a:latin typeface="Aptos"/>
              <a:cs typeface="Aptos"/>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563384"/>
            <a:ext cx="10182225" cy="4005579"/>
          </a:xfrm>
          <a:prstGeom prst="rect">
            <a:avLst/>
          </a:prstGeom>
        </p:spPr>
        <p:txBody>
          <a:bodyPr vert="horz" wrap="square" lIns="0" tIns="111760" rIns="0" bIns="0" rtlCol="0">
            <a:spAutoFit/>
          </a:bodyPr>
          <a:lstStyle/>
          <a:p>
            <a:pPr marL="12700">
              <a:lnSpc>
                <a:spcPct val="100000"/>
              </a:lnSpc>
              <a:spcBef>
                <a:spcPts val="880"/>
              </a:spcBef>
            </a:pPr>
            <a:r>
              <a:rPr sz="2800" b="1" spc="-10" dirty="0">
                <a:latin typeface="Aptos"/>
                <a:cs typeface="Aptos"/>
              </a:rPr>
              <a:t>Subnet</a:t>
            </a:r>
            <a:r>
              <a:rPr sz="2800" spc="-150" dirty="0">
                <a:latin typeface="Times New Roman"/>
                <a:cs typeface="Times New Roman"/>
              </a:rPr>
              <a:t> </a:t>
            </a:r>
            <a:r>
              <a:rPr sz="2800" b="1" spc="-10" dirty="0">
                <a:latin typeface="Aptos"/>
                <a:cs typeface="Aptos"/>
              </a:rPr>
              <a:t>Masks:</a:t>
            </a:r>
            <a:endParaRPr sz="2800">
              <a:latin typeface="Aptos"/>
              <a:cs typeface="Aptos"/>
            </a:endParaRPr>
          </a:p>
          <a:p>
            <a:pPr marL="241300" marR="77470" indent="-228600">
              <a:lnSpc>
                <a:spcPct val="89300"/>
              </a:lnSpc>
              <a:spcBef>
                <a:spcPts val="1140"/>
              </a:spcBef>
              <a:buSzPct val="96428"/>
              <a:buFont typeface="Wingdings"/>
              <a:buChar char=""/>
              <a:tabLst>
                <a:tab pos="295910" algn="l"/>
              </a:tabLst>
            </a:pPr>
            <a:r>
              <a:rPr sz="2800" spc="-10" dirty="0">
                <a:latin typeface="Aptos"/>
                <a:cs typeface="Aptos"/>
              </a:rPr>
              <a:t>Subnet</a:t>
            </a:r>
            <a:r>
              <a:rPr sz="2800" spc="-150" dirty="0">
                <a:latin typeface="Times New Roman"/>
                <a:cs typeface="Times New Roman"/>
              </a:rPr>
              <a:t> </a:t>
            </a:r>
            <a:r>
              <a:rPr sz="2800" spc="-25" dirty="0">
                <a:latin typeface="Aptos"/>
                <a:cs typeface="Aptos"/>
              </a:rPr>
              <a:t>masks</a:t>
            </a:r>
            <a:r>
              <a:rPr sz="2800" spc="-145" dirty="0">
                <a:latin typeface="Times New Roman"/>
                <a:cs typeface="Times New Roman"/>
              </a:rPr>
              <a:t> </a:t>
            </a:r>
            <a:r>
              <a:rPr sz="2800" spc="-20" dirty="0">
                <a:latin typeface="Aptos"/>
                <a:cs typeface="Aptos"/>
              </a:rPr>
              <a:t>are</a:t>
            </a:r>
            <a:r>
              <a:rPr sz="2800" spc="-155" dirty="0">
                <a:latin typeface="Times New Roman"/>
                <a:cs typeface="Times New Roman"/>
              </a:rPr>
              <a:t> </a:t>
            </a:r>
            <a:r>
              <a:rPr sz="2800" dirty="0">
                <a:latin typeface="Aptos"/>
                <a:cs typeface="Aptos"/>
              </a:rPr>
              <a:t>used</a:t>
            </a:r>
            <a:r>
              <a:rPr sz="2800" spc="-140" dirty="0">
                <a:latin typeface="Times New Roman"/>
                <a:cs typeface="Times New Roman"/>
              </a:rPr>
              <a:t> </a:t>
            </a:r>
            <a:r>
              <a:rPr sz="2800" dirty="0">
                <a:latin typeface="Aptos"/>
                <a:cs typeface="Aptos"/>
              </a:rPr>
              <a:t>to</a:t>
            </a:r>
            <a:r>
              <a:rPr sz="2800" spc="-160" dirty="0">
                <a:latin typeface="Times New Roman"/>
                <a:cs typeface="Times New Roman"/>
              </a:rPr>
              <a:t> </a:t>
            </a:r>
            <a:r>
              <a:rPr sz="2800" spc="-10" dirty="0">
                <a:latin typeface="Aptos"/>
                <a:cs typeface="Aptos"/>
              </a:rPr>
              <a:t>determine</a:t>
            </a:r>
            <a:r>
              <a:rPr sz="2800" spc="-155" dirty="0">
                <a:latin typeface="Times New Roman"/>
                <a:cs typeface="Times New Roman"/>
              </a:rPr>
              <a:t> </a:t>
            </a:r>
            <a:r>
              <a:rPr sz="2800" spc="-10" dirty="0">
                <a:latin typeface="Aptos"/>
                <a:cs typeface="Aptos"/>
              </a:rPr>
              <a:t>which</a:t>
            </a:r>
            <a:r>
              <a:rPr sz="2800" spc="-160" dirty="0">
                <a:latin typeface="Times New Roman"/>
                <a:cs typeface="Times New Roman"/>
              </a:rPr>
              <a:t> </a:t>
            </a:r>
            <a:r>
              <a:rPr sz="2800" spc="-10" dirty="0">
                <a:latin typeface="Aptos"/>
                <a:cs typeface="Aptos"/>
              </a:rPr>
              <a:t>part</a:t>
            </a:r>
            <a:r>
              <a:rPr sz="2800" spc="-160" dirty="0">
                <a:latin typeface="Times New Roman"/>
                <a:cs typeface="Times New Roman"/>
              </a:rPr>
              <a:t> </a:t>
            </a:r>
            <a:r>
              <a:rPr sz="2800" dirty="0">
                <a:latin typeface="Aptos"/>
                <a:cs typeface="Aptos"/>
              </a:rPr>
              <a:t>of</a:t>
            </a:r>
            <a:r>
              <a:rPr sz="2800" spc="-160" dirty="0">
                <a:latin typeface="Times New Roman"/>
                <a:cs typeface="Times New Roman"/>
              </a:rPr>
              <a:t> </a:t>
            </a:r>
            <a:r>
              <a:rPr sz="2800" dirty="0">
                <a:latin typeface="Aptos"/>
                <a:cs typeface="Aptos"/>
              </a:rPr>
              <a:t>an</a:t>
            </a:r>
            <a:r>
              <a:rPr sz="2800" spc="-165" dirty="0">
                <a:latin typeface="Times New Roman"/>
                <a:cs typeface="Times New Roman"/>
              </a:rPr>
              <a:t> </a:t>
            </a:r>
            <a:r>
              <a:rPr sz="2800" dirty="0">
                <a:latin typeface="Aptos"/>
                <a:cs typeface="Aptos"/>
              </a:rPr>
              <a:t>IP</a:t>
            </a:r>
            <a:r>
              <a:rPr sz="2800" spc="-160" dirty="0">
                <a:latin typeface="Times New Roman"/>
                <a:cs typeface="Times New Roman"/>
              </a:rPr>
              <a:t> </a:t>
            </a:r>
            <a:r>
              <a:rPr sz="2800" spc="-10" dirty="0">
                <a:latin typeface="Aptos"/>
                <a:cs typeface="Aptos"/>
              </a:rPr>
              <a:t>address</a:t>
            </a:r>
            <a:r>
              <a:rPr sz="2800" spc="-10" dirty="0">
                <a:latin typeface="Times New Roman"/>
                <a:cs typeface="Times New Roman"/>
              </a:rPr>
              <a:t> </a:t>
            </a:r>
            <a:r>
              <a:rPr sz="2800" spc="-10" dirty="0">
                <a:latin typeface="Aptos"/>
                <a:cs typeface="Aptos"/>
              </a:rPr>
              <a:t>identifies</a:t>
            </a:r>
            <a:r>
              <a:rPr sz="2800" spc="-165" dirty="0">
                <a:latin typeface="Times New Roman"/>
                <a:cs typeface="Times New Roman"/>
              </a:rPr>
              <a:t> </a:t>
            </a:r>
            <a:r>
              <a:rPr sz="2800" spc="-10" dirty="0">
                <a:latin typeface="Aptos"/>
                <a:cs typeface="Aptos"/>
              </a:rPr>
              <a:t>the</a:t>
            </a:r>
            <a:r>
              <a:rPr sz="2800" spc="-145" dirty="0">
                <a:latin typeface="Times New Roman"/>
                <a:cs typeface="Times New Roman"/>
              </a:rPr>
              <a:t> </a:t>
            </a:r>
            <a:r>
              <a:rPr sz="2800" spc="-20" dirty="0">
                <a:latin typeface="Aptos"/>
                <a:cs typeface="Aptos"/>
              </a:rPr>
              <a:t>network</a:t>
            </a:r>
            <a:r>
              <a:rPr sz="2800" spc="-150" dirty="0">
                <a:latin typeface="Times New Roman"/>
                <a:cs typeface="Times New Roman"/>
              </a:rPr>
              <a:t> </a:t>
            </a:r>
            <a:r>
              <a:rPr sz="2800" dirty="0">
                <a:latin typeface="Aptos"/>
                <a:cs typeface="Aptos"/>
              </a:rPr>
              <a:t>and</a:t>
            </a:r>
            <a:r>
              <a:rPr sz="2800" spc="-135" dirty="0">
                <a:latin typeface="Times New Roman"/>
                <a:cs typeface="Times New Roman"/>
              </a:rPr>
              <a:t> </a:t>
            </a:r>
            <a:r>
              <a:rPr sz="2800" spc="-10" dirty="0">
                <a:latin typeface="Aptos"/>
                <a:cs typeface="Aptos"/>
              </a:rPr>
              <a:t>which</a:t>
            </a:r>
            <a:r>
              <a:rPr sz="2800" spc="-140" dirty="0">
                <a:latin typeface="Times New Roman"/>
                <a:cs typeface="Times New Roman"/>
              </a:rPr>
              <a:t> </a:t>
            </a:r>
            <a:r>
              <a:rPr sz="2800" spc="-10" dirty="0">
                <a:latin typeface="Aptos"/>
                <a:cs typeface="Aptos"/>
              </a:rPr>
              <a:t>part</a:t>
            </a:r>
            <a:r>
              <a:rPr sz="2800" spc="-145" dirty="0">
                <a:latin typeface="Times New Roman"/>
                <a:cs typeface="Times New Roman"/>
              </a:rPr>
              <a:t> </a:t>
            </a:r>
            <a:r>
              <a:rPr sz="2800" spc="-10" dirty="0">
                <a:latin typeface="Aptos"/>
                <a:cs typeface="Aptos"/>
              </a:rPr>
              <a:t>identifies</a:t>
            </a:r>
            <a:r>
              <a:rPr sz="2800" spc="-165" dirty="0">
                <a:latin typeface="Times New Roman"/>
                <a:cs typeface="Times New Roman"/>
              </a:rPr>
              <a:t> </a:t>
            </a:r>
            <a:r>
              <a:rPr sz="2800" spc="-10" dirty="0">
                <a:latin typeface="Aptos"/>
                <a:cs typeface="Aptos"/>
              </a:rPr>
              <a:t>the</a:t>
            </a:r>
            <a:r>
              <a:rPr sz="2800" spc="-145" dirty="0">
                <a:latin typeface="Times New Roman"/>
                <a:cs typeface="Times New Roman"/>
              </a:rPr>
              <a:t> </a:t>
            </a:r>
            <a:r>
              <a:rPr sz="2800" spc="-10" dirty="0">
                <a:latin typeface="Aptos"/>
                <a:cs typeface="Aptos"/>
              </a:rPr>
              <a:t>host</a:t>
            </a:r>
            <a:r>
              <a:rPr sz="2800" spc="-150" dirty="0">
                <a:latin typeface="Times New Roman"/>
                <a:cs typeface="Times New Roman"/>
              </a:rPr>
              <a:t> </a:t>
            </a:r>
            <a:r>
              <a:rPr sz="2800" spc="-10" dirty="0">
                <a:latin typeface="Aptos"/>
                <a:cs typeface="Aptos"/>
              </a:rPr>
              <a:t>within</a:t>
            </a:r>
            <a:r>
              <a:rPr sz="2800" spc="-10" dirty="0">
                <a:latin typeface="Times New Roman"/>
                <a:cs typeface="Times New Roman"/>
              </a:rPr>
              <a:t> </a:t>
            </a:r>
            <a:r>
              <a:rPr sz="2800" spc="-20" dirty="0">
                <a:latin typeface="Aptos"/>
                <a:cs typeface="Aptos"/>
              </a:rPr>
              <a:t>that</a:t>
            </a:r>
            <a:r>
              <a:rPr sz="2800" spc="-145" dirty="0">
                <a:latin typeface="Times New Roman"/>
                <a:cs typeface="Times New Roman"/>
              </a:rPr>
              <a:t> </a:t>
            </a:r>
            <a:r>
              <a:rPr sz="2800" spc="-10" dirty="0">
                <a:latin typeface="Aptos"/>
                <a:cs typeface="Aptos"/>
              </a:rPr>
              <a:t>network.</a:t>
            </a:r>
            <a:endParaRPr sz="2800">
              <a:latin typeface="Aptos"/>
              <a:cs typeface="Aptos"/>
            </a:endParaRPr>
          </a:p>
          <a:p>
            <a:pPr marL="12700">
              <a:lnSpc>
                <a:spcPct val="100000"/>
              </a:lnSpc>
              <a:spcBef>
                <a:spcPts val="600"/>
              </a:spcBef>
            </a:pPr>
            <a:r>
              <a:rPr sz="2800" b="1" spc="-10" dirty="0">
                <a:latin typeface="Aptos"/>
                <a:cs typeface="Aptos"/>
              </a:rPr>
              <a:t>Example:</a:t>
            </a:r>
            <a:endParaRPr sz="2800">
              <a:latin typeface="Aptos"/>
              <a:cs typeface="Aptos"/>
            </a:endParaRPr>
          </a:p>
          <a:p>
            <a:pPr marL="12700" marR="5080">
              <a:lnSpc>
                <a:spcPct val="90000"/>
              </a:lnSpc>
              <a:spcBef>
                <a:spcPts val="994"/>
              </a:spcBef>
            </a:pPr>
            <a:r>
              <a:rPr sz="2800" spc="-20" dirty="0">
                <a:latin typeface="Aptos"/>
                <a:cs typeface="Aptos"/>
              </a:rPr>
              <a:t>Imagine</a:t>
            </a:r>
            <a:r>
              <a:rPr sz="2800" spc="-130" dirty="0">
                <a:latin typeface="Times New Roman"/>
                <a:cs typeface="Times New Roman"/>
              </a:rPr>
              <a:t> </a:t>
            </a:r>
            <a:r>
              <a:rPr sz="2800" dirty="0">
                <a:latin typeface="Aptos"/>
                <a:cs typeface="Aptos"/>
              </a:rPr>
              <a:t>a</a:t>
            </a:r>
            <a:r>
              <a:rPr sz="2800" spc="-130" dirty="0">
                <a:latin typeface="Times New Roman"/>
                <a:cs typeface="Times New Roman"/>
              </a:rPr>
              <a:t> </a:t>
            </a:r>
            <a:r>
              <a:rPr sz="2800" spc="-25" dirty="0">
                <a:latin typeface="Aptos"/>
                <a:cs typeface="Aptos"/>
              </a:rPr>
              <a:t>large</a:t>
            </a:r>
            <a:r>
              <a:rPr sz="2800" spc="-120" dirty="0">
                <a:latin typeface="Times New Roman"/>
                <a:cs typeface="Times New Roman"/>
              </a:rPr>
              <a:t> </a:t>
            </a:r>
            <a:r>
              <a:rPr sz="2800" spc="-20" dirty="0">
                <a:latin typeface="Aptos"/>
                <a:cs typeface="Aptos"/>
              </a:rPr>
              <a:t>company</a:t>
            </a:r>
            <a:r>
              <a:rPr sz="2800" spc="-110" dirty="0">
                <a:latin typeface="Times New Roman"/>
                <a:cs typeface="Times New Roman"/>
              </a:rPr>
              <a:t> </a:t>
            </a:r>
            <a:r>
              <a:rPr sz="2800" spc="-10" dirty="0">
                <a:latin typeface="Aptos"/>
                <a:cs typeface="Aptos"/>
              </a:rPr>
              <a:t>with</a:t>
            </a:r>
            <a:r>
              <a:rPr sz="2800" spc="-130" dirty="0">
                <a:latin typeface="Times New Roman"/>
                <a:cs typeface="Times New Roman"/>
              </a:rPr>
              <a:t> </a:t>
            </a:r>
            <a:r>
              <a:rPr sz="2800" spc="-30" dirty="0">
                <a:latin typeface="Aptos"/>
                <a:cs typeface="Aptos"/>
              </a:rPr>
              <a:t>separate</a:t>
            </a:r>
            <a:r>
              <a:rPr sz="2800" spc="-110" dirty="0">
                <a:latin typeface="Times New Roman"/>
                <a:cs typeface="Times New Roman"/>
              </a:rPr>
              <a:t> </a:t>
            </a:r>
            <a:r>
              <a:rPr sz="2800" spc="-20" dirty="0">
                <a:latin typeface="Aptos"/>
                <a:cs typeface="Aptos"/>
              </a:rPr>
              <a:t>departments</a:t>
            </a:r>
            <a:r>
              <a:rPr sz="2800" spc="-110" dirty="0">
                <a:latin typeface="Times New Roman"/>
                <a:cs typeface="Times New Roman"/>
              </a:rPr>
              <a:t> </a:t>
            </a:r>
            <a:r>
              <a:rPr sz="2800" spc="-10" dirty="0">
                <a:latin typeface="Aptos"/>
                <a:cs typeface="Aptos"/>
              </a:rPr>
              <a:t>(engineering,</a:t>
            </a:r>
            <a:r>
              <a:rPr sz="2800" spc="-10" dirty="0">
                <a:latin typeface="Times New Roman"/>
                <a:cs typeface="Times New Roman"/>
              </a:rPr>
              <a:t> </a:t>
            </a:r>
            <a:r>
              <a:rPr sz="2800" spc="-20" dirty="0">
                <a:latin typeface="Aptos"/>
                <a:cs typeface="Aptos"/>
              </a:rPr>
              <a:t>sales,</a:t>
            </a:r>
            <a:r>
              <a:rPr sz="2800" spc="-135" dirty="0">
                <a:latin typeface="Times New Roman"/>
                <a:cs typeface="Times New Roman"/>
              </a:rPr>
              <a:t> </a:t>
            </a:r>
            <a:r>
              <a:rPr sz="2800" spc="-25" dirty="0">
                <a:latin typeface="Aptos"/>
                <a:cs typeface="Aptos"/>
              </a:rPr>
              <a:t>etc.).</a:t>
            </a:r>
            <a:r>
              <a:rPr sz="2800" spc="-125" dirty="0">
                <a:latin typeface="Times New Roman"/>
                <a:cs typeface="Times New Roman"/>
              </a:rPr>
              <a:t> </a:t>
            </a:r>
            <a:r>
              <a:rPr sz="2800" spc="-10" dirty="0">
                <a:latin typeface="Aptos"/>
                <a:cs typeface="Aptos"/>
              </a:rPr>
              <a:t>Subnetting</a:t>
            </a:r>
            <a:r>
              <a:rPr sz="2800" spc="-130" dirty="0">
                <a:latin typeface="Times New Roman"/>
                <a:cs typeface="Times New Roman"/>
              </a:rPr>
              <a:t> </a:t>
            </a:r>
            <a:r>
              <a:rPr sz="2800" spc="-10" dirty="0">
                <a:latin typeface="Aptos"/>
                <a:cs typeface="Aptos"/>
              </a:rPr>
              <a:t>could</a:t>
            </a:r>
            <a:r>
              <a:rPr sz="2800" spc="-120" dirty="0">
                <a:latin typeface="Times New Roman"/>
                <a:cs typeface="Times New Roman"/>
              </a:rPr>
              <a:t> </a:t>
            </a:r>
            <a:r>
              <a:rPr sz="2800" spc="-20" dirty="0">
                <a:latin typeface="Aptos"/>
                <a:cs typeface="Aptos"/>
              </a:rPr>
              <a:t>allow</a:t>
            </a:r>
            <a:r>
              <a:rPr sz="2800" spc="-155" dirty="0">
                <a:latin typeface="Times New Roman"/>
                <a:cs typeface="Times New Roman"/>
              </a:rPr>
              <a:t> </a:t>
            </a:r>
            <a:r>
              <a:rPr sz="2800" spc="-10" dirty="0">
                <a:latin typeface="Aptos"/>
                <a:cs typeface="Aptos"/>
              </a:rPr>
              <a:t>each</a:t>
            </a:r>
            <a:r>
              <a:rPr sz="2800" spc="-130" dirty="0">
                <a:latin typeface="Times New Roman"/>
                <a:cs typeface="Times New Roman"/>
              </a:rPr>
              <a:t> </a:t>
            </a:r>
            <a:r>
              <a:rPr sz="2800" spc="-20" dirty="0">
                <a:latin typeface="Aptos"/>
                <a:cs typeface="Aptos"/>
              </a:rPr>
              <a:t>department</a:t>
            </a:r>
            <a:r>
              <a:rPr sz="2800" spc="-140" dirty="0">
                <a:latin typeface="Times New Roman"/>
                <a:cs typeface="Times New Roman"/>
              </a:rPr>
              <a:t> </a:t>
            </a:r>
            <a:r>
              <a:rPr sz="2800" dirty="0">
                <a:latin typeface="Aptos"/>
                <a:cs typeface="Aptos"/>
              </a:rPr>
              <a:t>to</a:t>
            </a:r>
            <a:r>
              <a:rPr sz="2800" spc="-125" dirty="0">
                <a:latin typeface="Times New Roman"/>
                <a:cs typeface="Times New Roman"/>
              </a:rPr>
              <a:t> </a:t>
            </a:r>
            <a:r>
              <a:rPr sz="2800" spc="-20" dirty="0">
                <a:latin typeface="Aptos"/>
                <a:cs typeface="Aptos"/>
              </a:rPr>
              <a:t>have</a:t>
            </a:r>
            <a:r>
              <a:rPr sz="2800" spc="-135" dirty="0">
                <a:latin typeface="Times New Roman"/>
                <a:cs typeface="Times New Roman"/>
              </a:rPr>
              <a:t> </a:t>
            </a:r>
            <a:r>
              <a:rPr sz="2800" spc="-25" dirty="0">
                <a:latin typeface="Aptos"/>
                <a:cs typeface="Aptos"/>
              </a:rPr>
              <a:t>its</a:t>
            </a:r>
            <a:r>
              <a:rPr sz="2800" spc="-25" dirty="0">
                <a:latin typeface="Times New Roman"/>
                <a:cs typeface="Times New Roman"/>
              </a:rPr>
              <a:t> </a:t>
            </a:r>
            <a:r>
              <a:rPr sz="2800" spc="-20" dirty="0">
                <a:latin typeface="Aptos"/>
                <a:cs typeface="Aptos"/>
              </a:rPr>
              <a:t>own</a:t>
            </a:r>
            <a:r>
              <a:rPr sz="2800" spc="-155" dirty="0">
                <a:latin typeface="Times New Roman"/>
                <a:cs typeface="Times New Roman"/>
              </a:rPr>
              <a:t> </a:t>
            </a:r>
            <a:r>
              <a:rPr sz="2800" spc="-10" dirty="0">
                <a:latin typeface="Aptos"/>
                <a:cs typeface="Aptos"/>
              </a:rPr>
              <a:t>subnet,</a:t>
            </a:r>
            <a:r>
              <a:rPr sz="2800" spc="-155" dirty="0">
                <a:latin typeface="Times New Roman"/>
                <a:cs typeface="Times New Roman"/>
              </a:rPr>
              <a:t> </a:t>
            </a:r>
            <a:r>
              <a:rPr sz="2800" spc="-10" dirty="0">
                <a:latin typeface="Aptos"/>
                <a:cs typeface="Aptos"/>
              </a:rPr>
              <a:t>making</a:t>
            </a:r>
            <a:r>
              <a:rPr sz="2800" spc="-140" dirty="0">
                <a:latin typeface="Times New Roman"/>
                <a:cs typeface="Times New Roman"/>
              </a:rPr>
              <a:t> </a:t>
            </a:r>
            <a:r>
              <a:rPr sz="2800" dirty="0">
                <a:latin typeface="Aptos"/>
                <a:cs typeface="Aptos"/>
              </a:rPr>
              <a:t>it</a:t>
            </a:r>
            <a:r>
              <a:rPr sz="2800" spc="-160" dirty="0">
                <a:latin typeface="Times New Roman"/>
                <a:cs typeface="Times New Roman"/>
              </a:rPr>
              <a:t> </a:t>
            </a:r>
            <a:r>
              <a:rPr sz="2800" spc="-10" dirty="0">
                <a:latin typeface="Aptos"/>
                <a:cs typeface="Aptos"/>
              </a:rPr>
              <a:t>easier</a:t>
            </a:r>
            <a:r>
              <a:rPr sz="2800" spc="-155" dirty="0">
                <a:latin typeface="Times New Roman"/>
                <a:cs typeface="Times New Roman"/>
              </a:rPr>
              <a:t> </a:t>
            </a:r>
            <a:r>
              <a:rPr sz="2800" dirty="0">
                <a:latin typeface="Aptos"/>
                <a:cs typeface="Aptos"/>
              </a:rPr>
              <a:t>to</a:t>
            </a:r>
            <a:r>
              <a:rPr sz="2800" spc="-140" dirty="0">
                <a:latin typeface="Times New Roman"/>
                <a:cs typeface="Times New Roman"/>
              </a:rPr>
              <a:t> </a:t>
            </a:r>
            <a:r>
              <a:rPr sz="2800" spc="-20" dirty="0">
                <a:latin typeface="Aptos"/>
                <a:cs typeface="Aptos"/>
              </a:rPr>
              <a:t>manage</a:t>
            </a:r>
            <a:r>
              <a:rPr sz="2800" spc="-140" dirty="0">
                <a:latin typeface="Times New Roman"/>
                <a:cs typeface="Times New Roman"/>
              </a:rPr>
              <a:t> </a:t>
            </a:r>
            <a:r>
              <a:rPr sz="2800" spc="-20" dirty="0">
                <a:latin typeface="Aptos"/>
                <a:cs typeface="Aptos"/>
              </a:rPr>
              <a:t>network</a:t>
            </a:r>
            <a:r>
              <a:rPr sz="2800" spc="-155" dirty="0">
                <a:latin typeface="Times New Roman"/>
                <a:cs typeface="Times New Roman"/>
              </a:rPr>
              <a:t> </a:t>
            </a:r>
            <a:r>
              <a:rPr sz="2800" spc="-10" dirty="0">
                <a:latin typeface="Aptos"/>
                <a:cs typeface="Aptos"/>
              </a:rPr>
              <a:t>access</a:t>
            </a:r>
            <a:r>
              <a:rPr sz="2800" spc="-125" dirty="0">
                <a:latin typeface="Times New Roman"/>
                <a:cs typeface="Times New Roman"/>
              </a:rPr>
              <a:t> </a:t>
            </a:r>
            <a:r>
              <a:rPr sz="2800" spc="-10" dirty="0">
                <a:latin typeface="Aptos"/>
                <a:cs typeface="Aptos"/>
              </a:rPr>
              <a:t>and</a:t>
            </a:r>
            <a:r>
              <a:rPr sz="2800" spc="-155" dirty="0">
                <a:latin typeface="Times New Roman"/>
                <a:cs typeface="Times New Roman"/>
              </a:rPr>
              <a:t> </a:t>
            </a:r>
            <a:r>
              <a:rPr sz="2800" spc="-10" dirty="0">
                <a:latin typeface="Aptos"/>
                <a:cs typeface="Aptos"/>
              </a:rPr>
              <a:t>traffic</a:t>
            </a:r>
            <a:r>
              <a:rPr sz="2800" spc="-10" dirty="0">
                <a:latin typeface="Times New Roman"/>
                <a:cs typeface="Times New Roman"/>
              </a:rPr>
              <a:t> </a:t>
            </a:r>
            <a:r>
              <a:rPr sz="2800" spc="-20" dirty="0">
                <a:latin typeface="Aptos"/>
                <a:cs typeface="Aptos"/>
              </a:rPr>
              <a:t>flow</a:t>
            </a:r>
            <a:r>
              <a:rPr sz="2800" spc="-155" dirty="0">
                <a:latin typeface="Times New Roman"/>
                <a:cs typeface="Times New Roman"/>
              </a:rPr>
              <a:t> </a:t>
            </a:r>
            <a:r>
              <a:rPr sz="2800" spc="-10" dirty="0">
                <a:latin typeface="Aptos"/>
                <a:cs typeface="Aptos"/>
              </a:rPr>
              <a:t>for</a:t>
            </a:r>
            <a:r>
              <a:rPr sz="2800" spc="-145" dirty="0">
                <a:latin typeface="Times New Roman"/>
                <a:cs typeface="Times New Roman"/>
              </a:rPr>
              <a:t> </a:t>
            </a:r>
            <a:r>
              <a:rPr sz="2800" spc="-10" dirty="0">
                <a:latin typeface="Aptos"/>
                <a:cs typeface="Aptos"/>
              </a:rPr>
              <a:t>each</a:t>
            </a:r>
            <a:r>
              <a:rPr sz="2800" spc="-140" dirty="0">
                <a:latin typeface="Times New Roman"/>
                <a:cs typeface="Times New Roman"/>
              </a:rPr>
              <a:t> </a:t>
            </a:r>
            <a:r>
              <a:rPr sz="2800" spc="-10" dirty="0">
                <a:latin typeface="Aptos"/>
                <a:cs typeface="Aptos"/>
              </a:rPr>
              <a:t>department.</a:t>
            </a:r>
            <a:endParaRPr sz="2800">
              <a:latin typeface="Aptos"/>
              <a:cs typeface="Aptos"/>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824729" y="434985"/>
            <a:ext cx="4542662" cy="6133073"/>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82170" y="262191"/>
            <a:ext cx="9724390" cy="1292225"/>
          </a:xfrm>
          <a:prstGeom prst="rect">
            <a:avLst/>
          </a:prstGeom>
        </p:spPr>
        <p:txBody>
          <a:bodyPr vert="horz" wrap="square" lIns="0" tIns="12065" rIns="0" bIns="0" rtlCol="0">
            <a:spAutoFit/>
          </a:bodyPr>
          <a:lstStyle/>
          <a:p>
            <a:pPr marL="12700">
              <a:lnSpc>
                <a:spcPts val="1825"/>
              </a:lnSpc>
              <a:spcBef>
                <a:spcPts val="95"/>
              </a:spcBef>
            </a:pPr>
            <a:r>
              <a:rPr sz="1600" spc="-10" dirty="0">
                <a:latin typeface="Aptos"/>
                <a:cs typeface="Aptos"/>
              </a:rPr>
              <a:t>Visit</a:t>
            </a:r>
            <a:r>
              <a:rPr sz="1600" spc="-90" dirty="0">
                <a:latin typeface="Times New Roman"/>
                <a:cs typeface="Times New Roman"/>
              </a:rPr>
              <a:t> </a:t>
            </a:r>
            <a:r>
              <a:rPr sz="1600" spc="-10" dirty="0">
                <a:latin typeface="Aptos"/>
                <a:cs typeface="Aptos"/>
              </a:rPr>
              <a:t>following</a:t>
            </a:r>
            <a:r>
              <a:rPr sz="1600" spc="-60" dirty="0">
                <a:latin typeface="Times New Roman"/>
                <a:cs typeface="Times New Roman"/>
              </a:rPr>
              <a:t> </a:t>
            </a:r>
            <a:r>
              <a:rPr sz="1600" spc="-30" dirty="0">
                <a:latin typeface="Aptos"/>
                <a:cs typeface="Aptos"/>
              </a:rPr>
              <a:t>Youtube</a:t>
            </a:r>
            <a:r>
              <a:rPr sz="1600" spc="-60" dirty="0">
                <a:latin typeface="Times New Roman"/>
                <a:cs typeface="Times New Roman"/>
              </a:rPr>
              <a:t> </a:t>
            </a:r>
            <a:r>
              <a:rPr sz="1600" spc="-10" dirty="0">
                <a:latin typeface="Aptos"/>
                <a:cs typeface="Aptos"/>
              </a:rPr>
              <a:t>video</a:t>
            </a:r>
            <a:r>
              <a:rPr sz="1600" spc="-65" dirty="0">
                <a:latin typeface="Times New Roman"/>
                <a:cs typeface="Times New Roman"/>
              </a:rPr>
              <a:t> </a:t>
            </a:r>
            <a:r>
              <a:rPr sz="1600" spc="-10" dirty="0">
                <a:latin typeface="Aptos"/>
                <a:cs typeface="Aptos"/>
              </a:rPr>
              <a:t>link</a:t>
            </a:r>
            <a:r>
              <a:rPr sz="1600" spc="-80" dirty="0">
                <a:latin typeface="Times New Roman"/>
                <a:cs typeface="Times New Roman"/>
              </a:rPr>
              <a:t> </a:t>
            </a:r>
            <a:r>
              <a:rPr sz="1600" spc="-10" dirty="0">
                <a:latin typeface="Aptos"/>
                <a:cs typeface="Aptos"/>
              </a:rPr>
              <a:t>to</a:t>
            </a:r>
            <a:r>
              <a:rPr sz="1600" spc="-80" dirty="0">
                <a:latin typeface="Times New Roman"/>
                <a:cs typeface="Times New Roman"/>
              </a:rPr>
              <a:t> </a:t>
            </a:r>
            <a:r>
              <a:rPr sz="1600" spc="-10" dirty="0">
                <a:latin typeface="Aptos"/>
                <a:cs typeface="Aptos"/>
              </a:rPr>
              <a:t>know</a:t>
            </a:r>
            <a:r>
              <a:rPr sz="1600" spc="-65" dirty="0">
                <a:latin typeface="Times New Roman"/>
                <a:cs typeface="Times New Roman"/>
              </a:rPr>
              <a:t> </a:t>
            </a:r>
            <a:r>
              <a:rPr sz="1600" spc="-10" dirty="0">
                <a:latin typeface="Aptos"/>
                <a:cs typeface="Aptos"/>
              </a:rPr>
              <a:t>furthermore</a:t>
            </a:r>
            <a:r>
              <a:rPr sz="1600" spc="-25" dirty="0">
                <a:latin typeface="Times New Roman"/>
                <a:cs typeface="Times New Roman"/>
              </a:rPr>
              <a:t> </a:t>
            </a:r>
            <a:r>
              <a:rPr sz="1600" spc="-10" dirty="0">
                <a:latin typeface="Aptos"/>
                <a:cs typeface="Aptos"/>
              </a:rPr>
              <a:t>about</a:t>
            </a:r>
            <a:r>
              <a:rPr sz="1600" spc="-60" dirty="0">
                <a:latin typeface="Times New Roman"/>
                <a:cs typeface="Times New Roman"/>
              </a:rPr>
              <a:t> </a:t>
            </a:r>
            <a:r>
              <a:rPr sz="1600" spc="-10" dirty="0">
                <a:latin typeface="Aptos"/>
                <a:cs typeface="Aptos"/>
              </a:rPr>
              <a:t>networking</a:t>
            </a:r>
            <a:r>
              <a:rPr sz="1600" spc="-55" dirty="0">
                <a:latin typeface="Times New Roman"/>
                <a:cs typeface="Times New Roman"/>
              </a:rPr>
              <a:t> </a:t>
            </a:r>
            <a:r>
              <a:rPr sz="1600" spc="-20" dirty="0">
                <a:latin typeface="Aptos"/>
                <a:cs typeface="Aptos"/>
              </a:rPr>
              <a:t>terms</a:t>
            </a:r>
            <a:r>
              <a:rPr sz="1600" spc="-65" dirty="0">
                <a:latin typeface="Times New Roman"/>
                <a:cs typeface="Times New Roman"/>
              </a:rPr>
              <a:t> </a:t>
            </a:r>
            <a:r>
              <a:rPr sz="1600" spc="-10" dirty="0">
                <a:latin typeface="Aptos"/>
                <a:cs typeface="Aptos"/>
              </a:rPr>
              <a:t>like</a:t>
            </a:r>
            <a:r>
              <a:rPr sz="1600" spc="-60" dirty="0">
                <a:latin typeface="Times New Roman"/>
                <a:cs typeface="Times New Roman"/>
              </a:rPr>
              <a:t> </a:t>
            </a:r>
            <a:r>
              <a:rPr sz="1600" b="1" spc="-10" dirty="0">
                <a:latin typeface="Aptos"/>
                <a:cs typeface="Aptos"/>
              </a:rPr>
              <a:t>IP</a:t>
            </a:r>
            <a:r>
              <a:rPr sz="1600" spc="-100" dirty="0">
                <a:latin typeface="Times New Roman"/>
                <a:cs typeface="Times New Roman"/>
              </a:rPr>
              <a:t> </a:t>
            </a:r>
            <a:r>
              <a:rPr sz="1600" b="1" spc="-10" dirty="0">
                <a:latin typeface="Aptos"/>
                <a:cs typeface="Aptos"/>
              </a:rPr>
              <a:t>Mac</a:t>
            </a:r>
            <a:r>
              <a:rPr sz="1600" spc="-105" dirty="0">
                <a:latin typeface="Times New Roman"/>
                <a:cs typeface="Times New Roman"/>
              </a:rPr>
              <a:t> </a:t>
            </a:r>
            <a:r>
              <a:rPr sz="1600" b="1" spc="-10" dirty="0">
                <a:latin typeface="Aptos"/>
                <a:cs typeface="Aptos"/>
              </a:rPr>
              <a:t>Subnet</a:t>
            </a:r>
            <a:r>
              <a:rPr sz="1600" spc="-95" dirty="0">
                <a:latin typeface="Times New Roman"/>
                <a:cs typeface="Times New Roman"/>
              </a:rPr>
              <a:t> </a:t>
            </a:r>
            <a:r>
              <a:rPr sz="1600" b="1" spc="-10" dirty="0">
                <a:latin typeface="Aptos"/>
                <a:cs typeface="Aptos"/>
              </a:rPr>
              <a:t>Switch</a:t>
            </a:r>
            <a:r>
              <a:rPr sz="1600" spc="-110" dirty="0">
                <a:latin typeface="Times New Roman"/>
                <a:cs typeface="Times New Roman"/>
              </a:rPr>
              <a:t> </a:t>
            </a:r>
            <a:r>
              <a:rPr sz="1600" b="1" spc="-10" dirty="0">
                <a:latin typeface="Aptos"/>
                <a:cs typeface="Aptos"/>
              </a:rPr>
              <a:t>Router</a:t>
            </a:r>
            <a:endParaRPr sz="1600">
              <a:latin typeface="Aptos"/>
              <a:cs typeface="Aptos"/>
            </a:endParaRPr>
          </a:p>
          <a:p>
            <a:pPr marL="12700">
              <a:lnSpc>
                <a:spcPts val="1825"/>
              </a:lnSpc>
            </a:pPr>
            <a:r>
              <a:rPr sz="1600" b="1" spc="-10" dirty="0">
                <a:latin typeface="Aptos"/>
                <a:cs typeface="Aptos"/>
              </a:rPr>
              <a:t>DHCP</a:t>
            </a:r>
            <a:r>
              <a:rPr sz="1600" spc="-80" dirty="0">
                <a:latin typeface="Times New Roman"/>
                <a:cs typeface="Times New Roman"/>
              </a:rPr>
              <a:t> </a:t>
            </a:r>
            <a:r>
              <a:rPr sz="1600" b="1" spc="-10" dirty="0">
                <a:latin typeface="Aptos"/>
                <a:cs typeface="Aptos"/>
              </a:rPr>
              <a:t>DNS</a:t>
            </a:r>
            <a:r>
              <a:rPr sz="1600" spc="-70" dirty="0">
                <a:latin typeface="Times New Roman"/>
                <a:cs typeface="Times New Roman"/>
              </a:rPr>
              <a:t> </a:t>
            </a:r>
            <a:r>
              <a:rPr sz="1600" b="1" spc="-10" dirty="0">
                <a:latin typeface="Aptos"/>
                <a:cs typeface="Aptos"/>
              </a:rPr>
              <a:t>Gateway</a:t>
            </a:r>
            <a:endParaRPr sz="1600">
              <a:latin typeface="Aptos"/>
              <a:cs typeface="Aptos"/>
            </a:endParaRPr>
          </a:p>
          <a:p>
            <a:pPr marL="12700">
              <a:lnSpc>
                <a:spcPct val="100000"/>
              </a:lnSpc>
              <a:spcBef>
                <a:spcPts val="655"/>
              </a:spcBef>
            </a:pPr>
            <a:r>
              <a:rPr sz="2400" u="sng" spc="-10" dirty="0">
                <a:solidFill>
                  <a:srgbClr val="467885"/>
                </a:solidFill>
                <a:uFill>
                  <a:solidFill>
                    <a:srgbClr val="467885"/>
                  </a:solidFill>
                </a:uFill>
                <a:latin typeface="Aptos"/>
                <a:cs typeface="Aptos"/>
              </a:rPr>
              <a:t>https://youtu.be/z_CU-IeOEzU?si=GVVYsolPq3RbePQu</a:t>
            </a:r>
            <a:endParaRPr sz="2400">
              <a:latin typeface="Aptos"/>
              <a:cs typeface="Aptos"/>
            </a:endParaRPr>
          </a:p>
          <a:p>
            <a:pPr marL="12700">
              <a:lnSpc>
                <a:spcPct val="100000"/>
              </a:lnSpc>
              <a:spcBef>
                <a:spcPts val="869"/>
              </a:spcBef>
            </a:pPr>
            <a:r>
              <a:rPr sz="1600" dirty="0">
                <a:latin typeface="Aptos"/>
                <a:cs typeface="Aptos"/>
              </a:rPr>
              <a:t>OR</a:t>
            </a:r>
            <a:r>
              <a:rPr sz="1600" spc="-100" dirty="0">
                <a:latin typeface="Times New Roman"/>
                <a:cs typeface="Times New Roman"/>
              </a:rPr>
              <a:t> </a:t>
            </a:r>
            <a:r>
              <a:rPr sz="1600" spc="-20" dirty="0">
                <a:latin typeface="Aptos"/>
                <a:cs typeface="Aptos"/>
              </a:rPr>
              <a:t>PLAY</a:t>
            </a:r>
            <a:endParaRPr sz="1600">
              <a:latin typeface="Aptos"/>
              <a:cs typeface="Aptos"/>
            </a:endParaRPr>
          </a:p>
        </p:txBody>
      </p:sp>
      <p:pic>
        <p:nvPicPr>
          <p:cNvPr id="3" name="object 3"/>
          <p:cNvPicPr/>
          <p:nvPr/>
        </p:nvPicPr>
        <p:blipFill>
          <a:blip r:embed="rId2" cstate="print"/>
          <a:stretch>
            <a:fillRect/>
          </a:stretch>
        </p:blipFill>
        <p:spPr>
          <a:xfrm>
            <a:off x="2228088" y="1455295"/>
            <a:ext cx="8652738" cy="4863335"/>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46468"/>
            <a:ext cx="1637664"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Aptos Display"/>
                <a:cs typeface="Aptos Display"/>
              </a:rPr>
              <a:t>Further</a:t>
            </a:r>
            <a:r>
              <a:rPr sz="1800" spc="-70" dirty="0">
                <a:latin typeface="Times New Roman"/>
                <a:cs typeface="Times New Roman"/>
              </a:rPr>
              <a:t> </a:t>
            </a:r>
            <a:r>
              <a:rPr sz="1800" spc="-10" dirty="0">
                <a:latin typeface="Aptos Display"/>
                <a:cs typeface="Aptos Display"/>
              </a:rPr>
              <a:t>more</a:t>
            </a:r>
            <a:r>
              <a:rPr sz="1800" spc="-70" dirty="0">
                <a:latin typeface="Times New Roman"/>
                <a:cs typeface="Times New Roman"/>
              </a:rPr>
              <a:t> </a:t>
            </a:r>
            <a:r>
              <a:rPr sz="1800" spc="-10" dirty="0">
                <a:latin typeface="Aptos Display"/>
                <a:cs typeface="Aptos Display"/>
              </a:rPr>
              <a:t>visit</a:t>
            </a:r>
            <a:endParaRPr sz="1800">
              <a:latin typeface="Aptos Display"/>
              <a:cs typeface="Aptos Display"/>
            </a:endParaRPr>
          </a:p>
        </p:txBody>
      </p:sp>
      <p:sp>
        <p:nvSpPr>
          <p:cNvPr id="3" name="object 3"/>
          <p:cNvSpPr txBox="1">
            <a:spLocks noGrp="1"/>
          </p:cNvSpPr>
          <p:nvPr>
            <p:ph type="title"/>
          </p:nvPr>
        </p:nvSpPr>
        <p:spPr>
          <a:xfrm>
            <a:off x="916941" y="277812"/>
            <a:ext cx="6708775" cy="644525"/>
          </a:xfrm>
          <a:prstGeom prst="rect">
            <a:avLst/>
          </a:prstGeom>
        </p:spPr>
        <p:txBody>
          <a:bodyPr vert="horz" wrap="square" lIns="0" tIns="12700" rIns="0" bIns="0" rtlCol="0">
            <a:spAutoFit/>
          </a:bodyPr>
          <a:lstStyle/>
          <a:p>
            <a:pPr marL="12700">
              <a:lnSpc>
                <a:spcPts val="2795"/>
              </a:lnSpc>
              <a:spcBef>
                <a:spcPts val="100"/>
              </a:spcBef>
            </a:pPr>
            <a:r>
              <a:rPr sz="2400" u="sng" spc="-10" dirty="0">
                <a:solidFill>
                  <a:srgbClr val="467885"/>
                </a:solidFill>
                <a:uFill>
                  <a:solidFill>
                    <a:srgbClr val="467885"/>
                  </a:solidFill>
                </a:uFill>
              </a:rPr>
              <a:t>https://youtu.be/5WfiTHiU4x8?si=AvdOQjYXJdyL_2Y7</a:t>
            </a:r>
            <a:endParaRPr sz="2400"/>
          </a:p>
          <a:p>
            <a:pPr marL="12700">
              <a:lnSpc>
                <a:spcPts val="2075"/>
              </a:lnSpc>
            </a:pPr>
            <a:r>
              <a:rPr sz="1800" dirty="0"/>
              <a:t>OR</a:t>
            </a:r>
            <a:r>
              <a:rPr sz="1800" spc="-110" dirty="0">
                <a:latin typeface="Times New Roman"/>
                <a:cs typeface="Times New Roman"/>
              </a:rPr>
              <a:t> </a:t>
            </a:r>
            <a:r>
              <a:rPr sz="1800" spc="-20" dirty="0"/>
              <a:t>play</a:t>
            </a:r>
            <a:endParaRPr sz="1800">
              <a:latin typeface="Times New Roman"/>
              <a:cs typeface="Times New Roman"/>
            </a:endParaRPr>
          </a:p>
        </p:txBody>
      </p:sp>
      <p:pic>
        <p:nvPicPr>
          <p:cNvPr id="4" name="object 4"/>
          <p:cNvPicPr/>
          <p:nvPr/>
        </p:nvPicPr>
        <p:blipFill>
          <a:blip r:embed="rId2" cstate="print"/>
          <a:stretch>
            <a:fillRect/>
          </a:stretch>
        </p:blipFill>
        <p:spPr>
          <a:xfrm>
            <a:off x="1447038" y="1210665"/>
            <a:ext cx="10488929" cy="4584824"/>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393078"/>
            <a:ext cx="4552950" cy="3092450"/>
          </a:xfrm>
          <a:prstGeom prst="rect">
            <a:avLst/>
          </a:prstGeom>
        </p:spPr>
        <p:txBody>
          <a:bodyPr vert="horz" wrap="square" lIns="0" tIns="96520" rIns="0" bIns="0" rtlCol="0">
            <a:spAutoFit/>
          </a:bodyPr>
          <a:lstStyle/>
          <a:p>
            <a:pPr marL="12700">
              <a:lnSpc>
                <a:spcPct val="100000"/>
              </a:lnSpc>
              <a:spcBef>
                <a:spcPts val="760"/>
              </a:spcBef>
            </a:pPr>
            <a:r>
              <a:rPr sz="2800" b="1" spc="-20" dirty="0">
                <a:latin typeface="Aptos"/>
                <a:cs typeface="Aptos"/>
              </a:rPr>
              <a:t>MAKE</a:t>
            </a:r>
            <a:r>
              <a:rPr sz="2800" spc="-130" dirty="0">
                <a:latin typeface="Times New Roman"/>
                <a:cs typeface="Times New Roman"/>
              </a:rPr>
              <a:t> </a:t>
            </a:r>
            <a:r>
              <a:rPr sz="2800" b="1" spc="-30" dirty="0">
                <a:latin typeface="Aptos"/>
                <a:cs typeface="Aptos"/>
              </a:rPr>
              <a:t>NOTE</a:t>
            </a:r>
            <a:r>
              <a:rPr sz="2800" spc="-140" dirty="0">
                <a:latin typeface="Times New Roman"/>
                <a:cs typeface="Times New Roman"/>
              </a:rPr>
              <a:t> </a:t>
            </a:r>
            <a:r>
              <a:rPr sz="2800" b="1" spc="-75" dirty="0">
                <a:latin typeface="Aptos"/>
                <a:cs typeface="Aptos"/>
              </a:rPr>
              <a:t>BY</a:t>
            </a:r>
            <a:r>
              <a:rPr sz="2800" spc="-130" dirty="0">
                <a:latin typeface="Times New Roman"/>
                <a:cs typeface="Times New Roman"/>
              </a:rPr>
              <a:t> </a:t>
            </a:r>
            <a:r>
              <a:rPr sz="2800" b="1" spc="-10" dirty="0">
                <a:latin typeface="Aptos"/>
                <a:cs typeface="Aptos"/>
              </a:rPr>
              <a:t>YOURSELF</a:t>
            </a:r>
            <a:endParaRPr sz="2800">
              <a:latin typeface="Aptos"/>
              <a:cs typeface="Aptos"/>
            </a:endParaRPr>
          </a:p>
          <a:p>
            <a:pPr marL="527685" indent="-515620">
              <a:lnSpc>
                <a:spcPct val="100000"/>
              </a:lnSpc>
              <a:spcBef>
                <a:spcPts val="665"/>
              </a:spcBef>
              <a:buAutoNum type="arabicPeriod"/>
              <a:tabLst>
                <a:tab pos="527685" algn="l"/>
                <a:tab pos="528320" algn="l"/>
              </a:tabLst>
            </a:pPr>
            <a:r>
              <a:rPr sz="2800" dirty="0">
                <a:latin typeface="Aptos"/>
                <a:cs typeface="Aptos"/>
              </a:rPr>
              <a:t>IP</a:t>
            </a:r>
            <a:r>
              <a:rPr sz="2800" spc="-165" dirty="0">
                <a:latin typeface="Times New Roman"/>
                <a:cs typeface="Times New Roman"/>
              </a:rPr>
              <a:t> </a:t>
            </a:r>
            <a:r>
              <a:rPr sz="2800" spc="-10" dirty="0">
                <a:latin typeface="Aptos"/>
                <a:cs typeface="Aptos"/>
              </a:rPr>
              <a:t>ADDRESS</a:t>
            </a:r>
            <a:endParaRPr sz="2800">
              <a:latin typeface="Aptos"/>
              <a:cs typeface="Aptos"/>
            </a:endParaRPr>
          </a:p>
          <a:p>
            <a:pPr marL="527685" indent="-515620">
              <a:lnSpc>
                <a:spcPct val="100000"/>
              </a:lnSpc>
              <a:spcBef>
                <a:spcPts val="670"/>
              </a:spcBef>
              <a:buAutoNum type="arabicPeriod"/>
              <a:tabLst>
                <a:tab pos="527685" algn="l"/>
                <a:tab pos="528320" algn="l"/>
              </a:tabLst>
            </a:pPr>
            <a:r>
              <a:rPr sz="2800" spc="-20" dirty="0">
                <a:latin typeface="Aptos"/>
                <a:cs typeface="Aptos"/>
              </a:rPr>
              <a:t>IPV4</a:t>
            </a:r>
            <a:r>
              <a:rPr sz="2800" spc="-155" dirty="0">
                <a:latin typeface="Times New Roman"/>
                <a:cs typeface="Times New Roman"/>
              </a:rPr>
              <a:t> </a:t>
            </a:r>
            <a:r>
              <a:rPr sz="2800" spc="-10" dirty="0">
                <a:latin typeface="Aptos"/>
                <a:cs typeface="Aptos"/>
              </a:rPr>
              <a:t>and</a:t>
            </a:r>
            <a:r>
              <a:rPr sz="2800" spc="-150" dirty="0">
                <a:latin typeface="Times New Roman"/>
                <a:cs typeface="Times New Roman"/>
              </a:rPr>
              <a:t> </a:t>
            </a:r>
            <a:r>
              <a:rPr sz="2800" spc="-20" dirty="0">
                <a:latin typeface="Aptos"/>
                <a:cs typeface="Aptos"/>
              </a:rPr>
              <a:t>IPV6</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spc="-30" dirty="0">
                <a:latin typeface="Aptos"/>
                <a:cs typeface="Aptos"/>
              </a:rPr>
              <a:t>Public</a:t>
            </a:r>
            <a:r>
              <a:rPr sz="2800" spc="-140" dirty="0">
                <a:latin typeface="Times New Roman"/>
                <a:cs typeface="Times New Roman"/>
              </a:rPr>
              <a:t> </a:t>
            </a:r>
            <a:r>
              <a:rPr sz="2800" spc="-20" dirty="0">
                <a:latin typeface="Aptos"/>
                <a:cs typeface="Aptos"/>
              </a:rPr>
              <a:t>IPV4</a:t>
            </a:r>
            <a:r>
              <a:rPr sz="2800" spc="-140" dirty="0">
                <a:latin typeface="Times New Roman"/>
                <a:cs typeface="Times New Roman"/>
              </a:rPr>
              <a:t> </a:t>
            </a:r>
            <a:r>
              <a:rPr sz="2800" spc="-10" dirty="0">
                <a:latin typeface="Aptos"/>
                <a:cs typeface="Aptos"/>
              </a:rPr>
              <a:t>vs</a:t>
            </a:r>
            <a:r>
              <a:rPr sz="2800" spc="-140" dirty="0">
                <a:latin typeface="Times New Roman"/>
                <a:cs typeface="Times New Roman"/>
              </a:rPr>
              <a:t> </a:t>
            </a:r>
            <a:r>
              <a:rPr sz="2800" spc="-25" dirty="0">
                <a:latin typeface="Aptos"/>
                <a:cs typeface="Aptos"/>
              </a:rPr>
              <a:t>Private</a:t>
            </a:r>
            <a:r>
              <a:rPr sz="2800" spc="-140" dirty="0">
                <a:latin typeface="Times New Roman"/>
                <a:cs typeface="Times New Roman"/>
              </a:rPr>
              <a:t> </a:t>
            </a:r>
            <a:r>
              <a:rPr sz="2800" spc="-20" dirty="0">
                <a:latin typeface="Aptos"/>
                <a:cs typeface="Aptos"/>
              </a:rPr>
              <a:t>IPV4</a:t>
            </a:r>
            <a:endParaRPr sz="2800">
              <a:latin typeface="Aptos"/>
              <a:cs typeface="Aptos"/>
            </a:endParaRPr>
          </a:p>
          <a:p>
            <a:pPr marL="527685" indent="-515620">
              <a:lnSpc>
                <a:spcPct val="100000"/>
              </a:lnSpc>
              <a:spcBef>
                <a:spcPts val="660"/>
              </a:spcBef>
              <a:buAutoNum type="arabicPeriod"/>
              <a:tabLst>
                <a:tab pos="527685" algn="l"/>
                <a:tab pos="528320" algn="l"/>
              </a:tabLst>
            </a:pPr>
            <a:r>
              <a:rPr sz="2800" spc="-20" dirty="0">
                <a:latin typeface="Aptos"/>
                <a:cs typeface="Aptos"/>
              </a:rPr>
              <a:t>SUBNET</a:t>
            </a:r>
            <a:r>
              <a:rPr sz="2800" spc="-110" dirty="0">
                <a:latin typeface="Times New Roman"/>
                <a:cs typeface="Times New Roman"/>
              </a:rPr>
              <a:t> </a:t>
            </a:r>
            <a:r>
              <a:rPr sz="2800" spc="-20" dirty="0">
                <a:latin typeface="Aptos"/>
                <a:cs typeface="Aptos"/>
              </a:rPr>
              <a:t>MASK</a:t>
            </a:r>
            <a:endParaRPr sz="2800">
              <a:latin typeface="Aptos"/>
              <a:cs typeface="Aptos"/>
            </a:endParaRPr>
          </a:p>
          <a:p>
            <a:pPr marL="527685" indent="-515620">
              <a:lnSpc>
                <a:spcPct val="100000"/>
              </a:lnSpc>
              <a:spcBef>
                <a:spcPts val="675"/>
              </a:spcBef>
              <a:buAutoNum type="arabicPeriod"/>
              <a:tabLst>
                <a:tab pos="527685" algn="l"/>
                <a:tab pos="528320" algn="l"/>
              </a:tabLst>
            </a:pPr>
            <a:r>
              <a:rPr sz="2800" spc="-20" dirty="0">
                <a:latin typeface="Aptos"/>
                <a:cs typeface="Aptos"/>
              </a:rPr>
              <a:t>SUBNET</a:t>
            </a:r>
            <a:r>
              <a:rPr sz="2800" spc="-110" dirty="0">
                <a:latin typeface="Times New Roman"/>
                <a:cs typeface="Times New Roman"/>
              </a:rPr>
              <a:t> </a:t>
            </a:r>
            <a:r>
              <a:rPr sz="2800" spc="-10" dirty="0">
                <a:latin typeface="Aptos"/>
                <a:cs typeface="Aptos"/>
              </a:rPr>
              <a:t>CLASS</a:t>
            </a:r>
            <a:endParaRPr sz="2800">
              <a:latin typeface="Aptos"/>
              <a:cs typeface="Apto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491462"/>
            <a:ext cx="10358755" cy="2922905"/>
          </a:xfrm>
          <a:prstGeom prst="rect">
            <a:avLst/>
          </a:prstGeom>
        </p:spPr>
        <p:txBody>
          <a:bodyPr vert="horz" wrap="square" lIns="0" tIns="53340" rIns="0" bIns="0" rtlCol="0">
            <a:spAutoFit/>
          </a:bodyPr>
          <a:lstStyle/>
          <a:p>
            <a:pPr marL="12700" algn="just">
              <a:lnSpc>
                <a:spcPct val="100000"/>
              </a:lnSpc>
              <a:spcBef>
                <a:spcPts val="420"/>
              </a:spcBef>
            </a:pPr>
            <a:r>
              <a:rPr sz="2800" b="1" spc="-10" dirty="0">
                <a:latin typeface="Aptos"/>
                <a:cs typeface="Aptos"/>
              </a:rPr>
              <a:t>Internet</a:t>
            </a:r>
            <a:r>
              <a:rPr sz="2800" spc="-145" dirty="0">
                <a:latin typeface="Times New Roman"/>
                <a:cs typeface="Times New Roman"/>
              </a:rPr>
              <a:t> </a:t>
            </a:r>
            <a:r>
              <a:rPr sz="2800" b="1" spc="-10" dirty="0">
                <a:latin typeface="Aptos"/>
                <a:cs typeface="Aptos"/>
              </a:rPr>
              <a:t>Protocols</a:t>
            </a:r>
            <a:endParaRPr sz="2800">
              <a:latin typeface="Aptos"/>
              <a:cs typeface="Aptos"/>
            </a:endParaRPr>
          </a:p>
          <a:p>
            <a:pPr marL="12700" marR="5080" algn="just">
              <a:lnSpc>
                <a:spcPct val="80000"/>
              </a:lnSpc>
              <a:spcBef>
                <a:spcPts val="994"/>
              </a:spcBef>
            </a:pPr>
            <a:r>
              <a:rPr sz="2800" dirty="0">
                <a:latin typeface="Aptos"/>
                <a:cs typeface="Aptos"/>
              </a:rPr>
              <a:t>Protocols</a:t>
            </a:r>
            <a:r>
              <a:rPr sz="2800" spc="415" dirty="0">
                <a:latin typeface="Times New Roman"/>
                <a:cs typeface="Times New Roman"/>
              </a:rPr>
              <a:t> </a:t>
            </a:r>
            <a:r>
              <a:rPr sz="2800" dirty="0">
                <a:latin typeface="Aptos"/>
                <a:cs typeface="Aptos"/>
              </a:rPr>
              <a:t>are</a:t>
            </a:r>
            <a:r>
              <a:rPr sz="2800" spc="405" dirty="0">
                <a:latin typeface="Times New Roman"/>
                <a:cs typeface="Times New Roman"/>
              </a:rPr>
              <a:t> </a:t>
            </a:r>
            <a:r>
              <a:rPr sz="2800" dirty="0">
                <a:latin typeface="Aptos"/>
                <a:cs typeface="Aptos"/>
              </a:rPr>
              <a:t>the</a:t>
            </a:r>
            <a:r>
              <a:rPr sz="2800" spc="415" dirty="0">
                <a:latin typeface="Times New Roman"/>
                <a:cs typeface="Times New Roman"/>
              </a:rPr>
              <a:t> </a:t>
            </a:r>
            <a:r>
              <a:rPr sz="2800" dirty="0">
                <a:latin typeface="Aptos"/>
                <a:cs typeface="Aptos"/>
              </a:rPr>
              <a:t>set</a:t>
            </a:r>
            <a:r>
              <a:rPr sz="2800" spc="390" dirty="0">
                <a:latin typeface="Times New Roman"/>
                <a:cs typeface="Times New Roman"/>
              </a:rPr>
              <a:t> </a:t>
            </a:r>
            <a:r>
              <a:rPr sz="2800" dirty="0">
                <a:latin typeface="Aptos"/>
                <a:cs typeface="Aptos"/>
              </a:rPr>
              <a:t>of</a:t>
            </a:r>
            <a:r>
              <a:rPr sz="2800" spc="400" dirty="0">
                <a:latin typeface="Times New Roman"/>
                <a:cs typeface="Times New Roman"/>
              </a:rPr>
              <a:t> </a:t>
            </a:r>
            <a:r>
              <a:rPr sz="2800" dirty="0">
                <a:latin typeface="Aptos"/>
                <a:cs typeface="Aptos"/>
              </a:rPr>
              <a:t>rules</a:t>
            </a:r>
            <a:r>
              <a:rPr sz="2800" spc="405" dirty="0">
                <a:latin typeface="Times New Roman"/>
                <a:cs typeface="Times New Roman"/>
              </a:rPr>
              <a:t> </a:t>
            </a:r>
            <a:r>
              <a:rPr sz="2800" dirty="0">
                <a:latin typeface="Aptos"/>
                <a:cs typeface="Aptos"/>
              </a:rPr>
              <a:t>that</a:t>
            </a:r>
            <a:r>
              <a:rPr sz="2800" spc="409" dirty="0">
                <a:latin typeface="Times New Roman"/>
                <a:cs typeface="Times New Roman"/>
              </a:rPr>
              <a:t> </a:t>
            </a:r>
            <a:r>
              <a:rPr sz="2800" dirty="0">
                <a:latin typeface="Aptos"/>
                <a:cs typeface="Aptos"/>
              </a:rPr>
              <a:t>controls</a:t>
            </a:r>
            <a:r>
              <a:rPr sz="2800" spc="409" dirty="0">
                <a:latin typeface="Times New Roman"/>
                <a:cs typeface="Times New Roman"/>
              </a:rPr>
              <a:t> </a:t>
            </a:r>
            <a:r>
              <a:rPr sz="2800" dirty="0">
                <a:latin typeface="Aptos"/>
                <a:cs typeface="Aptos"/>
              </a:rPr>
              <a:t>and</a:t>
            </a:r>
            <a:r>
              <a:rPr sz="2800" spc="409" dirty="0">
                <a:latin typeface="Times New Roman"/>
                <a:cs typeface="Times New Roman"/>
              </a:rPr>
              <a:t> </a:t>
            </a:r>
            <a:r>
              <a:rPr sz="2800" dirty="0">
                <a:latin typeface="Aptos"/>
                <a:cs typeface="Aptos"/>
              </a:rPr>
              <a:t>coordinates</a:t>
            </a:r>
            <a:r>
              <a:rPr sz="2800" spc="400" dirty="0">
                <a:latin typeface="Times New Roman"/>
                <a:cs typeface="Times New Roman"/>
              </a:rPr>
              <a:t> </a:t>
            </a:r>
            <a:r>
              <a:rPr sz="2800" spc="-25" dirty="0">
                <a:latin typeface="Aptos"/>
                <a:cs typeface="Aptos"/>
              </a:rPr>
              <a:t>the</a:t>
            </a:r>
            <a:r>
              <a:rPr sz="2800" spc="-25" dirty="0">
                <a:latin typeface="Times New Roman"/>
                <a:cs typeface="Times New Roman"/>
              </a:rPr>
              <a:t> </a:t>
            </a:r>
            <a:r>
              <a:rPr sz="2800" dirty="0">
                <a:latin typeface="Aptos"/>
                <a:cs typeface="Aptos"/>
              </a:rPr>
              <a:t>transmission</a:t>
            </a:r>
            <a:r>
              <a:rPr sz="2800" spc="120" dirty="0">
                <a:latin typeface="Times New Roman"/>
                <a:cs typeface="Times New Roman"/>
              </a:rPr>
              <a:t> </a:t>
            </a:r>
            <a:r>
              <a:rPr sz="2800" dirty="0">
                <a:latin typeface="Aptos"/>
                <a:cs typeface="Aptos"/>
              </a:rPr>
              <a:t>of</a:t>
            </a:r>
            <a:r>
              <a:rPr sz="2800" spc="114" dirty="0">
                <a:latin typeface="Times New Roman"/>
                <a:cs typeface="Times New Roman"/>
              </a:rPr>
              <a:t> </a:t>
            </a:r>
            <a:r>
              <a:rPr sz="2800" dirty="0">
                <a:latin typeface="Aptos"/>
                <a:cs typeface="Aptos"/>
              </a:rPr>
              <a:t>message</a:t>
            </a:r>
            <a:r>
              <a:rPr sz="2800" spc="135" dirty="0">
                <a:latin typeface="Times New Roman"/>
                <a:cs typeface="Times New Roman"/>
              </a:rPr>
              <a:t> </a:t>
            </a:r>
            <a:r>
              <a:rPr sz="2800" dirty="0">
                <a:latin typeface="Aptos"/>
                <a:cs typeface="Aptos"/>
              </a:rPr>
              <a:t>over</a:t>
            </a:r>
            <a:r>
              <a:rPr sz="2800" spc="120" dirty="0">
                <a:latin typeface="Times New Roman"/>
                <a:cs typeface="Times New Roman"/>
              </a:rPr>
              <a:t> </a:t>
            </a:r>
            <a:r>
              <a:rPr sz="2800" dirty="0">
                <a:latin typeface="Aptos"/>
                <a:cs typeface="Aptos"/>
              </a:rPr>
              <a:t>the</a:t>
            </a:r>
            <a:r>
              <a:rPr sz="2800" spc="125" dirty="0">
                <a:latin typeface="Times New Roman"/>
                <a:cs typeface="Times New Roman"/>
              </a:rPr>
              <a:t> </a:t>
            </a:r>
            <a:r>
              <a:rPr sz="2800" dirty="0">
                <a:latin typeface="Aptos"/>
                <a:cs typeface="Aptos"/>
              </a:rPr>
              <a:t>network,</a:t>
            </a:r>
            <a:r>
              <a:rPr sz="2800" spc="114" dirty="0">
                <a:latin typeface="Times New Roman"/>
                <a:cs typeface="Times New Roman"/>
              </a:rPr>
              <a:t> </a:t>
            </a:r>
            <a:r>
              <a:rPr sz="2800" dirty="0">
                <a:latin typeface="Aptos"/>
                <a:cs typeface="Aptos"/>
              </a:rPr>
              <a:t>which</a:t>
            </a:r>
            <a:r>
              <a:rPr sz="2800" spc="125" dirty="0">
                <a:latin typeface="Times New Roman"/>
                <a:cs typeface="Times New Roman"/>
              </a:rPr>
              <a:t> </a:t>
            </a:r>
            <a:r>
              <a:rPr sz="2800" dirty="0">
                <a:latin typeface="Aptos"/>
                <a:cs typeface="Aptos"/>
              </a:rPr>
              <a:t>are</a:t>
            </a:r>
            <a:r>
              <a:rPr sz="2800" spc="130" dirty="0">
                <a:latin typeface="Times New Roman"/>
                <a:cs typeface="Times New Roman"/>
              </a:rPr>
              <a:t> </a:t>
            </a:r>
            <a:r>
              <a:rPr sz="2800" spc="-10" dirty="0">
                <a:latin typeface="Aptos"/>
                <a:cs typeface="Aptos"/>
              </a:rPr>
              <a:t>responsible</a:t>
            </a:r>
            <a:r>
              <a:rPr sz="2800" spc="-10" dirty="0">
                <a:latin typeface="Times New Roman"/>
                <a:cs typeface="Times New Roman"/>
              </a:rPr>
              <a:t> </a:t>
            </a:r>
            <a:r>
              <a:rPr sz="2800" dirty="0">
                <a:latin typeface="Aptos"/>
                <a:cs typeface="Aptos"/>
              </a:rPr>
              <a:t>for</a:t>
            </a:r>
            <a:r>
              <a:rPr sz="2800" spc="409" dirty="0">
                <a:latin typeface="Times New Roman"/>
                <a:cs typeface="Times New Roman"/>
              </a:rPr>
              <a:t>  </a:t>
            </a:r>
            <a:r>
              <a:rPr sz="2800" dirty="0">
                <a:latin typeface="Aptos"/>
                <a:cs typeface="Aptos"/>
              </a:rPr>
              <a:t>successful</a:t>
            </a:r>
            <a:r>
              <a:rPr sz="2800" spc="409" dirty="0">
                <a:latin typeface="Times New Roman"/>
                <a:cs typeface="Times New Roman"/>
              </a:rPr>
              <a:t>  </a:t>
            </a:r>
            <a:r>
              <a:rPr sz="2800" dirty="0">
                <a:latin typeface="Aptos"/>
                <a:cs typeface="Aptos"/>
              </a:rPr>
              <a:t>communication</a:t>
            </a:r>
            <a:r>
              <a:rPr sz="2800" spc="390" dirty="0">
                <a:latin typeface="Times New Roman"/>
                <a:cs typeface="Times New Roman"/>
              </a:rPr>
              <a:t>  </a:t>
            </a:r>
            <a:r>
              <a:rPr sz="2800" dirty="0">
                <a:latin typeface="Aptos"/>
                <a:cs typeface="Aptos"/>
              </a:rPr>
              <a:t>between</a:t>
            </a:r>
            <a:r>
              <a:rPr sz="2800" spc="405" dirty="0">
                <a:latin typeface="Times New Roman"/>
                <a:cs typeface="Times New Roman"/>
              </a:rPr>
              <a:t>  </a:t>
            </a:r>
            <a:r>
              <a:rPr sz="2800" dirty="0">
                <a:latin typeface="Aptos"/>
                <a:cs typeface="Aptos"/>
              </a:rPr>
              <a:t>different</a:t>
            </a:r>
            <a:r>
              <a:rPr sz="2800" spc="400" dirty="0">
                <a:latin typeface="Times New Roman"/>
                <a:cs typeface="Times New Roman"/>
              </a:rPr>
              <a:t>  </a:t>
            </a:r>
            <a:r>
              <a:rPr sz="2800" spc="-10" dirty="0">
                <a:latin typeface="Aptos"/>
                <a:cs typeface="Aptos"/>
              </a:rPr>
              <a:t>networking</a:t>
            </a:r>
            <a:r>
              <a:rPr sz="2800" spc="-10" dirty="0">
                <a:latin typeface="Times New Roman"/>
                <a:cs typeface="Times New Roman"/>
              </a:rPr>
              <a:t> </a:t>
            </a:r>
            <a:r>
              <a:rPr sz="2800" spc="-10" dirty="0">
                <a:latin typeface="Aptos"/>
                <a:cs typeface="Aptos"/>
              </a:rPr>
              <a:t>devices.</a:t>
            </a:r>
            <a:endParaRPr sz="2800">
              <a:latin typeface="Aptos"/>
              <a:cs typeface="Aptos"/>
            </a:endParaRPr>
          </a:p>
          <a:p>
            <a:pPr marL="12700" algn="just">
              <a:lnSpc>
                <a:spcPct val="100000"/>
              </a:lnSpc>
              <a:spcBef>
                <a:spcPts val="340"/>
              </a:spcBef>
            </a:pPr>
            <a:r>
              <a:rPr sz="2800" b="1" spc="-35" dirty="0">
                <a:latin typeface="Aptos"/>
                <a:cs typeface="Aptos"/>
              </a:rPr>
              <a:t>Types</a:t>
            </a:r>
            <a:r>
              <a:rPr sz="2800" spc="-150" dirty="0">
                <a:latin typeface="Times New Roman"/>
                <a:cs typeface="Times New Roman"/>
              </a:rPr>
              <a:t> </a:t>
            </a:r>
            <a:r>
              <a:rPr sz="2800" b="1" dirty="0">
                <a:latin typeface="Aptos"/>
                <a:cs typeface="Aptos"/>
              </a:rPr>
              <a:t>of</a:t>
            </a:r>
            <a:r>
              <a:rPr sz="2800" spc="-120" dirty="0">
                <a:latin typeface="Times New Roman"/>
                <a:cs typeface="Times New Roman"/>
              </a:rPr>
              <a:t> </a:t>
            </a:r>
            <a:r>
              <a:rPr sz="2800" b="1" spc="-10" dirty="0">
                <a:latin typeface="Aptos"/>
                <a:cs typeface="Aptos"/>
              </a:rPr>
              <a:t>protocols</a:t>
            </a:r>
            <a:endParaRPr sz="2800">
              <a:latin typeface="Aptos"/>
              <a:cs typeface="Aptos"/>
            </a:endParaRPr>
          </a:p>
          <a:p>
            <a:pPr marL="12700" algn="just">
              <a:lnSpc>
                <a:spcPct val="100000"/>
              </a:lnSpc>
              <a:spcBef>
                <a:spcPts val="325"/>
              </a:spcBef>
            </a:pPr>
            <a:r>
              <a:rPr sz="2800" spc="-10" dirty="0">
                <a:latin typeface="Aptos"/>
                <a:cs typeface="Aptos"/>
              </a:rPr>
              <a:t>Some</a:t>
            </a:r>
            <a:r>
              <a:rPr sz="2800" spc="-120" dirty="0">
                <a:latin typeface="Times New Roman"/>
                <a:cs typeface="Times New Roman"/>
              </a:rPr>
              <a:t> </a:t>
            </a:r>
            <a:r>
              <a:rPr sz="2800" spc="-25" dirty="0">
                <a:latin typeface="Aptos"/>
                <a:cs typeface="Aptos"/>
              </a:rPr>
              <a:t>standard</a:t>
            </a:r>
            <a:r>
              <a:rPr sz="2800" spc="-105" dirty="0">
                <a:latin typeface="Times New Roman"/>
                <a:cs typeface="Times New Roman"/>
              </a:rPr>
              <a:t> </a:t>
            </a:r>
            <a:r>
              <a:rPr sz="2800" spc="-20" dirty="0">
                <a:latin typeface="Aptos"/>
                <a:cs typeface="Aptos"/>
              </a:rPr>
              <a:t>protocols</a:t>
            </a:r>
            <a:r>
              <a:rPr sz="2800" spc="-110" dirty="0">
                <a:latin typeface="Times New Roman"/>
                <a:cs typeface="Times New Roman"/>
              </a:rPr>
              <a:t> </a:t>
            </a:r>
            <a:r>
              <a:rPr sz="2800" spc="-20" dirty="0">
                <a:latin typeface="Aptos"/>
                <a:cs typeface="Aptos"/>
              </a:rPr>
              <a:t>are</a:t>
            </a:r>
            <a:r>
              <a:rPr sz="2800" spc="-120" dirty="0">
                <a:latin typeface="Times New Roman"/>
                <a:cs typeface="Times New Roman"/>
              </a:rPr>
              <a:t> </a:t>
            </a:r>
            <a:r>
              <a:rPr sz="2800" spc="-25" dirty="0">
                <a:latin typeface="Aptos"/>
                <a:cs typeface="Aptos"/>
              </a:rPr>
              <a:t>explained</a:t>
            </a:r>
            <a:r>
              <a:rPr sz="2800" spc="-125" dirty="0">
                <a:latin typeface="Times New Roman"/>
                <a:cs typeface="Times New Roman"/>
              </a:rPr>
              <a:t> </a:t>
            </a:r>
            <a:r>
              <a:rPr sz="2800" spc="-10" dirty="0">
                <a:latin typeface="Aptos"/>
                <a:cs typeface="Aptos"/>
              </a:rPr>
              <a:t>below:</a:t>
            </a:r>
            <a:endParaRPr sz="2800">
              <a:latin typeface="Aptos"/>
              <a:cs typeface="Aptos"/>
            </a:endParaRPr>
          </a:p>
        </p:txBody>
      </p:sp>
      <p:sp>
        <p:nvSpPr>
          <p:cNvPr id="3" name="object 3"/>
          <p:cNvSpPr txBox="1"/>
          <p:nvPr/>
        </p:nvSpPr>
        <p:spPr>
          <a:xfrm>
            <a:off x="1444751" y="3462276"/>
            <a:ext cx="1173480" cy="434340"/>
          </a:xfrm>
          <a:prstGeom prst="rect">
            <a:avLst/>
          </a:prstGeom>
          <a:solidFill>
            <a:srgbClr val="FFFF00"/>
          </a:solidFill>
        </p:spPr>
        <p:txBody>
          <a:bodyPr vert="horz" wrap="square" lIns="0" tIns="0" rIns="0" bIns="0" rtlCol="0">
            <a:spAutoFit/>
          </a:bodyPr>
          <a:lstStyle/>
          <a:p>
            <a:pPr>
              <a:lnSpc>
                <a:spcPts val="3204"/>
              </a:lnSpc>
              <a:tabLst>
                <a:tab pos="882015" algn="l"/>
              </a:tabLst>
            </a:pPr>
            <a:r>
              <a:rPr sz="2800" b="1" spc="-20" dirty="0">
                <a:latin typeface="Aptos"/>
                <a:cs typeface="Aptos"/>
              </a:rPr>
              <a:t>TCP:</a:t>
            </a:r>
            <a:r>
              <a:rPr sz="2800" dirty="0">
                <a:latin typeface="Times New Roman"/>
                <a:cs typeface="Times New Roman"/>
              </a:rPr>
              <a:t>	</a:t>
            </a:r>
            <a:r>
              <a:rPr sz="2800" b="1" spc="-50" dirty="0">
                <a:latin typeface="Aptos"/>
                <a:cs typeface="Aptos"/>
              </a:rPr>
              <a:t>-</a:t>
            </a:r>
            <a:endParaRPr sz="2800">
              <a:latin typeface="Aptos"/>
              <a:cs typeface="Aptos"/>
            </a:endParaRPr>
          </a:p>
        </p:txBody>
      </p:sp>
      <p:sp>
        <p:nvSpPr>
          <p:cNvPr id="4" name="object 4"/>
          <p:cNvSpPr txBox="1"/>
          <p:nvPr/>
        </p:nvSpPr>
        <p:spPr>
          <a:xfrm>
            <a:off x="916941" y="3430644"/>
            <a:ext cx="10356850" cy="452120"/>
          </a:xfrm>
          <a:prstGeom prst="rect">
            <a:avLst/>
          </a:prstGeom>
        </p:spPr>
        <p:txBody>
          <a:bodyPr vert="horz" wrap="square" lIns="0" tIns="12065" rIns="0" bIns="0" rtlCol="0">
            <a:spAutoFit/>
          </a:bodyPr>
          <a:lstStyle/>
          <a:p>
            <a:pPr marL="12700">
              <a:lnSpc>
                <a:spcPct val="100000"/>
              </a:lnSpc>
              <a:spcBef>
                <a:spcPts val="95"/>
              </a:spcBef>
              <a:tabLst>
                <a:tab pos="1701164" algn="l"/>
                <a:tab pos="2531745" algn="l"/>
                <a:tab pos="4691380" algn="l"/>
                <a:tab pos="5957570" algn="l"/>
                <a:tab pos="7524750" algn="l"/>
                <a:tab pos="7952105" algn="l"/>
                <a:tab pos="9926320" algn="l"/>
              </a:tabLst>
            </a:pPr>
            <a:r>
              <a:rPr sz="2800" b="1" spc="-25" dirty="0">
                <a:latin typeface="Aptos"/>
                <a:cs typeface="Aptos"/>
              </a:rPr>
              <a:t>1.</a:t>
            </a:r>
            <a:r>
              <a:rPr sz="2800" dirty="0">
                <a:latin typeface="Times New Roman"/>
                <a:cs typeface="Times New Roman"/>
              </a:rPr>
              <a:t>	</a:t>
            </a:r>
            <a:r>
              <a:rPr sz="2800" spc="-20" dirty="0">
                <a:latin typeface="Aptos"/>
                <a:cs typeface="Aptos"/>
              </a:rPr>
              <a:t>TCP,</a:t>
            </a:r>
            <a:r>
              <a:rPr sz="2800" dirty="0">
                <a:latin typeface="Times New Roman"/>
                <a:cs typeface="Times New Roman"/>
              </a:rPr>
              <a:t>	</a:t>
            </a:r>
            <a:r>
              <a:rPr sz="2800" spc="-10" dirty="0">
                <a:latin typeface="Aptos"/>
                <a:cs typeface="Aptos"/>
              </a:rPr>
              <a:t>transmission</a:t>
            </a:r>
            <a:r>
              <a:rPr sz="2800" dirty="0">
                <a:latin typeface="Times New Roman"/>
                <a:cs typeface="Times New Roman"/>
              </a:rPr>
              <a:t>	</a:t>
            </a:r>
            <a:r>
              <a:rPr sz="2800" spc="-10" dirty="0">
                <a:latin typeface="Aptos"/>
                <a:cs typeface="Aptos"/>
              </a:rPr>
              <a:t>control</a:t>
            </a:r>
            <a:r>
              <a:rPr sz="2800" dirty="0">
                <a:latin typeface="Times New Roman"/>
                <a:cs typeface="Times New Roman"/>
              </a:rPr>
              <a:t>	</a:t>
            </a:r>
            <a:r>
              <a:rPr sz="2800" spc="-10" dirty="0">
                <a:latin typeface="Aptos"/>
                <a:cs typeface="Aptos"/>
              </a:rPr>
              <a:t>protocol,</a:t>
            </a:r>
            <a:r>
              <a:rPr sz="2800" dirty="0">
                <a:latin typeface="Times New Roman"/>
                <a:cs typeface="Times New Roman"/>
              </a:rPr>
              <a:t>	</a:t>
            </a:r>
            <a:r>
              <a:rPr sz="2800" spc="-25" dirty="0">
                <a:latin typeface="Aptos"/>
                <a:cs typeface="Aptos"/>
              </a:rPr>
              <a:t>is</a:t>
            </a:r>
            <a:r>
              <a:rPr sz="2800" dirty="0">
                <a:latin typeface="Times New Roman"/>
                <a:cs typeface="Times New Roman"/>
              </a:rPr>
              <a:t>	</a:t>
            </a:r>
            <a:r>
              <a:rPr sz="2800" spc="-10" dirty="0">
                <a:latin typeface="Aptos"/>
                <a:cs typeface="Aptos"/>
              </a:rPr>
              <a:t>responsible</a:t>
            </a:r>
            <a:r>
              <a:rPr sz="2800" dirty="0">
                <a:latin typeface="Times New Roman"/>
                <a:cs typeface="Times New Roman"/>
              </a:rPr>
              <a:t>	</a:t>
            </a:r>
            <a:r>
              <a:rPr sz="2800" spc="-25" dirty="0">
                <a:latin typeface="Aptos"/>
                <a:cs typeface="Aptos"/>
              </a:rPr>
              <a:t>for</a:t>
            </a:r>
            <a:endParaRPr sz="2800">
              <a:latin typeface="Aptos"/>
              <a:cs typeface="Aptos"/>
            </a:endParaRPr>
          </a:p>
        </p:txBody>
      </p:sp>
      <p:sp>
        <p:nvSpPr>
          <p:cNvPr id="5" name="object 5"/>
          <p:cNvSpPr txBox="1"/>
          <p:nvPr/>
        </p:nvSpPr>
        <p:spPr>
          <a:xfrm>
            <a:off x="1432308" y="3771715"/>
            <a:ext cx="9841865" cy="793750"/>
          </a:xfrm>
          <a:prstGeom prst="rect">
            <a:avLst/>
          </a:prstGeom>
        </p:spPr>
        <p:txBody>
          <a:bodyPr vert="horz" wrap="square" lIns="0" tIns="94615" rIns="0" bIns="0" rtlCol="0">
            <a:spAutoFit/>
          </a:bodyPr>
          <a:lstStyle/>
          <a:p>
            <a:pPr marL="12700" marR="5080">
              <a:lnSpc>
                <a:spcPts val="2690"/>
              </a:lnSpc>
              <a:spcBef>
                <a:spcPts val="745"/>
              </a:spcBef>
            </a:pPr>
            <a:r>
              <a:rPr sz="2800" dirty="0">
                <a:latin typeface="Aptos"/>
                <a:cs typeface="Aptos"/>
              </a:rPr>
              <a:t>dividing</a:t>
            </a:r>
            <a:r>
              <a:rPr sz="2800" spc="-85" dirty="0">
                <a:latin typeface="Times New Roman"/>
                <a:cs typeface="Times New Roman"/>
              </a:rPr>
              <a:t> </a:t>
            </a:r>
            <a:r>
              <a:rPr sz="2800" dirty="0">
                <a:latin typeface="Aptos"/>
                <a:cs typeface="Aptos"/>
              </a:rPr>
              <a:t>the</a:t>
            </a:r>
            <a:r>
              <a:rPr sz="2800" spc="-75" dirty="0">
                <a:latin typeface="Times New Roman"/>
                <a:cs typeface="Times New Roman"/>
              </a:rPr>
              <a:t> </a:t>
            </a:r>
            <a:r>
              <a:rPr sz="2800" dirty="0">
                <a:latin typeface="Aptos"/>
                <a:cs typeface="Aptos"/>
              </a:rPr>
              <a:t>data</a:t>
            </a:r>
            <a:r>
              <a:rPr sz="2800" spc="-75" dirty="0">
                <a:latin typeface="Times New Roman"/>
                <a:cs typeface="Times New Roman"/>
              </a:rPr>
              <a:t> </a:t>
            </a:r>
            <a:r>
              <a:rPr sz="2800" dirty="0">
                <a:latin typeface="Aptos"/>
                <a:cs typeface="Aptos"/>
              </a:rPr>
              <a:t>packets</a:t>
            </a:r>
            <a:r>
              <a:rPr sz="2800" spc="-70" dirty="0">
                <a:latin typeface="Times New Roman"/>
                <a:cs typeface="Times New Roman"/>
              </a:rPr>
              <a:t> </a:t>
            </a:r>
            <a:r>
              <a:rPr sz="2800" dirty="0">
                <a:latin typeface="Aptos"/>
                <a:cs typeface="Aptos"/>
              </a:rPr>
              <a:t>into</a:t>
            </a:r>
            <a:r>
              <a:rPr sz="2800" spc="-75" dirty="0">
                <a:latin typeface="Times New Roman"/>
                <a:cs typeface="Times New Roman"/>
              </a:rPr>
              <a:t> </a:t>
            </a:r>
            <a:r>
              <a:rPr sz="2800" dirty="0">
                <a:latin typeface="Aptos"/>
                <a:cs typeface="Aptos"/>
              </a:rPr>
              <a:t>smaller</a:t>
            </a:r>
            <a:r>
              <a:rPr sz="2800" spc="-75" dirty="0">
                <a:latin typeface="Times New Roman"/>
                <a:cs typeface="Times New Roman"/>
              </a:rPr>
              <a:t> </a:t>
            </a:r>
            <a:r>
              <a:rPr sz="2800" dirty="0">
                <a:latin typeface="Aptos"/>
                <a:cs typeface="Aptos"/>
              </a:rPr>
              <a:t>pieces</a:t>
            </a:r>
            <a:r>
              <a:rPr sz="2800" spc="-80" dirty="0">
                <a:latin typeface="Times New Roman"/>
                <a:cs typeface="Times New Roman"/>
              </a:rPr>
              <a:t> </a:t>
            </a:r>
            <a:r>
              <a:rPr sz="2800" dirty="0">
                <a:latin typeface="Aptos"/>
                <a:cs typeface="Aptos"/>
              </a:rPr>
              <a:t>which</a:t>
            </a:r>
            <a:r>
              <a:rPr sz="2800" spc="-90" dirty="0">
                <a:latin typeface="Times New Roman"/>
                <a:cs typeface="Times New Roman"/>
              </a:rPr>
              <a:t> </a:t>
            </a:r>
            <a:r>
              <a:rPr sz="2800" dirty="0">
                <a:latin typeface="Aptos"/>
                <a:cs typeface="Aptos"/>
              </a:rPr>
              <a:t>can</a:t>
            </a:r>
            <a:r>
              <a:rPr sz="2800" spc="-80" dirty="0">
                <a:latin typeface="Times New Roman"/>
                <a:cs typeface="Times New Roman"/>
              </a:rPr>
              <a:t> </a:t>
            </a:r>
            <a:r>
              <a:rPr sz="2800" dirty="0">
                <a:latin typeface="Aptos"/>
                <a:cs typeface="Aptos"/>
              </a:rPr>
              <a:t>be</a:t>
            </a:r>
            <a:r>
              <a:rPr sz="2800" spc="-80" dirty="0">
                <a:latin typeface="Times New Roman"/>
                <a:cs typeface="Times New Roman"/>
              </a:rPr>
              <a:t> </a:t>
            </a:r>
            <a:r>
              <a:rPr sz="2800" spc="-20" dirty="0">
                <a:latin typeface="Aptos"/>
                <a:cs typeface="Aptos"/>
              </a:rPr>
              <a:t>then</a:t>
            </a:r>
            <a:r>
              <a:rPr sz="2800" spc="-20" dirty="0">
                <a:latin typeface="Times New Roman"/>
                <a:cs typeface="Times New Roman"/>
              </a:rPr>
              <a:t> </a:t>
            </a:r>
            <a:r>
              <a:rPr sz="2800" spc="-30" dirty="0">
                <a:latin typeface="Aptos"/>
                <a:cs typeface="Aptos"/>
              </a:rPr>
              <a:t>transferred</a:t>
            </a:r>
            <a:r>
              <a:rPr sz="2800" spc="-120" dirty="0">
                <a:latin typeface="Times New Roman"/>
                <a:cs typeface="Times New Roman"/>
              </a:rPr>
              <a:t> </a:t>
            </a:r>
            <a:r>
              <a:rPr sz="2800" spc="-20" dirty="0">
                <a:latin typeface="Aptos"/>
                <a:cs typeface="Aptos"/>
              </a:rPr>
              <a:t>from</a:t>
            </a:r>
            <a:r>
              <a:rPr sz="2800" spc="-135" dirty="0">
                <a:latin typeface="Times New Roman"/>
                <a:cs typeface="Times New Roman"/>
              </a:rPr>
              <a:t> </a:t>
            </a:r>
            <a:r>
              <a:rPr sz="2800" dirty="0">
                <a:latin typeface="Aptos"/>
                <a:cs typeface="Aptos"/>
              </a:rPr>
              <a:t>one</a:t>
            </a:r>
            <a:r>
              <a:rPr sz="2800" spc="-120" dirty="0">
                <a:latin typeface="Times New Roman"/>
                <a:cs typeface="Times New Roman"/>
              </a:rPr>
              <a:t> </a:t>
            </a:r>
            <a:r>
              <a:rPr sz="2800" spc="-25" dirty="0">
                <a:latin typeface="Aptos"/>
                <a:cs typeface="Aptos"/>
              </a:rPr>
              <a:t>location</a:t>
            </a:r>
            <a:r>
              <a:rPr sz="2800" spc="-140" dirty="0">
                <a:latin typeface="Times New Roman"/>
                <a:cs typeface="Times New Roman"/>
              </a:rPr>
              <a:t> </a:t>
            </a:r>
            <a:r>
              <a:rPr sz="2800" dirty="0">
                <a:latin typeface="Aptos"/>
                <a:cs typeface="Aptos"/>
              </a:rPr>
              <a:t>to</a:t>
            </a:r>
            <a:r>
              <a:rPr sz="2800" spc="-130" dirty="0">
                <a:latin typeface="Times New Roman"/>
                <a:cs typeface="Times New Roman"/>
              </a:rPr>
              <a:t> </a:t>
            </a:r>
            <a:r>
              <a:rPr sz="2800" spc="-20" dirty="0">
                <a:latin typeface="Aptos"/>
                <a:cs typeface="Aptos"/>
              </a:rPr>
              <a:t>another</a:t>
            </a:r>
            <a:r>
              <a:rPr sz="2800" spc="-135" dirty="0">
                <a:latin typeface="Times New Roman"/>
                <a:cs typeface="Times New Roman"/>
              </a:rPr>
              <a:t> </a:t>
            </a:r>
            <a:r>
              <a:rPr sz="2800" spc="-10" dirty="0">
                <a:latin typeface="Aptos"/>
                <a:cs typeface="Aptos"/>
              </a:rPr>
              <a:t>using</a:t>
            </a:r>
            <a:r>
              <a:rPr sz="2800" spc="-130" dirty="0">
                <a:latin typeface="Times New Roman"/>
                <a:cs typeface="Times New Roman"/>
              </a:rPr>
              <a:t> </a:t>
            </a:r>
            <a:r>
              <a:rPr sz="2800" spc="-25" dirty="0">
                <a:latin typeface="Aptos"/>
                <a:cs typeface="Aptos"/>
              </a:rPr>
              <a:t>IP.</a:t>
            </a:r>
            <a:endParaRPr sz="2800">
              <a:latin typeface="Aptos"/>
              <a:cs typeface="Aptos"/>
            </a:endParaRPr>
          </a:p>
        </p:txBody>
      </p:sp>
      <p:sp>
        <p:nvSpPr>
          <p:cNvPr id="6" name="object 6"/>
          <p:cNvSpPr txBox="1"/>
          <p:nvPr/>
        </p:nvSpPr>
        <p:spPr>
          <a:xfrm>
            <a:off x="916941" y="4583044"/>
            <a:ext cx="318770" cy="452120"/>
          </a:xfrm>
          <a:prstGeom prst="rect">
            <a:avLst/>
          </a:prstGeom>
        </p:spPr>
        <p:txBody>
          <a:bodyPr vert="horz" wrap="square" lIns="0" tIns="12065" rIns="0" bIns="0" rtlCol="0">
            <a:spAutoFit/>
          </a:bodyPr>
          <a:lstStyle/>
          <a:p>
            <a:pPr marL="12700">
              <a:lnSpc>
                <a:spcPct val="100000"/>
              </a:lnSpc>
              <a:spcBef>
                <a:spcPts val="95"/>
              </a:spcBef>
            </a:pPr>
            <a:r>
              <a:rPr sz="2800" b="1" spc="-25" dirty="0">
                <a:latin typeface="Aptos"/>
                <a:cs typeface="Aptos"/>
              </a:rPr>
              <a:t>2.</a:t>
            </a:r>
            <a:endParaRPr sz="2800">
              <a:latin typeface="Aptos"/>
              <a:cs typeface="Aptos"/>
            </a:endParaRPr>
          </a:p>
        </p:txBody>
      </p:sp>
      <p:sp>
        <p:nvSpPr>
          <p:cNvPr id="7" name="object 7"/>
          <p:cNvSpPr txBox="1"/>
          <p:nvPr/>
        </p:nvSpPr>
        <p:spPr>
          <a:xfrm>
            <a:off x="1444751" y="4614420"/>
            <a:ext cx="673735" cy="434340"/>
          </a:xfrm>
          <a:prstGeom prst="rect">
            <a:avLst/>
          </a:prstGeom>
          <a:solidFill>
            <a:srgbClr val="FFFF00"/>
          </a:solidFill>
        </p:spPr>
        <p:txBody>
          <a:bodyPr vert="horz" wrap="square" lIns="0" tIns="0" rIns="0" bIns="0" rtlCol="0">
            <a:spAutoFit/>
          </a:bodyPr>
          <a:lstStyle/>
          <a:p>
            <a:pPr>
              <a:lnSpc>
                <a:spcPts val="3210"/>
              </a:lnSpc>
            </a:pPr>
            <a:r>
              <a:rPr sz="2800" b="1" dirty="0">
                <a:latin typeface="Aptos"/>
                <a:cs typeface="Aptos"/>
              </a:rPr>
              <a:t>IP:</a:t>
            </a:r>
            <a:r>
              <a:rPr sz="2800" spc="-140" dirty="0">
                <a:latin typeface="Times New Roman"/>
                <a:cs typeface="Times New Roman"/>
              </a:rPr>
              <a:t> </a:t>
            </a:r>
            <a:r>
              <a:rPr sz="2800" b="1" spc="-50" dirty="0">
                <a:latin typeface="Aptos"/>
                <a:cs typeface="Aptos"/>
              </a:rPr>
              <a:t>-</a:t>
            </a:r>
            <a:endParaRPr sz="2800">
              <a:latin typeface="Aptos"/>
              <a:cs typeface="Aptos"/>
            </a:endParaRPr>
          </a:p>
        </p:txBody>
      </p:sp>
      <p:sp>
        <p:nvSpPr>
          <p:cNvPr id="8" name="object 8"/>
          <p:cNvSpPr txBox="1"/>
          <p:nvPr/>
        </p:nvSpPr>
        <p:spPr>
          <a:xfrm>
            <a:off x="2105918" y="4583044"/>
            <a:ext cx="9166860" cy="452120"/>
          </a:xfrm>
          <a:prstGeom prst="rect">
            <a:avLst/>
          </a:prstGeom>
        </p:spPr>
        <p:txBody>
          <a:bodyPr vert="horz" wrap="square" lIns="0" tIns="12065" rIns="0" bIns="0" rtlCol="0">
            <a:spAutoFit/>
          </a:bodyPr>
          <a:lstStyle/>
          <a:p>
            <a:pPr marL="12700">
              <a:lnSpc>
                <a:spcPct val="100000"/>
              </a:lnSpc>
              <a:spcBef>
                <a:spcPts val="95"/>
              </a:spcBef>
            </a:pPr>
            <a:r>
              <a:rPr sz="2800" spc="-150" dirty="0">
                <a:latin typeface="Aptos"/>
                <a:cs typeface="Aptos"/>
              </a:rPr>
              <a:t>IP,</a:t>
            </a:r>
            <a:r>
              <a:rPr sz="2800" spc="-100" dirty="0">
                <a:latin typeface="Times New Roman"/>
                <a:cs typeface="Times New Roman"/>
              </a:rPr>
              <a:t> </a:t>
            </a:r>
            <a:r>
              <a:rPr sz="2800" spc="-10" dirty="0">
                <a:latin typeface="Aptos"/>
                <a:cs typeface="Aptos"/>
              </a:rPr>
              <a:t>Internet</a:t>
            </a:r>
            <a:r>
              <a:rPr sz="2800" spc="-160" dirty="0">
                <a:latin typeface="Times New Roman"/>
                <a:cs typeface="Times New Roman"/>
              </a:rPr>
              <a:t> </a:t>
            </a:r>
            <a:r>
              <a:rPr sz="2800" spc="-20" dirty="0">
                <a:latin typeface="Aptos"/>
                <a:cs typeface="Aptos"/>
              </a:rPr>
              <a:t>Protocol,</a:t>
            </a:r>
            <a:r>
              <a:rPr sz="2800" spc="-125" dirty="0">
                <a:latin typeface="Times New Roman"/>
                <a:cs typeface="Times New Roman"/>
              </a:rPr>
              <a:t> </a:t>
            </a:r>
            <a:r>
              <a:rPr sz="2800" dirty="0">
                <a:latin typeface="Aptos"/>
                <a:cs typeface="Aptos"/>
              </a:rPr>
              <a:t>is</a:t>
            </a:r>
            <a:r>
              <a:rPr sz="2800" spc="-135" dirty="0">
                <a:latin typeface="Times New Roman"/>
                <a:cs typeface="Times New Roman"/>
              </a:rPr>
              <a:t> </a:t>
            </a:r>
            <a:r>
              <a:rPr sz="2800" spc="-10" dirty="0">
                <a:latin typeface="Aptos"/>
                <a:cs typeface="Aptos"/>
              </a:rPr>
              <a:t>responsible</a:t>
            </a:r>
            <a:r>
              <a:rPr sz="2800" spc="-130" dirty="0">
                <a:latin typeface="Times New Roman"/>
                <a:cs typeface="Times New Roman"/>
              </a:rPr>
              <a:t> </a:t>
            </a:r>
            <a:r>
              <a:rPr sz="2800" dirty="0">
                <a:latin typeface="Aptos"/>
                <a:cs typeface="Aptos"/>
              </a:rPr>
              <a:t>for</a:t>
            </a:r>
            <a:r>
              <a:rPr sz="2800" spc="-120" dirty="0">
                <a:latin typeface="Times New Roman"/>
                <a:cs typeface="Times New Roman"/>
              </a:rPr>
              <a:t> </a:t>
            </a:r>
            <a:r>
              <a:rPr sz="2800" spc="-20" dirty="0">
                <a:latin typeface="Aptos"/>
                <a:cs typeface="Aptos"/>
              </a:rPr>
              <a:t>providing</a:t>
            </a:r>
            <a:r>
              <a:rPr sz="2800" spc="-125" dirty="0">
                <a:latin typeface="Times New Roman"/>
                <a:cs typeface="Times New Roman"/>
              </a:rPr>
              <a:t> </a:t>
            </a:r>
            <a:r>
              <a:rPr sz="2800" dirty="0">
                <a:latin typeface="Aptos"/>
                <a:cs typeface="Aptos"/>
              </a:rPr>
              <a:t>the</a:t>
            </a:r>
            <a:r>
              <a:rPr sz="2800" spc="-140" dirty="0">
                <a:latin typeface="Times New Roman"/>
                <a:cs typeface="Times New Roman"/>
              </a:rPr>
              <a:t> </a:t>
            </a:r>
            <a:r>
              <a:rPr sz="2800" spc="-10" dirty="0">
                <a:latin typeface="Aptos"/>
                <a:cs typeface="Aptos"/>
              </a:rPr>
              <a:t>route</a:t>
            </a:r>
            <a:r>
              <a:rPr sz="2800" spc="-130" dirty="0">
                <a:latin typeface="Times New Roman"/>
                <a:cs typeface="Times New Roman"/>
              </a:rPr>
              <a:t> </a:t>
            </a:r>
            <a:r>
              <a:rPr sz="2800" spc="-25" dirty="0">
                <a:latin typeface="Aptos"/>
                <a:cs typeface="Aptos"/>
              </a:rPr>
              <a:t>to</a:t>
            </a:r>
            <a:endParaRPr sz="2800">
              <a:latin typeface="Aptos"/>
              <a:cs typeface="Aptos"/>
            </a:endParaRPr>
          </a:p>
        </p:txBody>
      </p:sp>
      <p:sp>
        <p:nvSpPr>
          <p:cNvPr id="9" name="object 9"/>
          <p:cNvSpPr txBox="1"/>
          <p:nvPr/>
        </p:nvSpPr>
        <p:spPr>
          <a:xfrm>
            <a:off x="1432306" y="4924116"/>
            <a:ext cx="9843135" cy="793750"/>
          </a:xfrm>
          <a:prstGeom prst="rect">
            <a:avLst/>
          </a:prstGeom>
        </p:spPr>
        <p:txBody>
          <a:bodyPr vert="horz" wrap="square" lIns="0" tIns="94615" rIns="0" bIns="0" rtlCol="0">
            <a:spAutoFit/>
          </a:bodyPr>
          <a:lstStyle/>
          <a:p>
            <a:pPr marL="12700" marR="5080">
              <a:lnSpc>
                <a:spcPts val="2690"/>
              </a:lnSpc>
              <a:spcBef>
                <a:spcPts val="745"/>
              </a:spcBef>
              <a:tabLst>
                <a:tab pos="792480" algn="l"/>
                <a:tab pos="1763395" algn="l"/>
                <a:tab pos="2863215" algn="l"/>
                <a:tab pos="4907915" algn="l"/>
                <a:tab pos="6379845" algn="l"/>
                <a:tab pos="7954009" algn="l"/>
                <a:tab pos="9514205" algn="l"/>
              </a:tabLst>
            </a:pPr>
            <a:r>
              <a:rPr sz="2800" spc="-25" dirty="0">
                <a:latin typeface="Aptos"/>
                <a:cs typeface="Aptos"/>
              </a:rPr>
              <a:t>the</a:t>
            </a:r>
            <a:r>
              <a:rPr sz="2800" dirty="0">
                <a:latin typeface="Times New Roman"/>
                <a:cs typeface="Times New Roman"/>
              </a:rPr>
              <a:t>	</a:t>
            </a:r>
            <a:r>
              <a:rPr sz="2800" spc="-20" dirty="0">
                <a:latin typeface="Aptos"/>
                <a:cs typeface="Aptos"/>
              </a:rPr>
              <a:t>data</a:t>
            </a:r>
            <a:r>
              <a:rPr sz="2800" dirty="0">
                <a:latin typeface="Times New Roman"/>
                <a:cs typeface="Times New Roman"/>
              </a:rPr>
              <a:t>	</a:t>
            </a:r>
            <a:r>
              <a:rPr sz="2800" spc="-10" dirty="0">
                <a:latin typeface="Aptos"/>
                <a:cs typeface="Aptos"/>
              </a:rPr>
              <a:t>while</a:t>
            </a:r>
            <a:r>
              <a:rPr sz="2800" dirty="0">
                <a:latin typeface="Times New Roman"/>
                <a:cs typeface="Times New Roman"/>
              </a:rPr>
              <a:t>	</a:t>
            </a:r>
            <a:r>
              <a:rPr sz="2800" spc="-10" dirty="0">
                <a:latin typeface="Aptos"/>
                <a:cs typeface="Aptos"/>
              </a:rPr>
              <a:t>transferring</a:t>
            </a:r>
            <a:r>
              <a:rPr sz="2800" dirty="0">
                <a:latin typeface="Times New Roman"/>
                <a:cs typeface="Times New Roman"/>
              </a:rPr>
              <a:t>	</a:t>
            </a:r>
            <a:r>
              <a:rPr sz="2800" spc="-10" dirty="0">
                <a:latin typeface="Aptos"/>
                <a:cs typeface="Aptos"/>
              </a:rPr>
              <a:t>through</a:t>
            </a:r>
            <a:r>
              <a:rPr sz="2800" dirty="0">
                <a:latin typeface="Times New Roman"/>
                <a:cs typeface="Times New Roman"/>
              </a:rPr>
              <a:t>	</a:t>
            </a:r>
            <a:r>
              <a:rPr sz="2800" spc="-10" dirty="0">
                <a:latin typeface="Aptos"/>
                <a:cs typeface="Aptos"/>
              </a:rPr>
              <a:t>different</a:t>
            </a:r>
            <a:r>
              <a:rPr sz="2800" dirty="0">
                <a:latin typeface="Times New Roman"/>
                <a:cs typeface="Times New Roman"/>
              </a:rPr>
              <a:t>	</a:t>
            </a:r>
            <a:r>
              <a:rPr sz="2800" spc="-10" dirty="0">
                <a:latin typeface="Aptos"/>
                <a:cs typeface="Aptos"/>
              </a:rPr>
              <a:t>medium</a:t>
            </a:r>
            <a:r>
              <a:rPr sz="2800" dirty="0">
                <a:latin typeface="Times New Roman"/>
                <a:cs typeface="Times New Roman"/>
              </a:rPr>
              <a:t>	</a:t>
            </a:r>
            <a:r>
              <a:rPr sz="2800" spc="-25" dirty="0">
                <a:latin typeface="Aptos"/>
                <a:cs typeface="Aptos"/>
              </a:rPr>
              <a:t>or</a:t>
            </a:r>
            <a:r>
              <a:rPr sz="2800" spc="-25" dirty="0">
                <a:latin typeface="Times New Roman"/>
                <a:cs typeface="Times New Roman"/>
              </a:rPr>
              <a:t> </a:t>
            </a:r>
            <a:r>
              <a:rPr sz="2800" spc="-10" dirty="0">
                <a:latin typeface="Aptos"/>
                <a:cs typeface="Aptos"/>
              </a:rPr>
              <a:t>channels.</a:t>
            </a:r>
            <a:endParaRPr sz="2800">
              <a:latin typeface="Aptos"/>
              <a:cs typeface="Aptos"/>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41" y="597522"/>
            <a:ext cx="321310" cy="452120"/>
          </a:xfrm>
          <a:prstGeom prst="rect">
            <a:avLst/>
          </a:prstGeom>
        </p:spPr>
        <p:txBody>
          <a:bodyPr vert="horz" wrap="square" lIns="0" tIns="12065" rIns="0" bIns="0" rtlCol="0">
            <a:spAutoFit/>
          </a:bodyPr>
          <a:lstStyle/>
          <a:p>
            <a:pPr marL="12700">
              <a:lnSpc>
                <a:spcPct val="100000"/>
              </a:lnSpc>
              <a:spcBef>
                <a:spcPts val="95"/>
              </a:spcBef>
            </a:pPr>
            <a:r>
              <a:rPr sz="2800" b="1" spc="-25" dirty="0">
                <a:latin typeface="Aptos"/>
                <a:cs typeface="Aptos"/>
              </a:rPr>
              <a:t>3)</a:t>
            </a:r>
            <a:endParaRPr sz="2800">
              <a:latin typeface="Aptos"/>
              <a:cs typeface="Aptos"/>
            </a:endParaRPr>
          </a:p>
        </p:txBody>
      </p:sp>
      <p:sp>
        <p:nvSpPr>
          <p:cNvPr id="3" name="object 3"/>
          <p:cNvSpPr txBox="1"/>
          <p:nvPr/>
        </p:nvSpPr>
        <p:spPr>
          <a:xfrm>
            <a:off x="1444751" y="629793"/>
            <a:ext cx="779145" cy="434340"/>
          </a:xfrm>
          <a:prstGeom prst="rect">
            <a:avLst/>
          </a:prstGeom>
          <a:solidFill>
            <a:srgbClr val="FFFF00"/>
          </a:solidFill>
        </p:spPr>
        <p:txBody>
          <a:bodyPr vert="horz" wrap="square" lIns="0" tIns="0" rIns="0" bIns="0" rtlCol="0">
            <a:spAutoFit/>
          </a:bodyPr>
          <a:lstStyle/>
          <a:p>
            <a:pPr>
              <a:lnSpc>
                <a:spcPts val="3200"/>
              </a:lnSpc>
            </a:pPr>
            <a:r>
              <a:rPr sz="2800" b="1" spc="-20" dirty="0">
                <a:latin typeface="Aptos"/>
                <a:cs typeface="Aptos"/>
              </a:rPr>
              <a:t>FTP:</a:t>
            </a:r>
            <a:endParaRPr sz="2800">
              <a:latin typeface="Aptos"/>
              <a:cs typeface="Aptos"/>
            </a:endParaRPr>
          </a:p>
        </p:txBody>
      </p:sp>
      <p:sp>
        <p:nvSpPr>
          <p:cNvPr id="4" name="object 4"/>
          <p:cNvSpPr txBox="1"/>
          <p:nvPr/>
        </p:nvSpPr>
        <p:spPr>
          <a:xfrm>
            <a:off x="2211074" y="597522"/>
            <a:ext cx="9062720" cy="452120"/>
          </a:xfrm>
          <a:prstGeom prst="rect">
            <a:avLst/>
          </a:prstGeom>
        </p:spPr>
        <p:txBody>
          <a:bodyPr vert="horz" wrap="square" lIns="0" tIns="12065" rIns="0" bIns="0" rtlCol="0">
            <a:spAutoFit/>
          </a:bodyPr>
          <a:lstStyle/>
          <a:p>
            <a:pPr marL="12700">
              <a:lnSpc>
                <a:spcPct val="100000"/>
              </a:lnSpc>
              <a:spcBef>
                <a:spcPts val="95"/>
              </a:spcBef>
            </a:pPr>
            <a:r>
              <a:rPr sz="2800" dirty="0">
                <a:latin typeface="Aptos"/>
                <a:cs typeface="Aptos"/>
              </a:rPr>
              <a:t>-</a:t>
            </a:r>
            <a:r>
              <a:rPr sz="2800" spc="20" dirty="0">
                <a:latin typeface="Times New Roman"/>
                <a:cs typeface="Times New Roman"/>
              </a:rPr>
              <a:t> </a:t>
            </a:r>
            <a:r>
              <a:rPr sz="2800" spc="-35" dirty="0">
                <a:latin typeface="Aptos"/>
                <a:cs typeface="Aptos"/>
              </a:rPr>
              <a:t>FTP,</a:t>
            </a:r>
            <a:r>
              <a:rPr sz="2800" spc="30" dirty="0">
                <a:latin typeface="Times New Roman"/>
                <a:cs typeface="Times New Roman"/>
              </a:rPr>
              <a:t> </a:t>
            </a:r>
            <a:r>
              <a:rPr sz="2800" dirty="0">
                <a:latin typeface="Aptos"/>
                <a:cs typeface="Aptos"/>
              </a:rPr>
              <a:t>File</a:t>
            </a:r>
            <a:r>
              <a:rPr sz="2800" spc="30" dirty="0">
                <a:latin typeface="Times New Roman"/>
                <a:cs typeface="Times New Roman"/>
              </a:rPr>
              <a:t> </a:t>
            </a:r>
            <a:r>
              <a:rPr sz="2800" spc="-10" dirty="0">
                <a:latin typeface="Aptos"/>
                <a:cs typeface="Aptos"/>
              </a:rPr>
              <a:t>Transfer</a:t>
            </a:r>
            <a:r>
              <a:rPr sz="2800" spc="40" dirty="0">
                <a:latin typeface="Times New Roman"/>
                <a:cs typeface="Times New Roman"/>
              </a:rPr>
              <a:t> </a:t>
            </a:r>
            <a:r>
              <a:rPr sz="2800" dirty="0">
                <a:latin typeface="Aptos"/>
                <a:cs typeface="Aptos"/>
              </a:rPr>
              <a:t>Protocol,</a:t>
            </a:r>
            <a:r>
              <a:rPr sz="2800" spc="40" dirty="0">
                <a:latin typeface="Times New Roman"/>
                <a:cs typeface="Times New Roman"/>
              </a:rPr>
              <a:t> </a:t>
            </a:r>
            <a:r>
              <a:rPr sz="2800" dirty="0">
                <a:latin typeface="Aptos"/>
                <a:cs typeface="Aptos"/>
              </a:rPr>
              <a:t>is</a:t>
            </a:r>
            <a:r>
              <a:rPr sz="2800" spc="30" dirty="0">
                <a:latin typeface="Times New Roman"/>
                <a:cs typeface="Times New Roman"/>
              </a:rPr>
              <a:t> </a:t>
            </a:r>
            <a:r>
              <a:rPr sz="2800" dirty="0">
                <a:latin typeface="Aptos"/>
                <a:cs typeface="Aptos"/>
              </a:rPr>
              <a:t>responsible</a:t>
            </a:r>
            <a:r>
              <a:rPr sz="2800" spc="30" dirty="0">
                <a:latin typeface="Times New Roman"/>
                <a:cs typeface="Times New Roman"/>
              </a:rPr>
              <a:t> </a:t>
            </a:r>
            <a:r>
              <a:rPr sz="2800" dirty="0">
                <a:latin typeface="Aptos"/>
                <a:cs typeface="Aptos"/>
              </a:rPr>
              <a:t>for</a:t>
            </a:r>
            <a:r>
              <a:rPr sz="2800" spc="40" dirty="0">
                <a:latin typeface="Times New Roman"/>
                <a:cs typeface="Times New Roman"/>
              </a:rPr>
              <a:t> </a:t>
            </a:r>
            <a:r>
              <a:rPr sz="2800" spc="-10" dirty="0">
                <a:latin typeface="Aptos"/>
                <a:cs typeface="Aptos"/>
              </a:rPr>
              <a:t>transferring</a:t>
            </a:r>
            <a:endParaRPr sz="2800">
              <a:latin typeface="Aptos"/>
              <a:cs typeface="Aptos"/>
            </a:endParaRPr>
          </a:p>
        </p:txBody>
      </p:sp>
      <p:sp>
        <p:nvSpPr>
          <p:cNvPr id="5" name="object 5"/>
          <p:cNvSpPr txBox="1"/>
          <p:nvPr/>
        </p:nvSpPr>
        <p:spPr>
          <a:xfrm>
            <a:off x="1432308" y="981266"/>
            <a:ext cx="8350250" cy="452120"/>
          </a:xfrm>
          <a:prstGeom prst="rect">
            <a:avLst/>
          </a:prstGeom>
        </p:spPr>
        <p:txBody>
          <a:bodyPr vert="horz" wrap="square" lIns="0" tIns="12065" rIns="0" bIns="0" rtlCol="0">
            <a:spAutoFit/>
          </a:bodyPr>
          <a:lstStyle/>
          <a:p>
            <a:pPr marL="12700">
              <a:lnSpc>
                <a:spcPct val="100000"/>
              </a:lnSpc>
              <a:spcBef>
                <a:spcPts val="95"/>
              </a:spcBef>
            </a:pPr>
            <a:r>
              <a:rPr sz="2800" spc="-10" dirty="0">
                <a:latin typeface="Aptos"/>
                <a:cs typeface="Aptos"/>
              </a:rPr>
              <a:t>the</a:t>
            </a:r>
            <a:r>
              <a:rPr sz="2800" spc="-150" dirty="0">
                <a:latin typeface="Times New Roman"/>
                <a:cs typeface="Times New Roman"/>
              </a:rPr>
              <a:t> </a:t>
            </a:r>
            <a:r>
              <a:rPr sz="2800" spc="-10" dirty="0">
                <a:latin typeface="Aptos"/>
                <a:cs typeface="Aptos"/>
              </a:rPr>
              <a:t>files</a:t>
            </a:r>
            <a:r>
              <a:rPr sz="2800" spc="-155" dirty="0">
                <a:latin typeface="Times New Roman"/>
                <a:cs typeface="Times New Roman"/>
              </a:rPr>
              <a:t> </a:t>
            </a:r>
            <a:r>
              <a:rPr sz="2800" spc="-10" dirty="0">
                <a:latin typeface="Aptos"/>
                <a:cs typeface="Aptos"/>
              </a:rPr>
              <a:t>(uploading</a:t>
            </a:r>
            <a:r>
              <a:rPr sz="2800" spc="-135" dirty="0">
                <a:latin typeface="Times New Roman"/>
                <a:cs typeface="Times New Roman"/>
              </a:rPr>
              <a:t> </a:t>
            </a:r>
            <a:r>
              <a:rPr sz="2800" dirty="0">
                <a:latin typeface="Aptos"/>
                <a:cs typeface="Aptos"/>
              </a:rPr>
              <a:t>or</a:t>
            </a:r>
            <a:r>
              <a:rPr sz="2800" spc="-150" dirty="0">
                <a:latin typeface="Times New Roman"/>
                <a:cs typeface="Times New Roman"/>
              </a:rPr>
              <a:t> </a:t>
            </a:r>
            <a:r>
              <a:rPr sz="2800" spc="-10" dirty="0">
                <a:latin typeface="Aptos"/>
                <a:cs typeface="Aptos"/>
              </a:rPr>
              <a:t>downloading)</a:t>
            </a:r>
            <a:r>
              <a:rPr sz="2800" spc="-145" dirty="0">
                <a:latin typeface="Times New Roman"/>
                <a:cs typeface="Times New Roman"/>
              </a:rPr>
              <a:t> </a:t>
            </a:r>
            <a:r>
              <a:rPr sz="2800" spc="-20" dirty="0">
                <a:latin typeface="Aptos"/>
                <a:cs typeface="Aptos"/>
              </a:rPr>
              <a:t>over</a:t>
            </a:r>
            <a:r>
              <a:rPr sz="2800" spc="-150" dirty="0">
                <a:latin typeface="Times New Roman"/>
                <a:cs typeface="Times New Roman"/>
              </a:rPr>
              <a:t> </a:t>
            </a:r>
            <a:r>
              <a:rPr sz="2800" dirty="0">
                <a:latin typeface="Aptos"/>
                <a:cs typeface="Aptos"/>
              </a:rPr>
              <a:t>t</a:t>
            </a:r>
            <a:r>
              <a:rPr sz="2800" spc="-150" dirty="0">
                <a:latin typeface="Times New Roman"/>
                <a:cs typeface="Times New Roman"/>
              </a:rPr>
              <a:t> </a:t>
            </a:r>
            <a:r>
              <a:rPr sz="2800" dirty="0">
                <a:latin typeface="Aptos"/>
                <a:cs typeface="Aptos"/>
              </a:rPr>
              <a:t>h</a:t>
            </a:r>
            <a:r>
              <a:rPr sz="2800" spc="-160" dirty="0">
                <a:latin typeface="Times New Roman"/>
                <a:cs typeface="Times New Roman"/>
              </a:rPr>
              <a:t> </a:t>
            </a:r>
            <a:r>
              <a:rPr sz="2800" dirty="0">
                <a:latin typeface="Aptos"/>
                <a:cs typeface="Aptos"/>
              </a:rPr>
              <a:t>e</a:t>
            </a:r>
            <a:r>
              <a:rPr sz="2800" spc="-145" dirty="0">
                <a:latin typeface="Times New Roman"/>
                <a:cs typeface="Times New Roman"/>
              </a:rPr>
              <a:t> </a:t>
            </a:r>
            <a:r>
              <a:rPr sz="2800" spc="-10" dirty="0">
                <a:latin typeface="Aptos"/>
                <a:cs typeface="Aptos"/>
              </a:rPr>
              <a:t>network.</a:t>
            </a:r>
            <a:endParaRPr sz="2800">
              <a:latin typeface="Aptos"/>
              <a:cs typeface="Aptos"/>
            </a:endParaRPr>
          </a:p>
        </p:txBody>
      </p:sp>
      <p:sp>
        <p:nvSpPr>
          <p:cNvPr id="6" name="object 6"/>
          <p:cNvSpPr txBox="1"/>
          <p:nvPr/>
        </p:nvSpPr>
        <p:spPr>
          <a:xfrm>
            <a:off x="1298447" y="1524381"/>
            <a:ext cx="2627630" cy="434340"/>
          </a:xfrm>
          <a:prstGeom prst="rect">
            <a:avLst/>
          </a:prstGeom>
          <a:solidFill>
            <a:srgbClr val="FFFF00"/>
          </a:solidFill>
        </p:spPr>
        <p:txBody>
          <a:bodyPr vert="horz" wrap="square" lIns="0" tIns="0" rIns="0" bIns="0" rtlCol="0">
            <a:spAutoFit/>
          </a:bodyPr>
          <a:lstStyle/>
          <a:p>
            <a:pPr>
              <a:lnSpc>
                <a:spcPts val="3204"/>
              </a:lnSpc>
            </a:pPr>
            <a:r>
              <a:rPr sz="2800" b="1" spc="-10" dirty="0">
                <a:latin typeface="Aptos"/>
                <a:cs typeface="Aptos"/>
              </a:rPr>
              <a:t>SMTP</a:t>
            </a:r>
            <a:r>
              <a:rPr sz="2800" spc="-165" dirty="0">
                <a:latin typeface="Times New Roman"/>
                <a:cs typeface="Times New Roman"/>
              </a:rPr>
              <a:t> </a:t>
            </a:r>
            <a:r>
              <a:rPr sz="2800" b="1" dirty="0">
                <a:latin typeface="Aptos"/>
                <a:cs typeface="Aptos"/>
              </a:rPr>
              <a:t>and</a:t>
            </a:r>
            <a:r>
              <a:rPr sz="2800" spc="-140" dirty="0">
                <a:latin typeface="Times New Roman"/>
                <a:cs typeface="Times New Roman"/>
              </a:rPr>
              <a:t> </a:t>
            </a:r>
            <a:r>
              <a:rPr sz="2800" b="1" spc="-10" dirty="0">
                <a:latin typeface="Aptos"/>
                <a:cs typeface="Aptos"/>
              </a:rPr>
              <a:t>POP:</a:t>
            </a:r>
            <a:r>
              <a:rPr sz="2800" spc="-155" dirty="0">
                <a:latin typeface="Times New Roman"/>
                <a:cs typeface="Times New Roman"/>
              </a:rPr>
              <a:t> </a:t>
            </a:r>
            <a:r>
              <a:rPr sz="2800" b="1" spc="-50" dirty="0">
                <a:latin typeface="Aptos"/>
                <a:cs typeface="Aptos"/>
              </a:rPr>
              <a:t>-</a:t>
            </a:r>
            <a:endParaRPr sz="2800">
              <a:latin typeface="Aptos"/>
              <a:cs typeface="Aptos"/>
            </a:endParaRPr>
          </a:p>
        </p:txBody>
      </p:sp>
      <p:sp>
        <p:nvSpPr>
          <p:cNvPr id="7" name="object 7"/>
          <p:cNvSpPr txBox="1"/>
          <p:nvPr/>
        </p:nvSpPr>
        <p:spPr>
          <a:xfrm>
            <a:off x="916941" y="1492366"/>
            <a:ext cx="10189210" cy="452120"/>
          </a:xfrm>
          <a:prstGeom prst="rect">
            <a:avLst/>
          </a:prstGeom>
        </p:spPr>
        <p:txBody>
          <a:bodyPr vert="horz" wrap="square" lIns="0" tIns="12065" rIns="0" bIns="0" rtlCol="0">
            <a:spAutoFit/>
          </a:bodyPr>
          <a:lstStyle/>
          <a:p>
            <a:pPr marL="12700">
              <a:lnSpc>
                <a:spcPct val="100000"/>
              </a:lnSpc>
              <a:spcBef>
                <a:spcPts val="95"/>
              </a:spcBef>
              <a:tabLst>
                <a:tab pos="3009265" algn="l"/>
              </a:tabLst>
            </a:pPr>
            <a:r>
              <a:rPr sz="2800" b="1" spc="-25" dirty="0">
                <a:latin typeface="Aptos"/>
                <a:cs typeface="Aptos"/>
              </a:rPr>
              <a:t>4)</a:t>
            </a:r>
            <a:r>
              <a:rPr sz="2800" dirty="0">
                <a:latin typeface="Times New Roman"/>
                <a:cs typeface="Times New Roman"/>
              </a:rPr>
              <a:t>	</a:t>
            </a:r>
            <a:r>
              <a:rPr sz="2800" spc="-10" dirty="0">
                <a:latin typeface="Aptos"/>
                <a:cs typeface="Aptos"/>
              </a:rPr>
              <a:t>SMTP</a:t>
            </a:r>
            <a:r>
              <a:rPr sz="2800" spc="-150" dirty="0">
                <a:latin typeface="Times New Roman"/>
                <a:cs typeface="Times New Roman"/>
              </a:rPr>
              <a:t> </a:t>
            </a:r>
            <a:r>
              <a:rPr sz="2800" spc="-20" dirty="0">
                <a:latin typeface="Aptos"/>
                <a:cs typeface="Aptos"/>
              </a:rPr>
              <a:t>stands</a:t>
            </a:r>
            <a:r>
              <a:rPr sz="2800" spc="-145" dirty="0">
                <a:latin typeface="Times New Roman"/>
                <a:cs typeface="Times New Roman"/>
              </a:rPr>
              <a:t> </a:t>
            </a:r>
            <a:r>
              <a:rPr sz="2800" spc="-10" dirty="0">
                <a:latin typeface="Aptos"/>
                <a:cs typeface="Aptos"/>
              </a:rPr>
              <a:t>for</a:t>
            </a:r>
            <a:r>
              <a:rPr sz="2800" spc="-145" dirty="0">
                <a:latin typeface="Times New Roman"/>
                <a:cs typeface="Times New Roman"/>
              </a:rPr>
              <a:t> </a:t>
            </a:r>
            <a:r>
              <a:rPr sz="2800" spc="-10" dirty="0">
                <a:latin typeface="Aptos"/>
                <a:cs typeface="Aptos"/>
              </a:rPr>
              <a:t>Simple</a:t>
            </a:r>
            <a:r>
              <a:rPr sz="2800" spc="-150" dirty="0">
                <a:latin typeface="Times New Roman"/>
                <a:cs typeface="Times New Roman"/>
              </a:rPr>
              <a:t> </a:t>
            </a:r>
            <a:r>
              <a:rPr sz="2800" spc="-10" dirty="0">
                <a:latin typeface="Aptos"/>
                <a:cs typeface="Aptos"/>
              </a:rPr>
              <a:t>Mail</a:t>
            </a:r>
            <a:r>
              <a:rPr sz="2800" spc="-150" dirty="0">
                <a:latin typeface="Times New Roman"/>
                <a:cs typeface="Times New Roman"/>
              </a:rPr>
              <a:t> </a:t>
            </a:r>
            <a:r>
              <a:rPr sz="2800" spc="-45" dirty="0">
                <a:latin typeface="Aptos"/>
                <a:cs typeface="Aptos"/>
              </a:rPr>
              <a:t>Transfer</a:t>
            </a:r>
            <a:r>
              <a:rPr sz="2800" spc="-130" dirty="0">
                <a:latin typeface="Times New Roman"/>
                <a:cs typeface="Times New Roman"/>
              </a:rPr>
              <a:t> </a:t>
            </a:r>
            <a:r>
              <a:rPr sz="2800" spc="-10" dirty="0">
                <a:latin typeface="Aptos"/>
                <a:cs typeface="Aptos"/>
              </a:rPr>
              <a:t>Protocols</a:t>
            </a:r>
            <a:endParaRPr sz="2800">
              <a:latin typeface="Aptos"/>
              <a:cs typeface="Aptos"/>
            </a:endParaRPr>
          </a:p>
        </p:txBody>
      </p:sp>
      <p:sp>
        <p:nvSpPr>
          <p:cNvPr id="8" name="object 8"/>
          <p:cNvSpPr txBox="1"/>
          <p:nvPr/>
        </p:nvSpPr>
        <p:spPr>
          <a:xfrm>
            <a:off x="916940" y="2004431"/>
            <a:ext cx="10358755" cy="1220470"/>
          </a:xfrm>
          <a:prstGeom prst="rect">
            <a:avLst/>
          </a:prstGeom>
        </p:spPr>
        <p:txBody>
          <a:bodyPr vert="horz" wrap="square" lIns="0" tIns="54610" rIns="0" bIns="0" rtlCol="0">
            <a:spAutoFit/>
          </a:bodyPr>
          <a:lstStyle/>
          <a:p>
            <a:pPr marL="12700" marR="5080" algn="just">
              <a:lnSpc>
                <a:spcPct val="90000"/>
              </a:lnSpc>
              <a:spcBef>
                <a:spcPts val="430"/>
              </a:spcBef>
            </a:pPr>
            <a:r>
              <a:rPr sz="2800" dirty="0">
                <a:latin typeface="Aptos"/>
                <a:cs typeface="Aptos"/>
              </a:rPr>
              <a:t>whereas</a:t>
            </a:r>
            <a:r>
              <a:rPr sz="2800" spc="-70" dirty="0">
                <a:latin typeface="Times New Roman"/>
                <a:cs typeface="Times New Roman"/>
              </a:rPr>
              <a:t> </a:t>
            </a:r>
            <a:r>
              <a:rPr sz="2800" dirty="0">
                <a:latin typeface="Aptos"/>
                <a:cs typeface="Aptos"/>
              </a:rPr>
              <a:t>POP</a:t>
            </a:r>
            <a:r>
              <a:rPr sz="2800" spc="-75" dirty="0">
                <a:latin typeface="Times New Roman"/>
                <a:cs typeface="Times New Roman"/>
              </a:rPr>
              <a:t> </a:t>
            </a:r>
            <a:r>
              <a:rPr sz="2800" dirty="0">
                <a:latin typeface="Aptos"/>
                <a:cs typeface="Aptos"/>
              </a:rPr>
              <a:t>stands</a:t>
            </a:r>
            <a:r>
              <a:rPr sz="2800" spc="-65" dirty="0">
                <a:latin typeface="Times New Roman"/>
                <a:cs typeface="Times New Roman"/>
              </a:rPr>
              <a:t> </a:t>
            </a:r>
            <a:r>
              <a:rPr sz="2800" dirty="0">
                <a:latin typeface="Aptos"/>
                <a:cs typeface="Aptos"/>
              </a:rPr>
              <a:t>for</a:t>
            </a:r>
            <a:r>
              <a:rPr sz="2800" spc="-55" dirty="0">
                <a:latin typeface="Times New Roman"/>
                <a:cs typeface="Times New Roman"/>
              </a:rPr>
              <a:t> </a:t>
            </a:r>
            <a:r>
              <a:rPr sz="2800" dirty="0">
                <a:latin typeface="Aptos"/>
                <a:cs typeface="Aptos"/>
              </a:rPr>
              <a:t>Post</a:t>
            </a:r>
            <a:r>
              <a:rPr sz="2800" spc="-80" dirty="0">
                <a:latin typeface="Times New Roman"/>
                <a:cs typeface="Times New Roman"/>
              </a:rPr>
              <a:t> </a:t>
            </a:r>
            <a:r>
              <a:rPr sz="2800" dirty="0">
                <a:latin typeface="Aptos"/>
                <a:cs typeface="Aptos"/>
              </a:rPr>
              <a:t>Office</a:t>
            </a:r>
            <a:r>
              <a:rPr sz="2800" spc="-70" dirty="0">
                <a:latin typeface="Times New Roman"/>
                <a:cs typeface="Times New Roman"/>
              </a:rPr>
              <a:t> </a:t>
            </a:r>
            <a:r>
              <a:rPr sz="2800" spc="-10" dirty="0">
                <a:latin typeface="Aptos"/>
                <a:cs typeface="Aptos"/>
              </a:rPr>
              <a:t>Protocols.</a:t>
            </a:r>
            <a:r>
              <a:rPr sz="2800" spc="-65" dirty="0">
                <a:latin typeface="Times New Roman"/>
                <a:cs typeface="Times New Roman"/>
              </a:rPr>
              <a:t> </a:t>
            </a:r>
            <a:r>
              <a:rPr sz="2800" dirty="0">
                <a:latin typeface="Aptos"/>
                <a:cs typeface="Aptos"/>
              </a:rPr>
              <a:t>These</a:t>
            </a:r>
            <a:r>
              <a:rPr sz="2800" spc="-60" dirty="0">
                <a:latin typeface="Times New Roman"/>
                <a:cs typeface="Times New Roman"/>
              </a:rPr>
              <a:t> </a:t>
            </a:r>
            <a:r>
              <a:rPr sz="2800" dirty="0">
                <a:latin typeface="Aptos"/>
                <a:cs typeface="Aptos"/>
              </a:rPr>
              <a:t>protocols</a:t>
            </a:r>
            <a:r>
              <a:rPr sz="2800" spc="-70" dirty="0">
                <a:latin typeface="Times New Roman"/>
                <a:cs typeface="Times New Roman"/>
              </a:rPr>
              <a:t> </a:t>
            </a:r>
            <a:r>
              <a:rPr sz="2800" spc="-25" dirty="0">
                <a:latin typeface="Aptos"/>
                <a:cs typeface="Aptos"/>
              </a:rPr>
              <a:t>are</a:t>
            </a:r>
            <a:r>
              <a:rPr sz="2800" spc="-25" dirty="0">
                <a:latin typeface="Times New Roman"/>
                <a:cs typeface="Times New Roman"/>
              </a:rPr>
              <a:t> </a:t>
            </a:r>
            <a:r>
              <a:rPr sz="2800" dirty="0">
                <a:latin typeface="Aptos"/>
                <a:cs typeface="Aptos"/>
              </a:rPr>
              <a:t>used</a:t>
            </a:r>
            <a:r>
              <a:rPr sz="2800" spc="-75" dirty="0">
                <a:latin typeface="Times New Roman"/>
                <a:cs typeface="Times New Roman"/>
              </a:rPr>
              <a:t> </a:t>
            </a:r>
            <a:r>
              <a:rPr sz="2800" dirty="0">
                <a:latin typeface="Aptos"/>
                <a:cs typeface="Aptos"/>
              </a:rPr>
              <a:t>to</a:t>
            </a:r>
            <a:r>
              <a:rPr sz="2800" spc="-65" dirty="0">
                <a:latin typeface="Times New Roman"/>
                <a:cs typeface="Times New Roman"/>
              </a:rPr>
              <a:t> </a:t>
            </a:r>
            <a:r>
              <a:rPr sz="2800" spc="-10" dirty="0">
                <a:latin typeface="Aptos"/>
                <a:cs typeface="Aptos"/>
              </a:rPr>
              <a:t>transmit</a:t>
            </a:r>
            <a:r>
              <a:rPr sz="2800" spc="-85" dirty="0">
                <a:latin typeface="Times New Roman"/>
                <a:cs typeface="Times New Roman"/>
              </a:rPr>
              <a:t> </a:t>
            </a:r>
            <a:r>
              <a:rPr sz="2800" dirty="0">
                <a:latin typeface="Aptos"/>
                <a:cs typeface="Aptos"/>
              </a:rPr>
              <a:t>the</a:t>
            </a:r>
            <a:r>
              <a:rPr sz="2800" spc="-80" dirty="0">
                <a:latin typeface="Times New Roman"/>
                <a:cs typeface="Times New Roman"/>
              </a:rPr>
              <a:t> </a:t>
            </a:r>
            <a:r>
              <a:rPr sz="2800" dirty="0">
                <a:latin typeface="Aptos"/>
                <a:cs typeface="Aptos"/>
              </a:rPr>
              <a:t>data</a:t>
            </a:r>
            <a:r>
              <a:rPr sz="2800" spc="-75" dirty="0">
                <a:latin typeface="Times New Roman"/>
                <a:cs typeface="Times New Roman"/>
              </a:rPr>
              <a:t> </a:t>
            </a:r>
            <a:r>
              <a:rPr sz="2800" dirty="0">
                <a:latin typeface="Aptos"/>
                <a:cs typeface="Aptos"/>
              </a:rPr>
              <a:t>from</a:t>
            </a:r>
            <a:r>
              <a:rPr sz="2800" spc="-75" dirty="0">
                <a:latin typeface="Times New Roman"/>
                <a:cs typeface="Times New Roman"/>
              </a:rPr>
              <a:t> </a:t>
            </a:r>
            <a:r>
              <a:rPr sz="2800" dirty="0">
                <a:latin typeface="Aptos"/>
                <a:cs typeface="Aptos"/>
              </a:rPr>
              <a:t>one</a:t>
            </a:r>
            <a:r>
              <a:rPr sz="2800" spc="-65" dirty="0">
                <a:latin typeface="Times New Roman"/>
                <a:cs typeface="Times New Roman"/>
              </a:rPr>
              <a:t> </a:t>
            </a:r>
            <a:r>
              <a:rPr sz="2800" dirty="0">
                <a:latin typeface="Aptos"/>
                <a:cs typeface="Aptos"/>
              </a:rPr>
              <a:t>mail</a:t>
            </a:r>
            <a:r>
              <a:rPr sz="2800" spc="-70" dirty="0">
                <a:latin typeface="Times New Roman"/>
                <a:cs typeface="Times New Roman"/>
              </a:rPr>
              <a:t> </a:t>
            </a:r>
            <a:r>
              <a:rPr sz="2800" dirty="0">
                <a:latin typeface="Aptos"/>
                <a:cs typeface="Aptos"/>
              </a:rPr>
              <a:t>server</a:t>
            </a:r>
            <a:r>
              <a:rPr sz="2800" spc="-85" dirty="0">
                <a:latin typeface="Times New Roman"/>
                <a:cs typeface="Times New Roman"/>
              </a:rPr>
              <a:t> </a:t>
            </a:r>
            <a:r>
              <a:rPr sz="2800" dirty="0">
                <a:latin typeface="Aptos"/>
                <a:cs typeface="Aptos"/>
              </a:rPr>
              <a:t>to</a:t>
            </a:r>
            <a:r>
              <a:rPr sz="2800" spc="-80" dirty="0">
                <a:latin typeface="Times New Roman"/>
                <a:cs typeface="Times New Roman"/>
              </a:rPr>
              <a:t> </a:t>
            </a:r>
            <a:r>
              <a:rPr sz="2800" dirty="0">
                <a:latin typeface="Aptos"/>
                <a:cs typeface="Aptos"/>
              </a:rPr>
              <a:t>another</a:t>
            </a:r>
            <a:r>
              <a:rPr sz="2800" spc="-75" dirty="0">
                <a:latin typeface="Times New Roman"/>
                <a:cs typeface="Times New Roman"/>
              </a:rPr>
              <a:t> </a:t>
            </a:r>
            <a:r>
              <a:rPr sz="2800" dirty="0">
                <a:latin typeface="Aptos"/>
                <a:cs typeface="Aptos"/>
              </a:rPr>
              <a:t>mail</a:t>
            </a:r>
            <a:r>
              <a:rPr sz="2800" spc="-80" dirty="0">
                <a:latin typeface="Times New Roman"/>
                <a:cs typeface="Times New Roman"/>
              </a:rPr>
              <a:t> </a:t>
            </a:r>
            <a:r>
              <a:rPr sz="2800" spc="-20" dirty="0">
                <a:latin typeface="Aptos"/>
                <a:cs typeface="Aptos"/>
              </a:rPr>
              <a:t>serv</a:t>
            </a:r>
            <a:r>
              <a:rPr sz="2800" spc="-20" dirty="0">
                <a:latin typeface="Times New Roman"/>
                <a:cs typeface="Times New Roman"/>
              </a:rPr>
              <a:t> </a:t>
            </a:r>
            <a:r>
              <a:rPr sz="2800" spc="-25" dirty="0">
                <a:latin typeface="Aptos"/>
                <a:cs typeface="Aptos"/>
              </a:rPr>
              <a:t>er.</a:t>
            </a:r>
            <a:endParaRPr sz="2800">
              <a:latin typeface="Aptos"/>
              <a:cs typeface="Aptos"/>
            </a:endParaRPr>
          </a:p>
        </p:txBody>
      </p:sp>
      <p:sp>
        <p:nvSpPr>
          <p:cNvPr id="9" name="object 9"/>
          <p:cNvSpPr txBox="1"/>
          <p:nvPr/>
        </p:nvSpPr>
        <p:spPr>
          <a:xfrm>
            <a:off x="1382267" y="3315080"/>
            <a:ext cx="1493520" cy="434340"/>
          </a:xfrm>
          <a:prstGeom prst="rect">
            <a:avLst/>
          </a:prstGeom>
          <a:solidFill>
            <a:srgbClr val="FFFF00"/>
          </a:solidFill>
        </p:spPr>
        <p:txBody>
          <a:bodyPr vert="horz" wrap="square" lIns="0" tIns="0" rIns="0" bIns="0" rtlCol="0">
            <a:spAutoFit/>
          </a:bodyPr>
          <a:lstStyle/>
          <a:p>
            <a:pPr>
              <a:lnSpc>
                <a:spcPts val="3204"/>
              </a:lnSpc>
              <a:tabLst>
                <a:tab pos="953769" algn="l"/>
                <a:tab pos="1214755" algn="l"/>
              </a:tabLst>
            </a:pPr>
            <a:r>
              <a:rPr sz="2800" b="1" spc="-20" dirty="0">
                <a:latin typeface="Aptos"/>
                <a:cs typeface="Aptos"/>
              </a:rPr>
              <a:t>HTTP</a:t>
            </a:r>
            <a:r>
              <a:rPr sz="2800" dirty="0">
                <a:latin typeface="Times New Roman"/>
                <a:cs typeface="Times New Roman"/>
              </a:rPr>
              <a:t>	</a:t>
            </a:r>
            <a:r>
              <a:rPr sz="2800" b="1" spc="-50" dirty="0">
                <a:latin typeface="Aptos"/>
                <a:cs typeface="Aptos"/>
              </a:rPr>
              <a:t>:</a:t>
            </a:r>
            <a:r>
              <a:rPr sz="2800" dirty="0">
                <a:latin typeface="Times New Roman"/>
                <a:cs typeface="Times New Roman"/>
              </a:rPr>
              <a:t>	</a:t>
            </a:r>
            <a:r>
              <a:rPr sz="2800" b="1" spc="-50" dirty="0">
                <a:latin typeface="Aptos"/>
                <a:cs typeface="Aptos"/>
              </a:rPr>
              <a:t>-</a:t>
            </a:r>
            <a:endParaRPr sz="2800">
              <a:latin typeface="Aptos"/>
              <a:cs typeface="Aptos"/>
            </a:endParaRPr>
          </a:p>
        </p:txBody>
      </p:sp>
      <p:sp>
        <p:nvSpPr>
          <p:cNvPr id="10" name="object 10"/>
          <p:cNvSpPr txBox="1"/>
          <p:nvPr/>
        </p:nvSpPr>
        <p:spPr>
          <a:xfrm>
            <a:off x="916941" y="3283450"/>
            <a:ext cx="10356850" cy="452120"/>
          </a:xfrm>
          <a:prstGeom prst="rect">
            <a:avLst/>
          </a:prstGeom>
        </p:spPr>
        <p:txBody>
          <a:bodyPr vert="horz" wrap="square" lIns="0" tIns="12065" rIns="0" bIns="0" rtlCol="0">
            <a:spAutoFit/>
          </a:bodyPr>
          <a:lstStyle/>
          <a:p>
            <a:pPr marL="12700">
              <a:lnSpc>
                <a:spcPct val="100000"/>
              </a:lnSpc>
              <a:spcBef>
                <a:spcPts val="95"/>
              </a:spcBef>
              <a:tabLst>
                <a:tab pos="1958975" algn="l"/>
                <a:tab pos="2964815" algn="l"/>
                <a:tab pos="4604385" algn="l"/>
                <a:tab pos="5991860" algn="l"/>
                <a:tab pos="7549515" algn="l"/>
                <a:tab pos="7964170" algn="l"/>
                <a:tab pos="9926320" algn="l"/>
              </a:tabLst>
            </a:pPr>
            <a:r>
              <a:rPr sz="2800" b="1" spc="-25" dirty="0">
                <a:latin typeface="Aptos"/>
                <a:cs typeface="Aptos"/>
              </a:rPr>
              <a:t>5)</a:t>
            </a:r>
            <a:r>
              <a:rPr sz="2800" dirty="0">
                <a:latin typeface="Times New Roman"/>
                <a:cs typeface="Times New Roman"/>
              </a:rPr>
              <a:t>	</a:t>
            </a:r>
            <a:r>
              <a:rPr sz="2800" spc="-20" dirty="0">
                <a:latin typeface="Aptos"/>
                <a:cs typeface="Aptos"/>
              </a:rPr>
              <a:t>HTTP,</a:t>
            </a:r>
            <a:r>
              <a:rPr sz="2800" dirty="0">
                <a:latin typeface="Times New Roman"/>
                <a:cs typeface="Times New Roman"/>
              </a:rPr>
              <a:t>	</a:t>
            </a:r>
            <a:r>
              <a:rPr sz="2800" spc="-10" dirty="0">
                <a:latin typeface="Aptos"/>
                <a:cs typeface="Aptos"/>
              </a:rPr>
              <a:t>Hypertext</a:t>
            </a:r>
            <a:r>
              <a:rPr sz="2800" dirty="0">
                <a:latin typeface="Times New Roman"/>
                <a:cs typeface="Times New Roman"/>
              </a:rPr>
              <a:t>	</a:t>
            </a:r>
            <a:r>
              <a:rPr sz="2800" spc="-10" dirty="0">
                <a:latin typeface="Aptos"/>
                <a:cs typeface="Aptos"/>
              </a:rPr>
              <a:t>Transfer</a:t>
            </a:r>
            <a:r>
              <a:rPr sz="2800" dirty="0">
                <a:latin typeface="Times New Roman"/>
                <a:cs typeface="Times New Roman"/>
              </a:rPr>
              <a:t>	</a:t>
            </a:r>
            <a:r>
              <a:rPr sz="2800" spc="-10" dirty="0">
                <a:latin typeface="Aptos"/>
                <a:cs typeface="Aptos"/>
              </a:rPr>
              <a:t>Protocol,</a:t>
            </a:r>
            <a:r>
              <a:rPr sz="2800" dirty="0">
                <a:latin typeface="Times New Roman"/>
                <a:cs typeface="Times New Roman"/>
              </a:rPr>
              <a:t>	</a:t>
            </a:r>
            <a:r>
              <a:rPr sz="2800" spc="-25" dirty="0">
                <a:latin typeface="Aptos"/>
                <a:cs typeface="Aptos"/>
              </a:rPr>
              <a:t>is</a:t>
            </a:r>
            <a:r>
              <a:rPr sz="2800" dirty="0">
                <a:latin typeface="Times New Roman"/>
                <a:cs typeface="Times New Roman"/>
              </a:rPr>
              <a:t>	</a:t>
            </a:r>
            <a:r>
              <a:rPr sz="2800" spc="-10" dirty="0">
                <a:latin typeface="Aptos"/>
                <a:cs typeface="Aptos"/>
              </a:rPr>
              <a:t>responsible</a:t>
            </a:r>
            <a:r>
              <a:rPr sz="2800" dirty="0">
                <a:latin typeface="Times New Roman"/>
                <a:cs typeface="Times New Roman"/>
              </a:rPr>
              <a:t>	</a:t>
            </a:r>
            <a:r>
              <a:rPr sz="2800" spc="-25" dirty="0">
                <a:latin typeface="Aptos"/>
                <a:cs typeface="Aptos"/>
              </a:rPr>
              <a:t>for</a:t>
            </a:r>
            <a:endParaRPr sz="2800">
              <a:latin typeface="Aptos"/>
              <a:cs typeface="Aptos"/>
            </a:endParaRPr>
          </a:p>
        </p:txBody>
      </p:sp>
      <p:sp>
        <p:nvSpPr>
          <p:cNvPr id="11" name="object 11"/>
          <p:cNvSpPr txBox="1"/>
          <p:nvPr/>
        </p:nvSpPr>
        <p:spPr>
          <a:xfrm>
            <a:off x="916941" y="3667194"/>
            <a:ext cx="10360025" cy="1346835"/>
          </a:xfrm>
          <a:prstGeom prst="rect">
            <a:avLst/>
          </a:prstGeom>
        </p:spPr>
        <p:txBody>
          <a:bodyPr vert="horz" wrap="square" lIns="0" tIns="60325" rIns="0" bIns="0" rtlCol="0">
            <a:spAutoFit/>
          </a:bodyPr>
          <a:lstStyle/>
          <a:p>
            <a:pPr marL="12700" marR="5080">
              <a:lnSpc>
                <a:spcPts val="3030"/>
              </a:lnSpc>
              <a:spcBef>
                <a:spcPts val="475"/>
              </a:spcBef>
              <a:tabLst>
                <a:tab pos="1775460" algn="l"/>
                <a:tab pos="2484120" algn="l"/>
                <a:tab pos="3339465" algn="l"/>
                <a:tab pos="4912360" algn="l"/>
                <a:tab pos="5898515" algn="l"/>
                <a:tab pos="7316470" algn="l"/>
                <a:tab pos="8488045" algn="l"/>
                <a:tab pos="9618980" algn="l"/>
              </a:tabLst>
            </a:pPr>
            <a:r>
              <a:rPr sz="2800" spc="-10" dirty="0">
                <a:latin typeface="Aptos"/>
                <a:cs typeface="Aptos"/>
              </a:rPr>
              <a:t>displaying</a:t>
            </a:r>
            <a:r>
              <a:rPr sz="2800" dirty="0">
                <a:latin typeface="Times New Roman"/>
                <a:cs typeface="Times New Roman"/>
              </a:rPr>
              <a:t>	</a:t>
            </a:r>
            <a:r>
              <a:rPr sz="2800" spc="-25" dirty="0">
                <a:latin typeface="Aptos"/>
                <a:cs typeface="Aptos"/>
              </a:rPr>
              <a:t>the</a:t>
            </a:r>
            <a:r>
              <a:rPr sz="2800" dirty="0">
                <a:latin typeface="Times New Roman"/>
                <a:cs typeface="Times New Roman"/>
              </a:rPr>
              <a:t>	</a:t>
            </a:r>
            <a:r>
              <a:rPr sz="2800" spc="-25" dirty="0">
                <a:latin typeface="Aptos"/>
                <a:cs typeface="Aptos"/>
              </a:rPr>
              <a:t>web</a:t>
            </a:r>
            <a:r>
              <a:rPr sz="2800" dirty="0">
                <a:latin typeface="Times New Roman"/>
                <a:cs typeface="Times New Roman"/>
              </a:rPr>
              <a:t>	</a:t>
            </a:r>
            <a:r>
              <a:rPr sz="2800" spc="-10" dirty="0">
                <a:latin typeface="Aptos"/>
                <a:cs typeface="Aptos"/>
              </a:rPr>
              <a:t>contents</a:t>
            </a:r>
            <a:r>
              <a:rPr sz="2800" dirty="0">
                <a:latin typeface="Times New Roman"/>
                <a:cs typeface="Times New Roman"/>
              </a:rPr>
              <a:t>	</a:t>
            </a:r>
            <a:r>
              <a:rPr sz="2800" spc="-10" dirty="0">
                <a:latin typeface="Aptos"/>
                <a:cs typeface="Aptos"/>
              </a:rPr>
              <a:t>(text,</a:t>
            </a:r>
            <a:r>
              <a:rPr sz="2800" dirty="0">
                <a:latin typeface="Times New Roman"/>
                <a:cs typeface="Times New Roman"/>
              </a:rPr>
              <a:t>	</a:t>
            </a:r>
            <a:r>
              <a:rPr sz="2800" spc="-10" dirty="0">
                <a:latin typeface="Aptos"/>
                <a:cs typeface="Aptos"/>
              </a:rPr>
              <a:t>images,</a:t>
            </a:r>
            <a:r>
              <a:rPr sz="2800" dirty="0">
                <a:latin typeface="Times New Roman"/>
                <a:cs typeface="Times New Roman"/>
              </a:rPr>
              <a:t>	</a:t>
            </a:r>
            <a:r>
              <a:rPr sz="2800" spc="-10" dirty="0">
                <a:latin typeface="Aptos"/>
                <a:cs typeface="Aptos"/>
              </a:rPr>
              <a:t>audio,</a:t>
            </a:r>
            <a:r>
              <a:rPr sz="2800" dirty="0">
                <a:latin typeface="Times New Roman"/>
                <a:cs typeface="Times New Roman"/>
              </a:rPr>
              <a:t>	</a:t>
            </a:r>
            <a:r>
              <a:rPr sz="2800" spc="-10" dirty="0">
                <a:latin typeface="Aptos"/>
                <a:cs typeface="Aptos"/>
              </a:rPr>
              <a:t>video,</a:t>
            </a:r>
            <a:r>
              <a:rPr sz="2800" dirty="0">
                <a:latin typeface="Times New Roman"/>
                <a:cs typeface="Times New Roman"/>
              </a:rPr>
              <a:t>	</a:t>
            </a:r>
            <a:r>
              <a:rPr sz="2800" spc="-25" dirty="0">
                <a:latin typeface="Aptos"/>
                <a:cs typeface="Aptos"/>
              </a:rPr>
              <a:t>even</a:t>
            </a:r>
            <a:r>
              <a:rPr sz="2800" spc="-25" dirty="0">
                <a:latin typeface="Times New Roman"/>
                <a:cs typeface="Times New Roman"/>
              </a:rPr>
              <a:t> </a:t>
            </a:r>
            <a:r>
              <a:rPr sz="2800" spc="-30" dirty="0">
                <a:latin typeface="Aptos"/>
                <a:cs typeface="Aptos"/>
              </a:rPr>
              <a:t>programming</a:t>
            </a:r>
            <a:r>
              <a:rPr sz="2800" spc="-125" dirty="0">
                <a:latin typeface="Times New Roman"/>
                <a:cs typeface="Times New Roman"/>
              </a:rPr>
              <a:t> </a:t>
            </a:r>
            <a:r>
              <a:rPr sz="2800" spc="-25" dirty="0">
                <a:latin typeface="Aptos"/>
                <a:cs typeface="Aptos"/>
              </a:rPr>
              <a:t>etc.).</a:t>
            </a:r>
            <a:r>
              <a:rPr sz="2800" spc="-130" dirty="0">
                <a:latin typeface="Times New Roman"/>
                <a:cs typeface="Times New Roman"/>
              </a:rPr>
              <a:t> </a:t>
            </a:r>
            <a:r>
              <a:rPr sz="2800" spc="-10" dirty="0">
                <a:latin typeface="Aptos"/>
                <a:cs typeface="Aptos"/>
              </a:rPr>
              <a:t>These</a:t>
            </a:r>
            <a:r>
              <a:rPr sz="2800" spc="-130" dirty="0">
                <a:latin typeface="Times New Roman"/>
                <a:cs typeface="Times New Roman"/>
              </a:rPr>
              <a:t> </a:t>
            </a:r>
            <a:r>
              <a:rPr sz="2800" spc="-10" dirty="0">
                <a:latin typeface="Aptos"/>
                <a:cs typeface="Aptos"/>
              </a:rPr>
              <a:t>days</a:t>
            </a:r>
            <a:r>
              <a:rPr sz="2800" spc="-125" dirty="0">
                <a:latin typeface="Times New Roman"/>
                <a:cs typeface="Times New Roman"/>
              </a:rPr>
              <a:t> </a:t>
            </a:r>
            <a:r>
              <a:rPr sz="2800" spc="-20" dirty="0">
                <a:latin typeface="Aptos"/>
                <a:cs typeface="Aptos"/>
              </a:rPr>
              <a:t>HTTPS</a:t>
            </a:r>
            <a:r>
              <a:rPr sz="2800" spc="-140" dirty="0">
                <a:latin typeface="Times New Roman"/>
                <a:cs typeface="Times New Roman"/>
              </a:rPr>
              <a:t> </a:t>
            </a:r>
            <a:r>
              <a:rPr sz="2800" dirty="0">
                <a:latin typeface="Aptos"/>
                <a:cs typeface="Aptos"/>
              </a:rPr>
              <a:t>is</a:t>
            </a:r>
            <a:r>
              <a:rPr sz="2800" spc="-150" dirty="0">
                <a:latin typeface="Times New Roman"/>
                <a:cs typeface="Times New Roman"/>
              </a:rPr>
              <a:t> </a:t>
            </a:r>
            <a:r>
              <a:rPr sz="2800" dirty="0">
                <a:latin typeface="Aptos"/>
                <a:cs typeface="Aptos"/>
              </a:rPr>
              <a:t>in</a:t>
            </a:r>
            <a:r>
              <a:rPr sz="2800" spc="-145" dirty="0">
                <a:latin typeface="Times New Roman"/>
                <a:cs typeface="Times New Roman"/>
              </a:rPr>
              <a:t> </a:t>
            </a:r>
            <a:r>
              <a:rPr sz="2800" spc="-20" dirty="0">
                <a:latin typeface="Aptos"/>
                <a:cs typeface="Aptos"/>
              </a:rPr>
              <a:t>trend</a:t>
            </a:r>
            <a:r>
              <a:rPr sz="2800" spc="-135" dirty="0">
                <a:latin typeface="Times New Roman"/>
                <a:cs typeface="Times New Roman"/>
              </a:rPr>
              <a:t> </a:t>
            </a:r>
            <a:r>
              <a:rPr sz="2800" spc="-20" dirty="0">
                <a:latin typeface="Aptos"/>
                <a:cs typeface="Aptos"/>
              </a:rPr>
              <a:t>because</a:t>
            </a:r>
            <a:r>
              <a:rPr sz="2800" spc="-114" dirty="0">
                <a:latin typeface="Times New Roman"/>
                <a:cs typeface="Times New Roman"/>
              </a:rPr>
              <a:t> </a:t>
            </a:r>
            <a:r>
              <a:rPr sz="2800" dirty="0">
                <a:latin typeface="Aptos"/>
                <a:cs typeface="Aptos"/>
              </a:rPr>
              <a:t>it</a:t>
            </a:r>
            <a:r>
              <a:rPr sz="2800" spc="-155" dirty="0">
                <a:latin typeface="Times New Roman"/>
                <a:cs typeface="Times New Roman"/>
              </a:rPr>
              <a:t> </a:t>
            </a:r>
            <a:r>
              <a:rPr sz="2800" dirty="0">
                <a:latin typeface="Aptos"/>
                <a:cs typeface="Aptos"/>
              </a:rPr>
              <a:t>is</a:t>
            </a:r>
            <a:r>
              <a:rPr sz="2800" spc="-140" dirty="0">
                <a:latin typeface="Times New Roman"/>
                <a:cs typeface="Times New Roman"/>
              </a:rPr>
              <a:t> </a:t>
            </a:r>
            <a:r>
              <a:rPr sz="2800" spc="-20" dirty="0">
                <a:latin typeface="Aptos"/>
                <a:cs typeface="Aptos"/>
              </a:rPr>
              <a:t>more</a:t>
            </a:r>
            <a:endParaRPr sz="2800">
              <a:latin typeface="Aptos"/>
              <a:cs typeface="Aptos"/>
            </a:endParaRPr>
          </a:p>
          <a:p>
            <a:pPr marL="12700">
              <a:lnSpc>
                <a:spcPct val="100000"/>
              </a:lnSpc>
              <a:spcBef>
                <a:spcPts val="610"/>
              </a:spcBef>
            </a:pPr>
            <a:r>
              <a:rPr sz="2800" spc="-20" dirty="0">
                <a:latin typeface="Aptos"/>
                <a:cs typeface="Aptos"/>
              </a:rPr>
              <a:t>secure</a:t>
            </a:r>
            <a:r>
              <a:rPr sz="2800" spc="-140" dirty="0">
                <a:latin typeface="Times New Roman"/>
                <a:cs typeface="Times New Roman"/>
              </a:rPr>
              <a:t> </a:t>
            </a:r>
            <a:r>
              <a:rPr sz="2800" spc="-10" dirty="0">
                <a:latin typeface="Aptos"/>
                <a:cs typeface="Aptos"/>
              </a:rPr>
              <a:t>than</a:t>
            </a:r>
            <a:r>
              <a:rPr sz="2800" spc="-160" dirty="0">
                <a:latin typeface="Times New Roman"/>
                <a:cs typeface="Times New Roman"/>
              </a:rPr>
              <a:t> </a:t>
            </a:r>
            <a:r>
              <a:rPr sz="2800" spc="-10" dirty="0">
                <a:latin typeface="Aptos"/>
                <a:cs typeface="Aptos"/>
              </a:rPr>
              <a:t>HTTP</a:t>
            </a:r>
            <a:r>
              <a:rPr sz="2800" spc="-140" dirty="0">
                <a:latin typeface="Times New Roman"/>
                <a:cs typeface="Times New Roman"/>
              </a:rPr>
              <a:t> </a:t>
            </a:r>
            <a:r>
              <a:rPr sz="2800" dirty="0">
                <a:latin typeface="Aptos"/>
                <a:cs typeface="Aptos"/>
              </a:rPr>
              <a:t>and</a:t>
            </a:r>
            <a:r>
              <a:rPr sz="2800" spc="-140" dirty="0">
                <a:latin typeface="Times New Roman"/>
                <a:cs typeface="Times New Roman"/>
              </a:rPr>
              <a:t> </a:t>
            </a:r>
            <a:r>
              <a:rPr sz="2800" spc="-10" dirty="0">
                <a:latin typeface="Aptos"/>
                <a:cs typeface="Aptos"/>
              </a:rPr>
              <a:t>uses</a:t>
            </a:r>
            <a:r>
              <a:rPr sz="2800" spc="-145" dirty="0">
                <a:latin typeface="Times New Roman"/>
                <a:cs typeface="Times New Roman"/>
              </a:rPr>
              <a:t> </a:t>
            </a:r>
            <a:r>
              <a:rPr sz="2800" spc="-10" dirty="0">
                <a:latin typeface="Aptos"/>
                <a:cs typeface="Aptos"/>
              </a:rPr>
              <a:t>encryption</a:t>
            </a:r>
            <a:r>
              <a:rPr sz="2800" spc="-145" dirty="0">
                <a:latin typeface="Times New Roman"/>
                <a:cs typeface="Times New Roman"/>
              </a:rPr>
              <a:t> </a:t>
            </a:r>
            <a:r>
              <a:rPr sz="2800" spc="-10" dirty="0">
                <a:latin typeface="Aptos"/>
                <a:cs typeface="Aptos"/>
              </a:rPr>
              <a:t>and</a:t>
            </a:r>
            <a:r>
              <a:rPr sz="2800" spc="-150" dirty="0">
                <a:latin typeface="Times New Roman"/>
                <a:cs typeface="Times New Roman"/>
              </a:rPr>
              <a:t> </a:t>
            </a:r>
            <a:r>
              <a:rPr sz="2800" spc="-10" dirty="0">
                <a:latin typeface="Aptos"/>
                <a:cs typeface="Aptos"/>
              </a:rPr>
              <a:t>decryption</a:t>
            </a:r>
            <a:r>
              <a:rPr sz="2800" spc="-135" dirty="0">
                <a:latin typeface="Times New Roman"/>
                <a:cs typeface="Times New Roman"/>
              </a:rPr>
              <a:t> </a:t>
            </a:r>
            <a:r>
              <a:rPr sz="2800" spc="-10" dirty="0">
                <a:latin typeface="Aptos"/>
                <a:cs typeface="Aptos"/>
              </a:rPr>
              <a:t>technology.</a:t>
            </a:r>
            <a:endParaRPr sz="2800">
              <a:latin typeface="Aptos"/>
              <a:cs typeface="Aptos"/>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9385" y="220458"/>
            <a:ext cx="7552055" cy="725805"/>
          </a:xfrm>
          <a:prstGeom prst="rect">
            <a:avLst/>
          </a:prstGeom>
        </p:spPr>
        <p:txBody>
          <a:bodyPr vert="horz" wrap="square" lIns="0" tIns="13335" rIns="0" bIns="0" rtlCol="0">
            <a:spAutoFit/>
          </a:bodyPr>
          <a:lstStyle/>
          <a:p>
            <a:pPr marL="12700">
              <a:lnSpc>
                <a:spcPts val="2275"/>
              </a:lnSpc>
              <a:spcBef>
                <a:spcPts val="105"/>
              </a:spcBef>
            </a:pPr>
            <a:r>
              <a:rPr sz="2000" spc="-30" dirty="0"/>
              <a:t>Watch</a:t>
            </a:r>
            <a:r>
              <a:rPr sz="2000" spc="-114" dirty="0">
                <a:latin typeface="Times New Roman"/>
                <a:cs typeface="Times New Roman"/>
              </a:rPr>
              <a:t> </a:t>
            </a:r>
            <a:r>
              <a:rPr sz="2000" spc="-20" dirty="0"/>
              <a:t>for</a:t>
            </a:r>
            <a:r>
              <a:rPr sz="2000" spc="-105" dirty="0">
                <a:latin typeface="Times New Roman"/>
                <a:cs typeface="Times New Roman"/>
              </a:rPr>
              <a:t> </a:t>
            </a:r>
            <a:r>
              <a:rPr sz="2000" spc="-10" dirty="0"/>
              <a:t>more</a:t>
            </a:r>
            <a:r>
              <a:rPr sz="2000" spc="-105" dirty="0">
                <a:latin typeface="Times New Roman"/>
                <a:cs typeface="Times New Roman"/>
              </a:rPr>
              <a:t> </a:t>
            </a:r>
            <a:r>
              <a:rPr sz="2000" spc="-20" dirty="0"/>
              <a:t>info</a:t>
            </a:r>
            <a:r>
              <a:rPr sz="2000" spc="-95" dirty="0">
                <a:latin typeface="Times New Roman"/>
                <a:cs typeface="Times New Roman"/>
              </a:rPr>
              <a:t> </a:t>
            </a:r>
            <a:r>
              <a:rPr sz="2000" dirty="0"/>
              <a:t>about</a:t>
            </a:r>
            <a:r>
              <a:rPr sz="2000" spc="-110" dirty="0">
                <a:latin typeface="Times New Roman"/>
                <a:cs typeface="Times New Roman"/>
              </a:rPr>
              <a:t> </a:t>
            </a:r>
            <a:r>
              <a:rPr sz="2000" dirty="0"/>
              <a:t>diff</a:t>
            </a:r>
            <a:r>
              <a:rPr sz="2000" spc="-90" dirty="0">
                <a:latin typeface="Times New Roman"/>
                <a:cs typeface="Times New Roman"/>
              </a:rPr>
              <a:t> </a:t>
            </a:r>
            <a:r>
              <a:rPr sz="2000" spc="-10" dirty="0"/>
              <a:t>protocols</a:t>
            </a:r>
            <a:endParaRPr sz="2000">
              <a:latin typeface="Times New Roman"/>
              <a:cs typeface="Times New Roman"/>
            </a:endParaRPr>
          </a:p>
          <a:p>
            <a:pPr marL="269875">
              <a:lnSpc>
                <a:spcPts val="3235"/>
              </a:lnSpc>
            </a:pPr>
            <a:r>
              <a:rPr sz="2800" spc="-30" dirty="0">
                <a:latin typeface="Aptos"/>
                <a:cs typeface="Aptos"/>
              </a:rPr>
              <a:t>https://</a:t>
            </a:r>
            <a:r>
              <a:rPr sz="2800" spc="-30" dirty="0">
                <a:latin typeface="Aptos"/>
                <a:cs typeface="Aptos"/>
                <a:hlinkClick r:id="rId2"/>
              </a:rPr>
              <a:t>www.youtube.com/shorts/eF8C1uyeknA</a:t>
            </a:r>
            <a:endParaRPr sz="2800">
              <a:latin typeface="Aptos"/>
              <a:cs typeface="Aptos"/>
            </a:endParaRPr>
          </a:p>
        </p:txBody>
      </p:sp>
      <p:pic>
        <p:nvPicPr>
          <p:cNvPr id="3" name="object 3"/>
          <p:cNvPicPr/>
          <p:nvPr/>
        </p:nvPicPr>
        <p:blipFill>
          <a:blip r:embed="rId3" cstate="print"/>
          <a:stretch>
            <a:fillRect/>
          </a:stretch>
        </p:blipFill>
        <p:spPr>
          <a:xfrm>
            <a:off x="1876554" y="1100617"/>
            <a:ext cx="7287005" cy="4588893"/>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10" dirty="0"/>
              <a:t>Assignments</a:t>
            </a:r>
          </a:p>
        </p:txBody>
      </p:sp>
      <p:sp>
        <p:nvSpPr>
          <p:cNvPr id="3" name="object 3"/>
          <p:cNvSpPr txBox="1"/>
          <p:nvPr/>
        </p:nvSpPr>
        <p:spPr>
          <a:xfrm>
            <a:off x="916941" y="1008739"/>
            <a:ext cx="9016365" cy="1754505"/>
          </a:xfrm>
          <a:prstGeom prst="rect">
            <a:avLst/>
          </a:prstGeom>
        </p:spPr>
        <p:txBody>
          <a:bodyPr vert="horz" wrap="square" lIns="0" tIns="210820" rIns="0" bIns="0" rtlCol="0">
            <a:spAutoFit/>
          </a:bodyPr>
          <a:lstStyle/>
          <a:p>
            <a:pPr marL="12700">
              <a:lnSpc>
                <a:spcPct val="100000"/>
              </a:lnSpc>
              <a:spcBef>
                <a:spcPts val="1660"/>
              </a:spcBef>
            </a:pPr>
            <a:r>
              <a:rPr sz="2800" b="1" spc="-40" dirty="0">
                <a:latin typeface="Aptos"/>
                <a:cs typeface="Aptos"/>
              </a:rPr>
              <a:t>IMPORTANT</a:t>
            </a:r>
            <a:r>
              <a:rPr sz="2800" spc="-125" dirty="0">
                <a:latin typeface="Times New Roman"/>
                <a:cs typeface="Times New Roman"/>
              </a:rPr>
              <a:t> </a:t>
            </a:r>
            <a:r>
              <a:rPr sz="2800" b="1" spc="-10" dirty="0">
                <a:latin typeface="Aptos"/>
                <a:cs typeface="Aptos"/>
              </a:rPr>
              <a:t>QUESTIONS</a:t>
            </a:r>
            <a:endParaRPr sz="2800">
              <a:latin typeface="Aptos"/>
              <a:cs typeface="Aptos"/>
            </a:endParaRPr>
          </a:p>
          <a:p>
            <a:pPr marL="12700">
              <a:lnSpc>
                <a:spcPct val="100000"/>
              </a:lnSpc>
              <a:spcBef>
                <a:spcPts val="885"/>
              </a:spcBef>
              <a:tabLst>
                <a:tab pos="527685" algn="l"/>
              </a:tabLst>
            </a:pPr>
            <a:r>
              <a:rPr sz="1600" spc="-25" dirty="0">
                <a:latin typeface="Aptos"/>
                <a:cs typeface="Aptos"/>
              </a:rPr>
              <a:t>1.</a:t>
            </a:r>
            <a:r>
              <a:rPr sz="1600" dirty="0">
                <a:latin typeface="Times New Roman"/>
                <a:cs typeface="Times New Roman"/>
              </a:rPr>
              <a:t>	</a:t>
            </a:r>
            <a:r>
              <a:rPr sz="1600" spc="-20" dirty="0">
                <a:latin typeface="Aptos"/>
                <a:cs typeface="Aptos"/>
              </a:rPr>
              <a:t>What</a:t>
            </a:r>
            <a:r>
              <a:rPr sz="1600" spc="-75" dirty="0">
                <a:latin typeface="Times New Roman"/>
                <a:cs typeface="Times New Roman"/>
              </a:rPr>
              <a:t> </a:t>
            </a:r>
            <a:r>
              <a:rPr sz="1600" dirty="0">
                <a:latin typeface="Aptos"/>
                <a:cs typeface="Aptos"/>
              </a:rPr>
              <a:t>is</a:t>
            </a:r>
            <a:r>
              <a:rPr sz="1600" spc="-65" dirty="0">
                <a:latin typeface="Times New Roman"/>
                <a:cs typeface="Times New Roman"/>
              </a:rPr>
              <a:t> </a:t>
            </a:r>
            <a:r>
              <a:rPr sz="1600" spc="-10" dirty="0">
                <a:latin typeface="Aptos"/>
                <a:cs typeface="Aptos"/>
              </a:rPr>
              <a:t>Computer</a:t>
            </a:r>
            <a:r>
              <a:rPr sz="1600" spc="-35" dirty="0">
                <a:latin typeface="Times New Roman"/>
                <a:cs typeface="Times New Roman"/>
              </a:rPr>
              <a:t> </a:t>
            </a:r>
            <a:r>
              <a:rPr sz="1600" spc="-20" dirty="0">
                <a:latin typeface="Aptos"/>
                <a:cs typeface="Aptos"/>
              </a:rPr>
              <a:t>Network?</a:t>
            </a:r>
            <a:r>
              <a:rPr sz="1600" spc="-65" dirty="0">
                <a:latin typeface="Times New Roman"/>
                <a:cs typeface="Times New Roman"/>
              </a:rPr>
              <a:t> </a:t>
            </a:r>
            <a:r>
              <a:rPr sz="1600" spc="-10" dirty="0">
                <a:latin typeface="Aptos"/>
                <a:cs typeface="Aptos"/>
              </a:rPr>
              <a:t>List</a:t>
            </a:r>
            <a:r>
              <a:rPr sz="1600" spc="-75" dirty="0">
                <a:latin typeface="Times New Roman"/>
                <a:cs typeface="Times New Roman"/>
              </a:rPr>
              <a:t> </a:t>
            </a:r>
            <a:r>
              <a:rPr sz="1600" dirty="0">
                <a:latin typeface="Aptos"/>
                <a:cs typeface="Aptos"/>
              </a:rPr>
              <a:t>its</a:t>
            </a:r>
            <a:r>
              <a:rPr sz="1600" spc="-60" dirty="0">
                <a:latin typeface="Times New Roman"/>
                <a:cs typeface="Times New Roman"/>
              </a:rPr>
              <a:t> </a:t>
            </a:r>
            <a:r>
              <a:rPr sz="1600" spc="-20" dirty="0">
                <a:latin typeface="Aptos"/>
                <a:cs typeface="Aptos"/>
              </a:rPr>
              <a:t>Advantages</a:t>
            </a:r>
            <a:r>
              <a:rPr sz="1600" spc="-55" dirty="0">
                <a:latin typeface="Times New Roman"/>
                <a:cs typeface="Times New Roman"/>
              </a:rPr>
              <a:t> </a:t>
            </a:r>
            <a:r>
              <a:rPr sz="1600" spc="-10" dirty="0">
                <a:latin typeface="Aptos"/>
                <a:cs typeface="Aptos"/>
              </a:rPr>
              <a:t>and</a:t>
            </a:r>
            <a:r>
              <a:rPr sz="1600" spc="-70" dirty="0">
                <a:latin typeface="Times New Roman"/>
                <a:cs typeface="Times New Roman"/>
              </a:rPr>
              <a:t> </a:t>
            </a:r>
            <a:r>
              <a:rPr sz="1600" spc="-20" dirty="0">
                <a:latin typeface="Aptos"/>
                <a:cs typeface="Aptos"/>
              </a:rPr>
              <a:t>Disadvantages.</a:t>
            </a:r>
            <a:r>
              <a:rPr sz="1600" spc="-50" dirty="0">
                <a:latin typeface="Times New Roman"/>
                <a:cs typeface="Times New Roman"/>
              </a:rPr>
              <a:t> </a:t>
            </a:r>
            <a:r>
              <a:rPr sz="1600" dirty="0">
                <a:latin typeface="Aptos"/>
                <a:cs typeface="Aptos"/>
              </a:rPr>
              <a:t>[1+2+2]</a:t>
            </a:r>
            <a:r>
              <a:rPr sz="1600" spc="105" dirty="0">
                <a:latin typeface="Times New Roman"/>
                <a:cs typeface="Times New Roman"/>
              </a:rPr>
              <a:t>  </a:t>
            </a:r>
            <a:r>
              <a:rPr sz="1600" spc="-20" dirty="0">
                <a:latin typeface="Aptos"/>
                <a:cs typeface="Aptos"/>
              </a:rPr>
              <a:t>vimp</a:t>
            </a:r>
            <a:endParaRPr sz="1600">
              <a:latin typeface="Aptos"/>
              <a:cs typeface="Aptos"/>
            </a:endParaRPr>
          </a:p>
          <a:p>
            <a:pPr marL="12700">
              <a:lnSpc>
                <a:spcPct val="100000"/>
              </a:lnSpc>
              <a:spcBef>
                <a:spcPts val="775"/>
              </a:spcBef>
            </a:pPr>
            <a:r>
              <a:rPr sz="1800" dirty="0">
                <a:solidFill>
                  <a:srgbClr val="FF0000"/>
                </a:solidFill>
                <a:latin typeface="Aptos"/>
                <a:cs typeface="Aptos"/>
              </a:rPr>
              <a:t>Ans</a:t>
            </a:r>
            <a:r>
              <a:rPr sz="1800" spc="-85" dirty="0">
                <a:solidFill>
                  <a:srgbClr val="FF0000"/>
                </a:solidFill>
                <a:latin typeface="Times New Roman"/>
                <a:cs typeface="Times New Roman"/>
              </a:rPr>
              <a:t> </a:t>
            </a:r>
            <a:r>
              <a:rPr sz="1800" spc="-20" dirty="0">
                <a:solidFill>
                  <a:srgbClr val="FF0000"/>
                </a:solidFill>
                <a:latin typeface="Aptos"/>
                <a:cs typeface="Aptos"/>
              </a:rPr>
              <a:t>keys</a:t>
            </a:r>
            <a:r>
              <a:rPr sz="1800" spc="-80" dirty="0">
                <a:solidFill>
                  <a:srgbClr val="FF0000"/>
                </a:solidFill>
                <a:latin typeface="Times New Roman"/>
                <a:cs typeface="Times New Roman"/>
              </a:rPr>
              <a:t> </a:t>
            </a:r>
            <a:r>
              <a:rPr sz="1800" dirty="0">
                <a:solidFill>
                  <a:srgbClr val="FF0000"/>
                </a:solidFill>
                <a:latin typeface="Aptos"/>
                <a:cs typeface="Aptos"/>
              </a:rPr>
              <a:t>:</a:t>
            </a:r>
            <a:r>
              <a:rPr sz="1800" spc="-85" dirty="0">
                <a:solidFill>
                  <a:srgbClr val="FF0000"/>
                </a:solidFill>
                <a:latin typeface="Times New Roman"/>
                <a:cs typeface="Times New Roman"/>
              </a:rPr>
              <a:t> </a:t>
            </a:r>
            <a:r>
              <a:rPr sz="1800" dirty="0">
                <a:solidFill>
                  <a:srgbClr val="FF0000"/>
                </a:solidFill>
                <a:latin typeface="Aptos"/>
                <a:cs typeface="Aptos"/>
              </a:rPr>
              <a:t>definition</a:t>
            </a:r>
            <a:r>
              <a:rPr sz="1800" spc="-105" dirty="0">
                <a:solidFill>
                  <a:srgbClr val="FF0000"/>
                </a:solidFill>
                <a:latin typeface="Times New Roman"/>
                <a:cs typeface="Times New Roman"/>
              </a:rPr>
              <a:t> </a:t>
            </a:r>
            <a:r>
              <a:rPr sz="1800" dirty="0">
                <a:solidFill>
                  <a:srgbClr val="FF0000"/>
                </a:solidFill>
                <a:latin typeface="Aptos"/>
                <a:cs typeface="Aptos"/>
              </a:rPr>
              <a:t>of</a:t>
            </a:r>
            <a:r>
              <a:rPr sz="1800" spc="-95" dirty="0">
                <a:solidFill>
                  <a:srgbClr val="FF0000"/>
                </a:solidFill>
                <a:latin typeface="Times New Roman"/>
                <a:cs typeface="Times New Roman"/>
              </a:rPr>
              <a:t> </a:t>
            </a:r>
            <a:r>
              <a:rPr sz="1800" dirty="0">
                <a:solidFill>
                  <a:srgbClr val="FF0000"/>
                </a:solidFill>
                <a:latin typeface="Aptos"/>
                <a:cs typeface="Aptos"/>
              </a:rPr>
              <a:t>computer</a:t>
            </a:r>
            <a:r>
              <a:rPr sz="1800" spc="-75" dirty="0">
                <a:solidFill>
                  <a:srgbClr val="FF0000"/>
                </a:solidFill>
                <a:latin typeface="Times New Roman"/>
                <a:cs typeface="Times New Roman"/>
              </a:rPr>
              <a:t> </a:t>
            </a:r>
            <a:r>
              <a:rPr sz="1800" dirty="0">
                <a:solidFill>
                  <a:srgbClr val="FF0000"/>
                </a:solidFill>
                <a:latin typeface="Aptos"/>
                <a:cs typeface="Aptos"/>
              </a:rPr>
              <a:t>network+</a:t>
            </a:r>
            <a:r>
              <a:rPr sz="1800" spc="-85" dirty="0">
                <a:solidFill>
                  <a:srgbClr val="FF0000"/>
                </a:solidFill>
                <a:latin typeface="Times New Roman"/>
                <a:cs typeface="Times New Roman"/>
              </a:rPr>
              <a:t> </a:t>
            </a:r>
            <a:r>
              <a:rPr sz="1800" spc="-10" dirty="0">
                <a:solidFill>
                  <a:srgbClr val="FF0000"/>
                </a:solidFill>
                <a:latin typeface="Aptos"/>
                <a:cs typeface="Aptos"/>
              </a:rPr>
              <a:t>advantages</a:t>
            </a:r>
            <a:r>
              <a:rPr sz="1800" spc="-85" dirty="0">
                <a:solidFill>
                  <a:srgbClr val="FF0000"/>
                </a:solidFill>
                <a:latin typeface="Times New Roman"/>
                <a:cs typeface="Times New Roman"/>
              </a:rPr>
              <a:t> </a:t>
            </a:r>
            <a:r>
              <a:rPr sz="1800" dirty="0">
                <a:solidFill>
                  <a:srgbClr val="FF0000"/>
                </a:solidFill>
                <a:latin typeface="Aptos"/>
                <a:cs typeface="Aptos"/>
              </a:rPr>
              <a:t>and</a:t>
            </a:r>
            <a:r>
              <a:rPr sz="1800" spc="-80" dirty="0">
                <a:solidFill>
                  <a:srgbClr val="FF0000"/>
                </a:solidFill>
                <a:latin typeface="Times New Roman"/>
                <a:cs typeface="Times New Roman"/>
              </a:rPr>
              <a:t> </a:t>
            </a:r>
            <a:r>
              <a:rPr sz="1800" spc="-10" dirty="0">
                <a:solidFill>
                  <a:srgbClr val="FF0000"/>
                </a:solidFill>
                <a:latin typeface="Aptos"/>
                <a:cs typeface="Aptos"/>
              </a:rPr>
              <a:t>disadvantages</a:t>
            </a:r>
            <a:r>
              <a:rPr sz="1800" spc="-85" dirty="0">
                <a:solidFill>
                  <a:srgbClr val="FF0000"/>
                </a:solidFill>
                <a:latin typeface="Times New Roman"/>
                <a:cs typeface="Times New Roman"/>
              </a:rPr>
              <a:t> </a:t>
            </a:r>
            <a:r>
              <a:rPr sz="1800" dirty="0">
                <a:solidFill>
                  <a:srgbClr val="FF0000"/>
                </a:solidFill>
                <a:latin typeface="Aptos"/>
                <a:cs typeface="Aptos"/>
              </a:rPr>
              <a:t>at</a:t>
            </a:r>
            <a:r>
              <a:rPr sz="1800" spc="-85" dirty="0">
                <a:solidFill>
                  <a:srgbClr val="FF0000"/>
                </a:solidFill>
                <a:latin typeface="Times New Roman"/>
                <a:cs typeface="Times New Roman"/>
              </a:rPr>
              <a:t> </a:t>
            </a:r>
            <a:r>
              <a:rPr sz="1800" dirty="0">
                <a:solidFill>
                  <a:srgbClr val="FF0000"/>
                </a:solidFill>
                <a:latin typeface="Aptos"/>
                <a:cs typeface="Aptos"/>
              </a:rPr>
              <a:t>least</a:t>
            </a:r>
            <a:r>
              <a:rPr sz="1800" spc="-75" dirty="0">
                <a:solidFill>
                  <a:srgbClr val="FF0000"/>
                </a:solidFill>
                <a:latin typeface="Times New Roman"/>
                <a:cs typeface="Times New Roman"/>
              </a:rPr>
              <a:t> </a:t>
            </a:r>
            <a:r>
              <a:rPr sz="1800" dirty="0">
                <a:solidFill>
                  <a:srgbClr val="FF0000"/>
                </a:solidFill>
                <a:latin typeface="Aptos"/>
                <a:cs typeface="Aptos"/>
              </a:rPr>
              <a:t>2-2</a:t>
            </a:r>
            <a:r>
              <a:rPr sz="1800" spc="295" dirty="0">
                <a:solidFill>
                  <a:srgbClr val="FF0000"/>
                </a:solidFill>
                <a:latin typeface="Times New Roman"/>
                <a:cs typeface="Times New Roman"/>
              </a:rPr>
              <a:t> </a:t>
            </a:r>
            <a:r>
              <a:rPr sz="1800" spc="-10" dirty="0">
                <a:solidFill>
                  <a:srgbClr val="FF0000"/>
                </a:solidFill>
                <a:latin typeface="Aptos"/>
                <a:cs typeface="Aptos"/>
              </a:rPr>
              <a:t>point</a:t>
            </a:r>
            <a:endParaRPr sz="1800">
              <a:latin typeface="Aptos"/>
              <a:cs typeface="Aptos"/>
            </a:endParaRPr>
          </a:p>
          <a:p>
            <a:pPr marL="12700">
              <a:lnSpc>
                <a:spcPct val="100000"/>
              </a:lnSpc>
              <a:spcBef>
                <a:spcPts val="790"/>
              </a:spcBef>
              <a:tabLst>
                <a:tab pos="527685" algn="l"/>
              </a:tabLst>
            </a:pPr>
            <a:r>
              <a:rPr sz="1800" spc="-25" dirty="0">
                <a:latin typeface="Aptos"/>
                <a:cs typeface="Aptos"/>
              </a:rPr>
              <a:t>2)</a:t>
            </a:r>
            <a:r>
              <a:rPr sz="1800" dirty="0">
                <a:latin typeface="Times New Roman"/>
                <a:cs typeface="Times New Roman"/>
              </a:rPr>
              <a:t>	</a:t>
            </a:r>
            <a:r>
              <a:rPr sz="1800" spc="-10" dirty="0">
                <a:latin typeface="Aptos"/>
                <a:cs typeface="Aptos"/>
              </a:rPr>
              <a:t>Define</a:t>
            </a:r>
            <a:r>
              <a:rPr sz="1800" spc="-95" dirty="0">
                <a:latin typeface="Times New Roman"/>
                <a:cs typeface="Times New Roman"/>
              </a:rPr>
              <a:t> </a:t>
            </a:r>
            <a:r>
              <a:rPr sz="1800" spc="-10" dirty="0">
                <a:latin typeface="Aptos"/>
                <a:cs typeface="Aptos"/>
              </a:rPr>
              <a:t>Communication</a:t>
            </a:r>
            <a:r>
              <a:rPr sz="1800" spc="-105" dirty="0">
                <a:latin typeface="Times New Roman"/>
                <a:cs typeface="Times New Roman"/>
              </a:rPr>
              <a:t> </a:t>
            </a:r>
            <a:r>
              <a:rPr sz="1800" spc="-10" dirty="0">
                <a:latin typeface="Aptos"/>
                <a:cs typeface="Aptos"/>
              </a:rPr>
              <a:t>System?</a:t>
            </a:r>
            <a:r>
              <a:rPr sz="1800" spc="-60" dirty="0">
                <a:latin typeface="Times New Roman"/>
                <a:cs typeface="Times New Roman"/>
              </a:rPr>
              <a:t> </a:t>
            </a:r>
            <a:r>
              <a:rPr sz="1800" spc="-10" dirty="0">
                <a:latin typeface="Aptos"/>
                <a:cs typeface="Aptos"/>
              </a:rPr>
              <a:t>Mention</a:t>
            </a:r>
            <a:r>
              <a:rPr sz="1800" spc="-95" dirty="0">
                <a:latin typeface="Times New Roman"/>
                <a:cs typeface="Times New Roman"/>
              </a:rPr>
              <a:t> </a:t>
            </a:r>
            <a:r>
              <a:rPr sz="1800" dirty="0">
                <a:latin typeface="Aptos"/>
                <a:cs typeface="Aptos"/>
              </a:rPr>
              <a:t>elements</a:t>
            </a:r>
            <a:r>
              <a:rPr sz="1800" spc="-60" dirty="0">
                <a:latin typeface="Times New Roman"/>
                <a:cs typeface="Times New Roman"/>
              </a:rPr>
              <a:t> </a:t>
            </a:r>
            <a:r>
              <a:rPr sz="1800" dirty="0">
                <a:latin typeface="Aptos"/>
                <a:cs typeface="Aptos"/>
              </a:rPr>
              <a:t>of</a:t>
            </a:r>
            <a:r>
              <a:rPr sz="1800" spc="-90" dirty="0">
                <a:latin typeface="Times New Roman"/>
                <a:cs typeface="Times New Roman"/>
              </a:rPr>
              <a:t> </a:t>
            </a:r>
            <a:r>
              <a:rPr sz="1800" spc="-20" dirty="0">
                <a:latin typeface="Aptos"/>
                <a:cs typeface="Aptos"/>
              </a:rPr>
              <a:t>data</a:t>
            </a:r>
            <a:endParaRPr sz="1800">
              <a:latin typeface="Aptos"/>
              <a:cs typeface="Aptos"/>
            </a:endParaRPr>
          </a:p>
        </p:txBody>
      </p:sp>
      <p:sp>
        <p:nvSpPr>
          <p:cNvPr id="4" name="object 4"/>
          <p:cNvSpPr txBox="1"/>
          <p:nvPr/>
        </p:nvSpPr>
        <p:spPr>
          <a:xfrm>
            <a:off x="916941" y="2737857"/>
            <a:ext cx="6092825" cy="1147445"/>
          </a:xfrm>
          <a:prstGeom prst="rect">
            <a:avLst/>
          </a:prstGeom>
        </p:spPr>
        <p:txBody>
          <a:bodyPr vert="horz" wrap="square" lIns="0" tIns="111760" rIns="0" bIns="0" rtlCol="0">
            <a:spAutoFit/>
          </a:bodyPr>
          <a:lstStyle/>
          <a:p>
            <a:pPr marL="12700">
              <a:lnSpc>
                <a:spcPct val="100000"/>
              </a:lnSpc>
              <a:spcBef>
                <a:spcPts val="880"/>
              </a:spcBef>
            </a:pPr>
            <a:r>
              <a:rPr sz="1800" spc="-10" dirty="0">
                <a:latin typeface="Aptos"/>
                <a:cs typeface="Aptos"/>
              </a:rPr>
              <a:t>communication</a:t>
            </a:r>
            <a:r>
              <a:rPr sz="1800" spc="-110" dirty="0">
                <a:latin typeface="Times New Roman"/>
                <a:cs typeface="Times New Roman"/>
              </a:rPr>
              <a:t> </a:t>
            </a:r>
            <a:r>
              <a:rPr sz="1800" dirty="0">
                <a:latin typeface="Aptos"/>
                <a:cs typeface="Aptos"/>
              </a:rPr>
              <a:t>with</a:t>
            </a:r>
            <a:r>
              <a:rPr sz="1800" spc="-70" dirty="0">
                <a:latin typeface="Times New Roman"/>
                <a:cs typeface="Times New Roman"/>
              </a:rPr>
              <a:t> </a:t>
            </a:r>
            <a:r>
              <a:rPr sz="1800" dirty="0">
                <a:latin typeface="Aptos"/>
                <a:cs typeface="Aptos"/>
              </a:rPr>
              <a:t>block</a:t>
            </a:r>
            <a:r>
              <a:rPr sz="1800" spc="-60" dirty="0">
                <a:latin typeface="Times New Roman"/>
                <a:cs typeface="Times New Roman"/>
              </a:rPr>
              <a:t> </a:t>
            </a:r>
            <a:r>
              <a:rPr sz="1800" spc="-10" dirty="0">
                <a:latin typeface="Aptos"/>
                <a:cs typeface="Aptos"/>
              </a:rPr>
              <a:t>diagram.</a:t>
            </a:r>
            <a:r>
              <a:rPr sz="1800" spc="-60" dirty="0">
                <a:latin typeface="Times New Roman"/>
                <a:cs typeface="Times New Roman"/>
              </a:rPr>
              <a:t> </a:t>
            </a:r>
            <a:r>
              <a:rPr sz="1800" spc="-10" dirty="0">
                <a:latin typeface="Aptos"/>
                <a:cs typeface="Aptos"/>
              </a:rPr>
              <a:t>[1+4]</a:t>
            </a:r>
            <a:endParaRPr sz="1800">
              <a:latin typeface="Aptos"/>
              <a:cs typeface="Aptos"/>
            </a:endParaRPr>
          </a:p>
          <a:p>
            <a:pPr marL="12700" marR="5080">
              <a:lnSpc>
                <a:spcPts val="2950"/>
              </a:lnSpc>
              <a:spcBef>
                <a:spcPts val="90"/>
              </a:spcBef>
            </a:pPr>
            <a:r>
              <a:rPr sz="1800" dirty="0">
                <a:solidFill>
                  <a:srgbClr val="FF0000"/>
                </a:solidFill>
                <a:latin typeface="Aptos"/>
                <a:cs typeface="Aptos"/>
              </a:rPr>
              <a:t>Ans</a:t>
            </a:r>
            <a:r>
              <a:rPr sz="1800" spc="-95" dirty="0">
                <a:solidFill>
                  <a:srgbClr val="FF0000"/>
                </a:solidFill>
                <a:latin typeface="Times New Roman"/>
                <a:cs typeface="Times New Roman"/>
              </a:rPr>
              <a:t> </a:t>
            </a:r>
            <a:r>
              <a:rPr sz="1800" dirty="0">
                <a:solidFill>
                  <a:srgbClr val="FF0000"/>
                </a:solidFill>
                <a:latin typeface="Aptos"/>
                <a:cs typeface="Aptos"/>
              </a:rPr>
              <a:t>key:</a:t>
            </a:r>
            <a:r>
              <a:rPr sz="1800" spc="280" dirty="0">
                <a:solidFill>
                  <a:srgbClr val="FF0000"/>
                </a:solidFill>
                <a:latin typeface="Times New Roman"/>
                <a:cs typeface="Times New Roman"/>
              </a:rPr>
              <a:t> </a:t>
            </a:r>
            <a:r>
              <a:rPr sz="1800" dirty="0">
                <a:solidFill>
                  <a:srgbClr val="FF0000"/>
                </a:solidFill>
                <a:latin typeface="Aptos"/>
                <a:cs typeface="Aptos"/>
              </a:rPr>
              <a:t>definition+</a:t>
            </a:r>
            <a:r>
              <a:rPr sz="1800" spc="-110" dirty="0">
                <a:solidFill>
                  <a:srgbClr val="FF0000"/>
                </a:solidFill>
                <a:latin typeface="Times New Roman"/>
                <a:cs typeface="Times New Roman"/>
              </a:rPr>
              <a:t> </a:t>
            </a:r>
            <a:r>
              <a:rPr sz="1800" spc="-10" dirty="0">
                <a:solidFill>
                  <a:srgbClr val="FF0000"/>
                </a:solidFill>
                <a:latin typeface="Aptos"/>
                <a:cs typeface="Aptos"/>
              </a:rPr>
              <a:t>figure+</a:t>
            </a:r>
            <a:r>
              <a:rPr sz="1800" spc="-100" dirty="0">
                <a:solidFill>
                  <a:srgbClr val="FF0000"/>
                </a:solidFill>
                <a:latin typeface="Times New Roman"/>
                <a:cs typeface="Times New Roman"/>
              </a:rPr>
              <a:t> </a:t>
            </a:r>
            <a:r>
              <a:rPr sz="1800" spc="-10" dirty="0">
                <a:solidFill>
                  <a:srgbClr val="FF0000"/>
                </a:solidFill>
                <a:latin typeface="Aptos"/>
                <a:cs typeface="Aptos"/>
              </a:rPr>
              <a:t>explain</a:t>
            </a:r>
            <a:r>
              <a:rPr sz="1800" spc="-85" dirty="0">
                <a:solidFill>
                  <a:srgbClr val="FF0000"/>
                </a:solidFill>
                <a:latin typeface="Times New Roman"/>
                <a:cs typeface="Times New Roman"/>
              </a:rPr>
              <a:t> </a:t>
            </a:r>
            <a:r>
              <a:rPr sz="1800" spc="-10" dirty="0">
                <a:solidFill>
                  <a:srgbClr val="FF0000"/>
                </a:solidFill>
                <a:latin typeface="Aptos"/>
                <a:cs typeface="Aptos"/>
              </a:rPr>
              <a:t>any</a:t>
            </a:r>
            <a:r>
              <a:rPr sz="1800" spc="-100" dirty="0">
                <a:solidFill>
                  <a:srgbClr val="FF0000"/>
                </a:solidFill>
                <a:latin typeface="Times New Roman"/>
                <a:cs typeface="Times New Roman"/>
              </a:rPr>
              <a:t> </a:t>
            </a:r>
            <a:r>
              <a:rPr sz="1800" spc="-10" dirty="0">
                <a:solidFill>
                  <a:srgbClr val="FF0000"/>
                </a:solidFill>
                <a:latin typeface="Aptos"/>
                <a:cs typeface="Aptos"/>
              </a:rPr>
              <a:t>four</a:t>
            </a:r>
            <a:r>
              <a:rPr sz="1800" spc="-95" dirty="0">
                <a:solidFill>
                  <a:srgbClr val="FF0000"/>
                </a:solidFill>
                <a:latin typeface="Times New Roman"/>
                <a:cs typeface="Times New Roman"/>
              </a:rPr>
              <a:t> </a:t>
            </a:r>
            <a:r>
              <a:rPr sz="1800" spc="-10" dirty="0">
                <a:solidFill>
                  <a:srgbClr val="FF0000"/>
                </a:solidFill>
                <a:latin typeface="Aptos"/>
                <a:cs typeface="Aptos"/>
              </a:rPr>
              <a:t>elements.</a:t>
            </a:r>
            <a:r>
              <a:rPr sz="1800" spc="-75" dirty="0">
                <a:solidFill>
                  <a:srgbClr val="FF0000"/>
                </a:solidFill>
                <a:latin typeface="Times New Roman"/>
                <a:cs typeface="Times New Roman"/>
              </a:rPr>
              <a:t> </a:t>
            </a:r>
            <a:r>
              <a:rPr sz="1800" dirty="0">
                <a:solidFill>
                  <a:srgbClr val="FF0000"/>
                </a:solidFill>
                <a:latin typeface="Aptos"/>
                <a:cs typeface="Aptos"/>
              </a:rPr>
              <a:t>Look</a:t>
            </a:r>
            <a:r>
              <a:rPr sz="1800" spc="-90" dirty="0">
                <a:solidFill>
                  <a:srgbClr val="FF0000"/>
                </a:solidFill>
                <a:latin typeface="Times New Roman"/>
                <a:cs typeface="Times New Roman"/>
              </a:rPr>
              <a:t> </a:t>
            </a:r>
            <a:r>
              <a:rPr sz="1800" spc="-25" dirty="0">
                <a:solidFill>
                  <a:srgbClr val="FF0000"/>
                </a:solidFill>
                <a:latin typeface="Aptos"/>
                <a:cs typeface="Aptos"/>
              </a:rPr>
              <a:t>at</a:t>
            </a:r>
            <a:r>
              <a:rPr sz="1800" spc="-25" dirty="0">
                <a:solidFill>
                  <a:srgbClr val="FF0000"/>
                </a:solidFill>
                <a:latin typeface="Times New Roman"/>
                <a:cs typeface="Times New Roman"/>
              </a:rPr>
              <a:t> </a:t>
            </a:r>
            <a:r>
              <a:rPr sz="1800" spc="-10" dirty="0">
                <a:latin typeface="Aptos"/>
                <a:cs typeface="Aptos"/>
              </a:rPr>
              <a:t>3)What</a:t>
            </a:r>
            <a:r>
              <a:rPr sz="1800" spc="-75" dirty="0">
                <a:latin typeface="Times New Roman"/>
                <a:cs typeface="Times New Roman"/>
              </a:rPr>
              <a:t> </a:t>
            </a:r>
            <a:r>
              <a:rPr sz="1800" dirty="0">
                <a:latin typeface="Aptos"/>
                <a:cs typeface="Aptos"/>
              </a:rPr>
              <a:t>is</a:t>
            </a:r>
            <a:r>
              <a:rPr sz="1800" spc="-85" dirty="0">
                <a:latin typeface="Times New Roman"/>
                <a:cs typeface="Times New Roman"/>
              </a:rPr>
              <a:t> </a:t>
            </a:r>
            <a:r>
              <a:rPr sz="1800" spc="-20" dirty="0">
                <a:latin typeface="Aptos"/>
                <a:cs typeface="Aptos"/>
              </a:rPr>
              <a:t>Transmission</a:t>
            </a:r>
            <a:r>
              <a:rPr sz="1800" spc="-105" dirty="0">
                <a:latin typeface="Times New Roman"/>
                <a:cs typeface="Times New Roman"/>
              </a:rPr>
              <a:t> </a:t>
            </a:r>
            <a:r>
              <a:rPr sz="1800" spc="-10" dirty="0">
                <a:latin typeface="Aptos"/>
                <a:cs typeface="Aptos"/>
              </a:rPr>
              <a:t>Media?</a:t>
            </a:r>
            <a:r>
              <a:rPr sz="1800" spc="-75" dirty="0">
                <a:latin typeface="Times New Roman"/>
                <a:cs typeface="Times New Roman"/>
              </a:rPr>
              <a:t> </a:t>
            </a:r>
            <a:r>
              <a:rPr sz="1800" spc="-10" dirty="0">
                <a:latin typeface="Aptos"/>
                <a:cs typeface="Aptos"/>
              </a:rPr>
              <a:t>Explain</a:t>
            </a:r>
            <a:r>
              <a:rPr sz="1800" spc="-55" dirty="0">
                <a:latin typeface="Times New Roman"/>
                <a:cs typeface="Times New Roman"/>
              </a:rPr>
              <a:t> </a:t>
            </a:r>
            <a:r>
              <a:rPr sz="1800" dirty="0">
                <a:latin typeface="Aptos"/>
                <a:cs typeface="Aptos"/>
              </a:rPr>
              <a:t>its</a:t>
            </a:r>
            <a:r>
              <a:rPr sz="1800" spc="-60" dirty="0">
                <a:latin typeface="Times New Roman"/>
                <a:cs typeface="Times New Roman"/>
              </a:rPr>
              <a:t> </a:t>
            </a:r>
            <a:r>
              <a:rPr sz="1800" spc="-10" dirty="0">
                <a:latin typeface="Aptos"/>
                <a:cs typeface="Aptos"/>
              </a:rPr>
              <a:t>types.</a:t>
            </a:r>
            <a:r>
              <a:rPr sz="1800" spc="-60" dirty="0">
                <a:latin typeface="Times New Roman"/>
                <a:cs typeface="Times New Roman"/>
              </a:rPr>
              <a:t> </a:t>
            </a:r>
            <a:r>
              <a:rPr sz="1800" dirty="0">
                <a:latin typeface="Aptos"/>
                <a:cs typeface="Aptos"/>
              </a:rPr>
              <a:t>[2+6]</a:t>
            </a:r>
            <a:r>
              <a:rPr sz="1800" spc="-50" dirty="0">
                <a:latin typeface="Times New Roman"/>
                <a:cs typeface="Times New Roman"/>
              </a:rPr>
              <a:t> </a:t>
            </a:r>
            <a:r>
              <a:rPr sz="1800" spc="-20" dirty="0">
                <a:latin typeface="Aptos"/>
                <a:cs typeface="Aptos"/>
              </a:rPr>
              <a:t>vimp</a:t>
            </a:r>
            <a:endParaRPr sz="1800">
              <a:latin typeface="Aptos"/>
              <a:cs typeface="Aptos"/>
            </a:endParaRPr>
          </a:p>
        </p:txBody>
      </p:sp>
      <p:sp>
        <p:nvSpPr>
          <p:cNvPr id="5" name="object 5"/>
          <p:cNvSpPr txBox="1"/>
          <p:nvPr/>
        </p:nvSpPr>
        <p:spPr>
          <a:xfrm>
            <a:off x="7042403" y="3234309"/>
            <a:ext cx="1390650" cy="280670"/>
          </a:xfrm>
          <a:prstGeom prst="rect">
            <a:avLst/>
          </a:prstGeom>
          <a:solidFill>
            <a:srgbClr val="FFFF00"/>
          </a:solidFill>
        </p:spPr>
        <p:txBody>
          <a:bodyPr vert="horz" wrap="square" lIns="0" tIns="0" rIns="0" bIns="0" rtlCol="0">
            <a:spAutoFit/>
          </a:bodyPr>
          <a:lstStyle/>
          <a:p>
            <a:pPr marL="1905">
              <a:lnSpc>
                <a:spcPts val="2070"/>
              </a:lnSpc>
            </a:pPr>
            <a:r>
              <a:rPr sz="1800" dirty="0">
                <a:solidFill>
                  <a:srgbClr val="FF0000"/>
                </a:solidFill>
                <a:latin typeface="Aptos"/>
                <a:cs typeface="Aptos"/>
              </a:rPr>
              <a:t>slide</a:t>
            </a:r>
            <a:r>
              <a:rPr sz="1800" spc="-110" dirty="0">
                <a:solidFill>
                  <a:srgbClr val="FF0000"/>
                </a:solidFill>
                <a:latin typeface="Times New Roman"/>
                <a:cs typeface="Times New Roman"/>
              </a:rPr>
              <a:t> </a:t>
            </a:r>
            <a:r>
              <a:rPr sz="1800" dirty="0">
                <a:solidFill>
                  <a:srgbClr val="FF0000"/>
                </a:solidFill>
                <a:latin typeface="Aptos"/>
                <a:cs typeface="Aptos"/>
              </a:rPr>
              <a:t>no:</a:t>
            </a:r>
            <a:r>
              <a:rPr sz="1800" spc="-100" dirty="0">
                <a:solidFill>
                  <a:srgbClr val="FF0000"/>
                </a:solidFill>
                <a:latin typeface="Times New Roman"/>
                <a:cs typeface="Times New Roman"/>
              </a:rPr>
              <a:t> </a:t>
            </a:r>
            <a:r>
              <a:rPr sz="1800" spc="-10" dirty="0">
                <a:solidFill>
                  <a:srgbClr val="FF0000"/>
                </a:solidFill>
                <a:latin typeface="Aptos"/>
                <a:cs typeface="Aptos"/>
              </a:rPr>
              <a:t>2,3,4</a:t>
            </a:r>
            <a:endParaRPr sz="1800">
              <a:latin typeface="Aptos"/>
              <a:cs typeface="Aptos"/>
            </a:endParaRPr>
          </a:p>
        </p:txBody>
      </p:sp>
      <p:sp>
        <p:nvSpPr>
          <p:cNvPr id="6" name="object 6"/>
          <p:cNvSpPr txBox="1"/>
          <p:nvPr/>
        </p:nvSpPr>
        <p:spPr>
          <a:xfrm>
            <a:off x="916941" y="3958838"/>
            <a:ext cx="9999980" cy="1668780"/>
          </a:xfrm>
          <a:prstGeom prst="rect">
            <a:avLst/>
          </a:prstGeom>
        </p:spPr>
        <p:txBody>
          <a:bodyPr vert="horz" wrap="square" lIns="0" tIns="43815" rIns="0" bIns="0" rtlCol="0">
            <a:spAutoFit/>
          </a:bodyPr>
          <a:lstStyle/>
          <a:p>
            <a:pPr marL="12700" marR="5080">
              <a:lnSpc>
                <a:spcPts val="1939"/>
              </a:lnSpc>
              <a:spcBef>
                <a:spcPts val="345"/>
              </a:spcBef>
            </a:pPr>
            <a:r>
              <a:rPr sz="1800" dirty="0">
                <a:solidFill>
                  <a:srgbClr val="FF0000"/>
                </a:solidFill>
                <a:latin typeface="Aptos"/>
                <a:cs typeface="Aptos"/>
              </a:rPr>
              <a:t>Ans</a:t>
            </a:r>
            <a:r>
              <a:rPr sz="1800" spc="-105" dirty="0">
                <a:solidFill>
                  <a:srgbClr val="FF0000"/>
                </a:solidFill>
                <a:latin typeface="Times New Roman"/>
                <a:cs typeface="Times New Roman"/>
              </a:rPr>
              <a:t> </a:t>
            </a:r>
            <a:r>
              <a:rPr sz="1800" dirty="0">
                <a:solidFill>
                  <a:srgbClr val="FF0000"/>
                </a:solidFill>
                <a:latin typeface="Aptos"/>
                <a:cs typeface="Aptos"/>
              </a:rPr>
              <a:t>key:</a:t>
            </a:r>
            <a:r>
              <a:rPr sz="1800" spc="265" dirty="0">
                <a:solidFill>
                  <a:srgbClr val="FF0000"/>
                </a:solidFill>
                <a:latin typeface="Times New Roman"/>
                <a:cs typeface="Times New Roman"/>
              </a:rPr>
              <a:t> </a:t>
            </a:r>
            <a:r>
              <a:rPr sz="1800" dirty="0">
                <a:solidFill>
                  <a:srgbClr val="FF0000"/>
                </a:solidFill>
                <a:latin typeface="Aptos"/>
                <a:cs typeface="Aptos"/>
              </a:rPr>
              <a:t>definition</a:t>
            </a:r>
            <a:r>
              <a:rPr sz="1800" spc="-110" dirty="0">
                <a:solidFill>
                  <a:srgbClr val="FF0000"/>
                </a:solidFill>
                <a:latin typeface="Times New Roman"/>
                <a:cs typeface="Times New Roman"/>
              </a:rPr>
              <a:t> </a:t>
            </a:r>
            <a:r>
              <a:rPr sz="1800" dirty="0">
                <a:solidFill>
                  <a:srgbClr val="FF0000"/>
                </a:solidFill>
                <a:latin typeface="Aptos"/>
                <a:cs typeface="Aptos"/>
              </a:rPr>
              <a:t>and</a:t>
            </a:r>
            <a:r>
              <a:rPr sz="1800" spc="-100" dirty="0">
                <a:solidFill>
                  <a:srgbClr val="FF0000"/>
                </a:solidFill>
                <a:latin typeface="Times New Roman"/>
                <a:cs typeface="Times New Roman"/>
              </a:rPr>
              <a:t> </a:t>
            </a:r>
            <a:r>
              <a:rPr sz="1800" dirty="0">
                <a:solidFill>
                  <a:srgbClr val="FF0000"/>
                </a:solidFill>
                <a:latin typeface="Aptos"/>
                <a:cs typeface="Aptos"/>
              </a:rPr>
              <a:t>types+</a:t>
            </a:r>
            <a:r>
              <a:rPr sz="1800" spc="290" dirty="0">
                <a:solidFill>
                  <a:srgbClr val="FF0000"/>
                </a:solidFill>
                <a:latin typeface="Times New Roman"/>
                <a:cs typeface="Times New Roman"/>
              </a:rPr>
              <a:t> </a:t>
            </a:r>
            <a:r>
              <a:rPr sz="1800" spc="-10" dirty="0">
                <a:solidFill>
                  <a:srgbClr val="FF0000"/>
                </a:solidFill>
                <a:latin typeface="Aptos"/>
                <a:cs typeface="Aptos"/>
              </a:rPr>
              <a:t>explain</a:t>
            </a:r>
            <a:r>
              <a:rPr sz="1800" spc="-105" dirty="0">
                <a:solidFill>
                  <a:srgbClr val="FF0000"/>
                </a:solidFill>
                <a:latin typeface="Times New Roman"/>
                <a:cs typeface="Times New Roman"/>
              </a:rPr>
              <a:t> </a:t>
            </a:r>
            <a:r>
              <a:rPr sz="1800" dirty="0">
                <a:solidFill>
                  <a:srgbClr val="FF0000"/>
                </a:solidFill>
                <a:latin typeface="Aptos"/>
                <a:cs typeface="Aptos"/>
              </a:rPr>
              <a:t>all</a:t>
            </a:r>
            <a:r>
              <a:rPr sz="1800" spc="-90" dirty="0">
                <a:solidFill>
                  <a:srgbClr val="FF0000"/>
                </a:solidFill>
                <a:latin typeface="Times New Roman"/>
                <a:cs typeface="Times New Roman"/>
              </a:rPr>
              <a:t> </a:t>
            </a:r>
            <a:r>
              <a:rPr sz="1800" dirty="0">
                <a:solidFill>
                  <a:srgbClr val="FF0000"/>
                </a:solidFill>
                <a:latin typeface="Aptos"/>
                <a:cs typeface="Aptos"/>
              </a:rPr>
              <a:t>guided</a:t>
            </a:r>
            <a:r>
              <a:rPr sz="1800" spc="-100" dirty="0">
                <a:solidFill>
                  <a:srgbClr val="FF0000"/>
                </a:solidFill>
                <a:latin typeface="Times New Roman"/>
                <a:cs typeface="Times New Roman"/>
              </a:rPr>
              <a:t> </a:t>
            </a:r>
            <a:r>
              <a:rPr sz="1800" dirty="0">
                <a:solidFill>
                  <a:srgbClr val="FF0000"/>
                </a:solidFill>
                <a:latin typeface="Aptos"/>
                <a:cs typeface="Aptos"/>
              </a:rPr>
              <a:t>and</a:t>
            </a:r>
            <a:r>
              <a:rPr sz="1800" spc="-95" dirty="0">
                <a:solidFill>
                  <a:srgbClr val="FF0000"/>
                </a:solidFill>
                <a:latin typeface="Times New Roman"/>
                <a:cs typeface="Times New Roman"/>
              </a:rPr>
              <a:t> </a:t>
            </a:r>
            <a:r>
              <a:rPr sz="1800" spc="-10" dirty="0">
                <a:solidFill>
                  <a:srgbClr val="FF0000"/>
                </a:solidFill>
                <a:latin typeface="Aptos"/>
                <a:cs typeface="Aptos"/>
              </a:rPr>
              <a:t>unguided</a:t>
            </a:r>
            <a:r>
              <a:rPr sz="1800" spc="-120" dirty="0">
                <a:solidFill>
                  <a:srgbClr val="FF0000"/>
                </a:solidFill>
                <a:latin typeface="Times New Roman"/>
                <a:cs typeface="Times New Roman"/>
              </a:rPr>
              <a:t> </a:t>
            </a:r>
            <a:r>
              <a:rPr sz="1800" dirty="0">
                <a:solidFill>
                  <a:srgbClr val="FF0000"/>
                </a:solidFill>
                <a:latin typeface="Aptos"/>
                <a:cs typeface="Aptos"/>
              </a:rPr>
              <a:t>media</a:t>
            </a:r>
            <a:r>
              <a:rPr sz="1800" spc="-80" dirty="0">
                <a:solidFill>
                  <a:srgbClr val="FF0000"/>
                </a:solidFill>
                <a:latin typeface="Times New Roman"/>
                <a:cs typeface="Times New Roman"/>
              </a:rPr>
              <a:t> </a:t>
            </a:r>
            <a:r>
              <a:rPr sz="1800" dirty="0">
                <a:solidFill>
                  <a:srgbClr val="FF0000"/>
                </a:solidFill>
                <a:latin typeface="Aptos"/>
                <a:cs typeface="Aptos"/>
              </a:rPr>
              <a:t>+</a:t>
            </a:r>
            <a:r>
              <a:rPr sz="1800" spc="-100" dirty="0">
                <a:solidFill>
                  <a:srgbClr val="FF0000"/>
                </a:solidFill>
                <a:latin typeface="Times New Roman"/>
                <a:cs typeface="Times New Roman"/>
              </a:rPr>
              <a:t> </a:t>
            </a:r>
            <a:r>
              <a:rPr sz="1800" dirty="0">
                <a:solidFill>
                  <a:srgbClr val="FF0000"/>
                </a:solidFill>
                <a:latin typeface="Aptos"/>
                <a:cs typeface="Aptos"/>
              </a:rPr>
              <a:t>definition</a:t>
            </a:r>
            <a:r>
              <a:rPr sz="1800" spc="-110" dirty="0">
                <a:solidFill>
                  <a:srgbClr val="FF0000"/>
                </a:solidFill>
                <a:latin typeface="Times New Roman"/>
                <a:cs typeface="Times New Roman"/>
              </a:rPr>
              <a:t> </a:t>
            </a:r>
            <a:r>
              <a:rPr sz="1800" spc="-10" dirty="0">
                <a:solidFill>
                  <a:srgbClr val="FF0000"/>
                </a:solidFill>
                <a:latin typeface="Aptos"/>
                <a:cs typeface="Aptos"/>
              </a:rPr>
              <a:t>+fig</a:t>
            </a:r>
            <a:r>
              <a:rPr sz="1800" spc="-100" dirty="0">
                <a:solidFill>
                  <a:srgbClr val="FF0000"/>
                </a:solidFill>
                <a:latin typeface="Times New Roman"/>
                <a:cs typeface="Times New Roman"/>
              </a:rPr>
              <a:t> </a:t>
            </a:r>
            <a:r>
              <a:rPr sz="1800" dirty="0">
                <a:solidFill>
                  <a:srgbClr val="FF0000"/>
                </a:solidFill>
                <a:latin typeface="Aptos"/>
                <a:cs typeface="Aptos"/>
              </a:rPr>
              <a:t>with</a:t>
            </a:r>
            <a:r>
              <a:rPr sz="1800" spc="-95" dirty="0">
                <a:solidFill>
                  <a:srgbClr val="FF0000"/>
                </a:solidFill>
                <a:latin typeface="Times New Roman"/>
                <a:cs typeface="Times New Roman"/>
              </a:rPr>
              <a:t> </a:t>
            </a:r>
            <a:r>
              <a:rPr sz="1800" dirty="0">
                <a:solidFill>
                  <a:srgbClr val="FF0000"/>
                </a:solidFill>
                <a:latin typeface="Aptos"/>
                <a:cs typeface="Aptos"/>
              </a:rPr>
              <a:t>at</a:t>
            </a:r>
            <a:r>
              <a:rPr sz="1800" spc="-85" dirty="0">
                <a:solidFill>
                  <a:srgbClr val="FF0000"/>
                </a:solidFill>
                <a:latin typeface="Times New Roman"/>
                <a:cs typeface="Times New Roman"/>
              </a:rPr>
              <a:t> </a:t>
            </a:r>
            <a:r>
              <a:rPr sz="1800" dirty="0">
                <a:solidFill>
                  <a:srgbClr val="FF0000"/>
                </a:solidFill>
                <a:latin typeface="Aptos"/>
                <a:cs typeface="Aptos"/>
              </a:rPr>
              <a:t>least</a:t>
            </a:r>
            <a:r>
              <a:rPr sz="1800" spc="-85" dirty="0">
                <a:solidFill>
                  <a:srgbClr val="FF0000"/>
                </a:solidFill>
                <a:latin typeface="Times New Roman"/>
                <a:cs typeface="Times New Roman"/>
              </a:rPr>
              <a:t> </a:t>
            </a:r>
            <a:r>
              <a:rPr sz="1800" dirty="0">
                <a:solidFill>
                  <a:srgbClr val="FF0000"/>
                </a:solidFill>
                <a:latin typeface="Aptos"/>
                <a:cs typeface="Aptos"/>
              </a:rPr>
              <a:t>2-</a:t>
            </a:r>
            <a:r>
              <a:rPr sz="1800" spc="-50" dirty="0">
                <a:solidFill>
                  <a:srgbClr val="FF0000"/>
                </a:solidFill>
                <a:latin typeface="Aptos"/>
                <a:cs typeface="Aptos"/>
              </a:rPr>
              <a:t>2</a:t>
            </a:r>
            <a:r>
              <a:rPr sz="1800" spc="-50" dirty="0">
                <a:solidFill>
                  <a:srgbClr val="FF0000"/>
                </a:solidFill>
                <a:latin typeface="Times New Roman"/>
                <a:cs typeface="Times New Roman"/>
              </a:rPr>
              <a:t> </a:t>
            </a:r>
            <a:r>
              <a:rPr sz="1800" spc="-10" dirty="0">
                <a:solidFill>
                  <a:srgbClr val="FF0000"/>
                </a:solidFill>
                <a:latin typeface="Aptos"/>
                <a:cs typeface="Aptos"/>
              </a:rPr>
              <a:t>advantages</a:t>
            </a:r>
            <a:r>
              <a:rPr sz="1800" spc="-75" dirty="0">
                <a:solidFill>
                  <a:srgbClr val="FF0000"/>
                </a:solidFill>
                <a:latin typeface="Times New Roman"/>
                <a:cs typeface="Times New Roman"/>
              </a:rPr>
              <a:t> </a:t>
            </a:r>
            <a:r>
              <a:rPr sz="1800" dirty="0">
                <a:solidFill>
                  <a:srgbClr val="FF0000"/>
                </a:solidFill>
                <a:latin typeface="Aptos"/>
                <a:cs typeface="Aptos"/>
              </a:rPr>
              <a:t>and</a:t>
            </a:r>
            <a:r>
              <a:rPr sz="1800" spc="-60" dirty="0">
                <a:solidFill>
                  <a:srgbClr val="FF0000"/>
                </a:solidFill>
                <a:latin typeface="Times New Roman"/>
                <a:cs typeface="Times New Roman"/>
              </a:rPr>
              <a:t> </a:t>
            </a:r>
            <a:r>
              <a:rPr sz="1800" spc="-10" dirty="0">
                <a:solidFill>
                  <a:srgbClr val="FF0000"/>
                </a:solidFill>
                <a:latin typeface="Aptos"/>
                <a:cs typeface="Aptos"/>
              </a:rPr>
              <a:t>disadvantages</a:t>
            </a:r>
            <a:endParaRPr sz="1800">
              <a:latin typeface="Aptos"/>
              <a:cs typeface="Aptos"/>
            </a:endParaRPr>
          </a:p>
          <a:p>
            <a:pPr marL="201930" indent="-189865">
              <a:lnSpc>
                <a:spcPct val="100000"/>
              </a:lnSpc>
              <a:spcBef>
                <a:spcPts val="760"/>
              </a:spcBef>
              <a:buSzPct val="94444"/>
              <a:buAutoNum type="arabicParenR" startAt="4"/>
              <a:tabLst>
                <a:tab pos="202565" algn="l"/>
              </a:tabLst>
            </a:pPr>
            <a:r>
              <a:rPr sz="1800" dirty="0">
                <a:latin typeface="Aptos"/>
                <a:cs typeface="Aptos"/>
              </a:rPr>
              <a:t>What</a:t>
            </a:r>
            <a:r>
              <a:rPr sz="1800" spc="-85" dirty="0">
                <a:latin typeface="Times New Roman"/>
                <a:cs typeface="Times New Roman"/>
              </a:rPr>
              <a:t> </a:t>
            </a:r>
            <a:r>
              <a:rPr sz="1800" dirty="0">
                <a:latin typeface="Aptos"/>
                <a:cs typeface="Aptos"/>
              </a:rPr>
              <a:t>is</a:t>
            </a:r>
            <a:r>
              <a:rPr sz="1800" spc="-90" dirty="0">
                <a:latin typeface="Times New Roman"/>
                <a:cs typeface="Times New Roman"/>
              </a:rPr>
              <a:t> </a:t>
            </a:r>
            <a:r>
              <a:rPr sz="1800" spc="-10" dirty="0">
                <a:latin typeface="Aptos"/>
                <a:cs typeface="Aptos"/>
              </a:rPr>
              <a:t>communication</a:t>
            </a:r>
            <a:r>
              <a:rPr sz="1800" spc="-105" dirty="0">
                <a:latin typeface="Times New Roman"/>
                <a:cs typeface="Times New Roman"/>
              </a:rPr>
              <a:t> </a:t>
            </a:r>
            <a:r>
              <a:rPr sz="1800" spc="-20" dirty="0">
                <a:latin typeface="Aptos"/>
                <a:cs typeface="Aptos"/>
              </a:rPr>
              <a:t>Mode?</a:t>
            </a:r>
            <a:r>
              <a:rPr sz="1800" spc="-80" dirty="0">
                <a:latin typeface="Times New Roman"/>
                <a:cs typeface="Times New Roman"/>
              </a:rPr>
              <a:t> </a:t>
            </a:r>
            <a:r>
              <a:rPr sz="1800" spc="-10" dirty="0">
                <a:latin typeface="Aptos"/>
                <a:cs typeface="Aptos"/>
              </a:rPr>
              <a:t>Describe</a:t>
            </a:r>
            <a:r>
              <a:rPr sz="1800" spc="-65" dirty="0">
                <a:latin typeface="Times New Roman"/>
                <a:cs typeface="Times New Roman"/>
              </a:rPr>
              <a:t> </a:t>
            </a:r>
            <a:r>
              <a:rPr sz="1800" dirty="0">
                <a:latin typeface="Aptos"/>
                <a:cs typeface="Aptos"/>
              </a:rPr>
              <a:t>its</a:t>
            </a:r>
            <a:r>
              <a:rPr sz="1800" spc="-65" dirty="0">
                <a:latin typeface="Times New Roman"/>
                <a:cs typeface="Times New Roman"/>
              </a:rPr>
              <a:t> </a:t>
            </a:r>
            <a:r>
              <a:rPr sz="1800" dirty="0">
                <a:latin typeface="Aptos"/>
                <a:cs typeface="Aptos"/>
              </a:rPr>
              <a:t>types</a:t>
            </a:r>
            <a:r>
              <a:rPr sz="1800" spc="-70" dirty="0">
                <a:latin typeface="Times New Roman"/>
                <a:cs typeface="Times New Roman"/>
              </a:rPr>
              <a:t> </a:t>
            </a:r>
            <a:r>
              <a:rPr sz="1800" dirty="0">
                <a:latin typeface="Aptos"/>
                <a:cs typeface="Aptos"/>
              </a:rPr>
              <a:t>with</a:t>
            </a:r>
            <a:r>
              <a:rPr sz="1800" spc="-75" dirty="0">
                <a:latin typeface="Times New Roman"/>
                <a:cs typeface="Times New Roman"/>
              </a:rPr>
              <a:t> </a:t>
            </a:r>
            <a:r>
              <a:rPr sz="1800" spc="-10" dirty="0">
                <a:latin typeface="Aptos"/>
                <a:cs typeface="Aptos"/>
              </a:rPr>
              <a:t>example.[1+4]</a:t>
            </a:r>
            <a:r>
              <a:rPr sz="1800" spc="-35" dirty="0">
                <a:latin typeface="Times New Roman"/>
                <a:cs typeface="Times New Roman"/>
              </a:rPr>
              <a:t> </a:t>
            </a:r>
            <a:r>
              <a:rPr sz="1800" spc="-25" dirty="0">
                <a:solidFill>
                  <a:srgbClr val="FF0000"/>
                </a:solidFill>
                <a:latin typeface="Aptos"/>
                <a:cs typeface="Aptos"/>
              </a:rPr>
              <a:t>imp</a:t>
            </a:r>
            <a:endParaRPr sz="1800">
              <a:latin typeface="Aptos"/>
              <a:cs typeface="Aptos"/>
            </a:endParaRPr>
          </a:p>
          <a:p>
            <a:pPr marL="12700">
              <a:lnSpc>
                <a:spcPct val="100000"/>
              </a:lnSpc>
              <a:spcBef>
                <a:spcPts val="790"/>
              </a:spcBef>
            </a:pPr>
            <a:r>
              <a:rPr sz="1800" dirty="0">
                <a:solidFill>
                  <a:srgbClr val="FF0000"/>
                </a:solidFill>
                <a:latin typeface="Aptos"/>
                <a:cs typeface="Aptos"/>
              </a:rPr>
              <a:t>Ans</a:t>
            </a:r>
            <a:r>
              <a:rPr sz="1800" spc="-85" dirty="0">
                <a:solidFill>
                  <a:srgbClr val="FF0000"/>
                </a:solidFill>
                <a:latin typeface="Times New Roman"/>
                <a:cs typeface="Times New Roman"/>
              </a:rPr>
              <a:t> </a:t>
            </a:r>
            <a:r>
              <a:rPr sz="1800" spc="-20" dirty="0">
                <a:solidFill>
                  <a:srgbClr val="FF0000"/>
                </a:solidFill>
                <a:latin typeface="Aptos"/>
                <a:cs typeface="Aptos"/>
              </a:rPr>
              <a:t>key</a:t>
            </a:r>
            <a:r>
              <a:rPr sz="1800" spc="-80" dirty="0">
                <a:solidFill>
                  <a:srgbClr val="FF0000"/>
                </a:solidFill>
                <a:latin typeface="Times New Roman"/>
                <a:cs typeface="Times New Roman"/>
              </a:rPr>
              <a:t> </a:t>
            </a:r>
            <a:r>
              <a:rPr sz="1800" dirty="0">
                <a:solidFill>
                  <a:srgbClr val="FF0000"/>
                </a:solidFill>
                <a:latin typeface="Aptos"/>
                <a:cs typeface="Aptos"/>
              </a:rPr>
              <a:t>:</a:t>
            </a:r>
            <a:r>
              <a:rPr sz="1800" spc="-70" dirty="0">
                <a:solidFill>
                  <a:srgbClr val="FF0000"/>
                </a:solidFill>
                <a:latin typeface="Times New Roman"/>
                <a:cs typeface="Times New Roman"/>
              </a:rPr>
              <a:t> </a:t>
            </a:r>
            <a:r>
              <a:rPr sz="1800" spc="-10" dirty="0">
                <a:solidFill>
                  <a:srgbClr val="FF0000"/>
                </a:solidFill>
                <a:latin typeface="Aptos"/>
                <a:cs typeface="Aptos"/>
              </a:rPr>
              <a:t>definition+</a:t>
            </a:r>
            <a:r>
              <a:rPr sz="1800" spc="-105" dirty="0">
                <a:solidFill>
                  <a:srgbClr val="FF0000"/>
                </a:solidFill>
                <a:latin typeface="Times New Roman"/>
                <a:cs typeface="Times New Roman"/>
              </a:rPr>
              <a:t> </a:t>
            </a:r>
            <a:r>
              <a:rPr sz="1800" spc="-10" dirty="0">
                <a:solidFill>
                  <a:srgbClr val="FF0000"/>
                </a:solidFill>
                <a:latin typeface="Aptos"/>
                <a:cs typeface="Aptos"/>
              </a:rPr>
              <a:t>explain</a:t>
            </a:r>
            <a:r>
              <a:rPr sz="1800" spc="-70" dirty="0">
                <a:solidFill>
                  <a:srgbClr val="FF0000"/>
                </a:solidFill>
                <a:latin typeface="Times New Roman"/>
                <a:cs typeface="Times New Roman"/>
              </a:rPr>
              <a:t> </a:t>
            </a:r>
            <a:r>
              <a:rPr sz="1800" spc="-10" dirty="0">
                <a:solidFill>
                  <a:srgbClr val="FF0000"/>
                </a:solidFill>
                <a:latin typeface="Aptos"/>
                <a:cs typeface="Aptos"/>
              </a:rPr>
              <a:t>all</a:t>
            </a:r>
            <a:r>
              <a:rPr sz="1800" spc="-90" dirty="0">
                <a:solidFill>
                  <a:srgbClr val="FF0000"/>
                </a:solidFill>
                <a:latin typeface="Times New Roman"/>
                <a:cs typeface="Times New Roman"/>
              </a:rPr>
              <a:t> </a:t>
            </a:r>
            <a:r>
              <a:rPr sz="1800" spc="-10" dirty="0">
                <a:solidFill>
                  <a:srgbClr val="FF0000"/>
                </a:solidFill>
                <a:latin typeface="Aptos"/>
                <a:cs typeface="Aptos"/>
              </a:rPr>
              <a:t>modes</a:t>
            </a:r>
            <a:r>
              <a:rPr sz="1800" spc="-75" dirty="0">
                <a:solidFill>
                  <a:srgbClr val="FF0000"/>
                </a:solidFill>
                <a:latin typeface="Times New Roman"/>
                <a:cs typeface="Times New Roman"/>
              </a:rPr>
              <a:t> </a:t>
            </a:r>
            <a:r>
              <a:rPr sz="1800" dirty="0">
                <a:solidFill>
                  <a:srgbClr val="FF0000"/>
                </a:solidFill>
                <a:latin typeface="Aptos"/>
                <a:cs typeface="Aptos"/>
              </a:rPr>
              <a:t>with</a:t>
            </a:r>
            <a:r>
              <a:rPr sz="1800" spc="-75" dirty="0">
                <a:solidFill>
                  <a:srgbClr val="FF0000"/>
                </a:solidFill>
                <a:latin typeface="Times New Roman"/>
                <a:cs typeface="Times New Roman"/>
              </a:rPr>
              <a:t> </a:t>
            </a:r>
            <a:r>
              <a:rPr sz="1800" spc="-10" dirty="0">
                <a:solidFill>
                  <a:srgbClr val="FF0000"/>
                </a:solidFill>
                <a:latin typeface="Aptos"/>
                <a:cs typeface="Aptos"/>
              </a:rPr>
              <a:t>suitable</a:t>
            </a:r>
            <a:r>
              <a:rPr sz="1800" spc="-70" dirty="0">
                <a:solidFill>
                  <a:srgbClr val="FF0000"/>
                </a:solidFill>
                <a:latin typeface="Times New Roman"/>
                <a:cs typeface="Times New Roman"/>
              </a:rPr>
              <a:t> </a:t>
            </a:r>
            <a:r>
              <a:rPr sz="1800" spc="-10" dirty="0">
                <a:solidFill>
                  <a:srgbClr val="FF0000"/>
                </a:solidFill>
                <a:latin typeface="Aptos"/>
                <a:cs typeface="Aptos"/>
              </a:rPr>
              <a:t>figure</a:t>
            </a:r>
            <a:r>
              <a:rPr sz="1800" spc="-90" dirty="0">
                <a:solidFill>
                  <a:srgbClr val="FF0000"/>
                </a:solidFill>
                <a:latin typeface="Times New Roman"/>
                <a:cs typeface="Times New Roman"/>
              </a:rPr>
              <a:t> </a:t>
            </a:r>
            <a:r>
              <a:rPr sz="1800" dirty="0">
                <a:solidFill>
                  <a:srgbClr val="FF0000"/>
                </a:solidFill>
                <a:latin typeface="Aptos"/>
                <a:cs typeface="Aptos"/>
              </a:rPr>
              <a:t>slide</a:t>
            </a:r>
            <a:r>
              <a:rPr sz="1800" spc="-95" dirty="0">
                <a:solidFill>
                  <a:srgbClr val="FF0000"/>
                </a:solidFill>
                <a:latin typeface="Times New Roman"/>
                <a:cs typeface="Times New Roman"/>
              </a:rPr>
              <a:t> </a:t>
            </a:r>
            <a:r>
              <a:rPr sz="1800" dirty="0">
                <a:solidFill>
                  <a:srgbClr val="FF0000"/>
                </a:solidFill>
                <a:latin typeface="Aptos"/>
                <a:cs typeface="Aptos"/>
              </a:rPr>
              <a:t>no:</a:t>
            </a:r>
            <a:r>
              <a:rPr sz="1800" spc="-85" dirty="0">
                <a:solidFill>
                  <a:srgbClr val="FF0000"/>
                </a:solidFill>
                <a:latin typeface="Times New Roman"/>
                <a:cs typeface="Times New Roman"/>
              </a:rPr>
              <a:t> </a:t>
            </a:r>
            <a:r>
              <a:rPr sz="1800" dirty="0">
                <a:solidFill>
                  <a:srgbClr val="FF0000"/>
                </a:solidFill>
                <a:latin typeface="Aptos"/>
                <a:cs typeface="Aptos"/>
              </a:rPr>
              <a:t>7</a:t>
            </a:r>
            <a:r>
              <a:rPr sz="1800" spc="-75" dirty="0">
                <a:solidFill>
                  <a:srgbClr val="FF0000"/>
                </a:solidFill>
                <a:latin typeface="Times New Roman"/>
                <a:cs typeface="Times New Roman"/>
              </a:rPr>
              <a:t> </a:t>
            </a:r>
            <a:r>
              <a:rPr sz="1800" spc="-20" dirty="0">
                <a:solidFill>
                  <a:srgbClr val="FF0000"/>
                </a:solidFill>
                <a:latin typeface="Aptos"/>
                <a:cs typeface="Aptos"/>
              </a:rPr>
              <a:t>,8,9</a:t>
            </a:r>
            <a:endParaRPr sz="1800">
              <a:latin typeface="Aptos"/>
              <a:cs typeface="Aptos"/>
            </a:endParaRPr>
          </a:p>
          <a:p>
            <a:pPr marL="201930" indent="-189865">
              <a:lnSpc>
                <a:spcPct val="100000"/>
              </a:lnSpc>
              <a:spcBef>
                <a:spcPts val="780"/>
              </a:spcBef>
              <a:buSzPct val="94444"/>
              <a:buAutoNum type="arabicParenR" startAt="5"/>
              <a:tabLst>
                <a:tab pos="202565" algn="l"/>
              </a:tabLst>
            </a:pPr>
            <a:r>
              <a:rPr sz="1800" spc="-10" dirty="0">
                <a:latin typeface="Aptos"/>
                <a:cs typeface="Aptos"/>
              </a:rPr>
              <a:t>Differentiate</a:t>
            </a:r>
            <a:r>
              <a:rPr sz="1800" spc="-75" dirty="0">
                <a:latin typeface="Times New Roman"/>
                <a:cs typeface="Times New Roman"/>
              </a:rPr>
              <a:t> </a:t>
            </a:r>
            <a:r>
              <a:rPr sz="1800" spc="-10" dirty="0">
                <a:latin typeface="Aptos"/>
                <a:cs typeface="Aptos"/>
              </a:rPr>
              <a:t>between</a:t>
            </a:r>
            <a:r>
              <a:rPr sz="1800" spc="-70" dirty="0">
                <a:latin typeface="Times New Roman"/>
                <a:cs typeface="Times New Roman"/>
              </a:rPr>
              <a:t> </a:t>
            </a:r>
            <a:r>
              <a:rPr sz="1800" dirty="0">
                <a:latin typeface="Aptos"/>
                <a:cs typeface="Aptos"/>
              </a:rPr>
              <a:t>LAN,</a:t>
            </a:r>
            <a:r>
              <a:rPr sz="1800" spc="-80" dirty="0">
                <a:latin typeface="Times New Roman"/>
                <a:cs typeface="Times New Roman"/>
              </a:rPr>
              <a:t> </a:t>
            </a:r>
            <a:r>
              <a:rPr sz="1800" spc="-10" dirty="0">
                <a:latin typeface="Aptos"/>
                <a:cs typeface="Aptos"/>
              </a:rPr>
              <a:t>WAN,</a:t>
            </a:r>
            <a:r>
              <a:rPr sz="1800" spc="-85" dirty="0">
                <a:latin typeface="Times New Roman"/>
                <a:cs typeface="Times New Roman"/>
              </a:rPr>
              <a:t> </a:t>
            </a:r>
            <a:r>
              <a:rPr sz="1800" dirty="0">
                <a:latin typeface="Aptos"/>
                <a:cs typeface="Aptos"/>
              </a:rPr>
              <a:t>and</a:t>
            </a:r>
            <a:r>
              <a:rPr sz="1800" spc="-85" dirty="0">
                <a:latin typeface="Times New Roman"/>
                <a:cs typeface="Times New Roman"/>
              </a:rPr>
              <a:t> </a:t>
            </a:r>
            <a:r>
              <a:rPr sz="1800" dirty="0">
                <a:latin typeface="Aptos"/>
                <a:cs typeface="Aptos"/>
              </a:rPr>
              <a:t>MAN.</a:t>
            </a:r>
            <a:r>
              <a:rPr sz="1800" spc="-75" dirty="0">
                <a:latin typeface="Times New Roman"/>
                <a:cs typeface="Times New Roman"/>
              </a:rPr>
              <a:t> </a:t>
            </a:r>
            <a:r>
              <a:rPr sz="1800" spc="-25" dirty="0">
                <a:latin typeface="Aptos"/>
                <a:cs typeface="Aptos"/>
              </a:rPr>
              <a:t>[5]</a:t>
            </a:r>
            <a:endParaRPr sz="1800">
              <a:latin typeface="Aptos"/>
              <a:cs typeface="Aptos"/>
            </a:endParaRPr>
          </a:p>
        </p:txBody>
      </p:sp>
      <p:sp>
        <p:nvSpPr>
          <p:cNvPr id="7" name="object 7"/>
          <p:cNvSpPr txBox="1"/>
          <p:nvPr/>
        </p:nvSpPr>
        <p:spPr>
          <a:xfrm>
            <a:off x="916941" y="5701077"/>
            <a:ext cx="3430904"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0000"/>
                </a:solidFill>
                <a:latin typeface="Aptos"/>
                <a:cs typeface="Aptos"/>
              </a:rPr>
              <a:t>Ans</a:t>
            </a:r>
            <a:r>
              <a:rPr sz="1800" spc="-114" dirty="0">
                <a:solidFill>
                  <a:srgbClr val="FF0000"/>
                </a:solidFill>
                <a:latin typeface="Times New Roman"/>
                <a:cs typeface="Times New Roman"/>
              </a:rPr>
              <a:t> </a:t>
            </a:r>
            <a:r>
              <a:rPr sz="1800" dirty="0">
                <a:solidFill>
                  <a:srgbClr val="FF0000"/>
                </a:solidFill>
                <a:latin typeface="Aptos"/>
                <a:cs typeface="Aptos"/>
              </a:rPr>
              <a:t>key:</a:t>
            </a:r>
            <a:r>
              <a:rPr sz="1800" spc="250" dirty="0">
                <a:solidFill>
                  <a:srgbClr val="FF0000"/>
                </a:solidFill>
                <a:latin typeface="Times New Roman"/>
                <a:cs typeface="Times New Roman"/>
              </a:rPr>
              <a:t> </a:t>
            </a:r>
            <a:r>
              <a:rPr sz="1800" dirty="0">
                <a:solidFill>
                  <a:srgbClr val="FF0000"/>
                </a:solidFill>
                <a:latin typeface="Aptos"/>
                <a:cs typeface="Aptos"/>
              </a:rPr>
              <a:t>at</a:t>
            </a:r>
            <a:r>
              <a:rPr sz="1800" spc="-100" dirty="0">
                <a:solidFill>
                  <a:srgbClr val="FF0000"/>
                </a:solidFill>
                <a:latin typeface="Times New Roman"/>
                <a:cs typeface="Times New Roman"/>
              </a:rPr>
              <a:t> </a:t>
            </a:r>
            <a:r>
              <a:rPr sz="1800" dirty="0">
                <a:solidFill>
                  <a:srgbClr val="FF0000"/>
                </a:solidFill>
                <a:latin typeface="Aptos"/>
                <a:cs typeface="Aptos"/>
              </a:rPr>
              <a:t>least</a:t>
            </a:r>
            <a:r>
              <a:rPr sz="1800" spc="-95" dirty="0">
                <a:solidFill>
                  <a:srgbClr val="FF0000"/>
                </a:solidFill>
                <a:latin typeface="Times New Roman"/>
                <a:cs typeface="Times New Roman"/>
              </a:rPr>
              <a:t> </a:t>
            </a:r>
            <a:r>
              <a:rPr sz="1800" spc="-10" dirty="0">
                <a:solidFill>
                  <a:srgbClr val="FF0000"/>
                </a:solidFill>
                <a:latin typeface="Aptos"/>
                <a:cs typeface="Aptos"/>
              </a:rPr>
              <a:t>five</a:t>
            </a:r>
            <a:r>
              <a:rPr sz="1800" spc="-105" dirty="0">
                <a:solidFill>
                  <a:srgbClr val="FF0000"/>
                </a:solidFill>
                <a:latin typeface="Times New Roman"/>
                <a:cs typeface="Times New Roman"/>
              </a:rPr>
              <a:t> </a:t>
            </a:r>
            <a:r>
              <a:rPr sz="1800" dirty="0">
                <a:solidFill>
                  <a:srgbClr val="FF0000"/>
                </a:solidFill>
                <a:latin typeface="Aptos"/>
                <a:cs typeface="Aptos"/>
              </a:rPr>
              <a:t>point</a:t>
            </a:r>
            <a:r>
              <a:rPr sz="1800" spc="-105" dirty="0">
                <a:solidFill>
                  <a:srgbClr val="FF0000"/>
                </a:solidFill>
                <a:latin typeface="Times New Roman"/>
                <a:cs typeface="Times New Roman"/>
              </a:rPr>
              <a:t> </a:t>
            </a:r>
            <a:r>
              <a:rPr sz="1800" dirty="0">
                <a:solidFill>
                  <a:srgbClr val="FF0000"/>
                </a:solidFill>
                <a:latin typeface="Aptos"/>
                <a:cs typeface="Aptos"/>
              </a:rPr>
              <a:t>in</a:t>
            </a:r>
            <a:r>
              <a:rPr sz="1800" spc="-110" dirty="0">
                <a:solidFill>
                  <a:srgbClr val="FF0000"/>
                </a:solidFill>
                <a:latin typeface="Times New Roman"/>
                <a:cs typeface="Times New Roman"/>
              </a:rPr>
              <a:t> </a:t>
            </a:r>
            <a:r>
              <a:rPr sz="1800" spc="-10" dirty="0">
                <a:solidFill>
                  <a:srgbClr val="FF0000"/>
                </a:solidFill>
                <a:latin typeface="Aptos"/>
                <a:cs typeface="Aptos"/>
              </a:rPr>
              <a:t>table.</a:t>
            </a:r>
            <a:endParaRPr sz="1800">
              <a:latin typeface="Aptos"/>
              <a:cs typeface="Aptos"/>
            </a:endParaRPr>
          </a:p>
        </p:txBody>
      </p:sp>
      <p:sp>
        <p:nvSpPr>
          <p:cNvPr id="8" name="object 8"/>
          <p:cNvSpPr txBox="1"/>
          <p:nvPr/>
        </p:nvSpPr>
        <p:spPr>
          <a:xfrm>
            <a:off x="4384547" y="5724578"/>
            <a:ext cx="1901189" cy="280670"/>
          </a:xfrm>
          <a:prstGeom prst="rect">
            <a:avLst/>
          </a:prstGeom>
          <a:solidFill>
            <a:srgbClr val="FFFF00"/>
          </a:solidFill>
        </p:spPr>
        <p:txBody>
          <a:bodyPr vert="horz" wrap="square" lIns="0" tIns="0" rIns="0" bIns="0" rtlCol="0">
            <a:spAutoFit/>
          </a:bodyPr>
          <a:lstStyle/>
          <a:p>
            <a:pPr>
              <a:lnSpc>
                <a:spcPts val="2075"/>
              </a:lnSpc>
            </a:pPr>
            <a:r>
              <a:rPr sz="1800" dirty="0">
                <a:solidFill>
                  <a:srgbClr val="FF0000"/>
                </a:solidFill>
                <a:latin typeface="Aptos"/>
                <a:cs typeface="Aptos"/>
              </a:rPr>
              <a:t>Look</a:t>
            </a:r>
            <a:r>
              <a:rPr sz="1800" spc="-114" dirty="0">
                <a:solidFill>
                  <a:srgbClr val="FF0000"/>
                </a:solidFill>
                <a:latin typeface="Times New Roman"/>
                <a:cs typeface="Times New Roman"/>
              </a:rPr>
              <a:t> </a:t>
            </a:r>
            <a:r>
              <a:rPr sz="1800" dirty="0">
                <a:solidFill>
                  <a:srgbClr val="FF0000"/>
                </a:solidFill>
                <a:latin typeface="Aptos"/>
                <a:cs typeface="Aptos"/>
              </a:rPr>
              <a:t>at</a:t>
            </a:r>
            <a:r>
              <a:rPr sz="1800" spc="-90" dirty="0">
                <a:solidFill>
                  <a:srgbClr val="FF0000"/>
                </a:solidFill>
                <a:latin typeface="Times New Roman"/>
                <a:cs typeface="Times New Roman"/>
              </a:rPr>
              <a:t> </a:t>
            </a:r>
            <a:r>
              <a:rPr sz="1800" dirty="0">
                <a:solidFill>
                  <a:srgbClr val="FF0000"/>
                </a:solidFill>
                <a:latin typeface="Aptos"/>
                <a:cs typeface="Aptos"/>
              </a:rPr>
              <a:t>slide</a:t>
            </a:r>
            <a:r>
              <a:rPr sz="1800" spc="-110" dirty="0">
                <a:solidFill>
                  <a:srgbClr val="FF0000"/>
                </a:solidFill>
                <a:latin typeface="Times New Roman"/>
                <a:cs typeface="Times New Roman"/>
              </a:rPr>
              <a:t> </a:t>
            </a:r>
            <a:r>
              <a:rPr sz="1800" dirty="0">
                <a:solidFill>
                  <a:srgbClr val="FF0000"/>
                </a:solidFill>
                <a:latin typeface="Aptos"/>
                <a:cs typeface="Aptos"/>
              </a:rPr>
              <a:t>no:</a:t>
            </a:r>
            <a:r>
              <a:rPr sz="1800" spc="-100" dirty="0">
                <a:solidFill>
                  <a:srgbClr val="FF0000"/>
                </a:solidFill>
                <a:latin typeface="Times New Roman"/>
                <a:cs typeface="Times New Roman"/>
              </a:rPr>
              <a:t> </a:t>
            </a:r>
            <a:r>
              <a:rPr sz="1800" spc="-25" dirty="0">
                <a:solidFill>
                  <a:srgbClr val="FF0000"/>
                </a:solidFill>
                <a:latin typeface="Aptos"/>
                <a:cs typeface="Aptos"/>
              </a:rPr>
              <a:t>18</a:t>
            </a:r>
            <a:endParaRPr sz="1800">
              <a:latin typeface="Aptos"/>
              <a:cs typeface="Aptos"/>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1" y="532244"/>
            <a:ext cx="9011920" cy="452120"/>
          </a:xfrm>
          <a:prstGeom prst="rect">
            <a:avLst/>
          </a:prstGeom>
        </p:spPr>
        <p:txBody>
          <a:bodyPr vert="horz" wrap="square" lIns="0" tIns="12065" rIns="0" bIns="0" rtlCol="0">
            <a:spAutoFit/>
          </a:bodyPr>
          <a:lstStyle/>
          <a:p>
            <a:pPr marL="12700">
              <a:lnSpc>
                <a:spcPct val="100000"/>
              </a:lnSpc>
              <a:spcBef>
                <a:spcPts val="95"/>
              </a:spcBef>
            </a:pPr>
            <a:r>
              <a:rPr sz="2800" dirty="0">
                <a:latin typeface="Aptos"/>
                <a:cs typeface="Aptos"/>
              </a:rPr>
              <a:t>6)</a:t>
            </a:r>
            <a:r>
              <a:rPr sz="2800" spc="-110" dirty="0">
                <a:latin typeface="Times New Roman"/>
                <a:cs typeface="Times New Roman"/>
              </a:rPr>
              <a:t> </a:t>
            </a:r>
            <a:r>
              <a:rPr sz="2800" spc="-25" dirty="0">
                <a:latin typeface="Aptos"/>
                <a:cs typeface="Aptos"/>
              </a:rPr>
              <a:t>Differentiate</a:t>
            </a:r>
            <a:r>
              <a:rPr sz="2800" spc="-140" dirty="0">
                <a:latin typeface="Times New Roman"/>
                <a:cs typeface="Times New Roman"/>
              </a:rPr>
              <a:t> </a:t>
            </a:r>
            <a:r>
              <a:rPr sz="2800" spc="-20" dirty="0">
                <a:latin typeface="Aptos"/>
                <a:cs typeface="Aptos"/>
              </a:rPr>
              <a:t>between</a:t>
            </a:r>
            <a:r>
              <a:rPr sz="2800" spc="-125" dirty="0">
                <a:latin typeface="Times New Roman"/>
                <a:cs typeface="Times New Roman"/>
              </a:rPr>
              <a:t> </a:t>
            </a:r>
            <a:r>
              <a:rPr sz="2800" spc="-20" dirty="0">
                <a:latin typeface="Aptos"/>
                <a:cs typeface="Aptos"/>
              </a:rPr>
              <a:t>Internet,</a:t>
            </a:r>
            <a:r>
              <a:rPr sz="2800" spc="-130" dirty="0">
                <a:latin typeface="Times New Roman"/>
                <a:cs typeface="Times New Roman"/>
              </a:rPr>
              <a:t> </a:t>
            </a:r>
            <a:r>
              <a:rPr sz="2800" spc="-25" dirty="0">
                <a:latin typeface="Aptos"/>
                <a:cs typeface="Aptos"/>
              </a:rPr>
              <a:t>Extranet,</a:t>
            </a:r>
            <a:r>
              <a:rPr sz="2800" spc="-120" dirty="0">
                <a:latin typeface="Times New Roman"/>
                <a:cs typeface="Times New Roman"/>
              </a:rPr>
              <a:t> </a:t>
            </a:r>
            <a:r>
              <a:rPr sz="2800" dirty="0">
                <a:latin typeface="Aptos"/>
                <a:cs typeface="Aptos"/>
              </a:rPr>
              <a:t>and</a:t>
            </a:r>
            <a:r>
              <a:rPr sz="2800" spc="-105" dirty="0">
                <a:latin typeface="Times New Roman"/>
                <a:cs typeface="Times New Roman"/>
              </a:rPr>
              <a:t> </a:t>
            </a:r>
            <a:r>
              <a:rPr sz="2800" spc="-30" dirty="0">
                <a:latin typeface="Aptos"/>
                <a:cs typeface="Aptos"/>
              </a:rPr>
              <a:t>Intranet.</a:t>
            </a:r>
            <a:r>
              <a:rPr sz="2800" spc="-130" dirty="0">
                <a:latin typeface="Times New Roman"/>
                <a:cs typeface="Times New Roman"/>
              </a:rPr>
              <a:t> </a:t>
            </a:r>
            <a:r>
              <a:rPr sz="2800" spc="-25" dirty="0">
                <a:latin typeface="Aptos"/>
                <a:cs typeface="Aptos"/>
              </a:rPr>
              <a:t>[5]</a:t>
            </a:r>
            <a:endParaRPr sz="2800">
              <a:latin typeface="Aptos"/>
              <a:cs typeface="Aptos"/>
            </a:endParaRPr>
          </a:p>
        </p:txBody>
      </p:sp>
      <p:sp>
        <p:nvSpPr>
          <p:cNvPr id="3" name="object 3"/>
          <p:cNvSpPr txBox="1"/>
          <p:nvPr/>
        </p:nvSpPr>
        <p:spPr>
          <a:xfrm>
            <a:off x="1904748" y="1195185"/>
            <a:ext cx="294767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FF0000"/>
                </a:solidFill>
                <a:latin typeface="Aptos"/>
                <a:cs typeface="Aptos"/>
              </a:rPr>
              <a:t>Ans</a:t>
            </a:r>
            <a:r>
              <a:rPr sz="1600" spc="-90" dirty="0">
                <a:solidFill>
                  <a:srgbClr val="FF0000"/>
                </a:solidFill>
                <a:latin typeface="Times New Roman"/>
                <a:cs typeface="Times New Roman"/>
              </a:rPr>
              <a:t> </a:t>
            </a:r>
            <a:r>
              <a:rPr sz="1600" dirty="0">
                <a:solidFill>
                  <a:srgbClr val="FF0000"/>
                </a:solidFill>
                <a:latin typeface="Aptos"/>
                <a:cs typeface="Aptos"/>
              </a:rPr>
              <a:t>key</a:t>
            </a:r>
            <a:r>
              <a:rPr sz="1600" spc="210" dirty="0">
                <a:solidFill>
                  <a:srgbClr val="FF0000"/>
                </a:solidFill>
                <a:latin typeface="Times New Roman"/>
                <a:cs typeface="Times New Roman"/>
              </a:rPr>
              <a:t> </a:t>
            </a:r>
            <a:r>
              <a:rPr sz="1600" spc="-10" dirty="0">
                <a:solidFill>
                  <a:srgbClr val="FF0000"/>
                </a:solidFill>
                <a:latin typeface="Aptos"/>
                <a:cs typeface="Aptos"/>
              </a:rPr>
              <a:t>at</a:t>
            </a:r>
            <a:r>
              <a:rPr sz="1600" spc="-90" dirty="0">
                <a:solidFill>
                  <a:srgbClr val="FF0000"/>
                </a:solidFill>
                <a:latin typeface="Times New Roman"/>
                <a:cs typeface="Times New Roman"/>
              </a:rPr>
              <a:t> </a:t>
            </a:r>
            <a:r>
              <a:rPr sz="1600" spc="-10" dirty="0">
                <a:solidFill>
                  <a:srgbClr val="FF0000"/>
                </a:solidFill>
                <a:latin typeface="Aptos"/>
                <a:cs typeface="Aptos"/>
              </a:rPr>
              <a:t>least</a:t>
            </a:r>
            <a:r>
              <a:rPr sz="1600" spc="-105" dirty="0">
                <a:solidFill>
                  <a:srgbClr val="FF0000"/>
                </a:solidFill>
                <a:latin typeface="Times New Roman"/>
                <a:cs typeface="Times New Roman"/>
              </a:rPr>
              <a:t> </a:t>
            </a:r>
            <a:r>
              <a:rPr sz="1600" spc="-10" dirty="0">
                <a:solidFill>
                  <a:srgbClr val="FF0000"/>
                </a:solidFill>
                <a:latin typeface="Aptos"/>
                <a:cs typeface="Aptos"/>
              </a:rPr>
              <a:t>five</a:t>
            </a:r>
            <a:r>
              <a:rPr sz="1600" spc="-80" dirty="0">
                <a:solidFill>
                  <a:srgbClr val="FF0000"/>
                </a:solidFill>
                <a:latin typeface="Times New Roman"/>
                <a:cs typeface="Times New Roman"/>
              </a:rPr>
              <a:t> </a:t>
            </a:r>
            <a:r>
              <a:rPr sz="1600" spc="-10" dirty="0">
                <a:solidFill>
                  <a:srgbClr val="FF0000"/>
                </a:solidFill>
                <a:latin typeface="Aptos"/>
                <a:cs typeface="Aptos"/>
              </a:rPr>
              <a:t>point</a:t>
            </a:r>
            <a:r>
              <a:rPr sz="1600" spc="-65" dirty="0">
                <a:solidFill>
                  <a:srgbClr val="FF0000"/>
                </a:solidFill>
                <a:latin typeface="Times New Roman"/>
                <a:cs typeface="Times New Roman"/>
              </a:rPr>
              <a:t> </a:t>
            </a:r>
            <a:r>
              <a:rPr sz="1600" dirty="0">
                <a:solidFill>
                  <a:srgbClr val="FF0000"/>
                </a:solidFill>
                <a:latin typeface="Aptos"/>
                <a:cs typeface="Aptos"/>
              </a:rPr>
              <a:t>in</a:t>
            </a:r>
            <a:r>
              <a:rPr sz="1600" spc="-65" dirty="0">
                <a:solidFill>
                  <a:srgbClr val="FF0000"/>
                </a:solidFill>
                <a:latin typeface="Times New Roman"/>
                <a:cs typeface="Times New Roman"/>
              </a:rPr>
              <a:t> </a:t>
            </a:r>
            <a:r>
              <a:rPr sz="1600" spc="-20" dirty="0">
                <a:solidFill>
                  <a:srgbClr val="FF0000"/>
                </a:solidFill>
                <a:latin typeface="Aptos"/>
                <a:cs typeface="Aptos"/>
              </a:rPr>
              <a:t>table</a:t>
            </a:r>
            <a:endParaRPr sz="1600">
              <a:latin typeface="Aptos"/>
              <a:cs typeface="Aptos"/>
            </a:endParaRPr>
          </a:p>
        </p:txBody>
      </p:sp>
      <p:sp>
        <p:nvSpPr>
          <p:cNvPr id="4" name="object 4"/>
          <p:cNvSpPr txBox="1"/>
          <p:nvPr/>
        </p:nvSpPr>
        <p:spPr>
          <a:xfrm>
            <a:off x="4879847" y="1075052"/>
            <a:ext cx="1696720" cy="434340"/>
          </a:xfrm>
          <a:prstGeom prst="rect">
            <a:avLst/>
          </a:prstGeom>
          <a:solidFill>
            <a:srgbClr val="FFFF00"/>
          </a:solidFill>
        </p:spPr>
        <p:txBody>
          <a:bodyPr vert="horz" wrap="square" lIns="0" tIns="132080" rIns="0" bIns="0" rtlCol="0">
            <a:spAutoFit/>
          </a:bodyPr>
          <a:lstStyle/>
          <a:p>
            <a:pPr marL="635">
              <a:lnSpc>
                <a:spcPct val="100000"/>
              </a:lnSpc>
              <a:spcBef>
                <a:spcPts val="1040"/>
              </a:spcBef>
            </a:pPr>
            <a:r>
              <a:rPr sz="1600" spc="-10" dirty="0">
                <a:solidFill>
                  <a:srgbClr val="FF0000"/>
                </a:solidFill>
                <a:latin typeface="Aptos"/>
                <a:cs typeface="Aptos"/>
              </a:rPr>
              <a:t>Look</a:t>
            </a:r>
            <a:r>
              <a:rPr sz="1600" spc="-70" dirty="0">
                <a:solidFill>
                  <a:srgbClr val="FF0000"/>
                </a:solidFill>
                <a:latin typeface="Times New Roman"/>
                <a:cs typeface="Times New Roman"/>
              </a:rPr>
              <a:t> </a:t>
            </a:r>
            <a:r>
              <a:rPr sz="1600" spc="-10" dirty="0">
                <a:solidFill>
                  <a:srgbClr val="FF0000"/>
                </a:solidFill>
                <a:latin typeface="Aptos"/>
                <a:cs typeface="Aptos"/>
              </a:rPr>
              <a:t>at</a:t>
            </a:r>
            <a:r>
              <a:rPr sz="1600" spc="-85" dirty="0">
                <a:solidFill>
                  <a:srgbClr val="FF0000"/>
                </a:solidFill>
                <a:latin typeface="Times New Roman"/>
                <a:cs typeface="Times New Roman"/>
              </a:rPr>
              <a:t> </a:t>
            </a:r>
            <a:r>
              <a:rPr sz="1600" spc="-10" dirty="0">
                <a:solidFill>
                  <a:srgbClr val="FF0000"/>
                </a:solidFill>
                <a:latin typeface="Aptos"/>
                <a:cs typeface="Aptos"/>
              </a:rPr>
              <a:t>slide</a:t>
            </a:r>
            <a:r>
              <a:rPr sz="1600" spc="-90" dirty="0">
                <a:solidFill>
                  <a:srgbClr val="FF0000"/>
                </a:solidFill>
                <a:latin typeface="Times New Roman"/>
                <a:cs typeface="Times New Roman"/>
              </a:rPr>
              <a:t> </a:t>
            </a:r>
            <a:r>
              <a:rPr sz="1600" dirty="0">
                <a:solidFill>
                  <a:srgbClr val="FF0000"/>
                </a:solidFill>
                <a:latin typeface="Aptos"/>
                <a:cs typeface="Aptos"/>
              </a:rPr>
              <a:t>no:</a:t>
            </a:r>
            <a:r>
              <a:rPr sz="1600" spc="-55" dirty="0">
                <a:solidFill>
                  <a:srgbClr val="FF0000"/>
                </a:solidFill>
                <a:latin typeface="Times New Roman"/>
                <a:cs typeface="Times New Roman"/>
              </a:rPr>
              <a:t> </a:t>
            </a:r>
            <a:r>
              <a:rPr sz="1600" spc="-25" dirty="0">
                <a:solidFill>
                  <a:srgbClr val="FF0000"/>
                </a:solidFill>
                <a:latin typeface="Aptos"/>
                <a:cs typeface="Aptos"/>
              </a:rPr>
              <a:t>19</a:t>
            </a:r>
            <a:endParaRPr sz="1600">
              <a:latin typeface="Aptos"/>
              <a:cs typeface="Aptos"/>
            </a:endParaRPr>
          </a:p>
        </p:txBody>
      </p:sp>
      <p:sp>
        <p:nvSpPr>
          <p:cNvPr id="5" name="object 5"/>
          <p:cNvSpPr txBox="1"/>
          <p:nvPr/>
        </p:nvSpPr>
        <p:spPr>
          <a:xfrm>
            <a:off x="916938" y="1901180"/>
            <a:ext cx="10287000" cy="3063240"/>
          </a:xfrm>
          <a:prstGeom prst="rect">
            <a:avLst/>
          </a:prstGeom>
        </p:spPr>
        <p:txBody>
          <a:bodyPr vert="horz" wrap="square" lIns="0" tIns="12065" rIns="0" bIns="0" rtlCol="0">
            <a:spAutoFit/>
          </a:bodyPr>
          <a:lstStyle/>
          <a:p>
            <a:pPr marL="306705" indent="-294640">
              <a:lnSpc>
                <a:spcPct val="100000"/>
              </a:lnSpc>
              <a:spcBef>
                <a:spcPts val="95"/>
              </a:spcBef>
              <a:buSzPct val="96428"/>
              <a:buAutoNum type="arabicParenR" startAt="7"/>
              <a:tabLst>
                <a:tab pos="307340" algn="l"/>
              </a:tabLst>
            </a:pPr>
            <a:r>
              <a:rPr sz="2800" spc="-10" dirty="0">
                <a:latin typeface="Aptos"/>
                <a:cs typeface="Aptos"/>
              </a:rPr>
              <a:t>Define</a:t>
            </a:r>
            <a:r>
              <a:rPr sz="2800" spc="-135" dirty="0">
                <a:latin typeface="Times New Roman"/>
                <a:cs typeface="Times New Roman"/>
              </a:rPr>
              <a:t> </a:t>
            </a:r>
            <a:r>
              <a:rPr sz="2800" spc="-20" dirty="0">
                <a:latin typeface="Aptos"/>
                <a:cs typeface="Aptos"/>
              </a:rPr>
              <a:t>Network</a:t>
            </a:r>
            <a:r>
              <a:rPr sz="2800" spc="-145" dirty="0">
                <a:latin typeface="Times New Roman"/>
                <a:cs typeface="Times New Roman"/>
              </a:rPr>
              <a:t> </a:t>
            </a:r>
            <a:r>
              <a:rPr sz="2800" spc="-30" dirty="0">
                <a:latin typeface="Aptos"/>
                <a:cs typeface="Aptos"/>
              </a:rPr>
              <a:t>Architecture.</a:t>
            </a:r>
            <a:r>
              <a:rPr sz="2800" spc="-125" dirty="0">
                <a:latin typeface="Times New Roman"/>
                <a:cs typeface="Times New Roman"/>
              </a:rPr>
              <a:t> </a:t>
            </a:r>
            <a:r>
              <a:rPr sz="2800" spc="-10" dirty="0">
                <a:latin typeface="Aptos"/>
                <a:cs typeface="Aptos"/>
              </a:rPr>
              <a:t>Explain</a:t>
            </a:r>
            <a:r>
              <a:rPr sz="2800" spc="-150" dirty="0">
                <a:latin typeface="Times New Roman"/>
                <a:cs typeface="Times New Roman"/>
              </a:rPr>
              <a:t> </a:t>
            </a:r>
            <a:r>
              <a:rPr sz="2800" spc="-10" dirty="0">
                <a:latin typeface="Aptos"/>
                <a:cs typeface="Aptos"/>
              </a:rPr>
              <a:t>Its</a:t>
            </a:r>
            <a:r>
              <a:rPr sz="2800" spc="-145" dirty="0">
                <a:latin typeface="Times New Roman"/>
                <a:cs typeface="Times New Roman"/>
              </a:rPr>
              <a:t> </a:t>
            </a:r>
            <a:r>
              <a:rPr sz="2800" spc="-20" dirty="0">
                <a:latin typeface="Aptos"/>
                <a:cs typeface="Aptos"/>
              </a:rPr>
              <a:t>types.</a:t>
            </a:r>
            <a:r>
              <a:rPr sz="2800" spc="-135" dirty="0">
                <a:latin typeface="Times New Roman"/>
                <a:cs typeface="Times New Roman"/>
              </a:rPr>
              <a:t> </a:t>
            </a:r>
            <a:r>
              <a:rPr sz="2800" spc="-10" dirty="0">
                <a:latin typeface="Aptos"/>
                <a:cs typeface="Aptos"/>
              </a:rPr>
              <a:t>[1+4]</a:t>
            </a:r>
            <a:r>
              <a:rPr sz="2800" spc="-105" dirty="0">
                <a:latin typeface="Times New Roman"/>
                <a:cs typeface="Times New Roman"/>
              </a:rPr>
              <a:t> </a:t>
            </a:r>
            <a:r>
              <a:rPr sz="2800" spc="-20" dirty="0">
                <a:latin typeface="Aptos"/>
                <a:cs typeface="Aptos"/>
              </a:rPr>
              <a:t>VIMP</a:t>
            </a:r>
            <a:endParaRPr sz="2800">
              <a:latin typeface="Aptos"/>
              <a:cs typeface="Aptos"/>
            </a:endParaRPr>
          </a:p>
          <a:p>
            <a:pPr marL="927100">
              <a:lnSpc>
                <a:spcPct val="100000"/>
              </a:lnSpc>
              <a:spcBef>
                <a:spcPts val="2060"/>
              </a:spcBef>
              <a:tabLst>
                <a:tab pos="7329170" algn="l"/>
              </a:tabLst>
            </a:pPr>
            <a:r>
              <a:rPr sz="1400" dirty="0">
                <a:solidFill>
                  <a:srgbClr val="FF0000"/>
                </a:solidFill>
                <a:latin typeface="Aptos"/>
                <a:cs typeface="Aptos"/>
              </a:rPr>
              <a:t>Ans:</a:t>
            </a:r>
            <a:r>
              <a:rPr sz="1400" spc="-85" dirty="0">
                <a:solidFill>
                  <a:srgbClr val="FF0000"/>
                </a:solidFill>
                <a:latin typeface="Times New Roman"/>
                <a:cs typeface="Times New Roman"/>
              </a:rPr>
              <a:t> </a:t>
            </a:r>
            <a:r>
              <a:rPr sz="1400" dirty="0">
                <a:solidFill>
                  <a:srgbClr val="FF0000"/>
                </a:solidFill>
                <a:latin typeface="Aptos"/>
                <a:cs typeface="Aptos"/>
              </a:rPr>
              <a:t>definition</a:t>
            </a:r>
            <a:r>
              <a:rPr sz="1400" spc="-80" dirty="0">
                <a:solidFill>
                  <a:srgbClr val="FF0000"/>
                </a:solidFill>
                <a:latin typeface="Times New Roman"/>
                <a:cs typeface="Times New Roman"/>
              </a:rPr>
              <a:t> </a:t>
            </a:r>
            <a:r>
              <a:rPr sz="1400" dirty="0">
                <a:solidFill>
                  <a:srgbClr val="FF0000"/>
                </a:solidFill>
                <a:latin typeface="Aptos"/>
                <a:cs typeface="Aptos"/>
              </a:rPr>
              <a:t>of</a:t>
            </a:r>
            <a:r>
              <a:rPr sz="1400" spc="204" dirty="0">
                <a:solidFill>
                  <a:srgbClr val="FF0000"/>
                </a:solidFill>
                <a:latin typeface="Times New Roman"/>
                <a:cs typeface="Times New Roman"/>
              </a:rPr>
              <a:t> </a:t>
            </a:r>
            <a:r>
              <a:rPr sz="1400" spc="-10" dirty="0">
                <a:solidFill>
                  <a:srgbClr val="FF0000"/>
                </a:solidFill>
                <a:latin typeface="Aptos"/>
                <a:cs typeface="Aptos"/>
              </a:rPr>
              <a:t>Peer</a:t>
            </a:r>
            <a:r>
              <a:rPr sz="1400" spc="-90" dirty="0">
                <a:solidFill>
                  <a:srgbClr val="FF0000"/>
                </a:solidFill>
                <a:latin typeface="Times New Roman"/>
                <a:cs typeface="Times New Roman"/>
              </a:rPr>
              <a:t> </a:t>
            </a:r>
            <a:r>
              <a:rPr sz="1400" dirty="0">
                <a:solidFill>
                  <a:srgbClr val="FF0000"/>
                </a:solidFill>
                <a:latin typeface="Aptos"/>
                <a:cs typeface="Aptos"/>
              </a:rPr>
              <a:t>to</a:t>
            </a:r>
            <a:r>
              <a:rPr sz="1400" spc="-75" dirty="0">
                <a:solidFill>
                  <a:srgbClr val="FF0000"/>
                </a:solidFill>
                <a:latin typeface="Times New Roman"/>
                <a:cs typeface="Times New Roman"/>
              </a:rPr>
              <a:t> </a:t>
            </a:r>
            <a:r>
              <a:rPr sz="1400" spc="-10" dirty="0">
                <a:solidFill>
                  <a:srgbClr val="FF0000"/>
                </a:solidFill>
                <a:latin typeface="Aptos"/>
                <a:cs typeface="Aptos"/>
              </a:rPr>
              <a:t>Peer</a:t>
            </a:r>
            <a:r>
              <a:rPr sz="1400" spc="-90" dirty="0">
                <a:solidFill>
                  <a:srgbClr val="FF0000"/>
                </a:solidFill>
                <a:latin typeface="Times New Roman"/>
                <a:cs typeface="Times New Roman"/>
              </a:rPr>
              <a:t> </a:t>
            </a:r>
            <a:r>
              <a:rPr sz="1400" dirty="0">
                <a:solidFill>
                  <a:srgbClr val="FF0000"/>
                </a:solidFill>
                <a:latin typeface="Aptos"/>
                <a:cs typeface="Aptos"/>
              </a:rPr>
              <a:t>and</a:t>
            </a:r>
            <a:r>
              <a:rPr sz="1400" spc="-55" dirty="0">
                <a:solidFill>
                  <a:srgbClr val="FF0000"/>
                </a:solidFill>
                <a:latin typeface="Times New Roman"/>
                <a:cs typeface="Times New Roman"/>
              </a:rPr>
              <a:t> </a:t>
            </a:r>
            <a:r>
              <a:rPr sz="1400" spc="-10" dirty="0">
                <a:solidFill>
                  <a:srgbClr val="FF0000"/>
                </a:solidFill>
                <a:latin typeface="Aptos"/>
                <a:cs typeface="Aptos"/>
              </a:rPr>
              <a:t>along</a:t>
            </a:r>
            <a:r>
              <a:rPr sz="1400" spc="-70" dirty="0">
                <a:solidFill>
                  <a:srgbClr val="FF0000"/>
                </a:solidFill>
                <a:latin typeface="Times New Roman"/>
                <a:cs typeface="Times New Roman"/>
              </a:rPr>
              <a:t> </a:t>
            </a:r>
            <a:r>
              <a:rPr sz="1400" dirty="0">
                <a:solidFill>
                  <a:srgbClr val="FF0000"/>
                </a:solidFill>
                <a:latin typeface="Aptos"/>
                <a:cs typeface="Aptos"/>
              </a:rPr>
              <a:t>with</a:t>
            </a:r>
            <a:r>
              <a:rPr sz="1400" spc="-70" dirty="0">
                <a:solidFill>
                  <a:srgbClr val="FF0000"/>
                </a:solidFill>
                <a:latin typeface="Times New Roman"/>
                <a:cs typeface="Times New Roman"/>
              </a:rPr>
              <a:t> </a:t>
            </a:r>
            <a:r>
              <a:rPr sz="1400" dirty="0">
                <a:solidFill>
                  <a:srgbClr val="FF0000"/>
                </a:solidFill>
                <a:latin typeface="Aptos"/>
                <a:cs typeface="Aptos"/>
              </a:rPr>
              <a:t>figure</a:t>
            </a:r>
            <a:r>
              <a:rPr sz="1400" spc="215" dirty="0">
                <a:solidFill>
                  <a:srgbClr val="FF0000"/>
                </a:solidFill>
                <a:latin typeface="Times New Roman"/>
                <a:cs typeface="Times New Roman"/>
              </a:rPr>
              <a:t> </a:t>
            </a:r>
            <a:r>
              <a:rPr sz="1400" dirty="0">
                <a:solidFill>
                  <a:srgbClr val="FF0000"/>
                </a:solidFill>
                <a:latin typeface="Aptos"/>
                <a:cs typeface="Aptos"/>
              </a:rPr>
              <a:t>with</a:t>
            </a:r>
            <a:r>
              <a:rPr sz="1400" spc="-70" dirty="0">
                <a:solidFill>
                  <a:srgbClr val="FF0000"/>
                </a:solidFill>
                <a:latin typeface="Times New Roman"/>
                <a:cs typeface="Times New Roman"/>
              </a:rPr>
              <a:t> </a:t>
            </a:r>
            <a:r>
              <a:rPr sz="1400" dirty="0">
                <a:solidFill>
                  <a:srgbClr val="FF0000"/>
                </a:solidFill>
                <a:latin typeface="Aptos"/>
                <a:cs typeface="Aptos"/>
              </a:rPr>
              <a:t>at</a:t>
            </a:r>
            <a:r>
              <a:rPr sz="1400" spc="-70" dirty="0">
                <a:solidFill>
                  <a:srgbClr val="FF0000"/>
                </a:solidFill>
                <a:latin typeface="Times New Roman"/>
                <a:cs typeface="Times New Roman"/>
              </a:rPr>
              <a:t> </a:t>
            </a:r>
            <a:r>
              <a:rPr sz="1400" dirty="0">
                <a:solidFill>
                  <a:srgbClr val="FF0000"/>
                </a:solidFill>
                <a:latin typeface="Aptos"/>
                <a:cs typeface="Aptos"/>
              </a:rPr>
              <a:t>least</a:t>
            </a:r>
            <a:r>
              <a:rPr sz="1400" spc="-70" dirty="0">
                <a:solidFill>
                  <a:srgbClr val="FF0000"/>
                </a:solidFill>
                <a:latin typeface="Times New Roman"/>
                <a:cs typeface="Times New Roman"/>
              </a:rPr>
              <a:t> </a:t>
            </a:r>
            <a:r>
              <a:rPr sz="1400" dirty="0">
                <a:solidFill>
                  <a:srgbClr val="FF0000"/>
                </a:solidFill>
                <a:latin typeface="Aptos"/>
                <a:cs typeface="Aptos"/>
              </a:rPr>
              <a:t>2-2</a:t>
            </a:r>
            <a:r>
              <a:rPr sz="1400" spc="-80" dirty="0">
                <a:solidFill>
                  <a:srgbClr val="FF0000"/>
                </a:solidFill>
                <a:latin typeface="Times New Roman"/>
                <a:cs typeface="Times New Roman"/>
              </a:rPr>
              <a:t> </a:t>
            </a:r>
            <a:r>
              <a:rPr sz="1400" spc="-10" dirty="0">
                <a:solidFill>
                  <a:srgbClr val="FF0000"/>
                </a:solidFill>
                <a:latin typeface="Aptos"/>
                <a:cs typeface="Aptos"/>
              </a:rPr>
              <a:t>advantages</a:t>
            </a:r>
            <a:r>
              <a:rPr sz="1400" dirty="0">
                <a:solidFill>
                  <a:srgbClr val="FF0000"/>
                </a:solidFill>
                <a:latin typeface="Times New Roman"/>
                <a:cs typeface="Times New Roman"/>
              </a:rPr>
              <a:t>	</a:t>
            </a:r>
            <a:r>
              <a:rPr sz="1400" dirty="0">
                <a:solidFill>
                  <a:srgbClr val="FF0000"/>
                </a:solidFill>
                <a:latin typeface="Aptos"/>
                <a:cs typeface="Aptos"/>
              </a:rPr>
              <a:t>and</a:t>
            </a:r>
            <a:r>
              <a:rPr sz="1400" spc="-75" dirty="0">
                <a:solidFill>
                  <a:srgbClr val="FF0000"/>
                </a:solidFill>
                <a:latin typeface="Times New Roman"/>
                <a:cs typeface="Times New Roman"/>
              </a:rPr>
              <a:t> </a:t>
            </a:r>
            <a:r>
              <a:rPr sz="1400" spc="-10" dirty="0">
                <a:solidFill>
                  <a:srgbClr val="FF0000"/>
                </a:solidFill>
                <a:latin typeface="Aptos"/>
                <a:cs typeface="Aptos"/>
              </a:rPr>
              <a:t>disadvantages</a:t>
            </a:r>
            <a:endParaRPr sz="1400">
              <a:latin typeface="Aptos"/>
              <a:cs typeface="Aptos"/>
            </a:endParaRPr>
          </a:p>
          <a:p>
            <a:pPr marL="927100">
              <a:lnSpc>
                <a:spcPts val="1465"/>
              </a:lnSpc>
              <a:spcBef>
                <a:spcPts val="1215"/>
              </a:spcBef>
              <a:tabLst>
                <a:tab pos="9157335" algn="l"/>
              </a:tabLst>
            </a:pPr>
            <a:r>
              <a:rPr sz="1400" dirty="0">
                <a:solidFill>
                  <a:srgbClr val="FF0000"/>
                </a:solidFill>
                <a:latin typeface="Aptos"/>
                <a:cs typeface="Aptos"/>
              </a:rPr>
              <a:t>Ans:</a:t>
            </a:r>
            <a:r>
              <a:rPr sz="1400" spc="-65" dirty="0">
                <a:solidFill>
                  <a:srgbClr val="FF0000"/>
                </a:solidFill>
                <a:latin typeface="Times New Roman"/>
                <a:cs typeface="Times New Roman"/>
              </a:rPr>
              <a:t> </a:t>
            </a:r>
            <a:r>
              <a:rPr sz="1400" dirty="0">
                <a:solidFill>
                  <a:srgbClr val="FF0000"/>
                </a:solidFill>
                <a:latin typeface="Aptos"/>
                <a:cs typeface="Aptos"/>
              </a:rPr>
              <a:t>definition</a:t>
            </a:r>
            <a:r>
              <a:rPr sz="1400" spc="-70" dirty="0">
                <a:solidFill>
                  <a:srgbClr val="FF0000"/>
                </a:solidFill>
                <a:latin typeface="Times New Roman"/>
                <a:cs typeface="Times New Roman"/>
              </a:rPr>
              <a:t> </a:t>
            </a:r>
            <a:r>
              <a:rPr sz="1400" dirty="0">
                <a:solidFill>
                  <a:srgbClr val="FF0000"/>
                </a:solidFill>
                <a:latin typeface="Aptos"/>
                <a:cs typeface="Aptos"/>
              </a:rPr>
              <a:t>of</a:t>
            </a:r>
            <a:r>
              <a:rPr sz="1400" spc="-65" dirty="0">
                <a:solidFill>
                  <a:srgbClr val="FF0000"/>
                </a:solidFill>
                <a:latin typeface="Times New Roman"/>
                <a:cs typeface="Times New Roman"/>
              </a:rPr>
              <a:t> </a:t>
            </a:r>
            <a:r>
              <a:rPr sz="1400" spc="-10" dirty="0">
                <a:solidFill>
                  <a:srgbClr val="FF0000"/>
                </a:solidFill>
                <a:latin typeface="Aptos"/>
                <a:cs typeface="Aptos"/>
              </a:rPr>
              <a:t>client</a:t>
            </a:r>
            <a:r>
              <a:rPr sz="1400" spc="-65" dirty="0">
                <a:solidFill>
                  <a:srgbClr val="FF0000"/>
                </a:solidFill>
                <a:latin typeface="Times New Roman"/>
                <a:cs typeface="Times New Roman"/>
              </a:rPr>
              <a:t> </a:t>
            </a:r>
            <a:r>
              <a:rPr sz="1400" dirty="0">
                <a:solidFill>
                  <a:srgbClr val="FF0000"/>
                </a:solidFill>
                <a:latin typeface="Aptos"/>
                <a:cs typeface="Aptos"/>
              </a:rPr>
              <a:t>server</a:t>
            </a:r>
            <a:r>
              <a:rPr sz="1400" spc="-90" dirty="0">
                <a:solidFill>
                  <a:srgbClr val="FF0000"/>
                </a:solidFill>
                <a:latin typeface="Times New Roman"/>
                <a:cs typeface="Times New Roman"/>
              </a:rPr>
              <a:t> </a:t>
            </a:r>
            <a:r>
              <a:rPr sz="1400" spc="-10" dirty="0">
                <a:solidFill>
                  <a:srgbClr val="FF0000"/>
                </a:solidFill>
                <a:latin typeface="Aptos"/>
                <a:cs typeface="Aptos"/>
              </a:rPr>
              <a:t>network</a:t>
            </a:r>
            <a:r>
              <a:rPr sz="1400" spc="-75" dirty="0">
                <a:solidFill>
                  <a:srgbClr val="FF0000"/>
                </a:solidFill>
                <a:latin typeface="Times New Roman"/>
                <a:cs typeface="Times New Roman"/>
              </a:rPr>
              <a:t> </a:t>
            </a:r>
            <a:r>
              <a:rPr sz="1400" spc="-10" dirty="0">
                <a:solidFill>
                  <a:srgbClr val="FF0000"/>
                </a:solidFill>
                <a:latin typeface="Aptos"/>
                <a:cs typeface="Aptos"/>
              </a:rPr>
              <a:t>architecture</a:t>
            </a:r>
            <a:r>
              <a:rPr sz="1400" spc="-45" dirty="0">
                <a:solidFill>
                  <a:srgbClr val="FF0000"/>
                </a:solidFill>
                <a:latin typeface="Times New Roman"/>
                <a:cs typeface="Times New Roman"/>
              </a:rPr>
              <a:t> </a:t>
            </a:r>
            <a:r>
              <a:rPr sz="1400" dirty="0">
                <a:solidFill>
                  <a:srgbClr val="FF0000"/>
                </a:solidFill>
                <a:latin typeface="Aptos"/>
                <a:cs typeface="Aptos"/>
              </a:rPr>
              <a:t>and</a:t>
            </a:r>
            <a:r>
              <a:rPr sz="1400" spc="-50" dirty="0">
                <a:solidFill>
                  <a:srgbClr val="FF0000"/>
                </a:solidFill>
                <a:latin typeface="Times New Roman"/>
                <a:cs typeface="Times New Roman"/>
              </a:rPr>
              <a:t> </a:t>
            </a:r>
            <a:r>
              <a:rPr sz="1400" spc="-10" dirty="0">
                <a:solidFill>
                  <a:srgbClr val="FF0000"/>
                </a:solidFill>
                <a:latin typeface="Aptos"/>
                <a:cs typeface="Aptos"/>
              </a:rPr>
              <a:t>along</a:t>
            </a:r>
            <a:r>
              <a:rPr sz="1400" spc="-60" dirty="0">
                <a:solidFill>
                  <a:srgbClr val="FF0000"/>
                </a:solidFill>
                <a:latin typeface="Times New Roman"/>
                <a:cs typeface="Times New Roman"/>
              </a:rPr>
              <a:t> </a:t>
            </a:r>
            <a:r>
              <a:rPr sz="1400" dirty="0">
                <a:solidFill>
                  <a:srgbClr val="FF0000"/>
                </a:solidFill>
                <a:latin typeface="Aptos"/>
                <a:cs typeface="Aptos"/>
              </a:rPr>
              <a:t>with</a:t>
            </a:r>
            <a:r>
              <a:rPr sz="1400" spc="-50" dirty="0">
                <a:solidFill>
                  <a:srgbClr val="FF0000"/>
                </a:solidFill>
                <a:latin typeface="Times New Roman"/>
                <a:cs typeface="Times New Roman"/>
              </a:rPr>
              <a:t> </a:t>
            </a:r>
            <a:r>
              <a:rPr sz="1400" dirty="0">
                <a:solidFill>
                  <a:srgbClr val="FF0000"/>
                </a:solidFill>
                <a:latin typeface="Aptos"/>
                <a:cs typeface="Aptos"/>
              </a:rPr>
              <a:t>figure</a:t>
            </a:r>
            <a:r>
              <a:rPr sz="1400" spc="215" dirty="0">
                <a:solidFill>
                  <a:srgbClr val="FF0000"/>
                </a:solidFill>
                <a:latin typeface="Times New Roman"/>
                <a:cs typeface="Times New Roman"/>
              </a:rPr>
              <a:t> </a:t>
            </a:r>
            <a:r>
              <a:rPr sz="1400" dirty="0">
                <a:solidFill>
                  <a:srgbClr val="FF0000"/>
                </a:solidFill>
                <a:latin typeface="Aptos"/>
                <a:cs typeface="Aptos"/>
              </a:rPr>
              <a:t>with</a:t>
            </a:r>
            <a:r>
              <a:rPr sz="1400" spc="-50" dirty="0">
                <a:solidFill>
                  <a:srgbClr val="FF0000"/>
                </a:solidFill>
                <a:latin typeface="Times New Roman"/>
                <a:cs typeface="Times New Roman"/>
              </a:rPr>
              <a:t> </a:t>
            </a:r>
            <a:r>
              <a:rPr sz="1400" dirty="0">
                <a:solidFill>
                  <a:srgbClr val="FF0000"/>
                </a:solidFill>
                <a:latin typeface="Aptos"/>
                <a:cs typeface="Aptos"/>
              </a:rPr>
              <a:t>at</a:t>
            </a:r>
            <a:r>
              <a:rPr sz="1400" spc="-60" dirty="0">
                <a:solidFill>
                  <a:srgbClr val="FF0000"/>
                </a:solidFill>
                <a:latin typeface="Times New Roman"/>
                <a:cs typeface="Times New Roman"/>
              </a:rPr>
              <a:t> </a:t>
            </a:r>
            <a:r>
              <a:rPr sz="1400" spc="-10" dirty="0">
                <a:solidFill>
                  <a:srgbClr val="FF0000"/>
                </a:solidFill>
                <a:latin typeface="Aptos"/>
                <a:cs typeface="Aptos"/>
              </a:rPr>
              <a:t>least</a:t>
            </a:r>
            <a:r>
              <a:rPr sz="1400" spc="-75" dirty="0">
                <a:solidFill>
                  <a:srgbClr val="FF0000"/>
                </a:solidFill>
                <a:latin typeface="Times New Roman"/>
                <a:cs typeface="Times New Roman"/>
              </a:rPr>
              <a:t> </a:t>
            </a:r>
            <a:r>
              <a:rPr sz="1400" dirty="0">
                <a:solidFill>
                  <a:srgbClr val="FF0000"/>
                </a:solidFill>
                <a:latin typeface="Aptos"/>
                <a:cs typeface="Aptos"/>
              </a:rPr>
              <a:t>2-2</a:t>
            </a:r>
            <a:r>
              <a:rPr sz="1400" spc="-55" dirty="0">
                <a:solidFill>
                  <a:srgbClr val="FF0000"/>
                </a:solidFill>
                <a:latin typeface="Times New Roman"/>
                <a:cs typeface="Times New Roman"/>
              </a:rPr>
              <a:t> </a:t>
            </a:r>
            <a:r>
              <a:rPr sz="1400" dirty="0">
                <a:solidFill>
                  <a:srgbClr val="FF0000"/>
                </a:solidFill>
                <a:latin typeface="Aptos"/>
                <a:cs typeface="Aptos"/>
              </a:rPr>
              <a:t>advantages</a:t>
            </a:r>
            <a:r>
              <a:rPr sz="1400" spc="204" dirty="0">
                <a:solidFill>
                  <a:srgbClr val="FF0000"/>
                </a:solidFill>
                <a:latin typeface="Times New Roman"/>
                <a:cs typeface="Times New Roman"/>
              </a:rPr>
              <a:t> </a:t>
            </a:r>
            <a:r>
              <a:rPr sz="1400" spc="-25" dirty="0">
                <a:solidFill>
                  <a:srgbClr val="FF0000"/>
                </a:solidFill>
                <a:latin typeface="Aptos"/>
                <a:cs typeface="Aptos"/>
              </a:rPr>
              <a:t>and</a:t>
            </a:r>
            <a:r>
              <a:rPr sz="1400" dirty="0">
                <a:solidFill>
                  <a:srgbClr val="FF0000"/>
                </a:solidFill>
                <a:latin typeface="Times New Roman"/>
                <a:cs typeface="Times New Roman"/>
              </a:rPr>
              <a:t>	</a:t>
            </a:r>
            <a:r>
              <a:rPr sz="1400" spc="-10" dirty="0">
                <a:solidFill>
                  <a:srgbClr val="FF0000"/>
                </a:solidFill>
                <a:latin typeface="Aptos"/>
                <a:cs typeface="Aptos"/>
              </a:rPr>
              <a:t>disadvantages</a:t>
            </a:r>
            <a:endParaRPr sz="1400">
              <a:latin typeface="Aptos"/>
              <a:cs typeface="Aptos"/>
            </a:endParaRPr>
          </a:p>
          <a:p>
            <a:pPr marL="381000" indent="-368935">
              <a:lnSpc>
                <a:spcPts val="3145"/>
              </a:lnSpc>
              <a:buSzPct val="96428"/>
              <a:buAutoNum type="arabicParenR" startAt="8"/>
              <a:tabLst>
                <a:tab pos="381635" algn="l"/>
              </a:tabLst>
            </a:pPr>
            <a:r>
              <a:rPr sz="2800" spc="-20" dirty="0">
                <a:latin typeface="Aptos"/>
                <a:cs typeface="Aptos"/>
              </a:rPr>
              <a:t>What</a:t>
            </a:r>
            <a:r>
              <a:rPr sz="2800" spc="-140" dirty="0">
                <a:latin typeface="Times New Roman"/>
                <a:cs typeface="Times New Roman"/>
              </a:rPr>
              <a:t> </a:t>
            </a:r>
            <a:r>
              <a:rPr sz="2800" spc="-20" dirty="0">
                <a:latin typeface="Aptos"/>
                <a:cs typeface="Aptos"/>
              </a:rPr>
              <a:t>are</a:t>
            </a:r>
            <a:r>
              <a:rPr sz="2800" spc="-125" dirty="0">
                <a:latin typeface="Times New Roman"/>
                <a:cs typeface="Times New Roman"/>
              </a:rPr>
              <a:t> </a:t>
            </a:r>
            <a:r>
              <a:rPr sz="2800" spc="-20" dirty="0">
                <a:latin typeface="Aptos"/>
                <a:cs typeface="Aptos"/>
              </a:rPr>
              <a:t>network</a:t>
            </a:r>
            <a:r>
              <a:rPr sz="2800" spc="-135" dirty="0">
                <a:latin typeface="Times New Roman"/>
                <a:cs typeface="Times New Roman"/>
              </a:rPr>
              <a:t> </a:t>
            </a:r>
            <a:r>
              <a:rPr sz="2800" spc="-25" dirty="0">
                <a:latin typeface="Aptos"/>
                <a:cs typeface="Aptos"/>
              </a:rPr>
              <a:t>topologies?</a:t>
            </a:r>
            <a:r>
              <a:rPr sz="2800" spc="-130" dirty="0">
                <a:latin typeface="Times New Roman"/>
                <a:cs typeface="Times New Roman"/>
              </a:rPr>
              <a:t> </a:t>
            </a:r>
            <a:r>
              <a:rPr sz="2800" spc="-20" dirty="0">
                <a:latin typeface="Aptos"/>
                <a:cs typeface="Aptos"/>
              </a:rPr>
              <a:t>Describe</a:t>
            </a:r>
            <a:r>
              <a:rPr sz="2800" spc="-114" dirty="0">
                <a:latin typeface="Times New Roman"/>
                <a:cs typeface="Times New Roman"/>
              </a:rPr>
              <a:t> </a:t>
            </a:r>
            <a:r>
              <a:rPr sz="2800" spc="-10" dirty="0">
                <a:latin typeface="Aptos"/>
                <a:cs typeface="Aptos"/>
              </a:rPr>
              <a:t>its</a:t>
            </a:r>
            <a:r>
              <a:rPr sz="2800" spc="-140" dirty="0">
                <a:latin typeface="Times New Roman"/>
                <a:cs typeface="Times New Roman"/>
              </a:rPr>
              <a:t> </a:t>
            </a:r>
            <a:r>
              <a:rPr sz="2800" spc="-20" dirty="0">
                <a:latin typeface="Aptos"/>
                <a:cs typeface="Aptos"/>
              </a:rPr>
              <a:t>types.</a:t>
            </a:r>
            <a:r>
              <a:rPr sz="2800" spc="-120" dirty="0">
                <a:latin typeface="Times New Roman"/>
                <a:cs typeface="Times New Roman"/>
              </a:rPr>
              <a:t> </a:t>
            </a:r>
            <a:r>
              <a:rPr sz="2800" spc="-10" dirty="0">
                <a:latin typeface="Aptos"/>
                <a:cs typeface="Aptos"/>
              </a:rPr>
              <a:t>[2+6]</a:t>
            </a:r>
            <a:r>
              <a:rPr sz="2800" spc="-95" dirty="0">
                <a:latin typeface="Times New Roman"/>
                <a:cs typeface="Times New Roman"/>
              </a:rPr>
              <a:t> </a:t>
            </a:r>
            <a:r>
              <a:rPr sz="2800" spc="-20" dirty="0">
                <a:latin typeface="Aptos"/>
                <a:cs typeface="Aptos"/>
              </a:rPr>
              <a:t>VIMP</a:t>
            </a:r>
            <a:endParaRPr sz="2800">
              <a:latin typeface="Aptos"/>
              <a:cs typeface="Aptos"/>
            </a:endParaRPr>
          </a:p>
          <a:p>
            <a:pPr marL="527685" indent="-515620">
              <a:lnSpc>
                <a:spcPct val="100000"/>
              </a:lnSpc>
              <a:spcBef>
                <a:spcPts val="885"/>
              </a:spcBef>
              <a:buAutoNum type="arabicPeriod"/>
              <a:tabLst>
                <a:tab pos="527685" algn="l"/>
                <a:tab pos="528320" algn="l"/>
                <a:tab pos="5541010" algn="l"/>
              </a:tabLst>
            </a:pPr>
            <a:r>
              <a:rPr sz="1600" spc="-10" dirty="0">
                <a:solidFill>
                  <a:srgbClr val="FF0000"/>
                </a:solidFill>
                <a:latin typeface="Aptos"/>
                <a:cs typeface="Aptos"/>
              </a:rPr>
              <a:t>Defination</a:t>
            </a:r>
            <a:r>
              <a:rPr sz="1600" spc="-30" dirty="0">
                <a:solidFill>
                  <a:srgbClr val="FF0000"/>
                </a:solidFill>
                <a:latin typeface="Times New Roman"/>
                <a:cs typeface="Times New Roman"/>
              </a:rPr>
              <a:t> </a:t>
            </a:r>
            <a:r>
              <a:rPr sz="1600" dirty="0">
                <a:solidFill>
                  <a:srgbClr val="FF0000"/>
                </a:solidFill>
                <a:latin typeface="Aptos"/>
                <a:cs typeface="Aptos"/>
              </a:rPr>
              <a:t>of</a:t>
            </a:r>
            <a:r>
              <a:rPr sz="1600" spc="-50" dirty="0">
                <a:solidFill>
                  <a:srgbClr val="FF0000"/>
                </a:solidFill>
                <a:latin typeface="Times New Roman"/>
                <a:cs typeface="Times New Roman"/>
              </a:rPr>
              <a:t> </a:t>
            </a:r>
            <a:r>
              <a:rPr sz="1600" spc="-20" dirty="0">
                <a:solidFill>
                  <a:srgbClr val="FF0000"/>
                </a:solidFill>
                <a:latin typeface="Aptos"/>
                <a:cs typeface="Aptos"/>
              </a:rPr>
              <a:t>network</a:t>
            </a:r>
            <a:r>
              <a:rPr sz="1600" spc="-65" dirty="0">
                <a:solidFill>
                  <a:srgbClr val="FF0000"/>
                </a:solidFill>
                <a:latin typeface="Times New Roman"/>
                <a:cs typeface="Times New Roman"/>
              </a:rPr>
              <a:t> </a:t>
            </a:r>
            <a:r>
              <a:rPr sz="1600" spc="-10" dirty="0">
                <a:solidFill>
                  <a:srgbClr val="FF0000"/>
                </a:solidFill>
                <a:latin typeface="Aptos"/>
                <a:cs typeface="Aptos"/>
              </a:rPr>
              <a:t>topology</a:t>
            </a:r>
            <a:r>
              <a:rPr sz="1600" spc="-25" dirty="0">
                <a:solidFill>
                  <a:srgbClr val="FF0000"/>
                </a:solidFill>
                <a:latin typeface="Times New Roman"/>
                <a:cs typeface="Times New Roman"/>
              </a:rPr>
              <a:t> </a:t>
            </a:r>
            <a:r>
              <a:rPr sz="1600" spc="-10" dirty="0">
                <a:solidFill>
                  <a:srgbClr val="FF0000"/>
                </a:solidFill>
                <a:latin typeface="Aptos"/>
                <a:cs typeface="Aptos"/>
              </a:rPr>
              <a:t>and</a:t>
            </a:r>
            <a:r>
              <a:rPr sz="1600" spc="-65" dirty="0">
                <a:solidFill>
                  <a:srgbClr val="FF0000"/>
                </a:solidFill>
                <a:latin typeface="Times New Roman"/>
                <a:cs typeface="Times New Roman"/>
              </a:rPr>
              <a:t> </a:t>
            </a:r>
            <a:r>
              <a:rPr sz="1600" spc="-10" dirty="0">
                <a:solidFill>
                  <a:srgbClr val="FF0000"/>
                </a:solidFill>
                <a:latin typeface="Aptos"/>
                <a:cs typeface="Aptos"/>
              </a:rPr>
              <a:t>list</a:t>
            </a:r>
            <a:r>
              <a:rPr sz="1600" spc="-85" dirty="0">
                <a:solidFill>
                  <a:srgbClr val="FF0000"/>
                </a:solidFill>
                <a:latin typeface="Times New Roman"/>
                <a:cs typeface="Times New Roman"/>
              </a:rPr>
              <a:t> </a:t>
            </a:r>
            <a:r>
              <a:rPr sz="1600" spc="-20" dirty="0">
                <a:solidFill>
                  <a:srgbClr val="FF0000"/>
                </a:solidFill>
                <a:latin typeface="Aptos"/>
                <a:cs typeface="Aptos"/>
              </a:rPr>
              <a:t>types</a:t>
            </a:r>
            <a:r>
              <a:rPr sz="1600" spc="-80" dirty="0">
                <a:solidFill>
                  <a:srgbClr val="FF0000"/>
                </a:solidFill>
                <a:latin typeface="Times New Roman"/>
                <a:cs typeface="Times New Roman"/>
              </a:rPr>
              <a:t> </a:t>
            </a:r>
            <a:r>
              <a:rPr sz="1600" spc="-10" dirty="0">
                <a:solidFill>
                  <a:srgbClr val="FF0000"/>
                </a:solidFill>
                <a:latin typeface="Aptos"/>
                <a:cs typeface="Aptos"/>
              </a:rPr>
              <a:t>only.</a:t>
            </a:r>
            <a:r>
              <a:rPr sz="1600" dirty="0">
                <a:solidFill>
                  <a:srgbClr val="FF0000"/>
                </a:solidFill>
                <a:latin typeface="Times New Roman"/>
                <a:cs typeface="Times New Roman"/>
              </a:rPr>
              <a:t>	</a:t>
            </a:r>
            <a:r>
              <a:rPr sz="1600" spc="-25" dirty="0">
                <a:solidFill>
                  <a:srgbClr val="FF0000"/>
                </a:solidFill>
                <a:latin typeface="Aptos"/>
                <a:cs typeface="Aptos"/>
              </a:rPr>
              <a:t>[2]</a:t>
            </a:r>
            <a:endParaRPr sz="1600">
              <a:latin typeface="Aptos"/>
              <a:cs typeface="Aptos"/>
            </a:endParaRPr>
          </a:p>
          <a:p>
            <a:pPr marL="527685" indent="-515620">
              <a:lnSpc>
                <a:spcPct val="100000"/>
              </a:lnSpc>
              <a:spcBef>
                <a:spcPts val="805"/>
              </a:spcBef>
              <a:buAutoNum type="arabicPeriod"/>
              <a:tabLst>
                <a:tab pos="527685" algn="l"/>
                <a:tab pos="528320" algn="l"/>
                <a:tab pos="8242934" algn="l"/>
              </a:tabLst>
            </a:pPr>
            <a:r>
              <a:rPr sz="1600" spc="-10" dirty="0">
                <a:solidFill>
                  <a:srgbClr val="FF0000"/>
                </a:solidFill>
                <a:latin typeface="Aptos"/>
                <a:cs typeface="Aptos"/>
              </a:rPr>
              <a:t>Defination</a:t>
            </a:r>
            <a:r>
              <a:rPr sz="1600" spc="-35" dirty="0">
                <a:solidFill>
                  <a:srgbClr val="FF0000"/>
                </a:solidFill>
                <a:latin typeface="Times New Roman"/>
                <a:cs typeface="Times New Roman"/>
              </a:rPr>
              <a:t> </a:t>
            </a:r>
            <a:r>
              <a:rPr sz="1600" dirty="0">
                <a:solidFill>
                  <a:srgbClr val="FF0000"/>
                </a:solidFill>
                <a:latin typeface="Aptos"/>
                <a:cs typeface="Aptos"/>
              </a:rPr>
              <a:t>of</a:t>
            </a:r>
            <a:r>
              <a:rPr sz="1600" spc="-55" dirty="0">
                <a:solidFill>
                  <a:srgbClr val="FF0000"/>
                </a:solidFill>
                <a:latin typeface="Times New Roman"/>
                <a:cs typeface="Times New Roman"/>
              </a:rPr>
              <a:t> </a:t>
            </a:r>
            <a:r>
              <a:rPr sz="1600" spc="-10" dirty="0">
                <a:solidFill>
                  <a:srgbClr val="FF0000"/>
                </a:solidFill>
                <a:latin typeface="Aptos"/>
                <a:cs typeface="Aptos"/>
              </a:rPr>
              <a:t>Bus</a:t>
            </a:r>
            <a:r>
              <a:rPr sz="1600" spc="-65" dirty="0">
                <a:solidFill>
                  <a:srgbClr val="FF0000"/>
                </a:solidFill>
                <a:latin typeface="Times New Roman"/>
                <a:cs typeface="Times New Roman"/>
              </a:rPr>
              <a:t> </a:t>
            </a:r>
            <a:r>
              <a:rPr sz="1600" spc="-10" dirty="0">
                <a:solidFill>
                  <a:srgbClr val="FF0000"/>
                </a:solidFill>
                <a:latin typeface="Aptos"/>
                <a:cs typeface="Aptos"/>
              </a:rPr>
              <a:t>topology</a:t>
            </a:r>
            <a:r>
              <a:rPr sz="1600" spc="-45" dirty="0">
                <a:solidFill>
                  <a:srgbClr val="FF0000"/>
                </a:solidFill>
                <a:latin typeface="Times New Roman"/>
                <a:cs typeface="Times New Roman"/>
              </a:rPr>
              <a:t> </a:t>
            </a:r>
            <a:r>
              <a:rPr sz="1600" spc="-10" dirty="0">
                <a:solidFill>
                  <a:srgbClr val="FF0000"/>
                </a:solidFill>
                <a:latin typeface="Aptos"/>
                <a:cs typeface="Aptos"/>
              </a:rPr>
              <a:t>+figure+</a:t>
            </a:r>
            <a:r>
              <a:rPr sz="1600" spc="-45" dirty="0">
                <a:solidFill>
                  <a:srgbClr val="FF0000"/>
                </a:solidFill>
                <a:latin typeface="Times New Roman"/>
                <a:cs typeface="Times New Roman"/>
              </a:rPr>
              <a:t> </a:t>
            </a:r>
            <a:r>
              <a:rPr sz="1600" spc="-20" dirty="0">
                <a:solidFill>
                  <a:srgbClr val="FF0000"/>
                </a:solidFill>
                <a:latin typeface="Aptos"/>
                <a:cs typeface="Aptos"/>
              </a:rPr>
              <a:t>advantages</a:t>
            </a:r>
            <a:r>
              <a:rPr sz="1600" spc="-65" dirty="0">
                <a:solidFill>
                  <a:srgbClr val="FF0000"/>
                </a:solidFill>
                <a:latin typeface="Times New Roman"/>
                <a:cs typeface="Times New Roman"/>
              </a:rPr>
              <a:t> </a:t>
            </a:r>
            <a:r>
              <a:rPr sz="1600" spc="-10" dirty="0">
                <a:solidFill>
                  <a:srgbClr val="FF0000"/>
                </a:solidFill>
                <a:latin typeface="Aptos"/>
                <a:cs typeface="Aptos"/>
              </a:rPr>
              <a:t>and</a:t>
            </a:r>
            <a:r>
              <a:rPr sz="1600" spc="-65" dirty="0">
                <a:solidFill>
                  <a:srgbClr val="FF0000"/>
                </a:solidFill>
                <a:latin typeface="Times New Roman"/>
                <a:cs typeface="Times New Roman"/>
              </a:rPr>
              <a:t> </a:t>
            </a:r>
            <a:r>
              <a:rPr sz="1600" spc="-10" dirty="0">
                <a:solidFill>
                  <a:srgbClr val="FF0000"/>
                </a:solidFill>
                <a:latin typeface="Aptos"/>
                <a:cs typeface="Aptos"/>
              </a:rPr>
              <a:t>disadvantages</a:t>
            </a:r>
            <a:r>
              <a:rPr sz="1600" spc="-80" dirty="0">
                <a:solidFill>
                  <a:srgbClr val="FF0000"/>
                </a:solidFill>
                <a:latin typeface="Times New Roman"/>
                <a:cs typeface="Times New Roman"/>
              </a:rPr>
              <a:t> </a:t>
            </a:r>
            <a:r>
              <a:rPr sz="1600" dirty="0">
                <a:solidFill>
                  <a:srgbClr val="FF0000"/>
                </a:solidFill>
                <a:latin typeface="Aptos"/>
                <a:cs typeface="Aptos"/>
              </a:rPr>
              <a:t>at</a:t>
            </a:r>
            <a:r>
              <a:rPr sz="1600" spc="-80" dirty="0">
                <a:solidFill>
                  <a:srgbClr val="FF0000"/>
                </a:solidFill>
                <a:latin typeface="Times New Roman"/>
                <a:cs typeface="Times New Roman"/>
              </a:rPr>
              <a:t> </a:t>
            </a:r>
            <a:r>
              <a:rPr sz="1600" spc="-20" dirty="0">
                <a:solidFill>
                  <a:srgbClr val="FF0000"/>
                </a:solidFill>
                <a:latin typeface="Aptos"/>
                <a:cs typeface="Aptos"/>
              </a:rPr>
              <a:t>least</a:t>
            </a:r>
            <a:r>
              <a:rPr sz="1600" spc="-105" dirty="0">
                <a:solidFill>
                  <a:srgbClr val="FF0000"/>
                </a:solidFill>
                <a:latin typeface="Times New Roman"/>
                <a:cs typeface="Times New Roman"/>
              </a:rPr>
              <a:t> </a:t>
            </a:r>
            <a:r>
              <a:rPr sz="1600" spc="-10" dirty="0">
                <a:solidFill>
                  <a:srgbClr val="FF0000"/>
                </a:solidFill>
                <a:latin typeface="Aptos"/>
                <a:cs typeface="Aptos"/>
              </a:rPr>
              <a:t>2-</a:t>
            </a:r>
            <a:r>
              <a:rPr sz="1600" dirty="0">
                <a:solidFill>
                  <a:srgbClr val="FF0000"/>
                </a:solidFill>
                <a:latin typeface="Aptos"/>
                <a:cs typeface="Aptos"/>
              </a:rPr>
              <a:t>2</a:t>
            </a:r>
            <a:r>
              <a:rPr sz="1600" spc="-70" dirty="0">
                <a:solidFill>
                  <a:srgbClr val="FF0000"/>
                </a:solidFill>
                <a:latin typeface="Times New Roman"/>
                <a:cs typeface="Times New Roman"/>
              </a:rPr>
              <a:t> </a:t>
            </a:r>
            <a:r>
              <a:rPr sz="1600" spc="-10" dirty="0">
                <a:solidFill>
                  <a:srgbClr val="FF0000"/>
                </a:solidFill>
                <a:latin typeface="Aptos"/>
                <a:cs typeface="Aptos"/>
              </a:rPr>
              <a:t>point.</a:t>
            </a:r>
            <a:r>
              <a:rPr sz="1600" dirty="0">
                <a:solidFill>
                  <a:srgbClr val="FF0000"/>
                </a:solidFill>
                <a:latin typeface="Times New Roman"/>
                <a:cs typeface="Times New Roman"/>
              </a:rPr>
              <a:t>	</a:t>
            </a:r>
            <a:r>
              <a:rPr sz="1600" spc="-25" dirty="0">
                <a:solidFill>
                  <a:srgbClr val="FF0000"/>
                </a:solidFill>
                <a:latin typeface="Aptos"/>
                <a:cs typeface="Aptos"/>
              </a:rPr>
              <a:t>[2]</a:t>
            </a:r>
            <a:endParaRPr sz="1600">
              <a:latin typeface="Aptos"/>
              <a:cs typeface="Aptos"/>
            </a:endParaRPr>
          </a:p>
          <a:p>
            <a:pPr marL="527685" indent="-515620">
              <a:lnSpc>
                <a:spcPct val="100000"/>
              </a:lnSpc>
              <a:spcBef>
                <a:spcPts val="819"/>
              </a:spcBef>
              <a:buAutoNum type="arabicPeriod"/>
              <a:tabLst>
                <a:tab pos="527685" algn="l"/>
                <a:tab pos="528320" algn="l"/>
                <a:tab pos="8242934" algn="l"/>
              </a:tabLst>
            </a:pPr>
            <a:r>
              <a:rPr sz="1600" spc="-10" dirty="0">
                <a:solidFill>
                  <a:srgbClr val="FF0000"/>
                </a:solidFill>
                <a:latin typeface="Aptos"/>
                <a:cs typeface="Aptos"/>
              </a:rPr>
              <a:t>Defination</a:t>
            </a:r>
            <a:r>
              <a:rPr sz="1600" spc="-40" dirty="0">
                <a:solidFill>
                  <a:srgbClr val="FF0000"/>
                </a:solidFill>
                <a:latin typeface="Times New Roman"/>
                <a:cs typeface="Times New Roman"/>
              </a:rPr>
              <a:t> </a:t>
            </a:r>
            <a:r>
              <a:rPr sz="1600" dirty="0">
                <a:solidFill>
                  <a:srgbClr val="FF0000"/>
                </a:solidFill>
                <a:latin typeface="Aptos"/>
                <a:cs typeface="Aptos"/>
              </a:rPr>
              <a:t>of</a:t>
            </a:r>
            <a:r>
              <a:rPr sz="1600" spc="-55" dirty="0">
                <a:solidFill>
                  <a:srgbClr val="FF0000"/>
                </a:solidFill>
                <a:latin typeface="Times New Roman"/>
                <a:cs typeface="Times New Roman"/>
              </a:rPr>
              <a:t> </a:t>
            </a:r>
            <a:r>
              <a:rPr sz="1600" spc="-10" dirty="0">
                <a:solidFill>
                  <a:srgbClr val="FF0000"/>
                </a:solidFill>
                <a:latin typeface="Aptos"/>
                <a:cs typeface="Aptos"/>
              </a:rPr>
              <a:t>Star</a:t>
            </a:r>
            <a:r>
              <a:rPr sz="1600" spc="-70" dirty="0">
                <a:solidFill>
                  <a:srgbClr val="FF0000"/>
                </a:solidFill>
                <a:latin typeface="Times New Roman"/>
                <a:cs typeface="Times New Roman"/>
              </a:rPr>
              <a:t> </a:t>
            </a:r>
            <a:r>
              <a:rPr sz="1600" spc="-10" dirty="0">
                <a:solidFill>
                  <a:srgbClr val="FF0000"/>
                </a:solidFill>
                <a:latin typeface="Aptos"/>
                <a:cs typeface="Aptos"/>
              </a:rPr>
              <a:t>topology</a:t>
            </a:r>
            <a:r>
              <a:rPr sz="1600" spc="-45" dirty="0">
                <a:solidFill>
                  <a:srgbClr val="FF0000"/>
                </a:solidFill>
                <a:latin typeface="Times New Roman"/>
                <a:cs typeface="Times New Roman"/>
              </a:rPr>
              <a:t> </a:t>
            </a:r>
            <a:r>
              <a:rPr sz="1600" spc="-10" dirty="0">
                <a:solidFill>
                  <a:srgbClr val="FF0000"/>
                </a:solidFill>
                <a:latin typeface="Aptos"/>
                <a:cs typeface="Aptos"/>
              </a:rPr>
              <a:t>+figure+</a:t>
            </a:r>
            <a:r>
              <a:rPr sz="1600" spc="-45" dirty="0">
                <a:solidFill>
                  <a:srgbClr val="FF0000"/>
                </a:solidFill>
                <a:latin typeface="Times New Roman"/>
                <a:cs typeface="Times New Roman"/>
              </a:rPr>
              <a:t> </a:t>
            </a:r>
            <a:r>
              <a:rPr sz="1600" spc="-20" dirty="0">
                <a:solidFill>
                  <a:srgbClr val="FF0000"/>
                </a:solidFill>
                <a:latin typeface="Aptos"/>
                <a:cs typeface="Aptos"/>
              </a:rPr>
              <a:t>advantages</a:t>
            </a:r>
            <a:r>
              <a:rPr sz="1600" spc="-65" dirty="0">
                <a:solidFill>
                  <a:srgbClr val="FF0000"/>
                </a:solidFill>
                <a:latin typeface="Times New Roman"/>
                <a:cs typeface="Times New Roman"/>
              </a:rPr>
              <a:t> </a:t>
            </a:r>
            <a:r>
              <a:rPr sz="1600" spc="-10" dirty="0">
                <a:solidFill>
                  <a:srgbClr val="FF0000"/>
                </a:solidFill>
                <a:latin typeface="Aptos"/>
                <a:cs typeface="Aptos"/>
              </a:rPr>
              <a:t>and</a:t>
            </a:r>
            <a:r>
              <a:rPr sz="1600" spc="-65" dirty="0">
                <a:solidFill>
                  <a:srgbClr val="FF0000"/>
                </a:solidFill>
                <a:latin typeface="Times New Roman"/>
                <a:cs typeface="Times New Roman"/>
              </a:rPr>
              <a:t> </a:t>
            </a:r>
            <a:r>
              <a:rPr sz="1600" spc="-10" dirty="0">
                <a:solidFill>
                  <a:srgbClr val="FF0000"/>
                </a:solidFill>
                <a:latin typeface="Aptos"/>
                <a:cs typeface="Aptos"/>
              </a:rPr>
              <a:t>disadvantages</a:t>
            </a:r>
            <a:r>
              <a:rPr sz="1600" spc="-80" dirty="0">
                <a:solidFill>
                  <a:srgbClr val="FF0000"/>
                </a:solidFill>
                <a:latin typeface="Times New Roman"/>
                <a:cs typeface="Times New Roman"/>
              </a:rPr>
              <a:t> </a:t>
            </a:r>
            <a:r>
              <a:rPr sz="1600" dirty="0">
                <a:solidFill>
                  <a:srgbClr val="FF0000"/>
                </a:solidFill>
                <a:latin typeface="Aptos"/>
                <a:cs typeface="Aptos"/>
              </a:rPr>
              <a:t>at</a:t>
            </a:r>
            <a:r>
              <a:rPr sz="1600" spc="-80" dirty="0">
                <a:solidFill>
                  <a:srgbClr val="FF0000"/>
                </a:solidFill>
                <a:latin typeface="Times New Roman"/>
                <a:cs typeface="Times New Roman"/>
              </a:rPr>
              <a:t> </a:t>
            </a:r>
            <a:r>
              <a:rPr sz="1600" spc="-20" dirty="0">
                <a:solidFill>
                  <a:srgbClr val="FF0000"/>
                </a:solidFill>
                <a:latin typeface="Aptos"/>
                <a:cs typeface="Aptos"/>
              </a:rPr>
              <a:t>least</a:t>
            </a:r>
            <a:r>
              <a:rPr sz="1600" spc="-105" dirty="0">
                <a:solidFill>
                  <a:srgbClr val="FF0000"/>
                </a:solidFill>
                <a:latin typeface="Times New Roman"/>
                <a:cs typeface="Times New Roman"/>
              </a:rPr>
              <a:t> </a:t>
            </a:r>
            <a:r>
              <a:rPr sz="1600" spc="-10" dirty="0">
                <a:solidFill>
                  <a:srgbClr val="FF0000"/>
                </a:solidFill>
                <a:latin typeface="Aptos"/>
                <a:cs typeface="Aptos"/>
              </a:rPr>
              <a:t>2-</a:t>
            </a:r>
            <a:r>
              <a:rPr sz="1600" dirty="0">
                <a:solidFill>
                  <a:srgbClr val="FF0000"/>
                </a:solidFill>
                <a:latin typeface="Aptos"/>
                <a:cs typeface="Aptos"/>
              </a:rPr>
              <a:t>2</a:t>
            </a:r>
            <a:r>
              <a:rPr sz="1600" spc="-70" dirty="0">
                <a:solidFill>
                  <a:srgbClr val="FF0000"/>
                </a:solidFill>
                <a:latin typeface="Times New Roman"/>
                <a:cs typeface="Times New Roman"/>
              </a:rPr>
              <a:t> </a:t>
            </a:r>
            <a:r>
              <a:rPr sz="1600" spc="-10" dirty="0">
                <a:solidFill>
                  <a:srgbClr val="FF0000"/>
                </a:solidFill>
                <a:latin typeface="Aptos"/>
                <a:cs typeface="Aptos"/>
              </a:rPr>
              <a:t>point.</a:t>
            </a:r>
            <a:r>
              <a:rPr sz="1600" dirty="0">
                <a:solidFill>
                  <a:srgbClr val="FF0000"/>
                </a:solidFill>
                <a:latin typeface="Times New Roman"/>
                <a:cs typeface="Times New Roman"/>
              </a:rPr>
              <a:t>	</a:t>
            </a:r>
            <a:r>
              <a:rPr sz="1600" spc="-25" dirty="0">
                <a:solidFill>
                  <a:srgbClr val="FF0000"/>
                </a:solidFill>
                <a:latin typeface="Aptos"/>
                <a:cs typeface="Aptos"/>
              </a:rPr>
              <a:t>[2]</a:t>
            </a:r>
            <a:endParaRPr sz="1600">
              <a:latin typeface="Aptos"/>
              <a:cs typeface="Aptos"/>
            </a:endParaRPr>
          </a:p>
          <a:p>
            <a:pPr marL="527685" indent="-515620">
              <a:lnSpc>
                <a:spcPct val="100000"/>
              </a:lnSpc>
              <a:spcBef>
                <a:spcPts val="805"/>
              </a:spcBef>
              <a:buAutoNum type="arabicPeriod"/>
              <a:tabLst>
                <a:tab pos="527685" algn="l"/>
                <a:tab pos="528320" algn="l"/>
                <a:tab pos="8242934" algn="l"/>
              </a:tabLst>
            </a:pPr>
            <a:r>
              <a:rPr sz="1600" spc="-10" dirty="0">
                <a:solidFill>
                  <a:srgbClr val="FF0000"/>
                </a:solidFill>
                <a:latin typeface="Aptos"/>
                <a:cs typeface="Aptos"/>
              </a:rPr>
              <a:t>Defination</a:t>
            </a:r>
            <a:r>
              <a:rPr sz="1600" spc="-50" dirty="0">
                <a:solidFill>
                  <a:srgbClr val="FF0000"/>
                </a:solidFill>
                <a:latin typeface="Times New Roman"/>
                <a:cs typeface="Times New Roman"/>
              </a:rPr>
              <a:t> </a:t>
            </a:r>
            <a:r>
              <a:rPr sz="1600" dirty="0">
                <a:solidFill>
                  <a:srgbClr val="FF0000"/>
                </a:solidFill>
                <a:latin typeface="Aptos"/>
                <a:cs typeface="Aptos"/>
              </a:rPr>
              <a:t>of</a:t>
            </a:r>
            <a:r>
              <a:rPr sz="1600" spc="-55" dirty="0">
                <a:solidFill>
                  <a:srgbClr val="FF0000"/>
                </a:solidFill>
                <a:latin typeface="Times New Roman"/>
                <a:cs typeface="Times New Roman"/>
              </a:rPr>
              <a:t> </a:t>
            </a:r>
            <a:r>
              <a:rPr sz="1600" dirty="0">
                <a:solidFill>
                  <a:srgbClr val="FF0000"/>
                </a:solidFill>
                <a:latin typeface="Aptos"/>
                <a:cs typeface="Aptos"/>
              </a:rPr>
              <a:t>Ring</a:t>
            </a:r>
            <a:r>
              <a:rPr sz="1600" spc="-65" dirty="0">
                <a:solidFill>
                  <a:srgbClr val="FF0000"/>
                </a:solidFill>
                <a:latin typeface="Times New Roman"/>
                <a:cs typeface="Times New Roman"/>
              </a:rPr>
              <a:t> </a:t>
            </a:r>
            <a:r>
              <a:rPr sz="1600" spc="-10" dirty="0">
                <a:solidFill>
                  <a:srgbClr val="FF0000"/>
                </a:solidFill>
                <a:latin typeface="Aptos"/>
                <a:cs typeface="Aptos"/>
              </a:rPr>
              <a:t>topology</a:t>
            </a:r>
            <a:r>
              <a:rPr sz="1600" spc="-40" dirty="0">
                <a:solidFill>
                  <a:srgbClr val="FF0000"/>
                </a:solidFill>
                <a:latin typeface="Times New Roman"/>
                <a:cs typeface="Times New Roman"/>
              </a:rPr>
              <a:t> </a:t>
            </a:r>
            <a:r>
              <a:rPr sz="1600" spc="-10" dirty="0">
                <a:solidFill>
                  <a:srgbClr val="FF0000"/>
                </a:solidFill>
                <a:latin typeface="Aptos"/>
                <a:cs typeface="Aptos"/>
              </a:rPr>
              <a:t>+figure+</a:t>
            </a:r>
            <a:r>
              <a:rPr sz="1600" spc="-45" dirty="0">
                <a:solidFill>
                  <a:srgbClr val="FF0000"/>
                </a:solidFill>
                <a:latin typeface="Times New Roman"/>
                <a:cs typeface="Times New Roman"/>
              </a:rPr>
              <a:t> </a:t>
            </a:r>
            <a:r>
              <a:rPr sz="1600" spc="-20" dirty="0">
                <a:solidFill>
                  <a:srgbClr val="FF0000"/>
                </a:solidFill>
                <a:latin typeface="Aptos"/>
                <a:cs typeface="Aptos"/>
              </a:rPr>
              <a:t>advantages</a:t>
            </a:r>
            <a:r>
              <a:rPr sz="1600" spc="-80" dirty="0">
                <a:solidFill>
                  <a:srgbClr val="FF0000"/>
                </a:solidFill>
                <a:latin typeface="Times New Roman"/>
                <a:cs typeface="Times New Roman"/>
              </a:rPr>
              <a:t> </a:t>
            </a:r>
            <a:r>
              <a:rPr sz="1600" dirty="0">
                <a:solidFill>
                  <a:srgbClr val="FF0000"/>
                </a:solidFill>
                <a:latin typeface="Aptos"/>
                <a:cs typeface="Aptos"/>
              </a:rPr>
              <a:t>and</a:t>
            </a:r>
            <a:r>
              <a:rPr sz="1600" spc="-75" dirty="0">
                <a:solidFill>
                  <a:srgbClr val="FF0000"/>
                </a:solidFill>
                <a:latin typeface="Times New Roman"/>
                <a:cs typeface="Times New Roman"/>
              </a:rPr>
              <a:t> </a:t>
            </a:r>
            <a:r>
              <a:rPr sz="1600" spc="-10" dirty="0">
                <a:solidFill>
                  <a:srgbClr val="FF0000"/>
                </a:solidFill>
                <a:latin typeface="Aptos"/>
                <a:cs typeface="Aptos"/>
              </a:rPr>
              <a:t>disadvantages</a:t>
            </a:r>
            <a:r>
              <a:rPr sz="1600" spc="-70" dirty="0">
                <a:solidFill>
                  <a:srgbClr val="FF0000"/>
                </a:solidFill>
                <a:latin typeface="Times New Roman"/>
                <a:cs typeface="Times New Roman"/>
              </a:rPr>
              <a:t> </a:t>
            </a:r>
            <a:r>
              <a:rPr sz="1600" spc="-20" dirty="0">
                <a:solidFill>
                  <a:srgbClr val="FF0000"/>
                </a:solidFill>
                <a:latin typeface="Aptos"/>
                <a:cs typeface="Aptos"/>
              </a:rPr>
              <a:t>at</a:t>
            </a:r>
            <a:r>
              <a:rPr sz="1600" spc="-90" dirty="0">
                <a:solidFill>
                  <a:srgbClr val="FF0000"/>
                </a:solidFill>
                <a:latin typeface="Times New Roman"/>
                <a:cs typeface="Times New Roman"/>
              </a:rPr>
              <a:t> </a:t>
            </a:r>
            <a:r>
              <a:rPr sz="1600" spc="-10" dirty="0">
                <a:solidFill>
                  <a:srgbClr val="FF0000"/>
                </a:solidFill>
                <a:latin typeface="Aptos"/>
                <a:cs typeface="Aptos"/>
              </a:rPr>
              <a:t>least</a:t>
            </a:r>
            <a:r>
              <a:rPr sz="1600" spc="-95" dirty="0">
                <a:solidFill>
                  <a:srgbClr val="FF0000"/>
                </a:solidFill>
                <a:latin typeface="Times New Roman"/>
                <a:cs typeface="Times New Roman"/>
              </a:rPr>
              <a:t> </a:t>
            </a:r>
            <a:r>
              <a:rPr sz="1600" spc="-10" dirty="0">
                <a:solidFill>
                  <a:srgbClr val="FF0000"/>
                </a:solidFill>
                <a:latin typeface="Aptos"/>
                <a:cs typeface="Aptos"/>
              </a:rPr>
              <a:t>2-</a:t>
            </a:r>
            <a:r>
              <a:rPr sz="1600" dirty="0">
                <a:solidFill>
                  <a:srgbClr val="FF0000"/>
                </a:solidFill>
                <a:latin typeface="Aptos"/>
                <a:cs typeface="Aptos"/>
              </a:rPr>
              <a:t>2</a:t>
            </a:r>
            <a:r>
              <a:rPr sz="1600" spc="-80" dirty="0">
                <a:solidFill>
                  <a:srgbClr val="FF0000"/>
                </a:solidFill>
                <a:latin typeface="Times New Roman"/>
                <a:cs typeface="Times New Roman"/>
              </a:rPr>
              <a:t> </a:t>
            </a:r>
            <a:r>
              <a:rPr sz="1600" spc="-10" dirty="0">
                <a:solidFill>
                  <a:srgbClr val="FF0000"/>
                </a:solidFill>
                <a:latin typeface="Aptos"/>
                <a:cs typeface="Aptos"/>
              </a:rPr>
              <a:t>point.</a:t>
            </a:r>
            <a:r>
              <a:rPr sz="1600" dirty="0">
                <a:solidFill>
                  <a:srgbClr val="FF0000"/>
                </a:solidFill>
                <a:latin typeface="Times New Roman"/>
                <a:cs typeface="Times New Roman"/>
              </a:rPr>
              <a:t>	</a:t>
            </a:r>
            <a:r>
              <a:rPr sz="1600" spc="-25" dirty="0">
                <a:solidFill>
                  <a:srgbClr val="FF0000"/>
                </a:solidFill>
                <a:latin typeface="Aptos"/>
                <a:cs typeface="Aptos"/>
              </a:rPr>
              <a:t>[2]</a:t>
            </a:r>
            <a:endParaRPr sz="1600">
              <a:latin typeface="Aptos"/>
              <a:cs typeface="Aptos"/>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1" y="597852"/>
            <a:ext cx="10191115" cy="452120"/>
          </a:xfrm>
          <a:prstGeom prst="rect">
            <a:avLst/>
          </a:prstGeom>
        </p:spPr>
        <p:txBody>
          <a:bodyPr vert="horz" wrap="square" lIns="0" tIns="12065" rIns="0" bIns="0" rtlCol="0">
            <a:spAutoFit/>
          </a:bodyPr>
          <a:lstStyle/>
          <a:p>
            <a:pPr marL="12700">
              <a:lnSpc>
                <a:spcPct val="100000"/>
              </a:lnSpc>
              <a:spcBef>
                <a:spcPts val="95"/>
              </a:spcBef>
            </a:pPr>
            <a:r>
              <a:rPr sz="2800" dirty="0">
                <a:latin typeface="Aptos"/>
                <a:cs typeface="Aptos"/>
              </a:rPr>
              <a:t>9)</a:t>
            </a:r>
            <a:r>
              <a:rPr sz="2800" spc="-110" dirty="0">
                <a:latin typeface="Times New Roman"/>
                <a:cs typeface="Times New Roman"/>
              </a:rPr>
              <a:t> </a:t>
            </a:r>
            <a:r>
              <a:rPr sz="2800" spc="-25" dirty="0">
                <a:latin typeface="Aptos"/>
                <a:cs typeface="Aptos"/>
              </a:rPr>
              <a:t>Difference</a:t>
            </a:r>
            <a:r>
              <a:rPr sz="2800" spc="-120" dirty="0">
                <a:latin typeface="Times New Roman"/>
                <a:cs typeface="Times New Roman"/>
              </a:rPr>
              <a:t> </a:t>
            </a:r>
            <a:r>
              <a:rPr sz="2800" spc="-25" dirty="0">
                <a:latin typeface="Aptos"/>
                <a:cs typeface="Aptos"/>
              </a:rPr>
              <a:t>between</a:t>
            </a:r>
            <a:r>
              <a:rPr sz="2800" spc="-125" dirty="0">
                <a:latin typeface="Times New Roman"/>
                <a:cs typeface="Times New Roman"/>
              </a:rPr>
              <a:t> </a:t>
            </a:r>
            <a:r>
              <a:rPr sz="2800" spc="-20" dirty="0">
                <a:latin typeface="Aptos"/>
                <a:cs typeface="Aptos"/>
              </a:rPr>
              <a:t>Guided</a:t>
            </a:r>
            <a:r>
              <a:rPr sz="2800" spc="-120" dirty="0">
                <a:latin typeface="Times New Roman"/>
                <a:cs typeface="Times New Roman"/>
              </a:rPr>
              <a:t> </a:t>
            </a:r>
            <a:r>
              <a:rPr sz="2800" dirty="0">
                <a:latin typeface="Aptos"/>
                <a:cs typeface="Aptos"/>
              </a:rPr>
              <a:t>and</a:t>
            </a:r>
            <a:r>
              <a:rPr sz="2800" spc="-110" dirty="0">
                <a:latin typeface="Times New Roman"/>
                <a:cs typeface="Times New Roman"/>
              </a:rPr>
              <a:t> </a:t>
            </a:r>
            <a:r>
              <a:rPr sz="2800" spc="-20" dirty="0">
                <a:latin typeface="Aptos"/>
                <a:cs typeface="Aptos"/>
              </a:rPr>
              <a:t>Un-Guided</a:t>
            </a:r>
            <a:r>
              <a:rPr sz="2800" spc="-110" dirty="0">
                <a:latin typeface="Times New Roman"/>
                <a:cs typeface="Times New Roman"/>
              </a:rPr>
              <a:t> </a:t>
            </a:r>
            <a:r>
              <a:rPr sz="2800" spc="-30" dirty="0">
                <a:latin typeface="Aptos"/>
                <a:cs typeface="Aptos"/>
              </a:rPr>
              <a:t>transmission</a:t>
            </a:r>
            <a:r>
              <a:rPr sz="2800" spc="-114" dirty="0">
                <a:latin typeface="Times New Roman"/>
                <a:cs typeface="Times New Roman"/>
              </a:rPr>
              <a:t> </a:t>
            </a:r>
            <a:r>
              <a:rPr sz="2800" spc="-10" dirty="0">
                <a:latin typeface="Aptos"/>
                <a:cs typeface="Aptos"/>
              </a:rPr>
              <a:t>media.</a:t>
            </a:r>
            <a:endParaRPr sz="2800">
              <a:latin typeface="Aptos"/>
              <a:cs typeface="Aptos"/>
            </a:endParaRPr>
          </a:p>
        </p:txBody>
      </p:sp>
      <p:sp>
        <p:nvSpPr>
          <p:cNvPr id="3" name="object 3"/>
          <p:cNvSpPr txBox="1"/>
          <p:nvPr/>
        </p:nvSpPr>
        <p:spPr>
          <a:xfrm>
            <a:off x="916941" y="1066280"/>
            <a:ext cx="5328920" cy="452120"/>
          </a:xfrm>
          <a:prstGeom prst="rect">
            <a:avLst/>
          </a:prstGeom>
        </p:spPr>
        <p:txBody>
          <a:bodyPr vert="horz" wrap="square" lIns="0" tIns="12065" rIns="0" bIns="0" rtlCol="0">
            <a:spAutoFit/>
          </a:bodyPr>
          <a:lstStyle/>
          <a:p>
            <a:pPr marL="12700">
              <a:lnSpc>
                <a:spcPct val="100000"/>
              </a:lnSpc>
              <a:spcBef>
                <a:spcPts val="95"/>
              </a:spcBef>
              <a:tabLst>
                <a:tab pos="1421130" algn="l"/>
              </a:tabLst>
            </a:pPr>
            <a:r>
              <a:rPr sz="2800" spc="-10" dirty="0">
                <a:solidFill>
                  <a:srgbClr val="FF0000"/>
                </a:solidFill>
                <a:latin typeface="Aptos"/>
                <a:cs typeface="Aptos"/>
              </a:rPr>
              <a:t>Ans</a:t>
            </a:r>
            <a:r>
              <a:rPr sz="2800" spc="-160" dirty="0">
                <a:solidFill>
                  <a:srgbClr val="FF0000"/>
                </a:solidFill>
                <a:latin typeface="Times New Roman"/>
                <a:cs typeface="Times New Roman"/>
              </a:rPr>
              <a:t> </a:t>
            </a:r>
            <a:r>
              <a:rPr sz="2800" spc="-20" dirty="0">
                <a:solidFill>
                  <a:srgbClr val="FF0000"/>
                </a:solidFill>
                <a:latin typeface="Aptos"/>
                <a:cs typeface="Aptos"/>
              </a:rPr>
              <a:t>key:</a:t>
            </a:r>
            <a:r>
              <a:rPr sz="2800" dirty="0">
                <a:solidFill>
                  <a:srgbClr val="FF0000"/>
                </a:solidFill>
                <a:latin typeface="Times New Roman"/>
                <a:cs typeface="Times New Roman"/>
              </a:rPr>
              <a:t>	</a:t>
            </a:r>
            <a:r>
              <a:rPr sz="2800" spc="-20" dirty="0">
                <a:solidFill>
                  <a:srgbClr val="FF0000"/>
                </a:solidFill>
                <a:latin typeface="Aptos"/>
                <a:cs typeface="Aptos"/>
              </a:rPr>
              <a:t>at</a:t>
            </a:r>
            <a:r>
              <a:rPr sz="2800" spc="-155" dirty="0">
                <a:solidFill>
                  <a:srgbClr val="FF0000"/>
                </a:solidFill>
                <a:latin typeface="Times New Roman"/>
                <a:cs typeface="Times New Roman"/>
              </a:rPr>
              <a:t> </a:t>
            </a:r>
            <a:r>
              <a:rPr sz="2800" spc="-10" dirty="0">
                <a:solidFill>
                  <a:srgbClr val="FF0000"/>
                </a:solidFill>
                <a:latin typeface="Aptos"/>
                <a:cs typeface="Aptos"/>
              </a:rPr>
              <a:t>least</a:t>
            </a:r>
            <a:r>
              <a:rPr sz="2800" spc="-155" dirty="0">
                <a:solidFill>
                  <a:srgbClr val="FF0000"/>
                </a:solidFill>
                <a:latin typeface="Times New Roman"/>
                <a:cs typeface="Times New Roman"/>
              </a:rPr>
              <a:t> </a:t>
            </a:r>
            <a:r>
              <a:rPr sz="2800" spc="-20" dirty="0">
                <a:solidFill>
                  <a:srgbClr val="FF0000"/>
                </a:solidFill>
                <a:latin typeface="Aptos"/>
                <a:cs typeface="Aptos"/>
              </a:rPr>
              <a:t>five</a:t>
            </a:r>
            <a:r>
              <a:rPr sz="2800" spc="-155" dirty="0">
                <a:solidFill>
                  <a:srgbClr val="FF0000"/>
                </a:solidFill>
                <a:latin typeface="Times New Roman"/>
                <a:cs typeface="Times New Roman"/>
              </a:rPr>
              <a:t> </a:t>
            </a:r>
            <a:r>
              <a:rPr sz="2800" spc="-10" dirty="0">
                <a:solidFill>
                  <a:srgbClr val="FF0000"/>
                </a:solidFill>
                <a:latin typeface="Aptos"/>
                <a:cs typeface="Aptos"/>
              </a:rPr>
              <a:t>point</a:t>
            </a:r>
            <a:r>
              <a:rPr sz="2800" spc="-150" dirty="0">
                <a:solidFill>
                  <a:srgbClr val="FF0000"/>
                </a:solidFill>
                <a:latin typeface="Times New Roman"/>
                <a:cs typeface="Times New Roman"/>
              </a:rPr>
              <a:t> </a:t>
            </a:r>
            <a:r>
              <a:rPr sz="2800" dirty="0">
                <a:solidFill>
                  <a:srgbClr val="FF0000"/>
                </a:solidFill>
                <a:latin typeface="Aptos"/>
                <a:cs typeface="Aptos"/>
              </a:rPr>
              <a:t>in</a:t>
            </a:r>
            <a:r>
              <a:rPr sz="2800" spc="-150" dirty="0">
                <a:solidFill>
                  <a:srgbClr val="FF0000"/>
                </a:solidFill>
                <a:latin typeface="Times New Roman"/>
                <a:cs typeface="Times New Roman"/>
              </a:rPr>
              <a:t> </a:t>
            </a:r>
            <a:r>
              <a:rPr sz="2800" spc="-10" dirty="0">
                <a:solidFill>
                  <a:srgbClr val="FF0000"/>
                </a:solidFill>
                <a:latin typeface="Aptos"/>
                <a:cs typeface="Aptos"/>
              </a:rPr>
              <a:t>table.</a:t>
            </a:r>
            <a:endParaRPr sz="2800">
              <a:latin typeface="Aptos"/>
              <a:cs typeface="Aptos"/>
            </a:endParaRPr>
          </a:p>
        </p:txBody>
      </p:sp>
      <p:sp>
        <p:nvSpPr>
          <p:cNvPr id="4" name="object 4"/>
          <p:cNvSpPr txBox="1"/>
          <p:nvPr/>
        </p:nvSpPr>
        <p:spPr>
          <a:xfrm>
            <a:off x="6307835" y="1098423"/>
            <a:ext cx="2959100" cy="434340"/>
          </a:xfrm>
          <a:prstGeom prst="rect">
            <a:avLst/>
          </a:prstGeom>
          <a:solidFill>
            <a:srgbClr val="FFFF00"/>
          </a:solidFill>
        </p:spPr>
        <p:txBody>
          <a:bodyPr vert="horz" wrap="square" lIns="0" tIns="0" rIns="0" bIns="0" rtlCol="0">
            <a:spAutoFit/>
          </a:bodyPr>
          <a:lstStyle/>
          <a:p>
            <a:pPr marL="635">
              <a:lnSpc>
                <a:spcPts val="3204"/>
              </a:lnSpc>
            </a:pPr>
            <a:r>
              <a:rPr sz="2800" dirty="0">
                <a:solidFill>
                  <a:srgbClr val="FF0000"/>
                </a:solidFill>
                <a:latin typeface="Aptos"/>
                <a:cs typeface="Aptos"/>
              </a:rPr>
              <a:t>Look</a:t>
            </a:r>
            <a:r>
              <a:rPr sz="2800" spc="-140" dirty="0">
                <a:solidFill>
                  <a:srgbClr val="FF0000"/>
                </a:solidFill>
                <a:latin typeface="Times New Roman"/>
                <a:cs typeface="Times New Roman"/>
              </a:rPr>
              <a:t> </a:t>
            </a:r>
            <a:r>
              <a:rPr sz="2800" spc="-10" dirty="0">
                <a:solidFill>
                  <a:srgbClr val="FF0000"/>
                </a:solidFill>
                <a:latin typeface="Aptos"/>
                <a:cs typeface="Aptos"/>
              </a:rPr>
              <a:t>at</a:t>
            </a:r>
            <a:r>
              <a:rPr sz="2800" spc="-165" dirty="0">
                <a:solidFill>
                  <a:srgbClr val="FF0000"/>
                </a:solidFill>
                <a:latin typeface="Times New Roman"/>
                <a:cs typeface="Times New Roman"/>
              </a:rPr>
              <a:t> </a:t>
            </a:r>
            <a:r>
              <a:rPr sz="2800" spc="-10" dirty="0">
                <a:solidFill>
                  <a:srgbClr val="FF0000"/>
                </a:solidFill>
                <a:latin typeface="Aptos"/>
                <a:cs typeface="Aptos"/>
              </a:rPr>
              <a:t>slide</a:t>
            </a:r>
            <a:r>
              <a:rPr sz="2800" spc="-150" dirty="0">
                <a:solidFill>
                  <a:srgbClr val="FF0000"/>
                </a:solidFill>
                <a:latin typeface="Times New Roman"/>
                <a:cs typeface="Times New Roman"/>
              </a:rPr>
              <a:t> </a:t>
            </a:r>
            <a:r>
              <a:rPr sz="2800" spc="-10" dirty="0">
                <a:solidFill>
                  <a:srgbClr val="FF0000"/>
                </a:solidFill>
                <a:latin typeface="Aptos"/>
                <a:cs typeface="Aptos"/>
              </a:rPr>
              <a:t>no:</a:t>
            </a:r>
            <a:r>
              <a:rPr sz="2800" spc="-165" dirty="0">
                <a:solidFill>
                  <a:srgbClr val="FF0000"/>
                </a:solidFill>
                <a:latin typeface="Times New Roman"/>
                <a:cs typeface="Times New Roman"/>
              </a:rPr>
              <a:t> </a:t>
            </a:r>
            <a:r>
              <a:rPr sz="2800" spc="-25" dirty="0">
                <a:solidFill>
                  <a:srgbClr val="FF0000"/>
                </a:solidFill>
                <a:latin typeface="Aptos"/>
                <a:cs typeface="Aptos"/>
              </a:rPr>
              <a:t>38</a:t>
            </a:r>
            <a:endParaRPr sz="2800">
              <a:latin typeface="Aptos"/>
              <a:cs typeface="Aptos"/>
            </a:endParaRPr>
          </a:p>
        </p:txBody>
      </p:sp>
      <p:sp>
        <p:nvSpPr>
          <p:cNvPr id="5" name="object 5"/>
          <p:cNvSpPr txBox="1"/>
          <p:nvPr/>
        </p:nvSpPr>
        <p:spPr>
          <a:xfrm>
            <a:off x="916941" y="1961250"/>
            <a:ext cx="10194925" cy="4643120"/>
          </a:xfrm>
          <a:prstGeom prst="rect">
            <a:avLst/>
          </a:prstGeom>
        </p:spPr>
        <p:txBody>
          <a:bodyPr vert="horz" wrap="square" lIns="0" tIns="12700" rIns="0" bIns="0" rtlCol="0">
            <a:spAutoFit/>
          </a:bodyPr>
          <a:lstStyle/>
          <a:p>
            <a:pPr marL="12700" marR="885825">
              <a:lnSpc>
                <a:spcPct val="109700"/>
              </a:lnSpc>
              <a:spcBef>
                <a:spcPts val="100"/>
              </a:spcBef>
              <a:buAutoNum type="arabicParenR" startAt="10"/>
              <a:tabLst>
                <a:tab pos="571500" algn="l"/>
                <a:tab pos="1422400" algn="l"/>
                <a:tab pos="7115809" algn="l"/>
              </a:tabLst>
            </a:pPr>
            <a:r>
              <a:rPr sz="2800" spc="-20" dirty="0">
                <a:latin typeface="Aptos"/>
                <a:cs typeface="Aptos"/>
              </a:rPr>
              <a:t>Define</a:t>
            </a:r>
            <a:r>
              <a:rPr sz="2800" spc="-135" dirty="0">
                <a:latin typeface="Times New Roman"/>
                <a:cs typeface="Times New Roman"/>
              </a:rPr>
              <a:t> </a:t>
            </a:r>
            <a:r>
              <a:rPr sz="2800" spc="-10" dirty="0">
                <a:latin typeface="Aptos"/>
                <a:cs typeface="Aptos"/>
              </a:rPr>
              <a:t>OSI</a:t>
            </a:r>
            <a:r>
              <a:rPr sz="2800" spc="-135" dirty="0">
                <a:latin typeface="Times New Roman"/>
                <a:cs typeface="Times New Roman"/>
              </a:rPr>
              <a:t> </a:t>
            </a:r>
            <a:r>
              <a:rPr sz="2800" spc="-30" dirty="0">
                <a:latin typeface="Aptos"/>
                <a:cs typeface="Aptos"/>
              </a:rPr>
              <a:t>reference</a:t>
            </a:r>
            <a:r>
              <a:rPr sz="2800" spc="-114" dirty="0">
                <a:latin typeface="Times New Roman"/>
                <a:cs typeface="Times New Roman"/>
              </a:rPr>
              <a:t> </a:t>
            </a:r>
            <a:r>
              <a:rPr sz="2800" spc="-10" dirty="0">
                <a:latin typeface="Aptos"/>
                <a:cs typeface="Aptos"/>
              </a:rPr>
              <a:t>model.</a:t>
            </a:r>
            <a:r>
              <a:rPr sz="2800" spc="-125" dirty="0">
                <a:latin typeface="Times New Roman"/>
                <a:cs typeface="Times New Roman"/>
              </a:rPr>
              <a:t> </a:t>
            </a:r>
            <a:r>
              <a:rPr sz="2800" spc="-20" dirty="0">
                <a:latin typeface="Aptos"/>
                <a:cs typeface="Aptos"/>
              </a:rPr>
              <a:t>Explain</a:t>
            </a:r>
            <a:r>
              <a:rPr sz="2800" spc="-145" dirty="0">
                <a:latin typeface="Times New Roman"/>
                <a:cs typeface="Times New Roman"/>
              </a:rPr>
              <a:t> </a:t>
            </a:r>
            <a:r>
              <a:rPr sz="2800" spc="-10" dirty="0">
                <a:latin typeface="Aptos"/>
                <a:cs typeface="Aptos"/>
              </a:rPr>
              <a:t>its</a:t>
            </a:r>
            <a:r>
              <a:rPr sz="2800" spc="-135" dirty="0">
                <a:latin typeface="Times New Roman"/>
                <a:cs typeface="Times New Roman"/>
              </a:rPr>
              <a:t> </a:t>
            </a:r>
            <a:r>
              <a:rPr sz="2800" spc="-20" dirty="0">
                <a:latin typeface="Aptos"/>
                <a:cs typeface="Aptos"/>
              </a:rPr>
              <a:t>Layers.[2+6]</a:t>
            </a:r>
            <a:r>
              <a:rPr sz="2800" spc="-75" dirty="0">
                <a:latin typeface="Times New Roman"/>
                <a:cs typeface="Times New Roman"/>
              </a:rPr>
              <a:t> </a:t>
            </a:r>
            <a:r>
              <a:rPr sz="2800" spc="-20" dirty="0">
                <a:latin typeface="Aptos"/>
                <a:cs typeface="Aptos"/>
              </a:rPr>
              <a:t>vimp</a:t>
            </a:r>
            <a:r>
              <a:rPr sz="2800" spc="-20" dirty="0">
                <a:latin typeface="Times New Roman"/>
                <a:cs typeface="Times New Roman"/>
              </a:rPr>
              <a:t> </a:t>
            </a:r>
            <a:r>
              <a:rPr sz="2800" spc="-10" dirty="0">
                <a:solidFill>
                  <a:srgbClr val="FF0000"/>
                </a:solidFill>
                <a:latin typeface="Aptos"/>
                <a:cs typeface="Aptos"/>
              </a:rPr>
              <a:t>Ans</a:t>
            </a:r>
            <a:r>
              <a:rPr sz="2800" spc="-160" dirty="0">
                <a:solidFill>
                  <a:srgbClr val="FF0000"/>
                </a:solidFill>
                <a:latin typeface="Times New Roman"/>
                <a:cs typeface="Times New Roman"/>
              </a:rPr>
              <a:t> </a:t>
            </a:r>
            <a:r>
              <a:rPr sz="2800" spc="-20" dirty="0">
                <a:solidFill>
                  <a:srgbClr val="FF0000"/>
                </a:solidFill>
                <a:latin typeface="Aptos"/>
                <a:cs typeface="Aptos"/>
              </a:rPr>
              <a:t>key:</a:t>
            </a:r>
            <a:r>
              <a:rPr sz="2800" dirty="0">
                <a:solidFill>
                  <a:srgbClr val="FF0000"/>
                </a:solidFill>
                <a:latin typeface="Times New Roman"/>
                <a:cs typeface="Times New Roman"/>
              </a:rPr>
              <a:t>	</a:t>
            </a:r>
            <a:r>
              <a:rPr sz="2800" spc="-20" dirty="0">
                <a:solidFill>
                  <a:srgbClr val="FF0000"/>
                </a:solidFill>
                <a:latin typeface="Aptos"/>
                <a:cs typeface="Aptos"/>
              </a:rPr>
              <a:t>Defination</a:t>
            </a:r>
            <a:r>
              <a:rPr sz="2800" spc="-155" dirty="0">
                <a:solidFill>
                  <a:srgbClr val="FF0000"/>
                </a:solidFill>
                <a:latin typeface="Times New Roman"/>
                <a:cs typeface="Times New Roman"/>
              </a:rPr>
              <a:t> </a:t>
            </a:r>
            <a:r>
              <a:rPr sz="2800" dirty="0">
                <a:solidFill>
                  <a:srgbClr val="FF0000"/>
                </a:solidFill>
                <a:latin typeface="Aptos"/>
                <a:cs typeface="Aptos"/>
              </a:rPr>
              <a:t>of</a:t>
            </a:r>
            <a:r>
              <a:rPr sz="2800" spc="-145" dirty="0">
                <a:solidFill>
                  <a:srgbClr val="FF0000"/>
                </a:solidFill>
                <a:latin typeface="Times New Roman"/>
                <a:cs typeface="Times New Roman"/>
              </a:rPr>
              <a:t> </a:t>
            </a:r>
            <a:r>
              <a:rPr sz="2800" dirty="0">
                <a:solidFill>
                  <a:srgbClr val="FF0000"/>
                </a:solidFill>
                <a:latin typeface="Aptos"/>
                <a:cs typeface="Aptos"/>
              </a:rPr>
              <a:t>OSI</a:t>
            </a:r>
            <a:r>
              <a:rPr sz="2800" spc="-140" dirty="0">
                <a:solidFill>
                  <a:srgbClr val="FF0000"/>
                </a:solidFill>
                <a:latin typeface="Times New Roman"/>
                <a:cs typeface="Times New Roman"/>
              </a:rPr>
              <a:t> </a:t>
            </a:r>
            <a:r>
              <a:rPr sz="2800" spc="-20" dirty="0">
                <a:solidFill>
                  <a:srgbClr val="FF0000"/>
                </a:solidFill>
                <a:latin typeface="Aptos"/>
                <a:cs typeface="Aptos"/>
              </a:rPr>
              <a:t>+figure+</a:t>
            </a:r>
            <a:r>
              <a:rPr sz="2800" spc="-140" dirty="0">
                <a:solidFill>
                  <a:srgbClr val="FF0000"/>
                </a:solidFill>
                <a:latin typeface="Times New Roman"/>
                <a:cs typeface="Times New Roman"/>
              </a:rPr>
              <a:t> </a:t>
            </a:r>
            <a:r>
              <a:rPr sz="2800" spc="-10" dirty="0">
                <a:solidFill>
                  <a:srgbClr val="FF0000"/>
                </a:solidFill>
                <a:latin typeface="Aptos"/>
                <a:cs typeface="Aptos"/>
              </a:rPr>
              <a:t>Explain</a:t>
            </a:r>
            <a:r>
              <a:rPr sz="2800" spc="-150" dirty="0">
                <a:solidFill>
                  <a:srgbClr val="FF0000"/>
                </a:solidFill>
                <a:latin typeface="Times New Roman"/>
                <a:cs typeface="Times New Roman"/>
              </a:rPr>
              <a:t> </a:t>
            </a:r>
            <a:r>
              <a:rPr sz="2800" spc="-25" dirty="0">
                <a:solidFill>
                  <a:srgbClr val="FF0000"/>
                </a:solidFill>
                <a:latin typeface="Aptos"/>
                <a:cs typeface="Aptos"/>
              </a:rPr>
              <a:t>all</a:t>
            </a:r>
            <a:r>
              <a:rPr sz="2800" dirty="0">
                <a:solidFill>
                  <a:srgbClr val="FF0000"/>
                </a:solidFill>
                <a:latin typeface="Times New Roman"/>
                <a:cs typeface="Times New Roman"/>
              </a:rPr>
              <a:t>	</a:t>
            </a:r>
            <a:r>
              <a:rPr sz="2800" dirty="0">
                <a:solidFill>
                  <a:srgbClr val="FF0000"/>
                </a:solidFill>
                <a:latin typeface="Aptos"/>
                <a:cs typeface="Aptos"/>
              </a:rPr>
              <a:t>7</a:t>
            </a:r>
            <a:r>
              <a:rPr sz="2800" spc="-140" dirty="0">
                <a:solidFill>
                  <a:srgbClr val="FF0000"/>
                </a:solidFill>
                <a:latin typeface="Times New Roman"/>
                <a:cs typeface="Times New Roman"/>
              </a:rPr>
              <a:t> </a:t>
            </a:r>
            <a:r>
              <a:rPr sz="2800" spc="-10" dirty="0">
                <a:solidFill>
                  <a:srgbClr val="FF0000"/>
                </a:solidFill>
                <a:latin typeface="Aptos"/>
                <a:cs typeface="Aptos"/>
              </a:rPr>
              <a:t>layers.</a:t>
            </a:r>
            <a:endParaRPr sz="2800">
              <a:latin typeface="Aptos"/>
              <a:cs typeface="Aptos"/>
            </a:endParaRPr>
          </a:p>
          <a:p>
            <a:pPr>
              <a:lnSpc>
                <a:spcPct val="100000"/>
              </a:lnSpc>
              <a:spcBef>
                <a:spcPts val="40"/>
              </a:spcBef>
              <a:buFont typeface="Aptos"/>
              <a:buAutoNum type="arabicParenR" startAt="10"/>
            </a:pPr>
            <a:endParaRPr sz="3100">
              <a:latin typeface="Aptos"/>
              <a:cs typeface="Aptos"/>
            </a:endParaRPr>
          </a:p>
          <a:p>
            <a:pPr marL="570865" indent="-558800">
              <a:lnSpc>
                <a:spcPct val="100000"/>
              </a:lnSpc>
              <a:buAutoNum type="arabicParenR" startAt="10"/>
              <a:tabLst>
                <a:tab pos="571500" algn="l"/>
              </a:tabLst>
            </a:pPr>
            <a:r>
              <a:rPr sz="2800" spc="-25" dirty="0">
                <a:latin typeface="Aptos"/>
                <a:cs typeface="Aptos"/>
              </a:rPr>
              <a:t>What</a:t>
            </a:r>
            <a:r>
              <a:rPr sz="2800" spc="-135" dirty="0">
                <a:latin typeface="Times New Roman"/>
                <a:cs typeface="Times New Roman"/>
              </a:rPr>
              <a:t> </a:t>
            </a:r>
            <a:r>
              <a:rPr sz="2800" dirty="0">
                <a:latin typeface="Aptos"/>
                <a:cs typeface="Aptos"/>
              </a:rPr>
              <a:t>is</a:t>
            </a:r>
            <a:r>
              <a:rPr sz="2800" spc="-125" dirty="0">
                <a:latin typeface="Times New Roman"/>
                <a:cs typeface="Times New Roman"/>
              </a:rPr>
              <a:t> </a:t>
            </a:r>
            <a:r>
              <a:rPr sz="2800" spc="-20" dirty="0">
                <a:latin typeface="Aptos"/>
                <a:cs typeface="Aptos"/>
              </a:rPr>
              <a:t>Internet</a:t>
            </a:r>
            <a:r>
              <a:rPr sz="2800" spc="-140" dirty="0">
                <a:latin typeface="Times New Roman"/>
                <a:cs typeface="Times New Roman"/>
              </a:rPr>
              <a:t> </a:t>
            </a:r>
            <a:r>
              <a:rPr sz="2800" spc="-25" dirty="0">
                <a:latin typeface="Aptos"/>
                <a:cs typeface="Aptos"/>
              </a:rPr>
              <a:t>Protocol?</a:t>
            </a:r>
            <a:r>
              <a:rPr sz="2800" spc="-120" dirty="0">
                <a:latin typeface="Times New Roman"/>
                <a:cs typeface="Times New Roman"/>
              </a:rPr>
              <a:t> </a:t>
            </a:r>
            <a:r>
              <a:rPr sz="2800" spc="-20" dirty="0">
                <a:latin typeface="Aptos"/>
                <a:cs typeface="Aptos"/>
              </a:rPr>
              <a:t>Mention</a:t>
            </a:r>
            <a:r>
              <a:rPr sz="2800" spc="-120" dirty="0">
                <a:latin typeface="Times New Roman"/>
                <a:cs typeface="Times New Roman"/>
              </a:rPr>
              <a:t> </a:t>
            </a:r>
            <a:r>
              <a:rPr sz="2800" spc="-10" dirty="0">
                <a:latin typeface="Aptos"/>
                <a:cs typeface="Aptos"/>
              </a:rPr>
              <a:t>its</a:t>
            </a:r>
            <a:r>
              <a:rPr sz="2800" spc="-135" dirty="0">
                <a:latin typeface="Times New Roman"/>
                <a:cs typeface="Times New Roman"/>
              </a:rPr>
              <a:t> </a:t>
            </a:r>
            <a:r>
              <a:rPr sz="2800" spc="-20" dirty="0">
                <a:latin typeface="Aptos"/>
                <a:cs typeface="Aptos"/>
              </a:rPr>
              <a:t>types.</a:t>
            </a:r>
            <a:r>
              <a:rPr sz="2800" spc="-120" dirty="0">
                <a:latin typeface="Times New Roman"/>
                <a:cs typeface="Times New Roman"/>
              </a:rPr>
              <a:t> </a:t>
            </a:r>
            <a:r>
              <a:rPr sz="2800" spc="-10" dirty="0">
                <a:latin typeface="Aptos"/>
                <a:cs typeface="Aptos"/>
              </a:rPr>
              <a:t>[1+4]</a:t>
            </a:r>
            <a:endParaRPr sz="2800">
              <a:latin typeface="Aptos"/>
              <a:cs typeface="Aptos"/>
            </a:endParaRPr>
          </a:p>
          <a:p>
            <a:pPr marL="12700">
              <a:lnSpc>
                <a:spcPct val="100000"/>
              </a:lnSpc>
              <a:spcBef>
                <a:spcPts val="325"/>
              </a:spcBef>
              <a:tabLst>
                <a:tab pos="1422400" algn="l"/>
              </a:tabLst>
            </a:pPr>
            <a:r>
              <a:rPr sz="2800" spc="-10" dirty="0">
                <a:solidFill>
                  <a:srgbClr val="FF0000"/>
                </a:solidFill>
                <a:latin typeface="Aptos"/>
                <a:cs typeface="Aptos"/>
              </a:rPr>
              <a:t>Ans</a:t>
            </a:r>
            <a:r>
              <a:rPr sz="2800" spc="-160" dirty="0">
                <a:solidFill>
                  <a:srgbClr val="FF0000"/>
                </a:solidFill>
                <a:latin typeface="Times New Roman"/>
                <a:cs typeface="Times New Roman"/>
              </a:rPr>
              <a:t> </a:t>
            </a:r>
            <a:r>
              <a:rPr sz="2800" spc="-20" dirty="0">
                <a:solidFill>
                  <a:srgbClr val="FF0000"/>
                </a:solidFill>
                <a:latin typeface="Aptos"/>
                <a:cs typeface="Aptos"/>
              </a:rPr>
              <a:t>key:</a:t>
            </a:r>
            <a:r>
              <a:rPr sz="2800" dirty="0">
                <a:solidFill>
                  <a:srgbClr val="FF0000"/>
                </a:solidFill>
                <a:latin typeface="Times New Roman"/>
                <a:cs typeface="Times New Roman"/>
              </a:rPr>
              <a:t>	</a:t>
            </a:r>
            <a:r>
              <a:rPr sz="2800" spc="-20" dirty="0">
                <a:solidFill>
                  <a:srgbClr val="FF0000"/>
                </a:solidFill>
                <a:latin typeface="Aptos"/>
                <a:cs typeface="Aptos"/>
              </a:rPr>
              <a:t>Defination</a:t>
            </a:r>
            <a:r>
              <a:rPr sz="2800" spc="-135" dirty="0">
                <a:solidFill>
                  <a:srgbClr val="FF0000"/>
                </a:solidFill>
                <a:latin typeface="Times New Roman"/>
                <a:cs typeface="Times New Roman"/>
              </a:rPr>
              <a:t> </a:t>
            </a:r>
            <a:r>
              <a:rPr sz="2800" dirty="0">
                <a:solidFill>
                  <a:srgbClr val="FF0000"/>
                </a:solidFill>
                <a:latin typeface="Aptos"/>
                <a:cs typeface="Aptos"/>
              </a:rPr>
              <a:t>of</a:t>
            </a:r>
            <a:r>
              <a:rPr sz="2800" spc="-120" dirty="0">
                <a:solidFill>
                  <a:srgbClr val="FF0000"/>
                </a:solidFill>
                <a:latin typeface="Times New Roman"/>
                <a:cs typeface="Times New Roman"/>
              </a:rPr>
              <a:t> </a:t>
            </a:r>
            <a:r>
              <a:rPr sz="2800" spc="-20" dirty="0">
                <a:solidFill>
                  <a:srgbClr val="FF0000"/>
                </a:solidFill>
                <a:latin typeface="Aptos"/>
                <a:cs typeface="Aptos"/>
              </a:rPr>
              <a:t>Internet</a:t>
            </a:r>
            <a:r>
              <a:rPr sz="2800" spc="-135" dirty="0">
                <a:solidFill>
                  <a:srgbClr val="FF0000"/>
                </a:solidFill>
                <a:latin typeface="Times New Roman"/>
                <a:cs typeface="Times New Roman"/>
              </a:rPr>
              <a:t> </a:t>
            </a:r>
            <a:r>
              <a:rPr sz="2800" spc="-20" dirty="0">
                <a:solidFill>
                  <a:srgbClr val="FF0000"/>
                </a:solidFill>
                <a:latin typeface="Aptos"/>
                <a:cs typeface="Aptos"/>
              </a:rPr>
              <a:t>Protocol+</a:t>
            </a:r>
            <a:r>
              <a:rPr sz="2800" spc="-110" dirty="0">
                <a:solidFill>
                  <a:srgbClr val="FF0000"/>
                </a:solidFill>
                <a:latin typeface="Times New Roman"/>
                <a:cs typeface="Times New Roman"/>
              </a:rPr>
              <a:t> </a:t>
            </a:r>
            <a:r>
              <a:rPr sz="2800" spc="-20" dirty="0">
                <a:solidFill>
                  <a:srgbClr val="FF0000"/>
                </a:solidFill>
                <a:latin typeface="Aptos"/>
                <a:cs typeface="Aptos"/>
              </a:rPr>
              <a:t>Explian</a:t>
            </a:r>
            <a:r>
              <a:rPr sz="2800" spc="-130" dirty="0">
                <a:solidFill>
                  <a:srgbClr val="FF0000"/>
                </a:solidFill>
                <a:latin typeface="Times New Roman"/>
                <a:cs typeface="Times New Roman"/>
              </a:rPr>
              <a:t> </a:t>
            </a:r>
            <a:r>
              <a:rPr sz="2800" dirty="0">
                <a:solidFill>
                  <a:srgbClr val="FF0000"/>
                </a:solidFill>
                <a:latin typeface="Aptos"/>
                <a:cs typeface="Aptos"/>
              </a:rPr>
              <a:t>all</a:t>
            </a:r>
            <a:r>
              <a:rPr sz="2800" spc="-125" dirty="0">
                <a:solidFill>
                  <a:srgbClr val="FF0000"/>
                </a:solidFill>
                <a:latin typeface="Times New Roman"/>
                <a:cs typeface="Times New Roman"/>
              </a:rPr>
              <a:t> </a:t>
            </a:r>
            <a:r>
              <a:rPr sz="2800" spc="-10" dirty="0">
                <a:solidFill>
                  <a:srgbClr val="FF0000"/>
                </a:solidFill>
                <a:latin typeface="Aptos"/>
                <a:cs typeface="Aptos"/>
              </a:rPr>
              <a:t>types.</a:t>
            </a:r>
            <a:endParaRPr sz="2800">
              <a:latin typeface="Aptos"/>
              <a:cs typeface="Aptos"/>
            </a:endParaRPr>
          </a:p>
          <a:p>
            <a:pPr marL="572135" marR="405765" indent="-572135">
              <a:lnSpc>
                <a:spcPts val="2690"/>
              </a:lnSpc>
              <a:spcBef>
                <a:spcPts val="985"/>
              </a:spcBef>
              <a:buAutoNum type="arabicParenR" startAt="12"/>
              <a:tabLst>
                <a:tab pos="572135" algn="l"/>
              </a:tabLst>
            </a:pPr>
            <a:r>
              <a:rPr sz="2800" spc="-25" dirty="0">
                <a:latin typeface="Aptos"/>
                <a:cs typeface="Aptos"/>
              </a:rPr>
              <a:t>Differentiate</a:t>
            </a:r>
            <a:r>
              <a:rPr sz="2800" spc="-150" dirty="0">
                <a:latin typeface="Times New Roman"/>
                <a:cs typeface="Times New Roman"/>
              </a:rPr>
              <a:t> </a:t>
            </a:r>
            <a:r>
              <a:rPr sz="2800" spc="-20" dirty="0">
                <a:latin typeface="Aptos"/>
                <a:cs typeface="Aptos"/>
              </a:rPr>
              <a:t>between</a:t>
            </a:r>
            <a:r>
              <a:rPr sz="2800" spc="-130" dirty="0">
                <a:latin typeface="Times New Roman"/>
                <a:cs typeface="Times New Roman"/>
              </a:rPr>
              <a:t> </a:t>
            </a:r>
            <a:r>
              <a:rPr sz="2800" spc="-20" dirty="0">
                <a:latin typeface="Aptos"/>
                <a:cs typeface="Aptos"/>
              </a:rPr>
              <a:t>Client</a:t>
            </a:r>
            <a:r>
              <a:rPr sz="2800" spc="-135" dirty="0">
                <a:latin typeface="Times New Roman"/>
                <a:cs typeface="Times New Roman"/>
              </a:rPr>
              <a:t> </a:t>
            </a:r>
            <a:r>
              <a:rPr sz="2800" spc="-10" dirty="0">
                <a:latin typeface="Aptos"/>
                <a:cs typeface="Aptos"/>
              </a:rPr>
              <a:t>Server</a:t>
            </a:r>
            <a:r>
              <a:rPr sz="2800" spc="-120" dirty="0">
                <a:latin typeface="Times New Roman"/>
                <a:cs typeface="Times New Roman"/>
              </a:rPr>
              <a:t> </a:t>
            </a:r>
            <a:r>
              <a:rPr sz="2800" spc="-10" dirty="0">
                <a:latin typeface="Aptos"/>
                <a:cs typeface="Aptos"/>
              </a:rPr>
              <a:t>and</a:t>
            </a:r>
            <a:r>
              <a:rPr sz="2800" spc="-130" dirty="0">
                <a:latin typeface="Times New Roman"/>
                <a:cs typeface="Times New Roman"/>
              </a:rPr>
              <a:t> </a:t>
            </a:r>
            <a:r>
              <a:rPr sz="2800" spc="-45" dirty="0">
                <a:latin typeface="Aptos"/>
                <a:cs typeface="Aptos"/>
              </a:rPr>
              <a:t>Peer</a:t>
            </a:r>
            <a:r>
              <a:rPr sz="2800" spc="-105" dirty="0">
                <a:latin typeface="Times New Roman"/>
                <a:cs typeface="Times New Roman"/>
              </a:rPr>
              <a:t> </a:t>
            </a:r>
            <a:r>
              <a:rPr sz="2800" dirty="0">
                <a:latin typeface="Aptos"/>
                <a:cs typeface="Aptos"/>
              </a:rPr>
              <a:t>to</a:t>
            </a:r>
            <a:r>
              <a:rPr sz="2800" spc="-114" dirty="0">
                <a:latin typeface="Times New Roman"/>
                <a:cs typeface="Times New Roman"/>
              </a:rPr>
              <a:t> </a:t>
            </a:r>
            <a:r>
              <a:rPr sz="2800" spc="-45" dirty="0">
                <a:latin typeface="Aptos"/>
                <a:cs typeface="Aptos"/>
              </a:rPr>
              <a:t>Peer</a:t>
            </a:r>
            <a:r>
              <a:rPr sz="2800" spc="-120" dirty="0">
                <a:latin typeface="Times New Roman"/>
                <a:cs typeface="Times New Roman"/>
              </a:rPr>
              <a:t> </a:t>
            </a:r>
            <a:r>
              <a:rPr sz="2800" spc="-10" dirty="0">
                <a:latin typeface="Aptos"/>
                <a:cs typeface="Aptos"/>
              </a:rPr>
              <a:t>network</a:t>
            </a:r>
            <a:r>
              <a:rPr sz="2800" spc="-10" dirty="0">
                <a:latin typeface="Times New Roman"/>
                <a:cs typeface="Times New Roman"/>
              </a:rPr>
              <a:t> </a:t>
            </a:r>
            <a:r>
              <a:rPr sz="2800" spc="-30" dirty="0">
                <a:latin typeface="Aptos"/>
                <a:cs typeface="Aptos"/>
              </a:rPr>
              <a:t>architecture?</a:t>
            </a:r>
            <a:r>
              <a:rPr sz="2800" spc="-110" dirty="0">
                <a:latin typeface="Times New Roman"/>
                <a:cs typeface="Times New Roman"/>
              </a:rPr>
              <a:t> </a:t>
            </a:r>
            <a:r>
              <a:rPr sz="2800" spc="-25" dirty="0">
                <a:latin typeface="Aptos"/>
                <a:cs typeface="Aptos"/>
              </a:rPr>
              <a:t>[5]</a:t>
            </a:r>
            <a:endParaRPr sz="2800">
              <a:latin typeface="Aptos"/>
              <a:cs typeface="Aptos"/>
            </a:endParaRPr>
          </a:p>
          <a:p>
            <a:pPr marL="12700">
              <a:lnSpc>
                <a:spcPct val="100000"/>
              </a:lnSpc>
              <a:spcBef>
                <a:spcPts val="345"/>
              </a:spcBef>
              <a:tabLst>
                <a:tab pos="1421130" algn="l"/>
              </a:tabLst>
            </a:pPr>
            <a:r>
              <a:rPr sz="2800" spc="-10" dirty="0">
                <a:solidFill>
                  <a:srgbClr val="FF0000"/>
                </a:solidFill>
                <a:latin typeface="Aptos"/>
                <a:cs typeface="Aptos"/>
              </a:rPr>
              <a:t>Ans</a:t>
            </a:r>
            <a:r>
              <a:rPr sz="2800" spc="-160" dirty="0">
                <a:solidFill>
                  <a:srgbClr val="FF0000"/>
                </a:solidFill>
                <a:latin typeface="Times New Roman"/>
                <a:cs typeface="Times New Roman"/>
              </a:rPr>
              <a:t> </a:t>
            </a:r>
            <a:r>
              <a:rPr sz="2800" spc="-20" dirty="0">
                <a:solidFill>
                  <a:srgbClr val="FF0000"/>
                </a:solidFill>
                <a:latin typeface="Aptos"/>
                <a:cs typeface="Aptos"/>
              </a:rPr>
              <a:t>key:</a:t>
            </a:r>
            <a:r>
              <a:rPr sz="2800" dirty="0">
                <a:solidFill>
                  <a:srgbClr val="FF0000"/>
                </a:solidFill>
                <a:latin typeface="Times New Roman"/>
                <a:cs typeface="Times New Roman"/>
              </a:rPr>
              <a:t>	</a:t>
            </a:r>
            <a:r>
              <a:rPr sz="2800" spc="-20" dirty="0">
                <a:solidFill>
                  <a:srgbClr val="FF0000"/>
                </a:solidFill>
                <a:latin typeface="Aptos"/>
                <a:cs typeface="Aptos"/>
              </a:rPr>
              <a:t>at</a:t>
            </a:r>
            <a:r>
              <a:rPr sz="2800" spc="-155" dirty="0">
                <a:solidFill>
                  <a:srgbClr val="FF0000"/>
                </a:solidFill>
                <a:latin typeface="Times New Roman"/>
                <a:cs typeface="Times New Roman"/>
              </a:rPr>
              <a:t> </a:t>
            </a:r>
            <a:r>
              <a:rPr sz="2800" spc="-10" dirty="0">
                <a:solidFill>
                  <a:srgbClr val="FF0000"/>
                </a:solidFill>
                <a:latin typeface="Aptos"/>
                <a:cs typeface="Aptos"/>
              </a:rPr>
              <a:t>least</a:t>
            </a:r>
            <a:r>
              <a:rPr sz="2800" spc="-155" dirty="0">
                <a:solidFill>
                  <a:srgbClr val="FF0000"/>
                </a:solidFill>
                <a:latin typeface="Times New Roman"/>
                <a:cs typeface="Times New Roman"/>
              </a:rPr>
              <a:t> </a:t>
            </a:r>
            <a:r>
              <a:rPr sz="2800" spc="-20" dirty="0">
                <a:solidFill>
                  <a:srgbClr val="FF0000"/>
                </a:solidFill>
                <a:latin typeface="Aptos"/>
                <a:cs typeface="Aptos"/>
              </a:rPr>
              <a:t>five</a:t>
            </a:r>
            <a:r>
              <a:rPr sz="2800" spc="-155" dirty="0">
                <a:solidFill>
                  <a:srgbClr val="FF0000"/>
                </a:solidFill>
                <a:latin typeface="Times New Roman"/>
                <a:cs typeface="Times New Roman"/>
              </a:rPr>
              <a:t> </a:t>
            </a:r>
            <a:r>
              <a:rPr sz="2800" spc="-10" dirty="0">
                <a:solidFill>
                  <a:srgbClr val="FF0000"/>
                </a:solidFill>
                <a:latin typeface="Aptos"/>
                <a:cs typeface="Aptos"/>
              </a:rPr>
              <a:t>point</a:t>
            </a:r>
            <a:r>
              <a:rPr sz="2800" spc="-150" dirty="0">
                <a:solidFill>
                  <a:srgbClr val="FF0000"/>
                </a:solidFill>
                <a:latin typeface="Times New Roman"/>
                <a:cs typeface="Times New Roman"/>
              </a:rPr>
              <a:t> </a:t>
            </a:r>
            <a:r>
              <a:rPr sz="2800" dirty="0">
                <a:solidFill>
                  <a:srgbClr val="FF0000"/>
                </a:solidFill>
                <a:latin typeface="Aptos"/>
                <a:cs typeface="Aptos"/>
              </a:rPr>
              <a:t>in</a:t>
            </a:r>
            <a:r>
              <a:rPr sz="2800" spc="-150" dirty="0">
                <a:solidFill>
                  <a:srgbClr val="FF0000"/>
                </a:solidFill>
                <a:latin typeface="Times New Roman"/>
                <a:cs typeface="Times New Roman"/>
              </a:rPr>
              <a:t> </a:t>
            </a:r>
            <a:r>
              <a:rPr sz="2800" spc="-10" dirty="0">
                <a:solidFill>
                  <a:srgbClr val="FF0000"/>
                </a:solidFill>
                <a:latin typeface="Aptos"/>
                <a:cs typeface="Aptos"/>
              </a:rPr>
              <a:t>table.</a:t>
            </a:r>
            <a:endParaRPr sz="2800">
              <a:latin typeface="Aptos"/>
              <a:cs typeface="Aptos"/>
            </a:endParaRPr>
          </a:p>
          <a:p>
            <a:pPr marL="12700">
              <a:lnSpc>
                <a:spcPct val="100000"/>
              </a:lnSpc>
              <a:spcBef>
                <a:spcPts val="325"/>
              </a:spcBef>
            </a:pPr>
            <a:r>
              <a:rPr sz="2800" spc="-10" dirty="0">
                <a:latin typeface="Aptos"/>
                <a:cs typeface="Aptos"/>
              </a:rPr>
              <a:t>Visit</a:t>
            </a:r>
            <a:r>
              <a:rPr sz="2800" spc="-165" dirty="0">
                <a:latin typeface="Times New Roman"/>
                <a:cs typeface="Times New Roman"/>
              </a:rPr>
              <a:t> </a:t>
            </a:r>
            <a:r>
              <a:rPr sz="2800" dirty="0">
                <a:latin typeface="Aptos"/>
                <a:cs typeface="Aptos"/>
              </a:rPr>
              <a:t>slide</a:t>
            </a:r>
            <a:r>
              <a:rPr sz="2800" spc="-150" dirty="0">
                <a:latin typeface="Times New Roman"/>
                <a:cs typeface="Times New Roman"/>
              </a:rPr>
              <a:t> </a:t>
            </a:r>
            <a:r>
              <a:rPr sz="2800" dirty="0">
                <a:latin typeface="Aptos"/>
                <a:cs typeface="Aptos"/>
              </a:rPr>
              <a:t>no:</a:t>
            </a:r>
            <a:r>
              <a:rPr sz="2800" spc="-155" dirty="0">
                <a:latin typeface="Times New Roman"/>
                <a:cs typeface="Times New Roman"/>
              </a:rPr>
              <a:t> </a:t>
            </a:r>
            <a:r>
              <a:rPr sz="2800" dirty="0">
                <a:latin typeface="Aptos"/>
                <a:cs typeface="Aptos"/>
              </a:rPr>
              <a:t>71,</a:t>
            </a:r>
            <a:r>
              <a:rPr sz="2800" spc="-125" dirty="0">
                <a:latin typeface="Times New Roman"/>
                <a:cs typeface="Times New Roman"/>
              </a:rPr>
              <a:t> </a:t>
            </a:r>
            <a:r>
              <a:rPr sz="2800" dirty="0">
                <a:latin typeface="Aptos"/>
                <a:cs typeface="Aptos"/>
              </a:rPr>
              <a:t>72</a:t>
            </a:r>
            <a:r>
              <a:rPr sz="2800" spc="-140" dirty="0">
                <a:latin typeface="Times New Roman"/>
                <a:cs typeface="Times New Roman"/>
              </a:rPr>
              <a:t> </a:t>
            </a:r>
            <a:r>
              <a:rPr sz="2800" spc="-10" dirty="0">
                <a:latin typeface="Aptos"/>
                <a:cs typeface="Aptos"/>
              </a:rPr>
              <a:t>and</a:t>
            </a:r>
            <a:r>
              <a:rPr sz="2800" spc="-155" dirty="0">
                <a:latin typeface="Times New Roman"/>
                <a:cs typeface="Times New Roman"/>
              </a:rPr>
              <a:t> </a:t>
            </a:r>
            <a:r>
              <a:rPr sz="2800" dirty="0">
                <a:latin typeface="Aptos"/>
                <a:cs typeface="Aptos"/>
              </a:rPr>
              <a:t>75</a:t>
            </a:r>
            <a:r>
              <a:rPr sz="2800" spc="-140" dirty="0">
                <a:latin typeface="Times New Roman"/>
                <a:cs typeface="Times New Roman"/>
              </a:rPr>
              <a:t> </a:t>
            </a:r>
            <a:r>
              <a:rPr sz="2800" spc="-10" dirty="0">
                <a:latin typeface="Aptos"/>
                <a:cs typeface="Aptos"/>
              </a:rPr>
              <a:t>for</a:t>
            </a:r>
            <a:r>
              <a:rPr sz="2800" spc="-150" dirty="0">
                <a:latin typeface="Times New Roman"/>
                <a:cs typeface="Times New Roman"/>
              </a:rPr>
              <a:t> </a:t>
            </a:r>
            <a:r>
              <a:rPr sz="2800" spc="-20" dirty="0">
                <a:latin typeface="Aptos"/>
                <a:cs typeface="Aptos"/>
              </a:rPr>
              <a:t>furthermore</a:t>
            </a:r>
            <a:r>
              <a:rPr sz="2800" spc="-155" dirty="0">
                <a:latin typeface="Times New Roman"/>
                <a:cs typeface="Times New Roman"/>
              </a:rPr>
              <a:t> </a:t>
            </a:r>
            <a:r>
              <a:rPr sz="2800" spc="-10" dirty="0">
                <a:latin typeface="Aptos"/>
                <a:cs typeface="Aptos"/>
              </a:rPr>
              <a:t>info</a:t>
            </a:r>
            <a:r>
              <a:rPr sz="2800" spc="-150" dirty="0">
                <a:latin typeface="Times New Roman"/>
                <a:cs typeface="Times New Roman"/>
              </a:rPr>
              <a:t> </a:t>
            </a:r>
            <a:r>
              <a:rPr sz="2800" spc="-10" dirty="0">
                <a:latin typeface="Aptos"/>
                <a:cs typeface="Aptos"/>
              </a:rPr>
              <a:t>about</a:t>
            </a:r>
            <a:r>
              <a:rPr sz="2800" spc="-150" dirty="0">
                <a:latin typeface="Times New Roman"/>
                <a:cs typeface="Times New Roman"/>
              </a:rPr>
              <a:t> </a:t>
            </a:r>
            <a:r>
              <a:rPr sz="2800" spc="-10" dirty="0">
                <a:latin typeface="Aptos"/>
                <a:cs typeface="Aptos"/>
              </a:rPr>
              <a:t>basic</a:t>
            </a:r>
            <a:r>
              <a:rPr sz="2800" spc="-140" dirty="0">
                <a:latin typeface="Times New Roman"/>
                <a:cs typeface="Times New Roman"/>
              </a:rPr>
              <a:t> </a:t>
            </a:r>
            <a:r>
              <a:rPr sz="2800" spc="-10" dirty="0">
                <a:latin typeface="Aptos"/>
                <a:cs typeface="Aptos"/>
              </a:rPr>
              <a:t>terms.</a:t>
            </a:r>
            <a:endParaRPr sz="2800">
              <a:latin typeface="Aptos"/>
              <a:cs typeface="Aptos"/>
            </a:endParaRPr>
          </a:p>
          <a:p>
            <a:pPr marR="586740" algn="ctr">
              <a:lnSpc>
                <a:spcPct val="100000"/>
              </a:lnSpc>
              <a:spcBef>
                <a:spcPts val="2005"/>
              </a:spcBef>
            </a:pPr>
            <a:r>
              <a:rPr sz="1800" dirty="0">
                <a:latin typeface="Aptos"/>
                <a:cs typeface="Aptos"/>
              </a:rPr>
              <a:t>THE</a:t>
            </a:r>
            <a:r>
              <a:rPr sz="1800" spc="-85" dirty="0">
                <a:latin typeface="Times New Roman"/>
                <a:cs typeface="Times New Roman"/>
              </a:rPr>
              <a:t> </a:t>
            </a:r>
            <a:r>
              <a:rPr sz="1800" spc="-25" dirty="0">
                <a:latin typeface="Aptos"/>
                <a:cs typeface="Aptos"/>
              </a:rPr>
              <a:t>END</a:t>
            </a:r>
            <a:endParaRPr sz="1800">
              <a:latin typeface="Aptos"/>
              <a:cs typeface="Aptos"/>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79272" y="248793"/>
            <a:ext cx="4636770" cy="434340"/>
          </a:xfrm>
          <a:prstGeom prst="rect">
            <a:avLst/>
          </a:prstGeom>
          <a:solidFill>
            <a:srgbClr val="00FF00"/>
          </a:solidFill>
        </p:spPr>
        <p:txBody>
          <a:bodyPr vert="horz" wrap="square" lIns="0" tIns="0" rIns="0" bIns="0" rtlCol="0">
            <a:spAutoFit/>
          </a:bodyPr>
          <a:lstStyle/>
          <a:p>
            <a:pPr>
              <a:lnSpc>
                <a:spcPts val="3229"/>
              </a:lnSpc>
            </a:pPr>
            <a:r>
              <a:rPr sz="2950" i="1" spc="-85" dirty="0">
                <a:solidFill>
                  <a:srgbClr val="FF0000"/>
                </a:solidFill>
                <a:latin typeface="Aptos"/>
                <a:cs typeface="Aptos"/>
              </a:rPr>
              <a:t>Revision</a:t>
            </a:r>
            <a:r>
              <a:rPr sz="2950" spc="-150" dirty="0">
                <a:solidFill>
                  <a:srgbClr val="FF0000"/>
                </a:solidFill>
                <a:latin typeface="Times New Roman"/>
                <a:cs typeface="Times New Roman"/>
              </a:rPr>
              <a:t> </a:t>
            </a:r>
            <a:r>
              <a:rPr sz="2950" i="1" spc="-85" dirty="0">
                <a:solidFill>
                  <a:srgbClr val="FF0000"/>
                </a:solidFill>
                <a:latin typeface="Aptos"/>
                <a:cs typeface="Aptos"/>
              </a:rPr>
              <a:t>for</a:t>
            </a:r>
            <a:r>
              <a:rPr sz="2950" spc="-145" dirty="0">
                <a:solidFill>
                  <a:srgbClr val="FF0000"/>
                </a:solidFill>
                <a:latin typeface="Times New Roman"/>
                <a:cs typeface="Times New Roman"/>
              </a:rPr>
              <a:t> </a:t>
            </a:r>
            <a:r>
              <a:rPr sz="2950" i="1" spc="-95" dirty="0">
                <a:solidFill>
                  <a:srgbClr val="FF0000"/>
                </a:solidFill>
                <a:latin typeface="Aptos"/>
                <a:cs typeface="Aptos"/>
              </a:rPr>
              <a:t>second</a:t>
            </a:r>
            <a:r>
              <a:rPr sz="2950" spc="-125" dirty="0">
                <a:solidFill>
                  <a:srgbClr val="FF0000"/>
                </a:solidFill>
                <a:latin typeface="Times New Roman"/>
                <a:cs typeface="Times New Roman"/>
              </a:rPr>
              <a:t> </a:t>
            </a:r>
            <a:r>
              <a:rPr sz="2950" i="1" spc="-100" dirty="0">
                <a:solidFill>
                  <a:srgbClr val="FF0000"/>
                </a:solidFill>
                <a:latin typeface="Aptos"/>
                <a:cs typeface="Aptos"/>
              </a:rPr>
              <a:t>term</a:t>
            </a:r>
            <a:r>
              <a:rPr sz="2950" spc="-155" dirty="0">
                <a:solidFill>
                  <a:srgbClr val="FF0000"/>
                </a:solidFill>
                <a:latin typeface="Times New Roman"/>
                <a:cs typeface="Times New Roman"/>
              </a:rPr>
              <a:t> </a:t>
            </a:r>
            <a:r>
              <a:rPr sz="2950" i="1" spc="-25" dirty="0">
                <a:solidFill>
                  <a:srgbClr val="FF0000"/>
                </a:solidFill>
                <a:latin typeface="Aptos"/>
                <a:cs typeface="Aptos"/>
              </a:rPr>
              <a:t>2082</a:t>
            </a:r>
            <a:endParaRPr sz="2950">
              <a:latin typeface="Aptos"/>
              <a:cs typeface="Aptos"/>
            </a:endParaRPr>
          </a:p>
        </p:txBody>
      </p:sp>
      <p:sp>
        <p:nvSpPr>
          <p:cNvPr id="3" name="object 3"/>
          <p:cNvSpPr txBox="1"/>
          <p:nvPr/>
        </p:nvSpPr>
        <p:spPr>
          <a:xfrm>
            <a:off x="679272" y="759333"/>
            <a:ext cx="2176780" cy="434340"/>
          </a:xfrm>
          <a:prstGeom prst="rect">
            <a:avLst/>
          </a:prstGeom>
          <a:solidFill>
            <a:srgbClr val="FFFF00"/>
          </a:solidFill>
        </p:spPr>
        <p:txBody>
          <a:bodyPr vert="horz" wrap="square" lIns="0" tIns="0" rIns="0" bIns="0" rtlCol="0">
            <a:spAutoFit/>
          </a:bodyPr>
          <a:lstStyle/>
          <a:p>
            <a:pPr>
              <a:lnSpc>
                <a:spcPts val="3200"/>
              </a:lnSpc>
            </a:pPr>
            <a:r>
              <a:rPr sz="2800" dirty="0">
                <a:solidFill>
                  <a:srgbClr val="FF0000"/>
                </a:solidFill>
                <a:latin typeface="Aptos"/>
                <a:cs typeface="Aptos"/>
              </a:rPr>
              <a:t>Long</a:t>
            </a:r>
            <a:r>
              <a:rPr sz="2800" spc="-170" dirty="0">
                <a:solidFill>
                  <a:srgbClr val="FF0000"/>
                </a:solidFill>
                <a:latin typeface="Times New Roman"/>
                <a:cs typeface="Times New Roman"/>
              </a:rPr>
              <a:t> </a:t>
            </a:r>
            <a:r>
              <a:rPr sz="2800" spc="-10" dirty="0">
                <a:solidFill>
                  <a:srgbClr val="FF0000"/>
                </a:solidFill>
                <a:latin typeface="Aptos"/>
                <a:cs typeface="Aptos"/>
              </a:rPr>
              <a:t>question</a:t>
            </a:r>
            <a:endParaRPr sz="2800">
              <a:latin typeface="Aptos"/>
              <a:cs typeface="Aptos"/>
            </a:endParaRPr>
          </a:p>
        </p:txBody>
      </p:sp>
      <p:sp>
        <p:nvSpPr>
          <p:cNvPr id="4" name="object 4"/>
          <p:cNvSpPr txBox="1"/>
          <p:nvPr/>
        </p:nvSpPr>
        <p:spPr>
          <a:xfrm>
            <a:off x="666701" y="1248525"/>
            <a:ext cx="10967085" cy="1508760"/>
          </a:xfrm>
          <a:prstGeom prst="rect">
            <a:avLst/>
          </a:prstGeom>
        </p:spPr>
        <p:txBody>
          <a:bodyPr vert="horz" wrap="square" lIns="0" tIns="53975" rIns="0" bIns="0" rtlCol="0">
            <a:spAutoFit/>
          </a:bodyPr>
          <a:lstStyle/>
          <a:p>
            <a:pPr marL="469900" marR="773430" indent="-457200">
              <a:lnSpc>
                <a:spcPts val="2590"/>
              </a:lnSpc>
              <a:spcBef>
                <a:spcPts val="425"/>
              </a:spcBef>
              <a:buAutoNum type="arabicPeriod"/>
              <a:tabLst>
                <a:tab pos="469265" algn="l"/>
                <a:tab pos="469900" algn="l"/>
              </a:tabLst>
            </a:pPr>
            <a:r>
              <a:rPr sz="2400" spc="-10" dirty="0">
                <a:latin typeface="Aptos"/>
                <a:cs typeface="Aptos"/>
              </a:rPr>
              <a:t>What</a:t>
            </a:r>
            <a:r>
              <a:rPr sz="2400" spc="-125" dirty="0">
                <a:latin typeface="Times New Roman"/>
                <a:cs typeface="Times New Roman"/>
              </a:rPr>
              <a:t> </a:t>
            </a:r>
            <a:r>
              <a:rPr sz="2400" spc="-10" dirty="0">
                <a:latin typeface="Aptos"/>
                <a:cs typeface="Aptos"/>
              </a:rPr>
              <a:t>are</a:t>
            </a:r>
            <a:r>
              <a:rPr sz="2400" spc="-120" dirty="0">
                <a:latin typeface="Times New Roman"/>
                <a:cs typeface="Times New Roman"/>
              </a:rPr>
              <a:t> </a:t>
            </a:r>
            <a:r>
              <a:rPr sz="2400" spc="-10" dirty="0">
                <a:latin typeface="Aptos"/>
                <a:cs typeface="Aptos"/>
              </a:rPr>
              <a:t>network</a:t>
            </a:r>
            <a:r>
              <a:rPr sz="2400" spc="-120" dirty="0">
                <a:latin typeface="Times New Roman"/>
                <a:cs typeface="Times New Roman"/>
              </a:rPr>
              <a:t> </a:t>
            </a:r>
            <a:r>
              <a:rPr sz="2400" spc="-10" dirty="0">
                <a:latin typeface="Aptos"/>
                <a:cs typeface="Aptos"/>
              </a:rPr>
              <a:t>topologies?</a:t>
            </a:r>
            <a:r>
              <a:rPr sz="2400" spc="-110" dirty="0">
                <a:latin typeface="Times New Roman"/>
                <a:cs typeface="Times New Roman"/>
              </a:rPr>
              <a:t> </a:t>
            </a:r>
            <a:r>
              <a:rPr sz="2400" dirty="0">
                <a:latin typeface="Aptos"/>
                <a:cs typeface="Aptos"/>
              </a:rPr>
              <a:t>Describe</a:t>
            </a:r>
            <a:r>
              <a:rPr sz="2400" spc="-110" dirty="0">
                <a:latin typeface="Times New Roman"/>
                <a:cs typeface="Times New Roman"/>
              </a:rPr>
              <a:t> </a:t>
            </a:r>
            <a:r>
              <a:rPr sz="2400" dirty="0">
                <a:latin typeface="Aptos"/>
                <a:cs typeface="Aptos"/>
              </a:rPr>
              <a:t>its</a:t>
            </a:r>
            <a:r>
              <a:rPr sz="2400" spc="-120" dirty="0">
                <a:latin typeface="Times New Roman"/>
                <a:cs typeface="Times New Roman"/>
              </a:rPr>
              <a:t> </a:t>
            </a:r>
            <a:r>
              <a:rPr sz="2400" dirty="0">
                <a:latin typeface="Aptos"/>
                <a:cs typeface="Aptos"/>
              </a:rPr>
              <a:t>types</a:t>
            </a:r>
            <a:r>
              <a:rPr sz="2400" spc="-120" dirty="0">
                <a:latin typeface="Times New Roman"/>
                <a:cs typeface="Times New Roman"/>
              </a:rPr>
              <a:t> </a:t>
            </a:r>
            <a:r>
              <a:rPr sz="2400" dirty="0">
                <a:latin typeface="Aptos"/>
                <a:cs typeface="Aptos"/>
              </a:rPr>
              <a:t>with</a:t>
            </a:r>
            <a:r>
              <a:rPr sz="2400" spc="-120" dirty="0">
                <a:latin typeface="Times New Roman"/>
                <a:cs typeface="Times New Roman"/>
              </a:rPr>
              <a:t> </a:t>
            </a:r>
            <a:r>
              <a:rPr sz="2400" dirty="0">
                <a:latin typeface="Aptos"/>
                <a:cs typeface="Aptos"/>
              </a:rPr>
              <a:t>their</a:t>
            </a:r>
            <a:r>
              <a:rPr sz="2400" spc="-120" dirty="0">
                <a:latin typeface="Times New Roman"/>
                <a:cs typeface="Times New Roman"/>
              </a:rPr>
              <a:t> </a:t>
            </a:r>
            <a:r>
              <a:rPr sz="2400" spc="-10" dirty="0">
                <a:latin typeface="Aptos"/>
                <a:cs typeface="Aptos"/>
              </a:rPr>
              <a:t>advantages</a:t>
            </a:r>
            <a:r>
              <a:rPr sz="2400" spc="-110" dirty="0">
                <a:latin typeface="Times New Roman"/>
                <a:cs typeface="Times New Roman"/>
              </a:rPr>
              <a:t> </a:t>
            </a:r>
            <a:r>
              <a:rPr sz="2400" spc="-25" dirty="0">
                <a:latin typeface="Aptos"/>
                <a:cs typeface="Aptos"/>
              </a:rPr>
              <a:t>and</a:t>
            </a:r>
            <a:r>
              <a:rPr sz="2400" spc="-25" dirty="0">
                <a:latin typeface="Times New Roman"/>
                <a:cs typeface="Times New Roman"/>
              </a:rPr>
              <a:t> </a:t>
            </a:r>
            <a:r>
              <a:rPr sz="2400" spc="-10" dirty="0">
                <a:latin typeface="Aptos"/>
                <a:cs typeface="Aptos"/>
              </a:rPr>
              <a:t>disadvantages</a:t>
            </a:r>
            <a:r>
              <a:rPr sz="2400" spc="-95" dirty="0">
                <a:latin typeface="Times New Roman"/>
                <a:cs typeface="Times New Roman"/>
              </a:rPr>
              <a:t> </a:t>
            </a:r>
            <a:r>
              <a:rPr sz="2400" dirty="0">
                <a:latin typeface="Aptos"/>
                <a:cs typeface="Aptos"/>
              </a:rPr>
              <a:t>along</a:t>
            </a:r>
            <a:r>
              <a:rPr sz="2400" spc="-100" dirty="0">
                <a:latin typeface="Times New Roman"/>
                <a:cs typeface="Times New Roman"/>
              </a:rPr>
              <a:t> </a:t>
            </a:r>
            <a:r>
              <a:rPr sz="2400" dirty="0">
                <a:latin typeface="Aptos"/>
                <a:cs typeface="Aptos"/>
              </a:rPr>
              <a:t>with</a:t>
            </a:r>
            <a:r>
              <a:rPr sz="2400" spc="-110" dirty="0">
                <a:latin typeface="Times New Roman"/>
                <a:cs typeface="Times New Roman"/>
              </a:rPr>
              <a:t> </a:t>
            </a:r>
            <a:r>
              <a:rPr sz="2400" dirty="0">
                <a:latin typeface="Aptos"/>
                <a:cs typeface="Aptos"/>
              </a:rPr>
              <a:t>their</a:t>
            </a:r>
            <a:r>
              <a:rPr sz="2400" spc="-125" dirty="0">
                <a:latin typeface="Times New Roman"/>
                <a:cs typeface="Times New Roman"/>
              </a:rPr>
              <a:t> </a:t>
            </a:r>
            <a:r>
              <a:rPr sz="2400" spc="-10" dirty="0">
                <a:latin typeface="Aptos"/>
                <a:cs typeface="Aptos"/>
              </a:rPr>
              <a:t>diagram.</a:t>
            </a:r>
            <a:r>
              <a:rPr sz="2400" spc="-110" dirty="0">
                <a:latin typeface="Times New Roman"/>
                <a:cs typeface="Times New Roman"/>
              </a:rPr>
              <a:t> </a:t>
            </a:r>
            <a:r>
              <a:rPr sz="2400" spc="-10" dirty="0">
                <a:latin typeface="Aptos"/>
                <a:cs typeface="Aptos"/>
              </a:rPr>
              <a:t>[2+6]</a:t>
            </a:r>
            <a:endParaRPr sz="2400" dirty="0">
              <a:latin typeface="Aptos"/>
              <a:cs typeface="Aptos"/>
            </a:endParaRPr>
          </a:p>
          <a:p>
            <a:pPr marL="469900" marR="5080" indent="-457200">
              <a:lnSpc>
                <a:spcPts val="2590"/>
              </a:lnSpc>
              <a:spcBef>
                <a:spcPts val="1000"/>
              </a:spcBef>
              <a:buAutoNum type="arabicPeriod"/>
              <a:tabLst>
                <a:tab pos="469265" algn="l"/>
                <a:tab pos="469900" algn="l"/>
              </a:tabLst>
            </a:pPr>
            <a:r>
              <a:rPr sz="2400" dirty="0">
                <a:latin typeface="Aptos"/>
                <a:cs typeface="Aptos"/>
              </a:rPr>
              <a:t>Define</a:t>
            </a:r>
            <a:r>
              <a:rPr sz="2400" spc="-150" dirty="0">
                <a:latin typeface="Times New Roman"/>
                <a:cs typeface="Times New Roman"/>
              </a:rPr>
              <a:t> </a:t>
            </a:r>
            <a:r>
              <a:rPr sz="2400" dirty="0">
                <a:latin typeface="Aptos"/>
                <a:cs typeface="Aptos"/>
              </a:rPr>
              <a:t>OSI</a:t>
            </a:r>
            <a:r>
              <a:rPr sz="2400" spc="-150" dirty="0">
                <a:latin typeface="Times New Roman"/>
                <a:cs typeface="Times New Roman"/>
              </a:rPr>
              <a:t> </a:t>
            </a:r>
            <a:r>
              <a:rPr sz="2400" spc="-10" dirty="0">
                <a:latin typeface="Aptos"/>
                <a:cs typeface="Aptos"/>
              </a:rPr>
              <a:t>reference</a:t>
            </a:r>
            <a:r>
              <a:rPr sz="2400" spc="-130" dirty="0">
                <a:latin typeface="Times New Roman"/>
                <a:cs typeface="Times New Roman"/>
              </a:rPr>
              <a:t> </a:t>
            </a:r>
            <a:r>
              <a:rPr sz="2400" dirty="0">
                <a:latin typeface="Aptos"/>
                <a:cs typeface="Aptos"/>
              </a:rPr>
              <a:t>model.</a:t>
            </a:r>
            <a:r>
              <a:rPr sz="2400" spc="-120" dirty="0">
                <a:latin typeface="Times New Roman"/>
                <a:cs typeface="Times New Roman"/>
              </a:rPr>
              <a:t> </a:t>
            </a:r>
            <a:r>
              <a:rPr sz="2400" dirty="0">
                <a:latin typeface="Aptos"/>
                <a:cs typeface="Aptos"/>
              </a:rPr>
              <a:t>Explain</a:t>
            </a:r>
            <a:r>
              <a:rPr sz="2400" spc="-110" dirty="0">
                <a:latin typeface="Times New Roman"/>
                <a:cs typeface="Times New Roman"/>
              </a:rPr>
              <a:t> </a:t>
            </a:r>
            <a:r>
              <a:rPr sz="2400" dirty="0">
                <a:latin typeface="Aptos"/>
                <a:cs typeface="Aptos"/>
              </a:rPr>
              <a:t>its</a:t>
            </a:r>
            <a:r>
              <a:rPr sz="2400" spc="-135" dirty="0">
                <a:latin typeface="Times New Roman"/>
                <a:cs typeface="Times New Roman"/>
              </a:rPr>
              <a:t> </a:t>
            </a:r>
            <a:r>
              <a:rPr sz="2400" dirty="0">
                <a:latin typeface="Aptos"/>
                <a:cs typeface="Aptos"/>
              </a:rPr>
              <a:t>Layers.[2+6]</a:t>
            </a:r>
            <a:r>
              <a:rPr sz="2400" spc="-65" dirty="0">
                <a:latin typeface="Times New Roman"/>
                <a:cs typeface="Times New Roman"/>
              </a:rPr>
              <a:t> </a:t>
            </a:r>
            <a:r>
              <a:rPr sz="2500" i="1" spc="-55" dirty="0">
                <a:solidFill>
                  <a:srgbClr val="FF0000"/>
                </a:solidFill>
                <a:latin typeface="Aptos"/>
                <a:cs typeface="Aptos"/>
              </a:rPr>
              <a:t>Note:</a:t>
            </a:r>
            <a:r>
              <a:rPr sz="2500" spc="-135" dirty="0">
                <a:solidFill>
                  <a:srgbClr val="FF0000"/>
                </a:solidFill>
                <a:latin typeface="Times New Roman"/>
                <a:cs typeface="Times New Roman"/>
              </a:rPr>
              <a:t> </a:t>
            </a:r>
            <a:r>
              <a:rPr sz="2500" i="1" spc="-65" dirty="0">
                <a:solidFill>
                  <a:srgbClr val="FF0000"/>
                </a:solidFill>
                <a:latin typeface="Aptos"/>
                <a:cs typeface="Aptos"/>
              </a:rPr>
              <a:t>you</a:t>
            </a:r>
            <a:r>
              <a:rPr sz="2500" spc="-140" dirty="0">
                <a:solidFill>
                  <a:srgbClr val="FF0000"/>
                </a:solidFill>
                <a:latin typeface="Times New Roman"/>
                <a:cs typeface="Times New Roman"/>
              </a:rPr>
              <a:t> </a:t>
            </a:r>
            <a:r>
              <a:rPr sz="2500" i="1" spc="-55" dirty="0">
                <a:solidFill>
                  <a:srgbClr val="FF0000"/>
                </a:solidFill>
                <a:latin typeface="Aptos"/>
                <a:cs typeface="Aptos"/>
              </a:rPr>
              <a:t>also</a:t>
            </a:r>
            <a:r>
              <a:rPr sz="2500" spc="-150" dirty="0">
                <a:solidFill>
                  <a:srgbClr val="FF0000"/>
                </a:solidFill>
                <a:latin typeface="Times New Roman"/>
                <a:cs typeface="Times New Roman"/>
              </a:rPr>
              <a:t> </a:t>
            </a:r>
            <a:r>
              <a:rPr sz="2500" i="1" spc="-60" dirty="0">
                <a:solidFill>
                  <a:srgbClr val="FF0000"/>
                </a:solidFill>
                <a:latin typeface="Aptos"/>
                <a:cs typeface="Aptos"/>
              </a:rPr>
              <a:t>need</a:t>
            </a:r>
            <a:r>
              <a:rPr sz="2500" spc="-125" dirty="0">
                <a:solidFill>
                  <a:srgbClr val="FF0000"/>
                </a:solidFill>
                <a:latin typeface="Times New Roman"/>
                <a:cs typeface="Times New Roman"/>
              </a:rPr>
              <a:t> </a:t>
            </a:r>
            <a:r>
              <a:rPr sz="2500" i="1" spc="-55" dirty="0">
                <a:solidFill>
                  <a:srgbClr val="FF0000"/>
                </a:solidFill>
                <a:latin typeface="Aptos"/>
                <a:cs typeface="Aptos"/>
              </a:rPr>
              <a:t>to</a:t>
            </a:r>
            <a:r>
              <a:rPr sz="2500" spc="-155" dirty="0">
                <a:solidFill>
                  <a:srgbClr val="FF0000"/>
                </a:solidFill>
                <a:latin typeface="Times New Roman"/>
                <a:cs typeface="Times New Roman"/>
              </a:rPr>
              <a:t> </a:t>
            </a:r>
            <a:r>
              <a:rPr sz="2500" i="1" spc="-40" dirty="0">
                <a:solidFill>
                  <a:srgbClr val="FF0000"/>
                </a:solidFill>
                <a:latin typeface="Aptos"/>
                <a:cs typeface="Aptos"/>
              </a:rPr>
              <a:t>draw</a:t>
            </a:r>
            <a:r>
              <a:rPr sz="2500" spc="-40" dirty="0">
                <a:solidFill>
                  <a:srgbClr val="FF0000"/>
                </a:solidFill>
                <a:latin typeface="Times New Roman"/>
                <a:cs typeface="Times New Roman"/>
              </a:rPr>
              <a:t> </a:t>
            </a:r>
            <a:r>
              <a:rPr sz="2500" i="1" spc="-55" dirty="0">
                <a:solidFill>
                  <a:srgbClr val="FF0000"/>
                </a:solidFill>
                <a:latin typeface="Aptos"/>
                <a:cs typeface="Aptos"/>
              </a:rPr>
              <a:t>different</a:t>
            </a:r>
            <a:r>
              <a:rPr sz="2500" spc="-85" dirty="0">
                <a:solidFill>
                  <a:srgbClr val="FF0000"/>
                </a:solidFill>
                <a:latin typeface="Times New Roman"/>
                <a:cs typeface="Times New Roman"/>
              </a:rPr>
              <a:t> </a:t>
            </a:r>
            <a:r>
              <a:rPr sz="2500" i="1" spc="-10" dirty="0">
                <a:solidFill>
                  <a:srgbClr val="FF0000"/>
                </a:solidFill>
                <a:latin typeface="Aptos"/>
                <a:cs typeface="Aptos"/>
              </a:rPr>
              <a:t>diagram.</a:t>
            </a:r>
            <a:endParaRPr sz="2500" dirty="0">
              <a:latin typeface="Aptos"/>
              <a:cs typeface="Aptos"/>
            </a:endParaRPr>
          </a:p>
        </p:txBody>
      </p:sp>
      <p:sp>
        <p:nvSpPr>
          <p:cNvPr id="5" name="object 5"/>
          <p:cNvSpPr txBox="1"/>
          <p:nvPr/>
        </p:nvSpPr>
        <p:spPr>
          <a:xfrm>
            <a:off x="666701" y="2818630"/>
            <a:ext cx="276225" cy="391160"/>
          </a:xfrm>
          <a:prstGeom prst="rect">
            <a:avLst/>
          </a:prstGeom>
        </p:spPr>
        <p:txBody>
          <a:bodyPr vert="horz" wrap="square" lIns="0" tIns="12700" rIns="0" bIns="0" rtlCol="0">
            <a:spAutoFit/>
          </a:bodyPr>
          <a:lstStyle/>
          <a:p>
            <a:pPr marL="12700">
              <a:lnSpc>
                <a:spcPct val="100000"/>
              </a:lnSpc>
              <a:spcBef>
                <a:spcPts val="100"/>
              </a:spcBef>
            </a:pPr>
            <a:r>
              <a:rPr sz="2400" spc="-25" dirty="0">
                <a:solidFill>
                  <a:srgbClr val="FF0000"/>
                </a:solidFill>
                <a:latin typeface="Aptos"/>
                <a:cs typeface="Aptos"/>
              </a:rPr>
              <a:t>3.</a:t>
            </a:r>
            <a:endParaRPr sz="2400">
              <a:latin typeface="Aptos"/>
              <a:cs typeface="Aptos"/>
            </a:endParaRPr>
          </a:p>
        </p:txBody>
      </p:sp>
      <p:sp>
        <p:nvSpPr>
          <p:cNvPr id="6" name="object 6"/>
          <p:cNvSpPr txBox="1"/>
          <p:nvPr/>
        </p:nvSpPr>
        <p:spPr>
          <a:xfrm>
            <a:off x="1136469" y="2847213"/>
            <a:ext cx="1978660" cy="372110"/>
          </a:xfrm>
          <a:prstGeom prst="rect">
            <a:avLst/>
          </a:prstGeom>
          <a:solidFill>
            <a:srgbClr val="FFFF00"/>
          </a:solidFill>
        </p:spPr>
        <p:txBody>
          <a:bodyPr vert="horz" wrap="square" lIns="0" tIns="0" rIns="0" bIns="0" rtlCol="0">
            <a:spAutoFit/>
          </a:bodyPr>
          <a:lstStyle/>
          <a:p>
            <a:pPr>
              <a:lnSpc>
                <a:spcPts val="2755"/>
              </a:lnSpc>
            </a:pPr>
            <a:r>
              <a:rPr sz="2400" dirty="0">
                <a:solidFill>
                  <a:srgbClr val="FF0000"/>
                </a:solidFill>
                <a:latin typeface="Aptos"/>
                <a:cs typeface="Aptos"/>
              </a:rPr>
              <a:t>Short</a:t>
            </a:r>
            <a:r>
              <a:rPr sz="2400" spc="-125" dirty="0">
                <a:solidFill>
                  <a:srgbClr val="FF0000"/>
                </a:solidFill>
                <a:latin typeface="Times New Roman"/>
                <a:cs typeface="Times New Roman"/>
              </a:rPr>
              <a:t> </a:t>
            </a:r>
            <a:r>
              <a:rPr sz="2400" spc="-10" dirty="0">
                <a:solidFill>
                  <a:srgbClr val="FF0000"/>
                </a:solidFill>
                <a:latin typeface="Aptos"/>
                <a:cs typeface="Aptos"/>
              </a:rPr>
              <a:t>Question</a:t>
            </a:r>
            <a:endParaRPr sz="2400">
              <a:latin typeface="Aptos"/>
              <a:cs typeface="Aptos"/>
            </a:endParaRPr>
          </a:p>
        </p:txBody>
      </p:sp>
      <p:sp>
        <p:nvSpPr>
          <p:cNvPr id="7" name="object 7"/>
          <p:cNvSpPr txBox="1"/>
          <p:nvPr/>
        </p:nvSpPr>
        <p:spPr>
          <a:xfrm>
            <a:off x="666701" y="3275830"/>
            <a:ext cx="11232515" cy="1824355"/>
          </a:xfrm>
          <a:prstGeom prst="rect">
            <a:avLst/>
          </a:prstGeom>
        </p:spPr>
        <p:txBody>
          <a:bodyPr vert="horz" wrap="square" lIns="0" tIns="41910" rIns="0" bIns="0" rtlCol="0">
            <a:spAutoFit/>
          </a:bodyPr>
          <a:lstStyle/>
          <a:p>
            <a:pPr marL="469900" marR="135255" indent="-457200">
              <a:lnSpc>
                <a:spcPct val="92000"/>
              </a:lnSpc>
              <a:spcBef>
                <a:spcPts val="330"/>
              </a:spcBef>
              <a:buAutoNum type="arabicPeriod" startAt="4"/>
              <a:tabLst>
                <a:tab pos="469265" algn="l"/>
                <a:tab pos="469900" algn="l"/>
              </a:tabLst>
            </a:pPr>
            <a:r>
              <a:rPr sz="2400" spc="-10" dirty="0">
                <a:latin typeface="Aptos"/>
                <a:cs typeface="Aptos"/>
              </a:rPr>
              <a:t>What</a:t>
            </a:r>
            <a:r>
              <a:rPr sz="2400" spc="-105" dirty="0">
                <a:latin typeface="Times New Roman"/>
                <a:cs typeface="Times New Roman"/>
              </a:rPr>
              <a:t> </a:t>
            </a:r>
            <a:r>
              <a:rPr sz="2400" dirty="0">
                <a:latin typeface="Aptos"/>
                <a:cs typeface="Aptos"/>
              </a:rPr>
              <a:t>is</a:t>
            </a:r>
            <a:r>
              <a:rPr sz="2400" spc="-105" dirty="0">
                <a:latin typeface="Times New Roman"/>
                <a:cs typeface="Times New Roman"/>
              </a:rPr>
              <a:t> </a:t>
            </a:r>
            <a:r>
              <a:rPr sz="2400" spc="-10" dirty="0">
                <a:latin typeface="Aptos"/>
                <a:cs typeface="Aptos"/>
              </a:rPr>
              <a:t>communication</a:t>
            </a:r>
            <a:r>
              <a:rPr sz="2400" spc="-110" dirty="0">
                <a:latin typeface="Times New Roman"/>
                <a:cs typeface="Times New Roman"/>
              </a:rPr>
              <a:t> </a:t>
            </a:r>
            <a:r>
              <a:rPr sz="2400" spc="-20" dirty="0">
                <a:latin typeface="Aptos"/>
                <a:cs typeface="Aptos"/>
              </a:rPr>
              <a:t>Mode?</a:t>
            </a:r>
            <a:r>
              <a:rPr sz="2400" spc="-95" dirty="0">
                <a:latin typeface="Times New Roman"/>
                <a:cs typeface="Times New Roman"/>
              </a:rPr>
              <a:t> </a:t>
            </a:r>
            <a:r>
              <a:rPr sz="2400" dirty="0">
                <a:latin typeface="Aptos"/>
                <a:cs typeface="Aptos"/>
              </a:rPr>
              <a:t>Describe</a:t>
            </a:r>
            <a:r>
              <a:rPr sz="2400" spc="-100" dirty="0">
                <a:latin typeface="Times New Roman"/>
                <a:cs typeface="Times New Roman"/>
              </a:rPr>
              <a:t> </a:t>
            </a:r>
            <a:r>
              <a:rPr sz="2400" dirty="0">
                <a:latin typeface="Aptos"/>
                <a:cs typeface="Aptos"/>
              </a:rPr>
              <a:t>its</a:t>
            </a:r>
            <a:r>
              <a:rPr sz="2400" spc="-110" dirty="0">
                <a:latin typeface="Times New Roman"/>
                <a:cs typeface="Times New Roman"/>
              </a:rPr>
              <a:t> </a:t>
            </a:r>
            <a:r>
              <a:rPr sz="2400" dirty="0">
                <a:latin typeface="Aptos"/>
                <a:cs typeface="Aptos"/>
              </a:rPr>
              <a:t>types</a:t>
            </a:r>
            <a:r>
              <a:rPr sz="2400" spc="-110" dirty="0">
                <a:latin typeface="Times New Roman"/>
                <a:cs typeface="Times New Roman"/>
              </a:rPr>
              <a:t> </a:t>
            </a:r>
            <a:r>
              <a:rPr sz="2400" dirty="0">
                <a:latin typeface="Aptos"/>
                <a:cs typeface="Aptos"/>
              </a:rPr>
              <a:t>with</a:t>
            </a:r>
            <a:r>
              <a:rPr sz="2400" spc="-95" dirty="0">
                <a:latin typeface="Times New Roman"/>
                <a:cs typeface="Times New Roman"/>
              </a:rPr>
              <a:t> </a:t>
            </a:r>
            <a:r>
              <a:rPr sz="2400" spc="-10" dirty="0">
                <a:latin typeface="Aptos"/>
                <a:cs typeface="Aptos"/>
              </a:rPr>
              <a:t>example.[1+4]</a:t>
            </a:r>
            <a:r>
              <a:rPr sz="2400" spc="-60" dirty="0">
                <a:latin typeface="Times New Roman"/>
                <a:cs typeface="Times New Roman"/>
              </a:rPr>
              <a:t> </a:t>
            </a:r>
            <a:r>
              <a:rPr sz="1450" i="1" spc="-40" dirty="0">
                <a:solidFill>
                  <a:srgbClr val="FF0000"/>
                </a:solidFill>
                <a:latin typeface="Aptos"/>
                <a:cs typeface="Aptos"/>
              </a:rPr>
              <a:t>Note:</a:t>
            </a:r>
            <a:r>
              <a:rPr sz="1450" spc="-85" dirty="0">
                <a:solidFill>
                  <a:srgbClr val="FF0000"/>
                </a:solidFill>
                <a:latin typeface="Times New Roman"/>
                <a:cs typeface="Times New Roman"/>
              </a:rPr>
              <a:t> </a:t>
            </a:r>
            <a:r>
              <a:rPr sz="1450" i="1" spc="-40" dirty="0">
                <a:solidFill>
                  <a:srgbClr val="FF0000"/>
                </a:solidFill>
                <a:latin typeface="Aptos"/>
                <a:cs typeface="Aptos"/>
              </a:rPr>
              <a:t>you</a:t>
            </a:r>
            <a:r>
              <a:rPr sz="1450" spc="-85" dirty="0">
                <a:solidFill>
                  <a:srgbClr val="FF0000"/>
                </a:solidFill>
                <a:latin typeface="Times New Roman"/>
                <a:cs typeface="Times New Roman"/>
              </a:rPr>
              <a:t> </a:t>
            </a:r>
            <a:r>
              <a:rPr sz="1450" i="1" spc="-35" dirty="0">
                <a:solidFill>
                  <a:srgbClr val="FF0000"/>
                </a:solidFill>
                <a:latin typeface="Aptos"/>
                <a:cs typeface="Aptos"/>
              </a:rPr>
              <a:t>also</a:t>
            </a:r>
            <a:r>
              <a:rPr sz="1450" spc="-70" dirty="0">
                <a:solidFill>
                  <a:srgbClr val="FF0000"/>
                </a:solidFill>
                <a:latin typeface="Times New Roman"/>
                <a:cs typeface="Times New Roman"/>
              </a:rPr>
              <a:t> </a:t>
            </a:r>
            <a:r>
              <a:rPr sz="1450" i="1" spc="-20" dirty="0">
                <a:solidFill>
                  <a:srgbClr val="FF0000"/>
                </a:solidFill>
                <a:latin typeface="Aptos"/>
                <a:cs typeface="Aptos"/>
              </a:rPr>
              <a:t>need</a:t>
            </a:r>
            <a:r>
              <a:rPr sz="1450" spc="-20" dirty="0">
                <a:solidFill>
                  <a:srgbClr val="FF0000"/>
                </a:solidFill>
                <a:latin typeface="Times New Roman"/>
                <a:cs typeface="Times New Roman"/>
              </a:rPr>
              <a:t> </a:t>
            </a:r>
            <a:r>
              <a:rPr sz="1450" i="1" spc="-40" dirty="0">
                <a:solidFill>
                  <a:srgbClr val="FF0000"/>
                </a:solidFill>
                <a:latin typeface="Aptos"/>
                <a:cs typeface="Aptos"/>
              </a:rPr>
              <a:t>to</a:t>
            </a:r>
            <a:r>
              <a:rPr sz="1450" spc="-50" dirty="0">
                <a:solidFill>
                  <a:srgbClr val="FF0000"/>
                </a:solidFill>
                <a:latin typeface="Times New Roman"/>
                <a:cs typeface="Times New Roman"/>
              </a:rPr>
              <a:t> </a:t>
            </a:r>
            <a:r>
              <a:rPr sz="1450" i="1" spc="-50" dirty="0">
                <a:solidFill>
                  <a:srgbClr val="FF0000"/>
                </a:solidFill>
                <a:latin typeface="Aptos"/>
                <a:cs typeface="Aptos"/>
              </a:rPr>
              <a:t>draw</a:t>
            </a:r>
            <a:r>
              <a:rPr sz="1450" spc="-50" dirty="0">
                <a:solidFill>
                  <a:srgbClr val="FF0000"/>
                </a:solidFill>
                <a:latin typeface="Times New Roman"/>
                <a:cs typeface="Times New Roman"/>
              </a:rPr>
              <a:t> </a:t>
            </a:r>
            <a:r>
              <a:rPr sz="1450" i="1" spc="-35" dirty="0">
                <a:solidFill>
                  <a:srgbClr val="FF0000"/>
                </a:solidFill>
                <a:latin typeface="Aptos"/>
                <a:cs typeface="Aptos"/>
              </a:rPr>
              <a:t>different</a:t>
            </a:r>
            <a:r>
              <a:rPr sz="1450" spc="-55" dirty="0">
                <a:solidFill>
                  <a:srgbClr val="FF0000"/>
                </a:solidFill>
                <a:latin typeface="Times New Roman"/>
                <a:cs typeface="Times New Roman"/>
              </a:rPr>
              <a:t> </a:t>
            </a:r>
            <a:r>
              <a:rPr sz="1450" i="1" spc="-10" dirty="0">
                <a:solidFill>
                  <a:srgbClr val="FF0000"/>
                </a:solidFill>
                <a:latin typeface="Aptos"/>
                <a:cs typeface="Aptos"/>
              </a:rPr>
              <a:t>diagram.</a:t>
            </a:r>
            <a:endParaRPr sz="1450">
              <a:latin typeface="Aptos"/>
              <a:cs typeface="Aptos"/>
            </a:endParaRPr>
          </a:p>
          <a:p>
            <a:pPr marL="469900" marR="5080" indent="-457200">
              <a:lnSpc>
                <a:spcPts val="2590"/>
              </a:lnSpc>
              <a:spcBef>
                <a:spcPts val="965"/>
              </a:spcBef>
              <a:buAutoNum type="arabicPeriod" startAt="4"/>
              <a:tabLst>
                <a:tab pos="469265" algn="l"/>
                <a:tab pos="469900" algn="l"/>
              </a:tabLst>
            </a:pPr>
            <a:r>
              <a:rPr sz="2400" spc="-10" dirty="0">
                <a:latin typeface="Aptos"/>
                <a:cs typeface="Aptos"/>
              </a:rPr>
              <a:t>Differentiate</a:t>
            </a:r>
            <a:r>
              <a:rPr sz="2400" spc="-110" dirty="0">
                <a:latin typeface="Times New Roman"/>
                <a:cs typeface="Times New Roman"/>
              </a:rPr>
              <a:t> </a:t>
            </a:r>
            <a:r>
              <a:rPr sz="2400" spc="-10" dirty="0">
                <a:latin typeface="Aptos"/>
                <a:cs typeface="Aptos"/>
              </a:rPr>
              <a:t>between</a:t>
            </a:r>
            <a:r>
              <a:rPr sz="2400" spc="-114" dirty="0">
                <a:latin typeface="Times New Roman"/>
                <a:cs typeface="Times New Roman"/>
              </a:rPr>
              <a:t> </a:t>
            </a:r>
            <a:r>
              <a:rPr sz="2400" dirty="0">
                <a:latin typeface="Aptos"/>
                <a:cs typeface="Aptos"/>
              </a:rPr>
              <a:t>Client</a:t>
            </a:r>
            <a:r>
              <a:rPr sz="2400" spc="-95" dirty="0">
                <a:latin typeface="Times New Roman"/>
                <a:cs typeface="Times New Roman"/>
              </a:rPr>
              <a:t> </a:t>
            </a:r>
            <a:r>
              <a:rPr sz="2400" dirty="0">
                <a:latin typeface="Aptos"/>
                <a:cs typeface="Aptos"/>
              </a:rPr>
              <a:t>Server</a:t>
            </a:r>
            <a:r>
              <a:rPr sz="2400" spc="-114" dirty="0">
                <a:latin typeface="Times New Roman"/>
                <a:cs typeface="Times New Roman"/>
              </a:rPr>
              <a:t> </a:t>
            </a:r>
            <a:r>
              <a:rPr sz="2400" spc="-10" dirty="0">
                <a:latin typeface="Aptos"/>
                <a:cs typeface="Aptos"/>
              </a:rPr>
              <a:t>Network</a:t>
            </a:r>
            <a:r>
              <a:rPr sz="2400" spc="-110" dirty="0">
                <a:latin typeface="Times New Roman"/>
                <a:cs typeface="Times New Roman"/>
              </a:rPr>
              <a:t> </a:t>
            </a:r>
            <a:r>
              <a:rPr sz="2400" spc="-10" dirty="0">
                <a:latin typeface="Aptos"/>
                <a:cs typeface="Aptos"/>
              </a:rPr>
              <a:t>Architecture</a:t>
            </a:r>
            <a:r>
              <a:rPr sz="2400" spc="-125" dirty="0">
                <a:latin typeface="Times New Roman"/>
                <a:cs typeface="Times New Roman"/>
              </a:rPr>
              <a:t> </a:t>
            </a:r>
            <a:r>
              <a:rPr sz="2400" dirty="0">
                <a:latin typeface="Aptos"/>
                <a:cs typeface="Aptos"/>
              </a:rPr>
              <a:t>and</a:t>
            </a:r>
            <a:r>
              <a:rPr sz="2400" spc="-110" dirty="0">
                <a:latin typeface="Times New Roman"/>
                <a:cs typeface="Times New Roman"/>
              </a:rPr>
              <a:t> </a:t>
            </a:r>
            <a:r>
              <a:rPr sz="2400" spc="-25" dirty="0">
                <a:latin typeface="Aptos"/>
                <a:cs typeface="Aptos"/>
              </a:rPr>
              <a:t>Peer</a:t>
            </a:r>
            <a:r>
              <a:rPr sz="2400" spc="-114" dirty="0">
                <a:latin typeface="Times New Roman"/>
                <a:cs typeface="Times New Roman"/>
              </a:rPr>
              <a:t> </a:t>
            </a:r>
            <a:r>
              <a:rPr sz="2400" dirty="0">
                <a:latin typeface="Aptos"/>
                <a:cs typeface="Aptos"/>
              </a:rPr>
              <a:t>to</a:t>
            </a:r>
            <a:r>
              <a:rPr sz="2400" spc="-130" dirty="0">
                <a:latin typeface="Times New Roman"/>
                <a:cs typeface="Times New Roman"/>
              </a:rPr>
              <a:t> </a:t>
            </a:r>
            <a:r>
              <a:rPr sz="2400" spc="-25" dirty="0">
                <a:latin typeface="Aptos"/>
                <a:cs typeface="Aptos"/>
              </a:rPr>
              <a:t>Peer</a:t>
            </a:r>
            <a:r>
              <a:rPr sz="2400" spc="-114" dirty="0">
                <a:latin typeface="Times New Roman"/>
                <a:cs typeface="Times New Roman"/>
              </a:rPr>
              <a:t> </a:t>
            </a:r>
            <a:r>
              <a:rPr sz="2400" spc="-10" dirty="0">
                <a:latin typeface="Aptos"/>
                <a:cs typeface="Aptos"/>
              </a:rPr>
              <a:t>network</a:t>
            </a:r>
            <a:r>
              <a:rPr sz="2400" spc="-10" dirty="0">
                <a:latin typeface="Times New Roman"/>
                <a:cs typeface="Times New Roman"/>
              </a:rPr>
              <a:t> </a:t>
            </a:r>
            <a:r>
              <a:rPr sz="2400" spc="-20" dirty="0">
                <a:latin typeface="Aptos"/>
                <a:cs typeface="Aptos"/>
              </a:rPr>
              <a:t>architecture?</a:t>
            </a:r>
            <a:r>
              <a:rPr sz="2400" spc="-35" dirty="0">
                <a:latin typeface="Times New Roman"/>
                <a:cs typeface="Times New Roman"/>
              </a:rPr>
              <a:t> </a:t>
            </a:r>
            <a:r>
              <a:rPr sz="2400" spc="-25" dirty="0">
                <a:latin typeface="Aptos"/>
                <a:cs typeface="Aptos"/>
              </a:rPr>
              <a:t>[5]</a:t>
            </a:r>
            <a:endParaRPr sz="2400">
              <a:latin typeface="Aptos"/>
              <a:cs typeface="Aptos"/>
            </a:endParaRPr>
          </a:p>
          <a:p>
            <a:pPr marL="469900" indent="-457200">
              <a:lnSpc>
                <a:spcPct val="100000"/>
              </a:lnSpc>
              <a:spcBef>
                <a:spcPts val="670"/>
              </a:spcBef>
              <a:buAutoNum type="arabicPeriod" startAt="4"/>
              <a:tabLst>
                <a:tab pos="469265" algn="l"/>
                <a:tab pos="469900" algn="l"/>
              </a:tabLst>
            </a:pPr>
            <a:r>
              <a:rPr sz="2400" dirty="0">
                <a:latin typeface="Aptos"/>
                <a:cs typeface="Aptos"/>
              </a:rPr>
              <a:t>Define</a:t>
            </a:r>
            <a:r>
              <a:rPr sz="2400" spc="-114" dirty="0">
                <a:latin typeface="Times New Roman"/>
                <a:cs typeface="Times New Roman"/>
              </a:rPr>
              <a:t> </a:t>
            </a:r>
            <a:r>
              <a:rPr sz="2400" spc="-10" dirty="0">
                <a:latin typeface="Aptos"/>
                <a:cs typeface="Aptos"/>
              </a:rPr>
              <a:t>Network</a:t>
            </a:r>
            <a:r>
              <a:rPr sz="2400" spc="-105" dirty="0">
                <a:latin typeface="Times New Roman"/>
                <a:cs typeface="Times New Roman"/>
              </a:rPr>
              <a:t> </a:t>
            </a:r>
            <a:r>
              <a:rPr sz="2400" spc="-20" dirty="0">
                <a:latin typeface="Aptos"/>
                <a:cs typeface="Aptos"/>
              </a:rPr>
              <a:t>Architecture.</a:t>
            </a:r>
            <a:r>
              <a:rPr sz="2400" spc="-120" dirty="0">
                <a:latin typeface="Times New Roman"/>
                <a:cs typeface="Times New Roman"/>
              </a:rPr>
              <a:t> </a:t>
            </a:r>
            <a:r>
              <a:rPr sz="2400" dirty="0">
                <a:latin typeface="Aptos"/>
                <a:cs typeface="Aptos"/>
              </a:rPr>
              <a:t>Explain</a:t>
            </a:r>
            <a:r>
              <a:rPr sz="2400" spc="-85" dirty="0">
                <a:latin typeface="Times New Roman"/>
                <a:cs typeface="Times New Roman"/>
              </a:rPr>
              <a:t> </a:t>
            </a:r>
            <a:r>
              <a:rPr sz="2400" dirty="0">
                <a:latin typeface="Aptos"/>
                <a:cs typeface="Aptos"/>
              </a:rPr>
              <a:t>Its</a:t>
            </a:r>
            <a:r>
              <a:rPr sz="2400" spc="-114" dirty="0">
                <a:latin typeface="Times New Roman"/>
                <a:cs typeface="Times New Roman"/>
              </a:rPr>
              <a:t> </a:t>
            </a:r>
            <a:r>
              <a:rPr sz="2400" spc="-10" dirty="0">
                <a:latin typeface="Aptos"/>
                <a:cs typeface="Aptos"/>
              </a:rPr>
              <a:t>types.</a:t>
            </a:r>
            <a:r>
              <a:rPr sz="2400" spc="-90" dirty="0">
                <a:latin typeface="Times New Roman"/>
                <a:cs typeface="Times New Roman"/>
              </a:rPr>
              <a:t> </a:t>
            </a:r>
            <a:r>
              <a:rPr sz="2400" spc="-10" dirty="0">
                <a:latin typeface="Aptos"/>
                <a:cs typeface="Aptos"/>
              </a:rPr>
              <a:t>[1+4]</a:t>
            </a:r>
            <a:endParaRPr sz="2400">
              <a:latin typeface="Aptos"/>
              <a:cs typeface="Apto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TotalTime>
  <Words>5852</Words>
  <Application>Microsoft Macintosh PowerPoint</Application>
  <PresentationFormat>Widescreen</PresentationFormat>
  <Paragraphs>540</Paragraphs>
  <Slides>79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79</vt:i4>
      </vt:variant>
    </vt:vector>
  </HeadingPairs>
  <TitlesOfParts>
    <vt:vector size="86" baseType="lpstr">
      <vt:lpstr>Aptos</vt:lpstr>
      <vt:lpstr>Aptos Display</vt:lpstr>
      <vt:lpstr>Arial</vt:lpstr>
      <vt:lpstr>Calibri</vt:lpstr>
      <vt:lpstr>Times New Roman</vt:lpstr>
      <vt:lpstr>Wingdings</vt:lpstr>
      <vt:lpstr>Office Theme</vt:lpstr>
      <vt:lpstr>Chapter 2: Data Communiction and Networking</vt:lpstr>
      <vt:lpstr>Chapter 2: Data Communiction and Networking</vt:lpstr>
      <vt:lpstr>PowerPoint Presentation</vt:lpstr>
      <vt:lpstr>PowerPoint Presentation</vt:lpstr>
      <vt:lpstr>PowerPoint Presentation</vt:lpstr>
      <vt:lpstr>PowerPoint Presentation</vt:lpstr>
      <vt:lpstr>Modes of communication</vt:lpstr>
      <vt:lpstr>b) Half-duplex</vt:lpstr>
      <vt:lpstr>c ) Full duplex</vt:lpstr>
      <vt:lpstr>PowerPoint Presentation</vt:lpstr>
      <vt:lpstr>PowerPoint Presentation</vt:lpstr>
      <vt:lpstr>PowerPoint Presentation</vt:lpstr>
      <vt:lpstr>PowerPoint Presentation</vt:lpstr>
      <vt:lpstr>PowerPoint Presentation</vt:lpstr>
      <vt:lpstr>PowerPoint Presentation</vt:lpstr>
      <vt:lpstr>c ) Wide Area Network (WAN)</vt:lpstr>
      <vt:lpstr>PowerPoint Presentation</vt:lpstr>
      <vt:lpstr>PowerPoint Presentation</vt:lpstr>
      <vt:lpstr>Differentiate between Internet Intranet and Extranet</vt:lpstr>
      <vt:lpstr>PowerPoint Presentation</vt:lpstr>
      <vt:lpstr>PowerPoint Presentation</vt:lpstr>
      <vt:lpstr>PowerPoint Presentation</vt:lpstr>
      <vt:lpstr>II) Peer to Peer Network Architecture</vt:lpstr>
      <vt:lpstr>PowerPoint Presentation</vt:lpstr>
      <vt:lpstr>Transmission Media</vt:lpstr>
      <vt:lpstr>i. Co - axial cable: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 Radio wave: It is the type of wireless transmission medium that can operate on single as well as multiple frequency band. In this type of transmission medium sender and receiver station must not be in the line of sight.</vt:lpstr>
      <vt:lpstr>VI) Satellites: Satellites are kept at around 36000 km above the earth surface which continuously rotates in the same orbit. The communication is done through uplink and downlink  using ground</vt:lpstr>
      <vt:lpstr>PowerPoint Presentation</vt:lpstr>
      <vt:lpstr>PowerPoint Presentation</vt:lpstr>
      <vt:lpstr>PowerPoint Presentation</vt:lpstr>
      <vt:lpstr>PowerPoint Presentation</vt:lpstr>
      <vt:lpstr>Network Topology / LAN Topology</vt:lpstr>
      <vt:lpstr>PowerPoint Presentation</vt:lpstr>
      <vt:lpstr>2 ) Star Topology: - Star topology works a s a client-server network architecture in which there is a main central node and all other nodes are connected to the central one.</vt:lpstr>
      <vt:lpstr>PowerPoint Presentation</vt:lpstr>
      <vt:lpstr>3 ) Ring Topology: - Ring topology is a type of topology which is in ring shape and each node is connected t o one another without any centralized control.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  Network Connecting devices: The devices of computer network which  are  used  to  connect  network  is  called  the  network connecting devices. We can connect two or more networks together to create larger network. A LANs can be connected others LANs, MANs or WAN.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IP ADDRESS</vt:lpstr>
      <vt:lpstr>PowerPoint Presentation</vt:lpstr>
      <vt:lpstr>PowerPoint Presentation</vt:lpstr>
      <vt:lpstr>PowerPoint Presentation</vt:lpstr>
      <vt:lpstr>PowerPoint Presentation</vt:lpstr>
      <vt:lpstr>PowerPoint Presentation</vt:lpstr>
      <vt:lpstr>https://youtu.be/5WfiTHiU4x8?si=AvdOQjYXJdyL_2Y7 OR play</vt:lpstr>
      <vt:lpstr>PowerPoint Presentation</vt:lpstr>
      <vt:lpstr>PowerPoint Presentation</vt:lpstr>
      <vt:lpstr>PowerPoint Presentation</vt:lpstr>
      <vt:lpstr>Watch for more info about diff protocols https://www.youtube.com/shorts/eF8C1uyeknA</vt:lpstr>
      <vt:lpstr>Assignments</vt:lpstr>
      <vt:lpstr>6) Differentiate between Internet, Extranet, and Intranet. [5]</vt:lpstr>
      <vt:lpstr>9) Difference between Guided and Un-Guided transmission media.</vt:lpstr>
      <vt:lpstr>Revision for second term 2082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Online2PDF.com</dc:creator>
  <cp:lastModifiedBy>Milan Bista</cp:lastModifiedBy>
  <cp:revision>3</cp:revision>
  <dcterms:created xsi:type="dcterms:W3CDTF">2026-02-08T10:02:51Z</dcterms:created>
  <dcterms:modified xsi:type="dcterms:W3CDTF">2026-02-08T10:13:54Z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2026-02-08T00:00:00Z</vt:filetime>
  </property>
  <property fmtid="{D5CDD505-2E9C-101B-9397-08002B2CF9AE}" pid="3" name="LastSaved">
    <vt:filetime>2026-02-08T00:00:00Z</vt:filetime>
  </property>
</Properties>
</file>