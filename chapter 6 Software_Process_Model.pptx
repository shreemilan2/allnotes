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fc7b75e-fe72-0c33-bc11-07d16ed38d0c}">
          <p14:sldIdLst>
            <p14:sldId id="256"/>
            <p14:sldId id="257"/>
          </p14:sldIdLst>
        </p14:section>
        <p14:section name="Project and Process" id="{5fa61297-8d2f-02c7-c7c5-d67ede2400f0}">
          <p14:sldIdLst>
            <p14:sldId id="258"/>
            <p14:sldId id="259"/>
            <p14:sldId id="260"/>
          </p14:sldIdLst>
        </p14:section>
        <p14:section name="SDLC Phases" id="{948d994d-efb6-e255-0210-01dc7124c0ed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Analyst and Engineer" id="{8bdb9fec-ee52-27e3-bc7e-20e90c47be8c}">
          <p14:sldIdLst>
            <p14:sldId id="267"/>
            <p14:sldId id="268"/>
            <p14:sldId id="269"/>
          </p14:sldIdLst>
        </p14:section>
        <p14:section name="Requirement Collection" id="{94a9ce33-67fb-ed2e-9e2c-e631252409be}">
          <p14:sldIdLst>
            <p14:sldId id="270"/>
            <p14:sldId id="271"/>
            <p14:sldId id="272"/>
          </p14:sldIdLst>
        </p14:section>
        <p14:section name="System Design Tools" id="{2183518d-cea6-bdaf-fdf2-6542576a46e3}">
          <p14:sldIdLst>
            <p14:sldId id="273"/>
            <p14:sldId id="274"/>
            <p14:sldId id="275"/>
          </p14:sldIdLst>
        </p14:section>
        <p14:section name="Software Quality" id="{c004c28b-432a-e439-6377-a497ee3c5e6b}">
          <p14:sldIdLst>
            <p14:sldId id="276"/>
            <p14:sldId id="277"/>
          </p14:sldIdLst>
        </p14:section>
        <p14:section name="Development Models" id="{4df636e9-2fc9-591c-62ea-0e70451941f0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188720"/>
            <a:ext cx="51206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017520"/>
            <a:ext cx="48463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1887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Software Process Model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3017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Unit 6  |  SDLC, system analysis, design tools and development models</a:t>
            </a:r>
            <a:endParaRPr lang="en-US" sz="1800" dirty="0"/>
          </a:p>
        </p:txBody>
      </p:sp>
      <p:sp>
        <p:nvSpPr>
          <p:cNvPr id="4" name="Ring"/>
          <p:cNvSpPr/>
          <p:nvPr/>
        </p:nvSpPr>
        <p:spPr>
          <a:xfrm>
            <a:off x="5989320" y="1325880"/>
            <a:ext cx="2468880" cy="2468880"/>
          </a:xfrm>
          <a:prstGeom prst="ellipse">
            <a:avLst/>
          </a:prstGeom>
          <a:ln w="15875">
            <a:solidFill>
              <a:schemeClr val="accent6"/>
            </a:solidFill>
            <a:prstDash val="dash"/>
          </a:ln>
        </p:spPr>
      </p:sp>
      <p:sp>
        <p:nvSpPr>
          <p:cNvPr id="5" name="Phase dot 1"/>
          <p:cNvSpPr/>
          <p:nvPr/>
        </p:nvSpPr>
        <p:spPr>
          <a:xfrm>
            <a:off x="6922008" y="1024128"/>
            <a:ext cx="603504" cy="60350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6" name="Phase dot 2"/>
          <p:cNvSpPr/>
          <p:nvPr/>
        </p:nvSpPr>
        <p:spPr>
          <a:xfrm>
            <a:off x="7887132" y="1488907"/>
            <a:ext cx="603504" cy="60350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Phase dot 3"/>
          <p:cNvSpPr/>
          <p:nvPr/>
        </p:nvSpPr>
        <p:spPr>
          <a:xfrm>
            <a:off x="8125498" y="2533257"/>
            <a:ext cx="603504" cy="60350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Phase dot 4"/>
          <p:cNvSpPr/>
          <p:nvPr/>
        </p:nvSpPr>
        <p:spPr>
          <a:xfrm>
            <a:off x="7457611" y="3370760"/>
            <a:ext cx="603504" cy="60350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Phase dot 5"/>
          <p:cNvSpPr/>
          <p:nvPr/>
        </p:nvSpPr>
        <p:spPr>
          <a:xfrm>
            <a:off x="6386405" y="3370760"/>
            <a:ext cx="603504" cy="60350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Phase dot 6"/>
          <p:cNvSpPr/>
          <p:nvPr/>
        </p:nvSpPr>
        <p:spPr>
          <a:xfrm>
            <a:off x="5718518" y="2533257"/>
            <a:ext cx="603504" cy="60350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Phase dot 7"/>
          <p:cNvSpPr/>
          <p:nvPr/>
        </p:nvSpPr>
        <p:spPr>
          <a:xfrm>
            <a:off x="5956884" y="1488907"/>
            <a:ext cx="603504" cy="60350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Ring label"/>
          <p:cNvSpPr txBox="1"/>
          <p:nvPr/>
        </p:nvSpPr>
        <p:spPr>
          <a:xfrm>
            <a:off x="6675120" y="2011680"/>
            <a:ext cx="1097280" cy="10972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SDLC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we will cover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4" name="Badge 6.1"/>
          <p:cNvSpPr txBox="1"/>
          <p:nvPr/>
        </p:nvSpPr>
        <p:spPr>
          <a:xfrm>
            <a:off x="594360" y="13167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435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Software Project Concept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663440" y="11887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7" name="Badge 6.2"/>
          <p:cNvSpPr txBox="1"/>
          <p:nvPr/>
        </p:nvSpPr>
        <p:spPr>
          <a:xfrm>
            <a:off x="4800600" y="13167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12435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Software Development Process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457200" y="21031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0" name="Badge 6.3"/>
          <p:cNvSpPr txBox="1"/>
          <p:nvPr/>
        </p:nvSpPr>
        <p:spPr>
          <a:xfrm>
            <a:off x="594360" y="22311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1579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Concept of SDLC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4663440" y="21031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3" name="Badge 6.4"/>
          <p:cNvSpPr txBox="1"/>
          <p:nvPr/>
        </p:nvSpPr>
        <p:spPr>
          <a:xfrm>
            <a:off x="4800600" y="22311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1579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System Analyst vs Software Engineer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457200" y="30175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6" name="Badge 6.5"/>
          <p:cNvSpPr txBox="1"/>
          <p:nvPr/>
        </p:nvSpPr>
        <p:spPr>
          <a:xfrm>
            <a:off x="594360" y="31455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0723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Requirement Collection Methods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4663440" y="30175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9" name="Badge 6.6"/>
          <p:cNvSpPr txBox="1"/>
          <p:nvPr/>
        </p:nvSpPr>
        <p:spPr>
          <a:xfrm>
            <a:off x="4800600" y="31455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30723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System Design Tools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457200" y="39319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22" name="Badge 6.7"/>
          <p:cNvSpPr txBox="1"/>
          <p:nvPr/>
        </p:nvSpPr>
        <p:spPr>
          <a:xfrm>
            <a:off x="594360" y="40599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9867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Software and Quality</a:t>
            </a:r>
            <a:endParaRPr lang="en-US" sz="1600" dirty="0"/>
          </a:p>
        </p:txBody>
      </p:sp>
      <p:sp>
        <p:nvSpPr>
          <p:cNvPr id="24" name="Card"/>
          <p:cNvSpPr/>
          <p:nvPr/>
        </p:nvSpPr>
        <p:spPr>
          <a:xfrm>
            <a:off x="4663440" y="3931920"/>
            <a:ext cx="4023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25" name="Badge 6.8"/>
          <p:cNvSpPr txBox="1"/>
          <p:nvPr/>
        </p:nvSpPr>
        <p:spPr>
          <a:xfrm>
            <a:off x="4800600" y="405993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6.8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39867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System Development Models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6.1 Software Project Concept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Project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well-defined task: a collection of several operations done in order to achieve a goal.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663440" y="1188720"/>
            <a:ext cx="40233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Software project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complete procedure of software development, done in a specific period of time to achieve the desired software product.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software project runs from start to finish</a:t>
            </a:r>
            <a:endParaRPr lang="en-US" sz="1600" dirty="0"/>
          </a:p>
        </p:txBody>
      </p:sp>
      <p:sp>
        <p:nvSpPr>
          <p:cNvPr id="10" name="Step 1"/>
          <p:cNvSpPr txBox="1"/>
          <p:nvPr/>
        </p:nvSpPr>
        <p:spPr>
          <a:xfrm>
            <a:off x="457200" y="3657600"/>
            <a:ext cx="2194560" cy="86868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3810" rIns="4445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Requirement gathering</a:t>
            </a:r>
            <a:endParaRPr lang="en-US" sz="1400" dirty="0"/>
          </a:p>
        </p:txBody>
      </p:sp>
      <p:sp>
        <p:nvSpPr>
          <p:cNvPr id="11" name="Step 2"/>
          <p:cNvSpPr txBox="1"/>
          <p:nvPr/>
        </p:nvSpPr>
        <p:spPr>
          <a:xfrm>
            <a:off x="2542032" y="3657600"/>
            <a:ext cx="2194560" cy="86868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3810" rIns="4445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Development</a:t>
            </a:r>
            <a:endParaRPr lang="en-US" sz="1400" dirty="0"/>
          </a:p>
        </p:txBody>
      </p:sp>
      <p:sp>
        <p:nvSpPr>
          <p:cNvPr id="12" name="Step 3"/>
          <p:cNvSpPr txBox="1"/>
          <p:nvPr/>
        </p:nvSpPr>
        <p:spPr>
          <a:xfrm>
            <a:off x="4626864" y="3657600"/>
            <a:ext cx="2194560" cy="86868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lIns="0" tIns="3810" rIns="4445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Testing</a:t>
            </a:r>
            <a:endParaRPr lang="en-US" sz="1400" dirty="0"/>
          </a:p>
        </p:txBody>
      </p:sp>
      <p:sp>
        <p:nvSpPr>
          <p:cNvPr id="13" name="Step 4"/>
          <p:cNvSpPr txBox="1"/>
          <p:nvPr/>
        </p:nvSpPr>
        <p:spPr>
          <a:xfrm>
            <a:off x="6711696" y="3657600"/>
            <a:ext cx="2194560" cy="868680"/>
          </a:xfrm>
          <a:prstGeom prst="chevron">
            <a:avLst/>
          </a:prstGeom>
          <a:solidFill>
            <a:schemeClr val="tx2"/>
          </a:solidFill>
          <a:ln/>
        </p:spPr>
        <p:txBody>
          <a:bodyPr wrap="square" lIns="0" tIns="3810" rIns="4445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Maintenance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6.2 Software Development Process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is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Software development is the process programmers use to create computer programs. It is also known as the software development life cycle (SDLC).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Its aim is to create effective products within a defined budget and time.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Software is developed for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4663440" y="1691640"/>
            <a:ext cx="40233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9" name="Badge 1"/>
          <p:cNvSpPr txBox="1"/>
          <p:nvPr/>
        </p:nvSpPr>
        <p:spPr>
          <a:xfrm>
            <a:off x="4846320" y="193395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737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 solve a real-world problem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4663440" y="2697480"/>
            <a:ext cx="40233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2" name="Badge 2"/>
          <p:cNvSpPr txBox="1"/>
          <p:nvPr/>
        </p:nvSpPr>
        <p:spPr>
          <a:xfrm>
            <a:off x="4846320" y="293979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743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 personal use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4663440" y="3703320"/>
            <a:ext cx="40233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5" name="Badge 3"/>
          <p:cNvSpPr txBox="1"/>
          <p:nvPr/>
        </p:nvSpPr>
        <p:spPr>
          <a:xfrm>
            <a:off x="4846320" y="394563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749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 meet the specific need of a client or business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6.3 Concept of SDLC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35661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is SDLC?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Software is not a small program. It is a combination of several programs integrated together, developed through a sequence of steps under the life cycle.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SDLC is a step-by-step process where each stage is a building block of an effective and efficient program.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188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Importance of SDLC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4206240" y="1645920"/>
            <a:ext cx="4480560" cy="521208"/>
          </a:xfrm>
          <a:prstGeom prst="roundRect">
            <a:avLst>
              <a:gd name="adj" fmla="val 14035"/>
            </a:avLst>
          </a:prstGeom>
          <a:solidFill>
            <a:schemeClr val="bg2"/>
          </a:solidFill>
          <a:ln/>
        </p:spPr>
      </p:sp>
      <p:sp>
        <p:nvSpPr>
          <p:cNvPr id="9" name="Badge 1"/>
          <p:cNvSpPr txBox="1"/>
          <p:nvPr/>
        </p:nvSpPr>
        <p:spPr>
          <a:xfrm>
            <a:off x="4315968" y="1719072"/>
            <a:ext cx="374904" cy="3749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645920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Base for project planning, scheduling and estimating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206240" y="2258568"/>
            <a:ext cx="4480560" cy="521208"/>
          </a:xfrm>
          <a:prstGeom prst="roundRect">
            <a:avLst>
              <a:gd name="adj" fmla="val 14035"/>
            </a:avLst>
          </a:prstGeom>
          <a:solidFill>
            <a:schemeClr val="bg2"/>
          </a:solidFill>
          <a:ln/>
        </p:spPr>
      </p:sp>
      <p:sp>
        <p:nvSpPr>
          <p:cNvPr id="12" name="Badge 2"/>
          <p:cNvSpPr txBox="1"/>
          <p:nvPr/>
        </p:nvSpPr>
        <p:spPr>
          <a:xfrm>
            <a:off x="4315968" y="2331720"/>
            <a:ext cx="374904" cy="3749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258568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Provides a framework for a standard set of activities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206240" y="2871216"/>
            <a:ext cx="4480560" cy="521208"/>
          </a:xfrm>
          <a:prstGeom prst="roundRect">
            <a:avLst>
              <a:gd name="adj" fmla="val 14035"/>
            </a:avLst>
          </a:prstGeom>
          <a:solidFill>
            <a:schemeClr val="bg2"/>
          </a:solidFill>
          <a:ln/>
        </p:spPr>
      </p:sp>
      <p:sp>
        <p:nvSpPr>
          <p:cNvPr id="15" name="Badge 3"/>
          <p:cNvSpPr txBox="1"/>
          <p:nvPr/>
        </p:nvSpPr>
        <p:spPr>
          <a:xfrm>
            <a:off x="4315968" y="2944368"/>
            <a:ext cx="374904" cy="3749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871216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Increases and enhances the development process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4206240" y="3483864"/>
            <a:ext cx="4480560" cy="521208"/>
          </a:xfrm>
          <a:prstGeom prst="roundRect">
            <a:avLst>
              <a:gd name="adj" fmla="val 14035"/>
            </a:avLst>
          </a:prstGeom>
          <a:solidFill>
            <a:schemeClr val="bg2"/>
          </a:solidFill>
          <a:ln/>
        </p:spPr>
      </p:sp>
      <p:sp>
        <p:nvSpPr>
          <p:cNvPr id="18" name="Badge 4"/>
          <p:cNvSpPr txBox="1"/>
          <p:nvPr/>
        </p:nvSpPr>
        <p:spPr>
          <a:xfrm>
            <a:off x="4315968" y="3557016"/>
            <a:ext cx="374904" cy="3749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483864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Improves client relations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4206240" y="4096512"/>
            <a:ext cx="4480560" cy="521208"/>
          </a:xfrm>
          <a:prstGeom prst="roundRect">
            <a:avLst>
              <a:gd name="adj" fmla="val 14035"/>
            </a:avLst>
          </a:prstGeom>
          <a:solidFill>
            <a:schemeClr val="bg2"/>
          </a:solidFill>
          <a:ln/>
        </p:spPr>
      </p:sp>
      <p:sp>
        <p:nvSpPr>
          <p:cNvPr id="21" name="Badge 5"/>
          <p:cNvSpPr txBox="1"/>
          <p:nvPr/>
        </p:nvSpPr>
        <p:spPr>
          <a:xfrm>
            <a:off x="4315968" y="4169664"/>
            <a:ext cx="374904" cy="3749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4096512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Helps to decrease project 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Phases of SDLC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 computing power increases, the demand on software and developers grows. Companies must reduce cost, deliver software faster and meet customer needs.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SDLC plays a vital role in achieving these goals.</a:t>
            </a:r>
            <a:endParaRPr lang="en-US" sz="1400" dirty="0"/>
          </a:p>
        </p:txBody>
      </p:sp>
      <p:sp>
        <p:nvSpPr>
          <p:cNvPr id="6" name="Center ring"/>
          <p:cNvSpPr/>
          <p:nvPr/>
        </p:nvSpPr>
        <p:spPr>
          <a:xfrm>
            <a:off x="5349240" y="2313432"/>
            <a:ext cx="1554480" cy="1554480"/>
          </a:xfrm>
          <a:prstGeom prst="ellipse">
            <a:avLst/>
          </a:prstGeom>
          <a:ln w="12700">
            <a:solidFill>
              <a:schemeClr val="accent5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486400" y="28163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Phases of SDLC</a:t>
            </a:r>
            <a:endParaRPr lang="en-US" sz="1400" dirty="0"/>
          </a:p>
        </p:txBody>
      </p:sp>
      <p:sp>
        <p:nvSpPr>
          <p:cNvPr id="8" name="Flow 1"/>
          <p:cNvSpPr/>
          <p:nvPr/>
        </p:nvSpPr>
        <p:spPr>
          <a:xfrm>
            <a:off x="6686695" y="1787689"/>
            <a:ext cx="109209" cy="5259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Flow 2"/>
          <p:cNvSpPr/>
          <p:nvPr/>
        </p:nvSpPr>
        <p:spPr>
          <a:xfrm>
            <a:off x="7494481" y="2716270"/>
            <a:ext cx="26972" cy="11817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Flow 3"/>
          <p:cNvSpPr/>
          <p:nvPr/>
        </p:nvSpPr>
        <p:spPr>
          <a:xfrm flipH="1">
            <a:off x="7196559" y="3926782"/>
            <a:ext cx="75575" cy="9476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Flow 4"/>
          <p:cNvSpPr/>
          <p:nvPr/>
        </p:nvSpPr>
        <p:spPr>
          <a:xfrm flipH="1">
            <a:off x="6065874" y="4507687"/>
            <a:ext cx="121213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Flow 5"/>
          <p:cNvSpPr/>
          <p:nvPr/>
        </p:nvSpPr>
        <p:spPr>
          <a:xfrm flipH="1" flipV="1">
            <a:off x="4980826" y="3926782"/>
            <a:ext cx="75575" cy="9476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Flow 6"/>
          <p:cNvSpPr/>
          <p:nvPr/>
        </p:nvSpPr>
        <p:spPr>
          <a:xfrm flipV="1">
            <a:off x="4731506" y="2716270"/>
            <a:ext cx="26972" cy="11817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Flow 7"/>
          <p:cNvSpPr/>
          <p:nvPr/>
        </p:nvSpPr>
        <p:spPr>
          <a:xfrm flipV="1">
            <a:off x="5457056" y="1787689"/>
            <a:ext cx="109209" cy="5259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Phase 1"/>
          <p:cNvSpPr txBox="1"/>
          <p:nvPr/>
        </p:nvSpPr>
        <p:spPr>
          <a:xfrm>
            <a:off x="5541264" y="932688"/>
            <a:ext cx="1170432" cy="117043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System Study</a:t>
            </a:r>
            <a:endParaRPr lang="en-US" sz="900" dirty="0"/>
          </a:p>
        </p:txBody>
      </p:sp>
      <p:sp>
        <p:nvSpPr>
          <p:cNvPr id="16" name="Phase 2"/>
          <p:cNvSpPr txBox="1"/>
          <p:nvPr/>
        </p:nvSpPr>
        <p:spPr>
          <a:xfrm>
            <a:off x="6770904" y="1524851"/>
            <a:ext cx="1170432" cy="11704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System Analysis</a:t>
            </a:r>
            <a:endParaRPr lang="en-US" sz="900" dirty="0"/>
          </a:p>
        </p:txBody>
      </p:sp>
      <p:sp>
        <p:nvSpPr>
          <p:cNvPr id="17" name="Phase 3"/>
          <p:cNvSpPr txBox="1"/>
          <p:nvPr/>
        </p:nvSpPr>
        <p:spPr>
          <a:xfrm>
            <a:off x="7074599" y="2855430"/>
            <a:ext cx="1170432" cy="11704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System Design</a:t>
            </a:r>
            <a:endParaRPr lang="en-US" sz="900" dirty="0"/>
          </a:p>
        </p:txBody>
      </p:sp>
      <p:sp>
        <p:nvSpPr>
          <p:cNvPr id="18" name="Phase 4"/>
          <p:cNvSpPr txBox="1"/>
          <p:nvPr/>
        </p:nvSpPr>
        <p:spPr>
          <a:xfrm>
            <a:off x="6223662" y="3922471"/>
            <a:ext cx="1170432" cy="11704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System Development</a:t>
            </a:r>
            <a:endParaRPr lang="en-US" sz="900" dirty="0"/>
          </a:p>
        </p:txBody>
      </p:sp>
      <p:sp>
        <p:nvSpPr>
          <p:cNvPr id="19" name="Phase 5"/>
          <p:cNvSpPr txBox="1"/>
          <p:nvPr/>
        </p:nvSpPr>
        <p:spPr>
          <a:xfrm>
            <a:off x="4858866" y="3922471"/>
            <a:ext cx="1170432" cy="11704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System Testing</a:t>
            </a:r>
            <a:endParaRPr lang="en-US" sz="900" dirty="0"/>
          </a:p>
        </p:txBody>
      </p:sp>
      <p:sp>
        <p:nvSpPr>
          <p:cNvPr id="20" name="Phase 6"/>
          <p:cNvSpPr txBox="1"/>
          <p:nvPr/>
        </p:nvSpPr>
        <p:spPr>
          <a:xfrm>
            <a:off x="4007929" y="2855430"/>
            <a:ext cx="1170432" cy="11704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21" name="Phase 7"/>
          <p:cNvSpPr txBox="1"/>
          <p:nvPr/>
        </p:nvSpPr>
        <p:spPr>
          <a:xfrm>
            <a:off x="4311624" y="1524851"/>
            <a:ext cx="1170432" cy="11704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Maintenance and Review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System Study and Analysis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594360" y="126187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618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System Study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first stage of SDLC, where needs and requirements are collected. It gives a clearer picture and scope of the entire project.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It asks four questions</a:t>
            </a:r>
            <a:endParaRPr lang="en-US" sz="1400" dirty="0"/>
          </a:p>
        </p:txBody>
      </p:sp>
      <p:sp>
        <p:nvSpPr>
          <p:cNvPr id="8" name="Chip"/>
          <p:cNvSpPr txBox="1"/>
          <p:nvPr/>
        </p:nvSpPr>
        <p:spPr>
          <a:xfrm>
            <a:off x="640080" y="3200400"/>
            <a:ext cx="178308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 is to be done in future?</a:t>
            </a:r>
            <a:endParaRPr lang="en-US" sz="1400" dirty="0"/>
          </a:p>
        </p:txBody>
      </p:sp>
      <p:sp>
        <p:nvSpPr>
          <p:cNvPr id="9" name="Chip"/>
          <p:cNvSpPr txBox="1"/>
          <p:nvPr/>
        </p:nvSpPr>
        <p:spPr>
          <a:xfrm>
            <a:off x="2514600" y="3200400"/>
            <a:ext cx="178308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How to do it?</a:t>
            </a:r>
            <a:endParaRPr lang="en-US" sz="1400" dirty="0"/>
          </a:p>
        </p:txBody>
      </p:sp>
      <p:sp>
        <p:nvSpPr>
          <p:cNvPr id="10" name="Chip"/>
          <p:cNvSpPr txBox="1"/>
          <p:nvPr/>
        </p:nvSpPr>
        <p:spPr>
          <a:xfrm>
            <a:off x="640080" y="3858768"/>
            <a:ext cx="178308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When to do it?</a:t>
            </a:r>
            <a:endParaRPr lang="en-US" sz="1400" dirty="0"/>
          </a:p>
        </p:txBody>
      </p:sp>
      <p:sp>
        <p:nvSpPr>
          <p:cNvPr id="11" name="Chip"/>
          <p:cNvSpPr txBox="1"/>
          <p:nvPr/>
        </p:nvSpPr>
        <p:spPr>
          <a:xfrm>
            <a:off x="2514600" y="3858768"/>
            <a:ext cx="178308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Who is to do it?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66344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3" name="Badge 2"/>
          <p:cNvSpPr txBox="1"/>
          <p:nvPr/>
        </p:nvSpPr>
        <p:spPr>
          <a:xfrm>
            <a:off x="4800600" y="126187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12618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System Analysis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7830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Dissection of the system into its components to study how they interact and work together.</a:t>
            </a:r>
            <a:endParaRPr lang="en-US" sz="1400" dirty="0"/>
          </a:p>
        </p:txBody>
      </p:sp>
      <p:sp>
        <p:nvSpPr>
          <p:cNvPr id="16" name="Callout"/>
          <p:cNvSpPr txBox="1"/>
          <p:nvPr/>
        </p:nvSpPr>
        <p:spPr>
          <a:xfrm>
            <a:off x="4846320" y="2697480"/>
            <a:ext cx="3657600" cy="914400"/>
          </a:xfrm>
          <a:prstGeom prst="roundRect">
            <a:avLst>
              <a:gd name="adj" fmla="val 8000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Most important activity: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feasibility study, which decides whether the system is feasible to design or not.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749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Feasibility types: Economical, Technical, Operational, Time/Schedule and Legal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Types of Feasibility Study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594360" y="13258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3258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Economical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Determines the financial aspects. Analyzes the cost of development and the cost effectiveness of the system.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46120" y="118872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8" name="Badge 2"/>
          <p:cNvSpPr txBox="1"/>
          <p:nvPr/>
        </p:nvSpPr>
        <p:spPr>
          <a:xfrm>
            <a:off x="3383280" y="1325880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3258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Technical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7830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Determines the technical aspects. Analyzes whether the technical parts of the system or software are feasible or not.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035040" y="118872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2" name="Badge 3"/>
          <p:cNvSpPr txBox="1"/>
          <p:nvPr/>
        </p:nvSpPr>
        <p:spPr>
          <a:xfrm>
            <a:off x="6172200" y="13258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13258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Operational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7830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Determines the operational aspects of any system or software.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57200" y="301752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6" name="Badge 4"/>
          <p:cNvSpPr txBox="1"/>
          <p:nvPr/>
        </p:nvSpPr>
        <p:spPr>
          <a:xfrm>
            <a:off x="594360" y="3154680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1546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Time / Schedule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6118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Focuses on time scheduling. The project is split into small tasks and the time to complete each task is estimated.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3246120" y="301752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20" name="Badge 5"/>
          <p:cNvSpPr txBox="1"/>
          <p:nvPr/>
        </p:nvSpPr>
        <p:spPr>
          <a:xfrm>
            <a:off x="3383280" y="31546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31546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Legal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6118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Analyzes the legal procedures for development: copyright law, labour law, foreign trade, tax, etc.</a:t>
            </a:r>
            <a:endParaRPr lang="en-US" sz="1400" dirty="0"/>
          </a:p>
        </p:txBody>
      </p:sp>
      <p:sp>
        <p:nvSpPr>
          <p:cNvPr id="23" name="Summary card"/>
          <p:cNvSpPr txBox="1"/>
          <p:nvPr/>
        </p:nvSpPr>
        <p:spPr>
          <a:xfrm>
            <a:off x="6035040" y="301752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Together these studies decide whether the system is feasible to design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System Design and Development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Badge 3"/>
          <p:cNvSpPr txBox="1"/>
          <p:nvPr/>
        </p:nvSpPr>
        <p:spPr>
          <a:xfrm>
            <a:off x="594360" y="126187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618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System Design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Develop a logical design (framework) of the system. The overall logical solution of the problem or project is determined.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Tools used</a:t>
            </a:r>
            <a:endParaRPr lang="en-US" sz="1400" dirty="0"/>
          </a:p>
        </p:txBody>
      </p:sp>
      <p:sp>
        <p:nvSpPr>
          <p:cNvPr id="8" name="Chip"/>
          <p:cNvSpPr txBox="1"/>
          <p:nvPr/>
        </p:nvSpPr>
        <p:spPr>
          <a:xfrm>
            <a:off x="640080" y="3291840"/>
            <a:ext cx="114300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Algorithm</a:t>
            </a:r>
            <a:endParaRPr lang="en-US" sz="1400" dirty="0"/>
          </a:p>
        </p:txBody>
      </p:sp>
      <p:sp>
        <p:nvSpPr>
          <p:cNvPr id="9" name="Chip"/>
          <p:cNvSpPr txBox="1"/>
          <p:nvPr/>
        </p:nvSpPr>
        <p:spPr>
          <a:xfrm>
            <a:off x="1856232" y="3291840"/>
            <a:ext cx="114300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Flowchart</a:t>
            </a:r>
            <a:endParaRPr lang="en-US" sz="1400" dirty="0"/>
          </a:p>
        </p:txBody>
      </p:sp>
      <p:sp>
        <p:nvSpPr>
          <p:cNvPr id="10" name="Chip"/>
          <p:cNvSpPr txBox="1"/>
          <p:nvPr/>
        </p:nvSpPr>
        <p:spPr>
          <a:xfrm>
            <a:off x="3072384" y="3291840"/>
            <a:ext cx="114300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Pseudo code</a:t>
            </a:r>
            <a:endParaRPr lang="en-US" sz="1400" dirty="0"/>
          </a:p>
        </p:txBody>
      </p:sp>
      <p:sp>
        <p:nvSpPr>
          <p:cNvPr id="11" name="Chip"/>
          <p:cNvSpPr txBox="1"/>
          <p:nvPr/>
        </p:nvSpPr>
        <p:spPr>
          <a:xfrm>
            <a:off x="640080" y="3840480"/>
            <a:ext cx="114300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ER design</a:t>
            </a:r>
            <a:endParaRPr lang="en-US" sz="1400" dirty="0"/>
          </a:p>
        </p:txBody>
      </p:sp>
      <p:sp>
        <p:nvSpPr>
          <p:cNvPr id="12" name="Chip"/>
          <p:cNvSpPr txBox="1"/>
          <p:nvPr/>
        </p:nvSpPr>
        <p:spPr>
          <a:xfrm>
            <a:off x="1856232" y="3840480"/>
            <a:ext cx="114300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DFD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66344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4" name="Badge 4"/>
          <p:cNvSpPr txBox="1"/>
          <p:nvPr/>
        </p:nvSpPr>
        <p:spPr>
          <a:xfrm>
            <a:off x="4800600" y="126187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12618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System Development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7830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logical structure is converted into a program using languages such as C, C++, Java, Python, QBASIC and FORTRAN.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Tasks to be done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2461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Convert logical structures into a program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Create the database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Train users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Prepare documentation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System Testing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512064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Badge 5"/>
          <p:cNvSpPr txBox="1"/>
          <p:nvPr/>
        </p:nvSpPr>
        <p:spPr>
          <a:xfrm>
            <a:off x="594360" y="126187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618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Quality check of the product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investigation to check the quality of the product or service. Programs are executed with the intention of finding software bugs. It is also called validating and verifying the software product.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Testing methods</a:t>
            </a:r>
            <a:endParaRPr lang="en-US" sz="1400" dirty="0"/>
          </a:p>
        </p:txBody>
      </p:sp>
      <p:sp>
        <p:nvSpPr>
          <p:cNvPr id="8" name="Method 1"/>
          <p:cNvSpPr txBox="1"/>
          <p:nvPr/>
        </p:nvSpPr>
        <p:spPr>
          <a:xfrm>
            <a:off x="640080" y="3383280"/>
            <a:ext cx="23317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114300" tIns="114300" rIns="114300" bIns="1143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White-box testing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Tests internal data structures, including code</a:t>
            </a:r>
            <a:endParaRPr lang="en-US" sz="1400" dirty="0"/>
          </a:p>
        </p:txBody>
      </p:sp>
      <p:sp>
        <p:nvSpPr>
          <p:cNvPr id="9" name="Method 2"/>
          <p:cNvSpPr txBox="1"/>
          <p:nvPr/>
        </p:nvSpPr>
        <p:spPr>
          <a:xfrm>
            <a:off x="3063240" y="3383280"/>
            <a:ext cx="23317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114300" tIns="114300" rIns="114300" bIns="1143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Black-box testing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Functional testing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760720" y="1143000"/>
            <a:ext cx="2926080" cy="356616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9788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Three components (phases)</a:t>
            </a:r>
            <a:endParaRPr lang="en-US" sz="1600" dirty="0"/>
          </a:p>
        </p:txBody>
      </p:sp>
      <p:sp>
        <p:nvSpPr>
          <p:cNvPr id="12" name="Component 1"/>
          <p:cNvSpPr txBox="1"/>
          <p:nvPr/>
        </p:nvSpPr>
        <p:spPr>
          <a:xfrm>
            <a:off x="5897880" y="1965960"/>
            <a:ext cx="26517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Unit testing</a:t>
            </a:r>
            <a:endParaRPr lang="en-US" sz="1600" dirty="0"/>
          </a:p>
        </p:txBody>
      </p:sp>
      <p:sp>
        <p:nvSpPr>
          <p:cNvPr id="13" name="Component 2"/>
          <p:cNvSpPr txBox="1"/>
          <p:nvPr/>
        </p:nvSpPr>
        <p:spPr>
          <a:xfrm>
            <a:off x="5897880" y="2862072"/>
            <a:ext cx="26517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System testing</a:t>
            </a:r>
            <a:endParaRPr lang="en-US" sz="1600" dirty="0"/>
          </a:p>
        </p:txBody>
      </p:sp>
      <p:sp>
        <p:nvSpPr>
          <p:cNvPr id="14" name="Component 3"/>
          <p:cNvSpPr txBox="1"/>
          <p:nvPr/>
        </p:nvSpPr>
        <p:spPr>
          <a:xfrm>
            <a:off x="5897880" y="3758184"/>
            <a:ext cx="26517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Integration testing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Implementation and Maintenance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Badge 6"/>
          <p:cNvSpPr txBox="1"/>
          <p:nvPr/>
        </p:nvSpPr>
        <p:spPr>
          <a:xfrm>
            <a:off x="594360" y="126187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618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System Implementation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system is installed in the client's computer to support the desired business function. Implementation (conversion) has four major categories:</a:t>
            </a:r>
            <a:endParaRPr lang="en-US" sz="1400" dirty="0"/>
          </a:p>
        </p:txBody>
      </p:sp>
      <p:sp>
        <p:nvSpPr>
          <p:cNvPr id="7" name="Chip"/>
          <p:cNvSpPr txBox="1"/>
          <p:nvPr/>
        </p:nvSpPr>
        <p:spPr>
          <a:xfrm>
            <a:off x="640080" y="3246120"/>
            <a:ext cx="178308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Direct</a:t>
            </a:r>
            <a:endParaRPr lang="en-US" sz="1600" dirty="0"/>
          </a:p>
        </p:txBody>
      </p:sp>
      <p:sp>
        <p:nvSpPr>
          <p:cNvPr id="8" name="Chip"/>
          <p:cNvSpPr txBox="1"/>
          <p:nvPr/>
        </p:nvSpPr>
        <p:spPr>
          <a:xfrm>
            <a:off x="2514600" y="3246120"/>
            <a:ext cx="178308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Parallel</a:t>
            </a:r>
            <a:endParaRPr lang="en-US" sz="1600" dirty="0"/>
          </a:p>
        </p:txBody>
      </p:sp>
      <p:sp>
        <p:nvSpPr>
          <p:cNvPr id="9" name="Chip"/>
          <p:cNvSpPr txBox="1"/>
          <p:nvPr/>
        </p:nvSpPr>
        <p:spPr>
          <a:xfrm>
            <a:off x="640080" y="3931920"/>
            <a:ext cx="178308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Phased</a:t>
            </a:r>
            <a:endParaRPr lang="en-US" sz="1600" dirty="0"/>
          </a:p>
        </p:txBody>
      </p:sp>
      <p:sp>
        <p:nvSpPr>
          <p:cNvPr id="10" name="Chip"/>
          <p:cNvSpPr txBox="1"/>
          <p:nvPr/>
        </p:nvSpPr>
        <p:spPr>
          <a:xfrm>
            <a:off x="2514600" y="3931920"/>
            <a:ext cx="178308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Pilot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466344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2" name="Badge 7"/>
          <p:cNvSpPr txBox="1"/>
          <p:nvPr/>
        </p:nvSpPr>
        <p:spPr>
          <a:xfrm>
            <a:off x="4800600" y="126187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2618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Maintenance and Feedback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7830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Changes are made to hardware, software and documentation to support system performance, enhance security and read customer/user feedback.</a:t>
            </a:r>
            <a:endParaRPr lang="en-US" sz="1400" dirty="0"/>
          </a:p>
        </p:txBody>
      </p:sp>
      <p:sp>
        <p:nvSpPr>
          <p:cNvPr id="15" name="Callout"/>
          <p:cNvSpPr txBox="1"/>
          <p:nvPr/>
        </p:nvSpPr>
        <p:spPr>
          <a:xfrm>
            <a:off x="4846320" y="3291840"/>
            <a:ext cx="365760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Helps to redesign (modify / update) the system in the next version, in the upcoming life cycle.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6.4 Analyst vs Engineer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80160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System analyst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key person in the system development process who analyzes the existing system and implements a new one that overcomes its limitations. Constantly interacts with top-level management, users, competitors and other external entities. Responsible for the overall progress of a project, for quality control and the end-user perspective.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80160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Software engineer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745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Has extensive knowledge of programming languages, software development and computer operating systems. Applies engineering principles to software creation and must have in-depth computer programming knowledge.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Characteristics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80160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System analyst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Knowledge of the organization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Technical knowledge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Good communication skills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Problem solving skills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Good inter-personal relationships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Good character and ethics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80160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Software engineer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745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In-depth knowledge of programming languages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Creative and logical mind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Extensive knowledge of operating systems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Knows the nuts and bolts of the computer system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Able to create documentation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Roles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80160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System analyst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Collects information about the current system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Tries to overcome the limitations of the existing system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Guides the overall system by giving proper directions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Examines and analyses existing IT systems and the business model, and identifies requirements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80160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Software engineer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745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Designs, develops and maintains computer software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Investigates new technologies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Ensures all systems are stable and operate efficiently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Responds to any software-related issues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Executes full life cycle software development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6.5 Requirement Collection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system analyst must collect information about the current system and how to improve its functionality with the new system. Data are collected from various sources:</a:t>
            </a:r>
            <a:endParaRPr lang="en-US" sz="1500" dirty="0"/>
          </a:p>
        </p:txBody>
      </p:sp>
      <p:sp>
        <p:nvSpPr>
          <p:cNvPr id="4" name="Card"/>
          <p:cNvSpPr/>
          <p:nvPr/>
        </p:nvSpPr>
        <p:spPr>
          <a:xfrm>
            <a:off x="457200" y="201168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 txBox="1"/>
          <p:nvPr/>
        </p:nvSpPr>
        <p:spPr>
          <a:xfrm>
            <a:off x="594360" y="21488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Interview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2560320" y="201168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8" name="Badge 2"/>
          <p:cNvSpPr txBox="1"/>
          <p:nvPr/>
        </p:nvSpPr>
        <p:spPr>
          <a:xfrm>
            <a:off x="2697480" y="214884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Survey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663440" y="201168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1" name="Badge 3"/>
          <p:cNvSpPr txBox="1"/>
          <p:nvPr/>
        </p:nvSpPr>
        <p:spPr>
          <a:xfrm>
            <a:off x="4800600" y="21488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Observation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6766560" y="201168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Badge 4"/>
          <p:cNvSpPr txBox="1"/>
          <p:nvPr/>
        </p:nvSpPr>
        <p:spPr>
          <a:xfrm>
            <a:off x="6903720" y="214884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Focus group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457200" y="338328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7" name="Badge 5"/>
          <p:cNvSpPr txBox="1"/>
          <p:nvPr/>
        </p:nvSpPr>
        <p:spPr>
          <a:xfrm>
            <a:off x="594360" y="35204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977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Prototyping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2560320" y="338328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0" name="Badge 6"/>
          <p:cNvSpPr txBox="1"/>
          <p:nvPr/>
        </p:nvSpPr>
        <p:spPr>
          <a:xfrm>
            <a:off x="2697480" y="352044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3977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Document analysis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4663440" y="338328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3" name="Badge 7"/>
          <p:cNvSpPr txBox="1"/>
          <p:nvPr/>
        </p:nvSpPr>
        <p:spPr>
          <a:xfrm>
            <a:off x="4800600" y="35204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3977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Workshops and seminars</a:t>
            </a:r>
            <a:endParaRPr lang="en-US" sz="1500" dirty="0"/>
          </a:p>
        </p:txBody>
      </p:sp>
      <p:sp>
        <p:nvSpPr>
          <p:cNvPr id="25" name="Next note"/>
          <p:cNvSpPr txBox="1"/>
          <p:nvPr/>
        </p:nvSpPr>
        <p:spPr>
          <a:xfrm>
            <a:off x="6766560" y="338328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accent2">
              <a:alpha val="35000"/>
            </a:schemeClr>
          </a:solidFill>
          <a:ln/>
        </p:spPr>
        <p:txBody>
          <a:bodyPr wrap="square" lIns="114300" tIns="114300" rIns="114300" bIns="1143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Each source is explained on the next slides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Requirement Collection Sources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594360" y="130759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07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Interview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Take interviews with professionals of the particular system to get more ideas and requirements.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663440" y="118872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8" name="Badge 2"/>
          <p:cNvSpPr txBox="1"/>
          <p:nvPr/>
        </p:nvSpPr>
        <p:spPr>
          <a:xfrm>
            <a:off x="4800600" y="130759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1307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Survey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830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Perform several surveys about the system to learn its scope and challenges.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301752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2" name="Badge 3"/>
          <p:cNvSpPr txBox="1"/>
          <p:nvPr/>
        </p:nvSpPr>
        <p:spPr>
          <a:xfrm>
            <a:off x="594360" y="313639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1363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Observation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118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Observe a competitor's system to get more ideas about the design and operation of such a system.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663440" y="301752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6" name="Badge 4"/>
          <p:cNvSpPr txBox="1"/>
          <p:nvPr/>
        </p:nvSpPr>
        <p:spPr>
          <a:xfrm>
            <a:off x="4800600" y="313639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31363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Focus group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6118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gathering of people representative of the users or customers of a product. Gives feedback about needs, opportunities and problems.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More Collection Sources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51760" cy="347472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4" name="Badge 5"/>
          <p:cNvSpPr txBox="1"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Prototyping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51460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Develop a small prototype model as required and show it to the client to get additional requirements.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46120" y="1188720"/>
            <a:ext cx="2651760" cy="347472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8" name="Badge 6"/>
          <p:cNvSpPr txBox="1"/>
          <p:nvPr/>
        </p:nvSpPr>
        <p:spPr>
          <a:xfrm>
            <a:off x="3383280" y="13258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Document analysis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51460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 the documentation of an existing system. It introduces the requirements that drove its creation.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035040" y="1188720"/>
            <a:ext cx="2651760" cy="347472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2" name="Badge 7"/>
          <p:cNvSpPr txBox="1"/>
          <p:nvPr/>
        </p:nvSpPr>
        <p:spPr>
          <a:xfrm>
            <a:off x="6172200" y="1325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Workshops and seminars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51460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Sessions (also webinars) involving several professionals and competitors. Idea sharing is the most common activity.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6.6 System Design Tools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51760" cy="347472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25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Algorithm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2024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of the most basic tools for problem solving. A finite sequence of instructions for solving a problem.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46120" y="1188720"/>
            <a:ext cx="2651760" cy="347472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8" name="Badge 2"/>
          <p:cNvSpPr txBox="1"/>
          <p:nvPr/>
        </p:nvSpPr>
        <p:spPr>
          <a:xfrm>
            <a:off x="3383280" y="132588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1325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Flowchart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92024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diagrammatic, pictorial or symbolic representation of an algorithm. Shows the order of instructions and the relationships between them. Two types: system and program.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035040" y="1188720"/>
            <a:ext cx="2651760" cy="347472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2" name="Badge 3"/>
          <p:cNvSpPr txBox="1"/>
          <p:nvPr/>
        </p:nvSpPr>
        <p:spPr>
          <a:xfrm>
            <a:off x="6172200" y="1325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325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Pseudo code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92024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Pseudo means fake, so this is fake code: it looks like program code but is not. It is a kind of algorithm for solving a problem.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DFD and ER Diagram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80160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  Data Flow Diagram (DFD)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logical diagram that describes the flow of data (information) between the components of the system.</a:t>
            </a:r>
            <a:endParaRPr lang="en-US" sz="1400" dirty="0"/>
          </a:p>
        </p:txBody>
      </p:sp>
      <p:sp>
        <p:nvSpPr>
          <p:cNvPr id="6" name="Symbol process"/>
          <p:cNvSpPr/>
          <p:nvPr/>
        </p:nvSpPr>
        <p:spPr>
          <a:xfrm>
            <a:off x="640080" y="2880360"/>
            <a:ext cx="45720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2788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Process</a:t>
            </a:r>
            <a:endParaRPr lang="en-US" sz="1400" dirty="0"/>
          </a:p>
        </p:txBody>
      </p:sp>
      <p:sp>
        <p:nvSpPr>
          <p:cNvPr id="8" name="Store top"/>
          <p:cNvSpPr/>
          <p:nvPr/>
        </p:nvSpPr>
        <p:spPr>
          <a:xfrm>
            <a:off x="2514600" y="2898648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9" name="Store bottom"/>
          <p:cNvSpPr/>
          <p:nvPr/>
        </p:nvSpPr>
        <p:spPr>
          <a:xfrm>
            <a:off x="2514600" y="3227832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0" name="Store side"/>
          <p:cNvSpPr/>
          <p:nvPr/>
        </p:nvSpPr>
        <p:spPr>
          <a:xfrm>
            <a:off x="2514600" y="2898648"/>
            <a:ext cx="0" cy="32918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08960" y="2788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store</a:t>
            </a:r>
            <a:endParaRPr lang="en-US" sz="1400" dirty="0"/>
          </a:p>
        </p:txBody>
      </p:sp>
      <p:sp>
        <p:nvSpPr>
          <p:cNvPr id="12" name="Symbol flow"/>
          <p:cNvSpPr/>
          <p:nvPr/>
        </p:nvSpPr>
        <p:spPr>
          <a:xfrm>
            <a:off x="640080" y="3749040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234440" y="3474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flows</a:t>
            </a:r>
            <a:endParaRPr lang="en-US" sz="1400" dirty="0"/>
          </a:p>
        </p:txBody>
      </p:sp>
      <p:sp>
        <p:nvSpPr>
          <p:cNvPr id="14" name="Symbol entity"/>
          <p:cNvSpPr/>
          <p:nvPr/>
        </p:nvSpPr>
        <p:spPr>
          <a:xfrm>
            <a:off x="2514600" y="3566160"/>
            <a:ext cx="45720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08960" y="3474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External entities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Several layers, according to system complexity.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466344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8" name="Header"/>
          <p:cNvSpPr txBox="1"/>
          <p:nvPr/>
        </p:nvSpPr>
        <p:spPr>
          <a:xfrm>
            <a:off x="4800600" y="1280160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  Entity Relationship Diagram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18288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diagrammatic representation of real-world entities along with their attributes: the overall logical structure of a database.</a:t>
            </a:r>
            <a:endParaRPr lang="en-US" sz="1400" dirty="0"/>
          </a:p>
        </p:txBody>
      </p:sp>
      <p:sp>
        <p:nvSpPr>
          <p:cNvPr id="20" name="Symbol entity ER"/>
          <p:cNvSpPr/>
          <p:nvPr/>
        </p:nvSpPr>
        <p:spPr>
          <a:xfrm>
            <a:off x="4846320" y="2880360"/>
            <a:ext cx="45720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0680" y="2788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Entity</a:t>
            </a:r>
            <a:endParaRPr lang="en-US" sz="1400" dirty="0"/>
          </a:p>
        </p:txBody>
      </p:sp>
      <p:sp>
        <p:nvSpPr>
          <p:cNvPr id="22" name="Symbol attribute"/>
          <p:cNvSpPr/>
          <p:nvPr/>
        </p:nvSpPr>
        <p:spPr>
          <a:xfrm>
            <a:off x="6720840" y="2880360"/>
            <a:ext cx="457200" cy="3657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0" y="2788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Attribute</a:t>
            </a:r>
            <a:endParaRPr lang="en-US" sz="1400" dirty="0"/>
          </a:p>
        </p:txBody>
      </p:sp>
      <p:sp>
        <p:nvSpPr>
          <p:cNvPr id="24" name="Symbol relationship"/>
          <p:cNvSpPr/>
          <p:nvPr/>
        </p:nvSpPr>
        <p:spPr>
          <a:xfrm>
            <a:off x="4846320" y="3520440"/>
            <a:ext cx="457200" cy="457200"/>
          </a:xfrm>
          <a:prstGeom prst="diamond">
            <a:avLst/>
          </a:prstGeom>
          <a:solidFill>
            <a:schemeClr val="accent2">
              <a:alpha val="60000"/>
            </a:schemeClr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40680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Relationship</a:t>
            </a:r>
            <a:endParaRPr lang="en-US" sz="1400" dirty="0"/>
          </a:p>
        </p:txBody>
      </p:sp>
      <p:sp>
        <p:nvSpPr>
          <p:cNvPr id="26" name="Symbol line"/>
          <p:cNvSpPr/>
          <p:nvPr/>
        </p:nvSpPr>
        <p:spPr>
          <a:xfrm>
            <a:off x="6720840" y="3749040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0" y="3474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Decision Table and Tree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80160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  Decision table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Identifies the exact course of action according to the given conditions. It has two parts: condition and action.</a:t>
            </a:r>
            <a:endParaRPr lang="en-US" sz="1400" dirty="0"/>
          </a:p>
        </p:txBody>
      </p:sp>
      <p:graphicFrame>
        <p:nvGraphicFramePr>
          <p:cNvPr id="21" name="Decis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2608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Condition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Condition 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Action 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Condition 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Action 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466344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8" name="Header"/>
          <p:cNvSpPr txBox="1"/>
          <p:nvPr/>
        </p:nvSpPr>
        <p:spPr>
          <a:xfrm>
            <a:off x="4800600" y="1280160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  Decision tree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Similar to a decision table, except that it follows a tree-like structure.</a:t>
            </a:r>
            <a:endParaRPr lang="en-US" sz="1400" dirty="0"/>
          </a:p>
        </p:txBody>
      </p:sp>
      <p:sp>
        <p:nvSpPr>
          <p:cNvPr id="10" name="Tree root"/>
          <p:cNvSpPr txBox="1"/>
          <p:nvPr/>
        </p:nvSpPr>
        <p:spPr>
          <a:xfrm>
            <a:off x="5943600" y="25603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Condition</a:t>
            </a:r>
            <a:endParaRPr lang="en-US" sz="1400" dirty="0"/>
          </a:p>
        </p:txBody>
      </p:sp>
      <p:sp>
        <p:nvSpPr>
          <p:cNvPr id="11" name="Branch left"/>
          <p:cNvSpPr/>
          <p:nvPr/>
        </p:nvSpPr>
        <p:spPr>
          <a:xfrm flipH="1">
            <a:off x="5577840" y="2971800"/>
            <a:ext cx="822960" cy="6400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Branch right"/>
          <p:cNvSpPr/>
          <p:nvPr/>
        </p:nvSpPr>
        <p:spPr>
          <a:xfrm>
            <a:off x="6949440" y="2971800"/>
            <a:ext cx="822960" cy="6400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5623560" y="3154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Yes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3154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No</a:t>
            </a:r>
            <a:endParaRPr lang="en-US" sz="1400" dirty="0"/>
          </a:p>
        </p:txBody>
      </p:sp>
      <p:sp>
        <p:nvSpPr>
          <p:cNvPr id="15" name="Chip"/>
          <p:cNvSpPr txBox="1"/>
          <p:nvPr/>
        </p:nvSpPr>
        <p:spPr>
          <a:xfrm>
            <a:off x="4937760" y="3657600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Action A</a:t>
            </a:r>
            <a:endParaRPr lang="en-US" sz="1400" dirty="0"/>
          </a:p>
        </p:txBody>
      </p:sp>
      <p:sp>
        <p:nvSpPr>
          <p:cNvPr id="16" name="Chip"/>
          <p:cNvSpPr txBox="1"/>
          <p:nvPr/>
        </p:nvSpPr>
        <p:spPr>
          <a:xfrm>
            <a:off x="7132320" y="3657600"/>
            <a:ext cx="12801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Action 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6.7 Software and Quality</a:t>
            </a:r>
            <a:endParaRPr lang="en-US" sz="3400" dirty="0"/>
          </a:p>
        </p:txBody>
      </p:sp>
      <p:sp>
        <p:nvSpPr>
          <p:cNvPr id="3" name="Definition"/>
          <p:cNvSpPr txBox="1"/>
          <p:nvPr/>
        </p:nvSpPr>
        <p:spPr>
          <a:xfrm>
            <a:off x="457200" y="114300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Software quality is the ability of the software to function according to the given specifications. Good software has these qualities:</a:t>
            </a:r>
            <a:endParaRPr lang="en-US" sz="1500" dirty="0"/>
          </a:p>
        </p:txBody>
      </p:sp>
      <p:sp>
        <p:nvSpPr>
          <p:cNvPr id="4" name="Card"/>
          <p:cNvSpPr/>
          <p:nvPr/>
        </p:nvSpPr>
        <p:spPr>
          <a:xfrm>
            <a:off x="457200" y="2103120"/>
            <a:ext cx="1920240" cy="26060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 txBox="1"/>
          <p:nvPr/>
        </p:nvSpPr>
        <p:spPr>
          <a:xfrm>
            <a:off x="594360" y="22402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Good design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aesthetic look that pleases users and pushes them to go through the software and test it.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2542032" y="2103120"/>
            <a:ext cx="1920240" cy="26060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9" name="Badge 2"/>
          <p:cNvSpPr txBox="1"/>
          <p:nvPr/>
        </p:nvSpPr>
        <p:spPr>
          <a:xfrm>
            <a:off x="2679192" y="224028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679192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Good functionality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32004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Smooth functionality, so users can enjoy the software without any issues.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626864" y="2103120"/>
            <a:ext cx="1920240" cy="26060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3" name="Badge 3"/>
          <p:cNvSpPr txBox="1"/>
          <p:nvPr/>
        </p:nvSpPr>
        <p:spPr>
          <a:xfrm>
            <a:off x="4764024" y="22402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Durable and reliable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64024" y="32004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Durability means the software works without any issues for a long period of time.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6711696" y="2103120"/>
            <a:ext cx="1920240" cy="26060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7" name="Badge 4"/>
          <p:cNvSpPr txBox="1"/>
          <p:nvPr/>
        </p:nvSpPr>
        <p:spPr>
          <a:xfrm>
            <a:off x="6848856" y="224028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48856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Portable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48856" y="32004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 be used on different operating systems and computer systems so more users can use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Qualities of Good Software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1920240" cy="34747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Badge 5"/>
          <p:cNvSpPr txBox="1"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28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Efficient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56032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Efficiency means the accuracy of the software on the instructions given by the user.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2542032" y="1188720"/>
            <a:ext cx="1920240" cy="34747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8" name="Badge 6"/>
          <p:cNvSpPr txBox="1"/>
          <p:nvPr/>
        </p:nvSpPr>
        <p:spPr>
          <a:xfrm>
            <a:off x="2679192" y="132588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79192" y="1828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Value for money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79192" y="256032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Customers and companies feel the money spent on the app has not gone to waste.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626864" y="1188720"/>
            <a:ext cx="1920240" cy="34747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2" name="Badge 7"/>
          <p:cNvSpPr txBox="1"/>
          <p:nvPr/>
        </p:nvSpPr>
        <p:spPr>
          <a:xfrm>
            <a:off x="4764024" y="1325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764024" y="1828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Good after-sale service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256032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Meets customer needs and keeps users satisfied after the sale.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711696" y="1188720"/>
            <a:ext cx="1920240" cy="34747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6" name="Badge 8"/>
          <p:cNvSpPr txBox="1"/>
          <p:nvPr/>
        </p:nvSpPr>
        <p:spPr>
          <a:xfrm>
            <a:off x="6848856" y="132588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48856" y="1828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Flexible and maintainable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48856" y="256032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Bugs are captured and fixed quickly; new tasks and enhancements are added without trouble.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6.8 Development Models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Waterfall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Systematic, sequential stages. Suitable for static projects.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663440" y="118872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8" name="Badge 2"/>
          <p:cNvSpPr txBox="1"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Prototype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0116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Iterative: build and modify a prototype until the user is satisfied.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301752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2" name="Badge 3"/>
          <p:cNvSpPr txBox="1"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Spiral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8404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Waterfall plus prototype, with risk management. For large, complex projects.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663440" y="301752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6" name="Badge 4"/>
          <p:cNvSpPr txBox="1"/>
          <p:nvPr/>
        </p:nvSpPr>
        <p:spPr>
          <a:xfrm>
            <a:off x="4846320" y="32004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Agile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8404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Quick adaptation to changing requests. People and users come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1. Waterfall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systematic, sequential model: it begins with system requirements and moves stage by stage. Once a stage is completed, work goes to the next one, like a downhill structure.</a:t>
            </a:r>
            <a:endParaRPr lang="en-US" sz="1400" dirty="0"/>
          </a:p>
        </p:txBody>
      </p:sp>
      <p:sp>
        <p:nvSpPr>
          <p:cNvPr id="4" name="Feedback baseline"/>
          <p:cNvSpPr/>
          <p:nvPr/>
        </p:nvSpPr>
        <p:spPr>
          <a:xfrm>
            <a:off x="731520" y="4626864"/>
            <a:ext cx="63093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5" name="Stage 1"/>
          <p:cNvSpPr txBox="1"/>
          <p:nvPr/>
        </p:nvSpPr>
        <p:spPr>
          <a:xfrm>
            <a:off x="502920" y="1737360"/>
            <a:ext cx="1463040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System study</a:t>
            </a:r>
            <a:endParaRPr lang="en-US" sz="1100" dirty="0"/>
          </a:p>
        </p:txBody>
      </p:sp>
      <p:sp>
        <p:nvSpPr>
          <p:cNvPr id="6" name="Feedback 1"/>
          <p:cNvSpPr/>
          <p:nvPr/>
        </p:nvSpPr>
        <p:spPr>
          <a:xfrm flipV="1">
            <a:off x="731520" y="2048256"/>
            <a:ext cx="0" cy="2578608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Forward h 1"/>
          <p:cNvSpPr/>
          <p:nvPr/>
        </p:nvSpPr>
        <p:spPr>
          <a:xfrm>
            <a:off x="1965960" y="1892808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8" name="Forward v 1"/>
          <p:cNvSpPr/>
          <p:nvPr/>
        </p:nvSpPr>
        <p:spPr>
          <a:xfrm>
            <a:off x="2286000" y="1892808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tage 2"/>
          <p:cNvSpPr txBox="1"/>
          <p:nvPr/>
        </p:nvSpPr>
        <p:spPr>
          <a:xfrm>
            <a:off x="1554480" y="2121408"/>
            <a:ext cx="1463040" cy="310896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System analysis</a:t>
            </a:r>
            <a:endParaRPr lang="en-US" sz="1100" dirty="0"/>
          </a:p>
        </p:txBody>
      </p:sp>
      <p:sp>
        <p:nvSpPr>
          <p:cNvPr id="10" name="Feedback 2"/>
          <p:cNvSpPr/>
          <p:nvPr/>
        </p:nvSpPr>
        <p:spPr>
          <a:xfrm flipV="1">
            <a:off x="1783080" y="2432304"/>
            <a:ext cx="0" cy="219456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Forward h 2"/>
          <p:cNvSpPr/>
          <p:nvPr/>
        </p:nvSpPr>
        <p:spPr>
          <a:xfrm>
            <a:off x="3017520" y="2276856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2" name="Forward v 2"/>
          <p:cNvSpPr/>
          <p:nvPr/>
        </p:nvSpPr>
        <p:spPr>
          <a:xfrm>
            <a:off x="3337560" y="2276856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tage 3"/>
          <p:cNvSpPr txBox="1"/>
          <p:nvPr/>
        </p:nvSpPr>
        <p:spPr>
          <a:xfrm>
            <a:off x="2606040" y="2505456"/>
            <a:ext cx="1463040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System design</a:t>
            </a:r>
            <a:endParaRPr lang="en-US" sz="1100" dirty="0"/>
          </a:p>
        </p:txBody>
      </p:sp>
      <p:sp>
        <p:nvSpPr>
          <p:cNvPr id="14" name="Feedback 3"/>
          <p:cNvSpPr/>
          <p:nvPr/>
        </p:nvSpPr>
        <p:spPr>
          <a:xfrm flipV="1">
            <a:off x="2834640" y="2816352"/>
            <a:ext cx="0" cy="1810512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Forward h 3"/>
          <p:cNvSpPr/>
          <p:nvPr/>
        </p:nvSpPr>
        <p:spPr>
          <a:xfrm>
            <a:off x="4069080" y="2660904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6" name="Forward v 3"/>
          <p:cNvSpPr/>
          <p:nvPr/>
        </p:nvSpPr>
        <p:spPr>
          <a:xfrm>
            <a:off x="4389120" y="2660904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Stage 4"/>
          <p:cNvSpPr txBox="1"/>
          <p:nvPr/>
        </p:nvSpPr>
        <p:spPr>
          <a:xfrm>
            <a:off x="3657600" y="2889504"/>
            <a:ext cx="1463040" cy="310896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System development</a:t>
            </a:r>
            <a:endParaRPr lang="en-US" sz="1100" dirty="0"/>
          </a:p>
        </p:txBody>
      </p:sp>
      <p:sp>
        <p:nvSpPr>
          <p:cNvPr id="18" name="Feedback 4"/>
          <p:cNvSpPr/>
          <p:nvPr/>
        </p:nvSpPr>
        <p:spPr>
          <a:xfrm flipV="1">
            <a:off x="3886200" y="3200400"/>
            <a:ext cx="0" cy="1426464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Forward h 4"/>
          <p:cNvSpPr/>
          <p:nvPr/>
        </p:nvSpPr>
        <p:spPr>
          <a:xfrm>
            <a:off x="5120640" y="3044952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0" name="Forward v 4"/>
          <p:cNvSpPr/>
          <p:nvPr/>
        </p:nvSpPr>
        <p:spPr>
          <a:xfrm>
            <a:off x="5440680" y="3044952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Stage 5"/>
          <p:cNvSpPr txBox="1"/>
          <p:nvPr/>
        </p:nvSpPr>
        <p:spPr>
          <a:xfrm>
            <a:off x="4709160" y="3273552"/>
            <a:ext cx="1463040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Testing</a:t>
            </a:r>
            <a:endParaRPr lang="en-US" sz="1100" dirty="0"/>
          </a:p>
        </p:txBody>
      </p:sp>
      <p:sp>
        <p:nvSpPr>
          <p:cNvPr id="22" name="Feedback 5"/>
          <p:cNvSpPr/>
          <p:nvPr/>
        </p:nvSpPr>
        <p:spPr>
          <a:xfrm flipV="1">
            <a:off x="4937760" y="3584448"/>
            <a:ext cx="0" cy="1042416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Forward h 5"/>
          <p:cNvSpPr/>
          <p:nvPr/>
        </p:nvSpPr>
        <p:spPr>
          <a:xfrm>
            <a:off x="6172200" y="3429000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4" name="Forward v 5"/>
          <p:cNvSpPr/>
          <p:nvPr/>
        </p:nvSpPr>
        <p:spPr>
          <a:xfrm>
            <a:off x="6492240" y="3429000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Stage 6"/>
          <p:cNvSpPr txBox="1"/>
          <p:nvPr/>
        </p:nvSpPr>
        <p:spPr>
          <a:xfrm>
            <a:off x="5760720" y="3657600"/>
            <a:ext cx="1463040" cy="310896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Implementation</a:t>
            </a:r>
            <a:endParaRPr lang="en-US" sz="1100" dirty="0"/>
          </a:p>
        </p:txBody>
      </p:sp>
      <p:sp>
        <p:nvSpPr>
          <p:cNvPr id="26" name="Feedback 6"/>
          <p:cNvSpPr/>
          <p:nvPr/>
        </p:nvSpPr>
        <p:spPr>
          <a:xfrm flipV="1">
            <a:off x="5989320" y="3968496"/>
            <a:ext cx="0" cy="658368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Forward h 6"/>
          <p:cNvSpPr/>
          <p:nvPr/>
        </p:nvSpPr>
        <p:spPr>
          <a:xfrm>
            <a:off x="7223760" y="3813048"/>
            <a:ext cx="3200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8" name="Forward v 6"/>
          <p:cNvSpPr/>
          <p:nvPr/>
        </p:nvSpPr>
        <p:spPr>
          <a:xfrm>
            <a:off x="7543800" y="3813048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Stage 7"/>
          <p:cNvSpPr txBox="1"/>
          <p:nvPr/>
        </p:nvSpPr>
        <p:spPr>
          <a:xfrm>
            <a:off x="6812280" y="4041648"/>
            <a:ext cx="1463040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Maintenance</a:t>
            </a:r>
            <a:endParaRPr lang="en-US" sz="1100" dirty="0"/>
          </a:p>
        </p:txBody>
      </p:sp>
      <p:sp>
        <p:nvSpPr>
          <p:cNvPr id="30" name="Feedback 7"/>
          <p:cNvSpPr/>
          <p:nvPr/>
        </p:nvSpPr>
        <p:spPr>
          <a:xfrm flipV="1">
            <a:off x="7040880" y="4352544"/>
            <a:ext cx="0" cy="27432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50292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Fig: Waterfall model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Waterfall: Pros and Cons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80160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Advantages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Simple and easy to use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Does not overlap any stages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Suitable for static projects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80160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4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Disadvantages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745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Not suitable for dynamic projects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Does not have a back-track mechanism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May be costly and time consuming if requirements change while developing the system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2. Prototype Model</a:t>
            </a:r>
            <a:endParaRPr lang="en-US" sz="3400" dirty="0"/>
          </a:p>
        </p:txBody>
      </p:sp>
      <p:sp>
        <p:nvSpPr>
          <p:cNvPr id="3" name="Step identify"/>
          <p:cNvSpPr txBox="1"/>
          <p:nvPr/>
        </p:nvSpPr>
        <p:spPr>
          <a:xfrm>
            <a:off x="1371600" y="1143000"/>
            <a:ext cx="18288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Identify user needs</a:t>
            </a:r>
            <a:endParaRPr lang="en-US" sz="1200" dirty="0"/>
          </a:p>
        </p:txBody>
      </p:sp>
      <p:sp>
        <p:nvSpPr>
          <p:cNvPr id="4" name="Step develop"/>
          <p:cNvSpPr txBox="1"/>
          <p:nvPr/>
        </p:nvSpPr>
        <p:spPr>
          <a:xfrm>
            <a:off x="1371600" y="1965960"/>
            <a:ext cx="18288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Develop a prototype</a:t>
            </a:r>
            <a:endParaRPr lang="en-US" sz="1200" dirty="0"/>
          </a:p>
        </p:txBody>
      </p:sp>
      <p:sp>
        <p:nvSpPr>
          <p:cNvPr id="5" name="Decision"/>
          <p:cNvSpPr txBox="1"/>
          <p:nvPr/>
        </p:nvSpPr>
        <p:spPr>
          <a:xfrm>
            <a:off x="1371600" y="2743200"/>
            <a:ext cx="1828800" cy="960120"/>
          </a:xfrm>
          <a:prstGeom prst="diamond">
            <a:avLst/>
          </a:prstGeom>
          <a:solidFill>
            <a:schemeClr val="accent2">
              <a:alpha val="50000"/>
            </a:schemeClr>
          </a:solidFill>
          <a:ln w="19050">
            <a:solidFill>
              <a:schemeClr val="tx2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Prototype accepted?</a:t>
            </a:r>
            <a:endParaRPr lang="en-US" sz="1100" dirty="0"/>
          </a:p>
        </p:txBody>
      </p:sp>
      <p:sp>
        <p:nvSpPr>
          <p:cNvPr id="6" name="Step implement"/>
          <p:cNvSpPr txBox="1"/>
          <p:nvPr/>
        </p:nvSpPr>
        <p:spPr>
          <a:xfrm>
            <a:off x="1371600" y="4160520"/>
            <a:ext cx="18288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Implement the prototype</a:t>
            </a:r>
            <a:endParaRPr lang="en-US" sz="1200" dirty="0"/>
          </a:p>
        </p:txBody>
      </p:sp>
      <p:sp>
        <p:nvSpPr>
          <p:cNvPr id="7" name="Flow 1"/>
          <p:cNvSpPr/>
          <p:nvPr/>
        </p:nvSpPr>
        <p:spPr>
          <a:xfrm>
            <a:off x="2286000" y="1600200"/>
            <a:ext cx="0" cy="3657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Flow 2"/>
          <p:cNvSpPr/>
          <p:nvPr/>
        </p:nvSpPr>
        <p:spPr>
          <a:xfrm>
            <a:off x="2286000" y="2423160"/>
            <a:ext cx="0" cy="3200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Flow yes"/>
          <p:cNvSpPr/>
          <p:nvPr/>
        </p:nvSpPr>
        <p:spPr>
          <a:xfrm>
            <a:off x="2286000" y="3703320"/>
            <a:ext cx="0" cy="4572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377440" y="3767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Yes</a:t>
            </a:r>
            <a:endParaRPr lang="en-US" sz="1200" dirty="0"/>
          </a:p>
        </p:txBody>
      </p:sp>
      <p:sp>
        <p:nvSpPr>
          <p:cNvPr id="11" name="No h"/>
          <p:cNvSpPr/>
          <p:nvPr/>
        </p:nvSpPr>
        <p:spPr>
          <a:xfrm>
            <a:off x="3200400" y="3223260"/>
            <a:ext cx="6858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2" name="No v"/>
          <p:cNvSpPr/>
          <p:nvPr/>
        </p:nvSpPr>
        <p:spPr>
          <a:xfrm flipV="1">
            <a:off x="3886200" y="1371600"/>
            <a:ext cx="0" cy="18516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13" name="No back"/>
          <p:cNvSpPr/>
          <p:nvPr/>
        </p:nvSpPr>
        <p:spPr>
          <a:xfrm flipH="1">
            <a:off x="3200400" y="1371600"/>
            <a:ext cx="6858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246120" y="2926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No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Fig: Prototype model</a:t>
            </a:r>
            <a:endParaRPr lang="en-US" sz="1000" dirty="0"/>
          </a:p>
        </p:txBody>
      </p:sp>
      <p:sp>
        <p:nvSpPr>
          <p:cNvPr id="16" name="Card"/>
          <p:cNvSpPr/>
          <p:nvPr/>
        </p:nvSpPr>
        <p:spPr>
          <a:xfrm>
            <a:off x="4572000" y="1143000"/>
            <a:ext cx="411480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is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17373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prototype is an iterative process of system development.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6060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prototype is built according to the user requirements and then continuously modified until the user is satisfied.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Prototype: Pros and Cons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80160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Advantages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Suitable for dynamic systems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Errors are detected much earlier, as the system is made side by side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Gives the user a better understanding of the project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80160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4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Disadvantages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745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Not suitable for complex systems in which user requirements change rapidly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May increase time and cost, depending on further updates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user may never get satisfied, so it can be time consuming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3. Spiral Model</a:t>
            </a:r>
            <a:endParaRPr lang="en-US" sz="3400" dirty="0"/>
          </a:p>
        </p:txBody>
      </p:sp>
      <p:sp>
        <p:nvSpPr>
          <p:cNvPr id="3" name="Outer ring"/>
          <p:cNvSpPr/>
          <p:nvPr/>
        </p:nvSpPr>
        <p:spPr>
          <a:xfrm>
            <a:off x="777240" y="1371600"/>
            <a:ext cx="3200400" cy="3200400"/>
          </a:xfrm>
          <a:prstGeom prst="ellipse">
            <a:avLst/>
          </a:prstGeom>
          <a:ln w="15875">
            <a:solidFill>
              <a:schemeClr val="accent5"/>
            </a:solidFill>
            <a:prstDash val="solid"/>
          </a:ln>
        </p:spPr>
      </p:sp>
      <p:sp>
        <p:nvSpPr>
          <p:cNvPr id="4" name="Horizontal axis"/>
          <p:cNvSpPr/>
          <p:nvPr/>
        </p:nvSpPr>
        <p:spPr>
          <a:xfrm>
            <a:off x="777240" y="2971800"/>
            <a:ext cx="320040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5" name="Vertical axis"/>
          <p:cNvSpPr/>
          <p:nvPr/>
        </p:nvSpPr>
        <p:spPr>
          <a:xfrm>
            <a:off x="2377440" y="1371600"/>
            <a:ext cx="0" cy="320040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6" name="Spiral path"/>
          <p:cNvSpPr/>
          <p:nvPr/>
        </p:nvSpPr>
        <p:spPr>
          <a:xfrm>
            <a:off x="777240" y="1371600"/>
            <a:ext cx="3200400" cy="3200400"/>
          </a:xfrm>
          <a:custGeom>
            <a:avLst/>
            <a:gdLst/>
            <a:ahLst/>
            <a:cxnLst/>
            <a:rect l="l" t="t" r="r" b="b"/>
            <a:pathLst>
              <a:path w="3200400" h="3200400">
                <a:moveTo>
                  <a:pt x="1600200" y="1508760"/>
                </a:moveTo>
                <a:lnTo>
                  <a:pt x="1613877" y="1499232"/>
                </a:lnTo>
                <a:lnTo>
                  <a:pt x="1630087" y="1491908"/>
                </a:lnTo>
                <a:lnTo>
                  <a:pt x="1648460" y="1487290"/>
                </a:lnTo>
                <a:lnTo>
                  <a:pt x="1668539" y="1485819"/>
                </a:lnTo>
                <a:lnTo>
                  <a:pt x="1689790" y="1487858"/>
                </a:lnTo>
                <a:lnTo>
                  <a:pt x="1711613" y="1493678"/>
                </a:lnTo>
                <a:lnTo>
                  <a:pt x="1733358" y="1503455"/>
                </a:lnTo>
                <a:lnTo>
                  <a:pt x="1754341" y="1517253"/>
                </a:lnTo>
                <a:lnTo>
                  <a:pt x="1773865" y="1535023"/>
                </a:lnTo>
                <a:lnTo>
                  <a:pt x="1791230" y="1556599"/>
                </a:lnTo>
                <a:lnTo>
                  <a:pt x="1805762" y="1581699"/>
                </a:lnTo>
                <a:lnTo>
                  <a:pt x="1816825" y="1609929"/>
                </a:lnTo>
                <a:lnTo>
                  <a:pt x="1823841" y="1640785"/>
                </a:lnTo>
                <a:lnTo>
                  <a:pt x="1826308" y="1673667"/>
                </a:lnTo>
                <a:lnTo>
                  <a:pt x="1823815" y="1707887"/>
                </a:lnTo>
                <a:lnTo>
                  <a:pt x="1816058" y="1742687"/>
                </a:lnTo>
                <a:lnTo>
                  <a:pt x="1802848" y="1777248"/>
                </a:lnTo>
                <a:lnTo>
                  <a:pt x="1784124" y="1810717"/>
                </a:lnTo>
                <a:lnTo>
                  <a:pt x="1759958" y="1842222"/>
                </a:lnTo>
                <a:lnTo>
                  <a:pt x="1730559" y="1870892"/>
                </a:lnTo>
                <a:lnTo>
                  <a:pt x="1696272" y="1895880"/>
                </a:lnTo>
                <a:lnTo>
                  <a:pt x="1657579" y="1916382"/>
                </a:lnTo>
                <a:lnTo>
                  <a:pt x="1615086" y="1931662"/>
                </a:lnTo>
                <a:lnTo>
                  <a:pt x="1569521" y="1941069"/>
                </a:lnTo>
                <a:lnTo>
                  <a:pt x="1521718" y="1944054"/>
                </a:lnTo>
                <a:lnTo>
                  <a:pt x="1472599" y="1940191"/>
                </a:lnTo>
                <a:lnTo>
                  <a:pt x="1423164" y="1929188"/>
                </a:lnTo>
                <a:lnTo>
                  <a:pt x="1374462" y="1910901"/>
                </a:lnTo>
                <a:lnTo>
                  <a:pt x="1327577" y="1885341"/>
                </a:lnTo>
                <a:lnTo>
                  <a:pt x="1283598" y="1852681"/>
                </a:lnTo>
                <a:lnTo>
                  <a:pt x="1243601" y="1813258"/>
                </a:lnTo>
                <a:lnTo>
                  <a:pt x="1208620" y="1767569"/>
                </a:lnTo>
                <a:lnTo>
                  <a:pt x="1179624" y="1716272"/>
                </a:lnTo>
                <a:lnTo>
                  <a:pt x="1157493" y="1660169"/>
                </a:lnTo>
                <a:lnTo>
                  <a:pt x="1143000" y="1600200"/>
                </a:lnTo>
                <a:lnTo>
                  <a:pt x="1136782" y="1537426"/>
                </a:lnTo>
                <a:lnTo>
                  <a:pt x="1139329" y="1473008"/>
                </a:lnTo>
                <a:lnTo>
                  <a:pt x="1150964" y="1408187"/>
                </a:lnTo>
                <a:lnTo>
                  <a:pt x="1171833" y="1344263"/>
                </a:lnTo>
                <a:lnTo>
                  <a:pt x="1201895" y="1282562"/>
                </a:lnTo>
                <a:lnTo>
                  <a:pt x="1240915" y="1224418"/>
                </a:lnTo>
                <a:lnTo>
                  <a:pt x="1288467" y="1171136"/>
                </a:lnTo>
                <a:lnTo>
                  <a:pt x="1343931" y="1123972"/>
                </a:lnTo>
                <a:lnTo>
                  <a:pt x="1406504" y="1084098"/>
                </a:lnTo>
                <a:lnTo>
                  <a:pt x="1475209" y="1052580"/>
                </a:lnTo>
                <a:lnTo>
                  <a:pt x="1548913" y="1030350"/>
                </a:lnTo>
                <a:lnTo>
                  <a:pt x="1626338" y="1018183"/>
                </a:lnTo>
                <a:lnTo>
                  <a:pt x="1706094" y="1016677"/>
                </a:lnTo>
                <a:lnTo>
                  <a:pt x="1786693" y="1026234"/>
                </a:lnTo>
                <a:lnTo>
                  <a:pt x="1866585" y="1047046"/>
                </a:lnTo>
                <a:lnTo>
                  <a:pt x="1944183" y="1079089"/>
                </a:lnTo>
                <a:lnTo>
                  <a:pt x="2017896" y="1122109"/>
                </a:lnTo>
                <a:lnTo>
                  <a:pt x="2086161" y="1175629"/>
                </a:lnTo>
                <a:lnTo>
                  <a:pt x="2147476" y="1238946"/>
                </a:lnTo>
                <a:lnTo>
                  <a:pt x="2200431" y="1311144"/>
                </a:lnTo>
                <a:lnTo>
                  <a:pt x="2243738" y="1391102"/>
                </a:lnTo>
                <a:lnTo>
                  <a:pt x="2276264" y="1477512"/>
                </a:lnTo>
                <a:lnTo>
                  <a:pt x="2297054" y="1568904"/>
                </a:lnTo>
                <a:lnTo>
                  <a:pt x="2305357" y="1663665"/>
                </a:lnTo>
                <a:lnTo>
                  <a:pt x="2300644" y="1760072"/>
                </a:lnTo>
                <a:lnTo>
                  <a:pt x="2282629" y="1856320"/>
                </a:lnTo>
                <a:lnTo>
                  <a:pt x="2251275" y="1950558"/>
                </a:lnTo>
                <a:lnTo>
                  <a:pt x="2206807" y="2040926"/>
                </a:lnTo>
                <a:lnTo>
                  <a:pt x="2149711" y="2125586"/>
                </a:lnTo>
                <a:lnTo>
                  <a:pt x="2080729" y="2202764"/>
                </a:lnTo>
                <a:lnTo>
                  <a:pt x="2000856" y="2270785"/>
                </a:lnTo>
                <a:lnTo>
                  <a:pt x="1911322" y="2328107"/>
                </a:lnTo>
                <a:lnTo>
                  <a:pt x="1813577" y="2373356"/>
                </a:lnTo>
                <a:lnTo>
                  <a:pt x="1709266" y="2405356"/>
                </a:lnTo>
                <a:lnTo>
                  <a:pt x="1600200" y="2423160"/>
                </a:lnTo>
                <a:lnTo>
                  <a:pt x="1488329" y="2426068"/>
                </a:lnTo>
                <a:lnTo>
                  <a:pt x="1375702" y="2413650"/>
                </a:lnTo>
                <a:lnTo>
                  <a:pt x="1264434" y="2385763"/>
                </a:lnTo>
                <a:lnTo>
                  <a:pt x="1156665" y="2342553"/>
                </a:lnTo>
                <a:lnTo>
                  <a:pt x="1054515" y="2284468"/>
                </a:lnTo>
                <a:lnTo>
                  <a:pt x="960048" y="2212248"/>
                </a:lnTo>
                <a:lnTo>
                  <a:pt x="875230" y="2126921"/>
                </a:lnTo>
                <a:lnTo>
                  <a:pt x="801885" y="2029791"/>
                </a:lnTo>
                <a:lnTo>
                  <a:pt x="741661" y="1922415"/>
                </a:lnTo>
                <a:lnTo>
                  <a:pt x="695991" y="1806580"/>
                </a:lnTo>
                <a:lnTo>
                  <a:pt x="666063" y="1684274"/>
                </a:lnTo>
                <a:lnTo>
                  <a:pt x="652792" y="1557652"/>
                </a:lnTo>
                <a:lnTo>
                  <a:pt x="656795" y="1428997"/>
                </a:lnTo>
                <a:lnTo>
                  <a:pt x="678375" y="1300681"/>
                </a:lnTo>
                <a:lnTo>
                  <a:pt x="717508" y="1175118"/>
                </a:lnTo>
                <a:lnTo>
                  <a:pt x="773835" y="1054721"/>
                </a:lnTo>
                <a:lnTo>
                  <a:pt x="846666" y="941857"/>
                </a:lnTo>
                <a:lnTo>
                  <a:pt x="934981" y="838796"/>
                </a:lnTo>
                <a:lnTo>
                  <a:pt x="1037450" y="747671"/>
                </a:lnTo>
                <a:lnTo>
                  <a:pt x="1152447" y="670431"/>
                </a:lnTo>
                <a:lnTo>
                  <a:pt x="1278076" y="608803"/>
                </a:lnTo>
                <a:lnTo>
                  <a:pt x="1412203" y="564254"/>
                </a:lnTo>
                <a:lnTo>
                  <a:pt x="1552494" y="537954"/>
                </a:lnTo>
                <a:lnTo>
                  <a:pt x="1696452" y="530756"/>
                </a:lnTo>
                <a:lnTo>
                  <a:pt x="1841461" y="543166"/>
                </a:lnTo>
                <a:lnTo>
                  <a:pt x="1984839" y="575334"/>
                </a:lnTo>
                <a:lnTo>
                  <a:pt x="2123881" y="627038"/>
                </a:lnTo>
                <a:lnTo>
                  <a:pt x="2255914" y="697687"/>
                </a:lnTo>
                <a:lnTo>
                  <a:pt x="2378349" y="786320"/>
                </a:lnTo>
                <a:lnTo>
                  <a:pt x="2488727" y="891623"/>
                </a:lnTo>
                <a:lnTo>
                  <a:pt x="2584771" y="1011946"/>
                </a:lnTo>
                <a:lnTo>
                  <a:pt x="2664433" y="1145325"/>
                </a:lnTo>
                <a:lnTo>
                  <a:pt x="2725935" y="1289517"/>
                </a:lnTo>
                <a:lnTo>
                  <a:pt x="2767806" y="1442037"/>
                </a:lnTo>
                <a:lnTo>
                  <a:pt x="2788920" y="1600200"/>
                </a:lnTo>
                <a:lnTo>
                  <a:pt x="2788518" y="1761169"/>
                </a:lnTo>
                <a:lnTo>
                  <a:pt x="2766229" y="1922004"/>
                </a:lnTo>
                <a:lnTo>
                  <a:pt x="2722089" y="2079718"/>
                </a:lnTo>
                <a:lnTo>
                  <a:pt x="2656539" y="2231333"/>
                </a:lnTo>
                <a:lnTo>
                  <a:pt x="2570431" y="2373933"/>
                </a:lnTo>
                <a:lnTo>
                  <a:pt x="2465011" y="2504721"/>
                </a:lnTo>
                <a:lnTo>
                  <a:pt x="2341910" y="2621076"/>
                </a:lnTo>
                <a:lnTo>
                  <a:pt x="2203114" y="2720601"/>
                </a:lnTo>
                <a:lnTo>
                  <a:pt x="2050934" y="2801176"/>
                </a:lnTo>
                <a:lnTo>
                  <a:pt x="1887969" y="2860999"/>
                </a:lnTo>
                <a:lnTo>
                  <a:pt x="1717060" y="2898625"/>
                </a:lnTo>
                <a:lnTo>
                  <a:pt x="1541242" y="2913000"/>
                </a:lnTo>
                <a:lnTo>
                  <a:pt x="1363688" y="2903487"/>
                </a:lnTo>
                <a:lnTo>
                  <a:pt x="1187655" y="2869883"/>
                </a:lnTo>
                <a:lnTo>
                  <a:pt x="1016421" y="2812430"/>
                </a:lnTo>
                <a:lnTo>
                  <a:pt x="853225" y="2731818"/>
                </a:lnTo>
                <a:lnTo>
                  <a:pt x="701209" y="2629178"/>
                </a:lnTo>
                <a:lnTo>
                  <a:pt x="563352" y="2506067"/>
                </a:lnTo>
                <a:lnTo>
                  <a:pt x="442417" y="2364446"/>
                </a:lnTo>
                <a:lnTo>
                  <a:pt x="340893" y="2206650"/>
                </a:lnTo>
                <a:lnTo>
                  <a:pt x="260945" y="2035350"/>
                </a:lnTo>
                <a:lnTo>
                  <a:pt x="204372" y="1853506"/>
                </a:lnTo>
                <a:lnTo>
                  <a:pt x="172562" y="1664315"/>
                </a:lnTo>
                <a:lnTo>
                  <a:pt x="166468" y="1471162"/>
                </a:lnTo>
                <a:lnTo>
                  <a:pt x="186577" y="1277550"/>
                </a:lnTo>
                <a:lnTo>
                  <a:pt x="232897" y="1087043"/>
                </a:lnTo>
                <a:lnTo>
                  <a:pt x="304952" y="903197"/>
                </a:lnTo>
                <a:lnTo>
                  <a:pt x="401780" y="729497"/>
                </a:lnTo>
                <a:lnTo>
                  <a:pt x="521950" y="569288"/>
                </a:lnTo>
                <a:lnTo>
                  <a:pt x="663576" y="425710"/>
                </a:lnTo>
                <a:lnTo>
                  <a:pt x="824348" y="301643"/>
                </a:lnTo>
                <a:lnTo>
                  <a:pt x="1001572" y="199640"/>
                </a:lnTo>
                <a:lnTo>
                  <a:pt x="1192211" y="121886"/>
                </a:lnTo>
                <a:lnTo>
                  <a:pt x="1392940" y="70144"/>
                </a:lnTo>
                <a:lnTo>
                  <a:pt x="1600200" y="45720"/>
                </a:lnTo>
              </a:path>
            </a:pathLst>
          </a:cu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Quadrant 1 Planning"/>
          <p:cNvSpPr txBox="1"/>
          <p:nvPr/>
        </p:nvSpPr>
        <p:spPr>
          <a:xfrm>
            <a:off x="868680" y="1691640"/>
            <a:ext cx="128016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 Planning</a:t>
            </a:r>
            <a:endParaRPr lang="en-US" sz="1100" dirty="0"/>
          </a:p>
        </p:txBody>
      </p:sp>
      <p:sp>
        <p:nvSpPr>
          <p:cNvPr id="8" name="Quadrant 2 Risk analysis"/>
          <p:cNvSpPr txBox="1"/>
          <p:nvPr/>
        </p:nvSpPr>
        <p:spPr>
          <a:xfrm>
            <a:off x="2606040" y="1691640"/>
            <a:ext cx="1280160" cy="365760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 Risk analysis</a:t>
            </a:r>
            <a:endParaRPr lang="en-US" sz="1100" dirty="0"/>
          </a:p>
        </p:txBody>
      </p:sp>
      <p:sp>
        <p:nvSpPr>
          <p:cNvPr id="9" name="Quadrant 3 Engineering"/>
          <p:cNvSpPr txBox="1"/>
          <p:nvPr/>
        </p:nvSpPr>
        <p:spPr>
          <a:xfrm>
            <a:off x="2606040" y="3886200"/>
            <a:ext cx="1280160" cy="365760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 Engineering</a:t>
            </a:r>
            <a:endParaRPr lang="en-US" sz="1100" dirty="0"/>
          </a:p>
        </p:txBody>
      </p:sp>
      <p:sp>
        <p:nvSpPr>
          <p:cNvPr id="10" name="Quadrant 4 Evaluation"/>
          <p:cNvSpPr txBox="1"/>
          <p:nvPr/>
        </p:nvSpPr>
        <p:spPr>
          <a:xfrm>
            <a:off x="868680" y="3886200"/>
            <a:ext cx="1280160" cy="36576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 Evaluation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36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Fig: Spiral model (four quadrants)</a:t>
            </a:r>
            <a:endParaRPr lang="en-US" sz="1000" dirty="0"/>
          </a:p>
        </p:txBody>
      </p:sp>
      <p:sp>
        <p:nvSpPr>
          <p:cNvPr id="12" name="Card"/>
          <p:cNvSpPr/>
          <p:nvPr/>
        </p:nvSpPr>
        <p:spPr>
          <a:xfrm>
            <a:off x="4434840" y="1143000"/>
            <a:ext cx="42519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121615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Combines the features of the waterfall and prototype models. A recent model for large, expensive and complicated projects.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434840" y="2423160"/>
            <a:ext cx="42519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5" name="Badge 1"/>
          <p:cNvSpPr txBox="1"/>
          <p:nvPr/>
        </p:nvSpPr>
        <p:spPr>
          <a:xfrm>
            <a:off x="4526280" y="2487168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Quadrant text 1"/>
          <p:cNvSpPr txBox="1"/>
          <p:nvPr/>
        </p:nvSpPr>
        <p:spPr>
          <a:xfrm>
            <a:off x="4983480" y="242316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Planning: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 objectives and requirements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4434840" y="2990088"/>
            <a:ext cx="42519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8" name="Badge 2"/>
          <p:cNvSpPr txBox="1"/>
          <p:nvPr/>
        </p:nvSpPr>
        <p:spPr>
          <a:xfrm>
            <a:off x="4526280" y="3054096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Quadrant text 2"/>
          <p:cNvSpPr txBox="1"/>
          <p:nvPr/>
        </p:nvSpPr>
        <p:spPr>
          <a:xfrm>
            <a:off x="4983480" y="29900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Risk analysis: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identify and resolve risks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4434840" y="3557016"/>
            <a:ext cx="42519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21" name="Badge 3"/>
          <p:cNvSpPr txBox="1"/>
          <p:nvPr/>
        </p:nvSpPr>
        <p:spPr>
          <a:xfrm>
            <a:off x="4526280" y="3621024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Quadrant text 3"/>
          <p:cNvSpPr txBox="1"/>
          <p:nvPr/>
        </p:nvSpPr>
        <p:spPr>
          <a:xfrm>
            <a:off x="4983480" y="355701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Engineering: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develop and test the product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434840" y="4123944"/>
            <a:ext cx="42519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24" name="Badge 4"/>
          <p:cNvSpPr txBox="1"/>
          <p:nvPr/>
        </p:nvSpPr>
        <p:spPr>
          <a:xfrm>
            <a:off x="4526280" y="4187952"/>
            <a:ext cx="347472" cy="347472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Quadrant text 4"/>
          <p:cNvSpPr txBox="1"/>
          <p:nvPr/>
        </p:nvSpPr>
        <p:spPr>
          <a:xfrm>
            <a:off x="4983480" y="412394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Evaluation: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 and plan the next loop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Spiral: Pros and Cons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80160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Advantages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Estimates budget and time in a more realistic manner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Suitable for complex and sophisticated projects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Includes risk management techniques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80160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4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Disadvantages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745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Needs highly technical manpower and resources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May be costlier than other models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Sometimes the spiral may go on and 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4. Agile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Helps developers build a project that can easily adapt to changing requests quickly, making projects easy and rapid. People and users are given more importance than process and tools.</a:t>
            </a:r>
            <a:endParaRPr lang="en-US" sz="1400" dirty="0"/>
          </a:p>
        </p:txBody>
      </p:sp>
      <p:sp>
        <p:nvSpPr>
          <p:cNvPr id="4" name="Iteration ring 1"/>
          <p:cNvSpPr/>
          <p:nvPr/>
        </p:nvSpPr>
        <p:spPr>
          <a:xfrm>
            <a:off x="640080" y="1783080"/>
            <a:ext cx="2194560" cy="914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Iteration 1</a:t>
            </a:r>
            <a:endParaRPr lang="en-US" sz="1400" dirty="0"/>
          </a:p>
        </p:txBody>
      </p:sp>
      <p:sp>
        <p:nvSpPr>
          <p:cNvPr id="6" name="It1 Planning"/>
          <p:cNvSpPr txBox="1"/>
          <p:nvPr/>
        </p:nvSpPr>
        <p:spPr>
          <a:xfrm>
            <a:off x="1261872" y="1664208"/>
            <a:ext cx="950976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Planning</a:t>
            </a:r>
            <a:endParaRPr lang="en-US" sz="1000" dirty="0"/>
          </a:p>
        </p:txBody>
      </p:sp>
      <p:sp>
        <p:nvSpPr>
          <p:cNvPr id="7" name="It1 Req Analysis"/>
          <p:cNvSpPr txBox="1"/>
          <p:nvPr/>
        </p:nvSpPr>
        <p:spPr>
          <a:xfrm>
            <a:off x="2305447" y="1980125"/>
            <a:ext cx="950976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Req Analysis</a:t>
            </a:r>
            <a:endParaRPr lang="en-US" sz="1000" dirty="0"/>
          </a:p>
        </p:txBody>
      </p:sp>
      <p:sp>
        <p:nvSpPr>
          <p:cNvPr id="8" name="It1 Designing"/>
          <p:cNvSpPr txBox="1"/>
          <p:nvPr/>
        </p:nvSpPr>
        <p:spPr>
          <a:xfrm>
            <a:off x="1906837" y="2491291"/>
            <a:ext cx="950976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Designing</a:t>
            </a:r>
            <a:endParaRPr lang="en-US" sz="1000" dirty="0"/>
          </a:p>
        </p:txBody>
      </p:sp>
      <p:sp>
        <p:nvSpPr>
          <p:cNvPr id="9" name="It1 Building"/>
          <p:cNvSpPr txBox="1"/>
          <p:nvPr/>
        </p:nvSpPr>
        <p:spPr>
          <a:xfrm>
            <a:off x="616907" y="2491291"/>
            <a:ext cx="950976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Building</a:t>
            </a:r>
            <a:endParaRPr lang="en-US" sz="1000" dirty="0"/>
          </a:p>
        </p:txBody>
      </p:sp>
      <p:sp>
        <p:nvSpPr>
          <p:cNvPr id="10" name="It1 Testing"/>
          <p:cNvSpPr txBox="1"/>
          <p:nvPr/>
        </p:nvSpPr>
        <p:spPr>
          <a:xfrm>
            <a:off x="218297" y="1980125"/>
            <a:ext cx="950976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Testing</a:t>
            </a:r>
            <a:endParaRPr lang="en-US" sz="1000" dirty="0"/>
          </a:p>
        </p:txBody>
      </p:sp>
      <p:sp>
        <p:nvSpPr>
          <p:cNvPr id="11" name="Iteration ring 2"/>
          <p:cNvSpPr/>
          <p:nvPr/>
        </p:nvSpPr>
        <p:spPr>
          <a:xfrm>
            <a:off x="3337560" y="2697480"/>
            <a:ext cx="2194560" cy="914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9476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Iteration 2</a:t>
            </a:r>
            <a:endParaRPr lang="en-US" sz="1400" dirty="0"/>
          </a:p>
        </p:txBody>
      </p:sp>
      <p:sp>
        <p:nvSpPr>
          <p:cNvPr id="13" name="It2 Planning"/>
          <p:cNvSpPr txBox="1"/>
          <p:nvPr/>
        </p:nvSpPr>
        <p:spPr>
          <a:xfrm>
            <a:off x="3959352" y="2578608"/>
            <a:ext cx="950976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Planning</a:t>
            </a:r>
            <a:endParaRPr lang="en-US" sz="1000" dirty="0"/>
          </a:p>
        </p:txBody>
      </p:sp>
      <p:sp>
        <p:nvSpPr>
          <p:cNvPr id="14" name="It2 Req Analysis"/>
          <p:cNvSpPr txBox="1"/>
          <p:nvPr/>
        </p:nvSpPr>
        <p:spPr>
          <a:xfrm>
            <a:off x="5002927" y="2894525"/>
            <a:ext cx="950976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Req Analysis</a:t>
            </a:r>
            <a:endParaRPr lang="en-US" sz="1000" dirty="0"/>
          </a:p>
        </p:txBody>
      </p:sp>
      <p:sp>
        <p:nvSpPr>
          <p:cNvPr id="15" name="It2 Designing"/>
          <p:cNvSpPr txBox="1"/>
          <p:nvPr/>
        </p:nvSpPr>
        <p:spPr>
          <a:xfrm>
            <a:off x="4604317" y="3405691"/>
            <a:ext cx="950976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Designing</a:t>
            </a:r>
            <a:endParaRPr lang="en-US" sz="1000" dirty="0"/>
          </a:p>
        </p:txBody>
      </p:sp>
      <p:sp>
        <p:nvSpPr>
          <p:cNvPr id="16" name="It2 Building"/>
          <p:cNvSpPr txBox="1"/>
          <p:nvPr/>
        </p:nvSpPr>
        <p:spPr>
          <a:xfrm>
            <a:off x="3314387" y="3405691"/>
            <a:ext cx="950976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Building</a:t>
            </a:r>
            <a:endParaRPr lang="en-US" sz="1000" dirty="0"/>
          </a:p>
        </p:txBody>
      </p:sp>
      <p:sp>
        <p:nvSpPr>
          <p:cNvPr id="17" name="It2 Testing"/>
          <p:cNvSpPr txBox="1"/>
          <p:nvPr/>
        </p:nvSpPr>
        <p:spPr>
          <a:xfrm>
            <a:off x="2915777" y="2894525"/>
            <a:ext cx="950976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Testing</a:t>
            </a:r>
            <a:endParaRPr lang="en-US" sz="1000" dirty="0"/>
          </a:p>
        </p:txBody>
      </p:sp>
      <p:sp>
        <p:nvSpPr>
          <p:cNvPr id="18" name="Iteration ring 3"/>
          <p:cNvSpPr/>
          <p:nvPr/>
        </p:nvSpPr>
        <p:spPr>
          <a:xfrm>
            <a:off x="6035040" y="3611880"/>
            <a:ext cx="2194560" cy="914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Iteration 3</a:t>
            </a:r>
            <a:endParaRPr lang="en-US" sz="1400" dirty="0"/>
          </a:p>
        </p:txBody>
      </p:sp>
      <p:sp>
        <p:nvSpPr>
          <p:cNvPr id="20" name="It3 Planning"/>
          <p:cNvSpPr txBox="1"/>
          <p:nvPr/>
        </p:nvSpPr>
        <p:spPr>
          <a:xfrm>
            <a:off x="6656832" y="3493008"/>
            <a:ext cx="950976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Planning</a:t>
            </a:r>
            <a:endParaRPr lang="en-US" sz="1000" dirty="0"/>
          </a:p>
        </p:txBody>
      </p:sp>
      <p:sp>
        <p:nvSpPr>
          <p:cNvPr id="21" name="It3 Req Analysis"/>
          <p:cNvSpPr txBox="1"/>
          <p:nvPr/>
        </p:nvSpPr>
        <p:spPr>
          <a:xfrm>
            <a:off x="7700407" y="3808925"/>
            <a:ext cx="950976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Req Analysis</a:t>
            </a:r>
            <a:endParaRPr lang="en-US" sz="1000" dirty="0"/>
          </a:p>
        </p:txBody>
      </p:sp>
      <p:sp>
        <p:nvSpPr>
          <p:cNvPr id="22" name="It3 Designing"/>
          <p:cNvSpPr txBox="1"/>
          <p:nvPr/>
        </p:nvSpPr>
        <p:spPr>
          <a:xfrm>
            <a:off x="7301797" y="4320091"/>
            <a:ext cx="950976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Designing</a:t>
            </a:r>
            <a:endParaRPr lang="en-US" sz="1000" dirty="0"/>
          </a:p>
        </p:txBody>
      </p:sp>
      <p:sp>
        <p:nvSpPr>
          <p:cNvPr id="23" name="It3 Building"/>
          <p:cNvSpPr txBox="1"/>
          <p:nvPr/>
        </p:nvSpPr>
        <p:spPr>
          <a:xfrm>
            <a:off x="6011867" y="4320091"/>
            <a:ext cx="950976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Building</a:t>
            </a:r>
            <a:endParaRPr lang="en-US" sz="1000" dirty="0"/>
          </a:p>
        </p:txBody>
      </p:sp>
      <p:sp>
        <p:nvSpPr>
          <p:cNvPr id="24" name="It3 Testing"/>
          <p:cNvSpPr txBox="1"/>
          <p:nvPr/>
        </p:nvSpPr>
        <p:spPr>
          <a:xfrm>
            <a:off x="5613257" y="3808925"/>
            <a:ext cx="950976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Testing</a:t>
            </a:r>
            <a:endParaRPr lang="en-US" sz="1000" dirty="0"/>
          </a:p>
        </p:txBody>
      </p:sp>
      <p:sp>
        <p:nvSpPr>
          <p:cNvPr id="25" name="Time arrow It1-2"/>
          <p:cNvSpPr/>
          <p:nvPr/>
        </p:nvSpPr>
        <p:spPr>
          <a:xfrm>
            <a:off x="2377440" y="2788920"/>
            <a:ext cx="365760" cy="548640"/>
          </a:xfrm>
          <a:prstGeom prst="curvedRightArrow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325880" y="29260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2-3 Months</a:t>
            </a:r>
            <a:endParaRPr lang="en-US" sz="1100" dirty="0"/>
          </a:p>
        </p:txBody>
      </p:sp>
      <p:sp>
        <p:nvSpPr>
          <p:cNvPr id="27" name="Time arrow It2-3"/>
          <p:cNvSpPr/>
          <p:nvPr/>
        </p:nvSpPr>
        <p:spPr>
          <a:xfrm>
            <a:off x="5074920" y="3703320"/>
            <a:ext cx="365760" cy="548640"/>
          </a:xfrm>
          <a:prstGeom prst="curvedRightArrow">
            <a:avLst/>
          </a:prstGeom>
          <a:solidFill>
            <a:schemeClr val="accent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023360" y="3840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2-3 Months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Fig: Agile model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Agile: Pros and Cons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Header"/>
          <p:cNvSpPr txBox="1"/>
          <p:nvPr/>
        </p:nvSpPr>
        <p:spPr>
          <a:xfrm>
            <a:off x="594360" y="1280160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Advantages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Quickly responds to changes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High customer collaboration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People and team interactions are given importance over process and tools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Promotes teamwork and cross training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66344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7" name="Header"/>
          <p:cNvSpPr txBox="1"/>
          <p:nvPr/>
        </p:nvSpPr>
        <p:spPr>
          <a:xfrm>
            <a:off x="4800600" y="1280160"/>
            <a:ext cx="3749040" cy="411480"/>
          </a:xfrm>
          <a:prstGeom prst="roundRect">
            <a:avLst>
              <a:gd name="adj" fmla="val 17778"/>
            </a:avLst>
          </a:prstGeom>
          <a:solidFill>
            <a:schemeClr val="accent4"/>
          </a:solidFill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Disadvantages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745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Costlier than other methods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With continuous interaction, the project may be delayed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Not suitable for static projects</a:t>
            </a:r>
            <a:endParaRPr lang="en-US" sz="16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More risk of sustainability, maintainability and extensibility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Comparing the Models</a:t>
            </a:r>
            <a:endParaRPr lang="en-US" sz="3400" dirty="0"/>
          </a:p>
        </p:txBody>
      </p:sp>
      <p:graphicFrame>
        <p:nvGraphicFramePr>
          <p:cNvPr id="33" name="Model comparis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743200"/>
                <a:gridCol w="210312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Key idea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Best for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Watch out for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Waterfall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Sequential stages, no overlap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Static projects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Costly if requirements change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Prototype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Build and refine until the user is satisfied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Dynamic systems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Time and cost can grow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Spiral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Waterfall plus prototype, with risk management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Large, complex projects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Needs technical resources; costlier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Agile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Short iterations, close customer collaboration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Changing requests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Costlier; may delay the project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cess Teal">
  <a:themeElements>
    <a:clrScheme name="Process Teal">
      <a:dk1>
        <a:srgbClr val="1B2B30"/>
      </a:dk1>
      <a:lt1>
        <a:srgbClr val="FFFFFF"/>
      </a:lt1>
      <a:dk2>
        <a:srgbClr val="0B3C49"/>
      </a:dk2>
      <a:lt2>
        <a:srgbClr val="EAF3F1"/>
      </a:lt2>
      <a:accent1>
        <a:srgbClr val="158070"/>
      </a:accent1>
      <a:accent2>
        <a:srgbClr val="F2A541"/>
      </a:accent2>
      <a:accent3>
        <a:srgbClr val="3D7EA6"/>
      </a:accent3>
      <a:accent4>
        <a:srgbClr val="C8472B"/>
      </a:accent4>
      <a:accent5>
        <a:srgbClr val="6C7A80"/>
      </a:accent5>
      <a:accent6>
        <a:srgbClr val="8FC1B5"/>
      </a:accent6>
      <a:hlink>
        <a:srgbClr val="158070"/>
      </a:hlink>
      <a:folHlink>
        <a:srgbClr val="6C7A80"/>
      </a:folHlink>
    </a:clrScheme>
    <a:fontScheme name="Process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6: Software Process Model</dc:title>
  <dc:subject>PptxGenJS Presentation</dc:subject>
  <dc:creator>PptxGenJS</dc:creator>
  <cp:lastModifiedBy>PptxGenJS</cp:lastModifiedBy>
  <cp:revision>1</cp:revision>
  <dcterms:created xsi:type="dcterms:W3CDTF">2026-10-29T02:01:22Z</dcterms:created>
  <dcterms:modified xsi:type="dcterms:W3CDTF">2026-10-29T02:01:22Z</dcterms:modified>
</cp:coreProperties>
</file>