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88" r:id="rId39"/>
    <p:sldId id="259" r:id="rId5"/>
    <p:sldId id="289" r:id="rId40"/>
    <p:sldId id="260" r:id="rId6"/>
    <p:sldId id="261" r:id="rId7"/>
    <p:sldId id="290" r:id="rId41"/>
    <p:sldId id="262" r:id="rId8"/>
    <p:sldId id="263" r:id="rId9"/>
    <p:sldId id="291" r:id="rId42"/>
    <p:sldId id="264" r:id="rId10"/>
    <p:sldId id="265" r:id="rId11"/>
    <p:sldId id="292" r:id="rId43"/>
    <p:sldId id="266" r:id="rId12"/>
    <p:sldId id="293" r:id="rId44"/>
    <p:sldId id="267" r:id="rId13"/>
    <p:sldId id="268" r:id="rId14"/>
    <p:sldId id="269" r:id="rId15"/>
    <p:sldId id="294" r:id="rId45"/>
    <p:sldId id="270" r:id="rId16"/>
    <p:sldId id="271" r:id="rId17"/>
    <p:sldId id="272" r:id="rId18"/>
    <p:sldId id="295" r:id="rId46"/>
    <p:sldId id="273" r:id="rId19"/>
    <p:sldId id="274" r:id="rId20"/>
    <p:sldId id="275" r:id="rId21"/>
    <p:sldId id="297" r:id="rId48"/>
    <p:sldId id="296" r:id="rId47"/>
    <p:sldId id="276" r:id="rId22"/>
    <p:sldId id="277" r:id="rId23"/>
    <p:sldId id="298" r:id="rId49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99" r:id="rId50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fc7b75e-fe72-0c33-bc11-07d16ed38d0c}">
          <p14:sldIdLst>
            <p14:sldId id="256"/>
            <p14:sldId id="257"/>
          </p14:sldIdLst>
        </p14:section>
        <p14:section name="Project and Process" id="{5fa61297-8d2f-02c7-c7c5-d67ede2400f0}">
          <p14:sldIdLst>
            <p14:sldId id="258"/>
            <p14:sldId id="259"/>
            <p14:sldId id="260"/>
          </p14:sldIdLst>
        </p14:section>
        <p14:section name="SDLC Phases" id="{948d994d-efb6-e255-0210-01dc7124c0ed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Analyst and Engineer" id="{8bdb9fec-ee52-27e3-bc7e-20e90c47be8c}">
          <p14:sldIdLst>
            <p14:sldId id="267"/>
            <p14:sldId id="268"/>
            <p14:sldId id="269"/>
          </p14:sldIdLst>
        </p14:section>
        <p14:section name="Requirement Collection" id="{94a9ce33-67fb-ed2e-9e2c-e631252409be}">
          <p14:sldIdLst>
            <p14:sldId id="270"/>
            <p14:sldId id="271"/>
            <p14:sldId id="272"/>
          </p14:sldIdLst>
        </p14:section>
        <p14:section name="System Design Tools" id="{2183518d-cea6-bdaf-fdf2-6542576a46e3}">
          <p14:sldIdLst>
            <p14:sldId id="273"/>
            <p14:sldId id="274"/>
            <p14:sldId id="275"/>
          </p14:sldIdLst>
        </p14:section>
        <p14:section name="Software Quality" id="{c004c28b-432a-e439-6377-a497ee3c5e6b}">
          <p14:sldIdLst>
            <p14:sldId id="276"/>
            <p14:sldId id="277"/>
          </p14:sldIdLst>
        </p14:section>
        <p14:section name="Development Models" id="{4df636e9-2fc9-591c-62ea-0e70451941f0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  <Relationship Id="rId39" Type="http://schemas.openxmlformats.org/officeDocument/2006/relationships/slide" Target="slides/slide33.xml"/>
  <Relationship Id="rId40" Type="http://schemas.openxmlformats.org/officeDocument/2006/relationships/slide" Target="slides/slide34.xml"/>
  <Relationship Id="rId41" Type="http://schemas.openxmlformats.org/officeDocument/2006/relationships/slide" Target="slides/slide35.xml"/>
  <Relationship Id="rId42" Type="http://schemas.openxmlformats.org/officeDocument/2006/relationships/slide" Target="slides/slide36.xml"/>
  <Relationship Id="rId43" Type="http://schemas.openxmlformats.org/officeDocument/2006/relationships/slide" Target="slides/slide37.xml"/>
  <Relationship Id="rId44" Type="http://schemas.openxmlformats.org/officeDocument/2006/relationships/slide" Target="slides/slide38.xml"/>
  <Relationship Id="rId45" Type="http://schemas.openxmlformats.org/officeDocument/2006/relationships/slide" Target="slides/slide39.xml"/>
  <Relationship Id="rId46" Type="http://schemas.openxmlformats.org/officeDocument/2006/relationships/slide" Target="slides/slide40.xml"/>
  <Relationship Id="rId47" Type="http://schemas.openxmlformats.org/officeDocument/2006/relationships/slide" Target="slides/slide41.xml"/>
  <Relationship Id="rId48" Type="http://schemas.openxmlformats.org/officeDocument/2006/relationships/slide" Target="slides/slide42.xml"/>
  <Relationship Id="rId49" Type="http://schemas.openxmlformats.org/officeDocument/2006/relationships/slide" Target="slides/slide43.xml"/>
  <Relationship Id="rId50" Type="http://schemas.openxmlformats.org/officeDocument/2006/relationships/slide" Target="slides/slide44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1188720"/>
            <a:ext cx="51206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3017520"/>
            <a:ext cx="48463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1188720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Software Process Model</a:t>
            </a:r>
            <a:endParaRPr lang="en-US" sz="4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30175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Unit 6  |  SDLC, system analysis, design tools and development models</a:t>
            </a:r>
            <a:endParaRPr lang="en-US" sz="1800" dirty="0"/>
          </a:p>
        </p:txBody>
      </p:sp>
      <p:sp>
        <p:nvSpPr>
          <p:cNvPr id="100" name="Center ring"/>
          <p:cNvSpPr/>
          <p:nvPr/>
        </p:nvSpPr>
        <p:spPr>
          <a:xfrm>
            <a:off x="6390114" y="1973632"/>
            <a:ext cx="1321308" cy="1321308"/>
          </a:xfrm>
          <a:prstGeom prst="ellipse">
            <a:avLst/>
          </a:prstGeom>
          <a:ln w="12700">
            <a:solidFill>
              <a:schemeClr val="accent6"/>
            </a:solidFill>
            <a:prstDash val="dash"/>
          </a:ln>
        </p:spPr>
      </p:sp>
      <p:sp>
        <p:nvSpPr>
          <p:cNvPr id="101" name="Text 5"/>
          <p:cNvSpPr txBox="1"/>
          <p:nvPr/>
        </p:nvSpPr>
        <p:spPr>
          <a:xfrm>
            <a:off x="6506700" y="2401114"/>
            <a:ext cx="108813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Phases of SDLC</a:t>
            </a:r>
            <a:endParaRPr lang="en-US" sz="1200" dirty="0"/>
          </a:p>
        </p:txBody>
      </p:sp>
      <p:sp>
        <p:nvSpPr>
          <p:cNvPr id="102" name="Flow 1"/>
          <p:cNvSpPr/>
          <p:nvPr/>
        </p:nvSpPr>
        <p:spPr>
          <a:xfrm>
            <a:off x="7526951" y="1526750"/>
            <a:ext cx="92827" cy="44703"/>
          </a:xfrm>
          <a:prstGeom prst="line">
            <a:avLst/>
          </a:prstGeom>
          <a:noFill/>
          <a:ln w="25400">
            <a:solidFill>
              <a:schemeClr val="bg1"/>
            </a:solidFill>
            <a:prstDash val="solid"/>
            <a:tailEnd type="triangle"/>
          </a:ln>
        </p:spPr>
      </p:sp>
      <p:sp>
        <p:nvSpPr>
          <p:cNvPr id="103" name="Flow 2"/>
          <p:cNvSpPr/>
          <p:nvPr/>
        </p:nvSpPr>
        <p:spPr>
          <a:xfrm>
            <a:off x="8213569" y="2316044"/>
            <a:ext cx="22926" cy="100447"/>
          </a:xfrm>
          <a:prstGeom prst="line">
            <a:avLst/>
          </a:prstGeom>
          <a:noFill/>
          <a:ln w="25400">
            <a:solidFill>
              <a:schemeClr val="bg1"/>
            </a:solidFill>
            <a:prstDash val="solid"/>
            <a:tailEnd type="triangle"/>
          </a:ln>
        </p:spPr>
      </p:sp>
      <p:sp>
        <p:nvSpPr>
          <p:cNvPr id="104" name="Flow 3"/>
          <p:cNvSpPr/>
          <p:nvPr/>
        </p:nvSpPr>
        <p:spPr>
          <a:xfrm flipH="1">
            <a:off x="7960335" y="3344979"/>
            <a:ext cx="64238" cy="80552"/>
          </a:xfrm>
          <a:prstGeom prst="line">
            <a:avLst/>
          </a:prstGeom>
          <a:noFill/>
          <a:ln w="25400">
            <a:solidFill>
              <a:schemeClr val="bg1"/>
            </a:solidFill>
            <a:prstDash val="solid"/>
            <a:tailEnd type="triangle"/>
          </a:ln>
        </p:spPr>
      </p:sp>
      <p:sp>
        <p:nvSpPr>
          <p:cNvPr id="105" name="Flow 4"/>
          <p:cNvSpPr/>
          <p:nvPr/>
        </p:nvSpPr>
        <p:spPr>
          <a:xfrm flipH="1">
            <a:off x="6999253" y="3838749"/>
            <a:ext cx="103031" cy="0"/>
          </a:xfrm>
          <a:prstGeom prst="line">
            <a:avLst/>
          </a:prstGeom>
          <a:noFill/>
          <a:ln w="25400">
            <a:solidFill>
              <a:schemeClr val="bg1"/>
            </a:solidFill>
            <a:prstDash val="solid"/>
            <a:tailEnd type="triangle"/>
          </a:ln>
        </p:spPr>
      </p:sp>
      <p:sp>
        <p:nvSpPr>
          <p:cNvPr id="106" name="Flow 5"/>
          <p:cNvSpPr/>
          <p:nvPr/>
        </p:nvSpPr>
        <p:spPr>
          <a:xfrm flipH="1" flipV="1">
            <a:off x="6076962" y="3344979"/>
            <a:ext cx="64238" cy="80552"/>
          </a:xfrm>
          <a:prstGeom prst="line">
            <a:avLst/>
          </a:prstGeom>
          <a:noFill/>
          <a:ln w="25400">
            <a:solidFill>
              <a:schemeClr val="bg1"/>
            </a:solidFill>
            <a:prstDash val="solid"/>
            <a:tailEnd type="triangle"/>
          </a:ln>
        </p:spPr>
      </p:sp>
      <p:sp>
        <p:nvSpPr>
          <p:cNvPr id="107" name="Flow 6"/>
          <p:cNvSpPr/>
          <p:nvPr/>
        </p:nvSpPr>
        <p:spPr>
          <a:xfrm flipV="1">
            <a:off x="5865040" y="2316044"/>
            <a:ext cx="22926" cy="100447"/>
          </a:xfrm>
          <a:prstGeom prst="line">
            <a:avLst/>
          </a:prstGeom>
          <a:noFill/>
          <a:ln w="25400">
            <a:solidFill>
              <a:schemeClr val="bg1"/>
            </a:solidFill>
            <a:prstDash val="solid"/>
            <a:tailEnd type="triangle"/>
          </a:ln>
        </p:spPr>
      </p:sp>
      <p:sp>
        <p:nvSpPr>
          <p:cNvPr id="108" name="Flow 7"/>
          <p:cNvSpPr/>
          <p:nvPr/>
        </p:nvSpPr>
        <p:spPr>
          <a:xfrm flipV="1">
            <a:off x="6481757" y="1526750"/>
            <a:ext cx="92827" cy="44703"/>
          </a:xfrm>
          <a:prstGeom prst="line">
            <a:avLst/>
          </a:prstGeom>
          <a:noFill/>
          <a:ln w="25400">
            <a:solidFill>
              <a:schemeClr val="bg1"/>
            </a:solidFill>
            <a:prstDash val="solid"/>
            <a:tailEnd type="triangle"/>
          </a:ln>
        </p:spPr>
      </p:sp>
      <p:sp>
        <p:nvSpPr>
          <p:cNvPr id="109" name="Phase 1"/>
          <p:cNvSpPr txBox="1"/>
          <p:nvPr/>
        </p:nvSpPr>
        <p:spPr>
          <a:xfrm>
            <a:off x="6553334" y="800000"/>
            <a:ext cx="994867" cy="994867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System Study</a:t>
            </a:r>
            <a:endParaRPr lang="en-US" sz="900" dirty="0"/>
          </a:p>
        </p:txBody>
      </p:sp>
      <p:sp>
        <p:nvSpPr>
          <p:cNvPr id="110" name="Phase 2"/>
          <p:cNvSpPr txBox="1"/>
          <p:nvPr/>
        </p:nvSpPr>
        <p:spPr>
          <a:xfrm>
            <a:off x="7598528" y="1303338"/>
            <a:ext cx="994867" cy="99486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System Analysis</a:t>
            </a:r>
            <a:endParaRPr lang="en-US" sz="900" dirty="0"/>
          </a:p>
        </p:txBody>
      </p:sp>
      <p:sp>
        <p:nvSpPr>
          <p:cNvPr id="111" name="Phase 3"/>
          <p:cNvSpPr txBox="1"/>
          <p:nvPr/>
        </p:nvSpPr>
        <p:spPr>
          <a:xfrm>
            <a:off x="7856669" y="2434330"/>
            <a:ext cx="994867" cy="99486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System Design</a:t>
            </a:r>
            <a:endParaRPr lang="en-US" sz="900" dirty="0"/>
          </a:p>
        </p:txBody>
      </p:sp>
      <p:sp>
        <p:nvSpPr>
          <p:cNvPr id="112" name="Phase 4"/>
          <p:cNvSpPr txBox="1"/>
          <p:nvPr/>
        </p:nvSpPr>
        <p:spPr>
          <a:xfrm>
            <a:off x="7133373" y="3341315"/>
            <a:ext cx="994867" cy="99486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System Development</a:t>
            </a:r>
            <a:endParaRPr lang="en-US" sz="900" dirty="0"/>
          </a:p>
        </p:txBody>
      </p:sp>
      <p:sp>
        <p:nvSpPr>
          <p:cNvPr id="113" name="Phase 5"/>
          <p:cNvSpPr txBox="1"/>
          <p:nvPr/>
        </p:nvSpPr>
        <p:spPr>
          <a:xfrm>
            <a:off x="5973296" y="3341315"/>
            <a:ext cx="994867" cy="99486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System Testing</a:t>
            </a:r>
            <a:endParaRPr lang="en-US" sz="900" dirty="0"/>
          </a:p>
        </p:txBody>
      </p:sp>
      <p:sp>
        <p:nvSpPr>
          <p:cNvPr id="114" name="Phase 6"/>
          <p:cNvSpPr txBox="1"/>
          <p:nvPr/>
        </p:nvSpPr>
        <p:spPr>
          <a:xfrm>
            <a:off x="5250000" y="2434330"/>
            <a:ext cx="994867" cy="99486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Implementation</a:t>
            </a:r>
            <a:endParaRPr lang="en-US" sz="900" dirty="0"/>
          </a:p>
        </p:txBody>
      </p:sp>
      <p:sp>
        <p:nvSpPr>
          <p:cNvPr id="115" name="Phase 7"/>
          <p:cNvSpPr txBox="1"/>
          <p:nvPr/>
        </p:nvSpPr>
        <p:spPr>
          <a:xfrm>
            <a:off x="5508140" y="1303338"/>
            <a:ext cx="994867" cy="99486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Maintenance and Review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we will cover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4" name="Badge 6.1"/>
          <p:cNvSpPr txBox="1"/>
          <p:nvPr/>
        </p:nvSpPr>
        <p:spPr>
          <a:xfrm>
            <a:off x="594360" y="1316736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6.1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24358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Software Project Concept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663440" y="1188720"/>
            <a:ext cx="4023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7" name="Badge 6.2"/>
          <p:cNvSpPr txBox="1"/>
          <p:nvPr/>
        </p:nvSpPr>
        <p:spPr>
          <a:xfrm>
            <a:off x="4800600" y="1316736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6.2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40680" y="124358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Software Development Process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457200" y="2103120"/>
            <a:ext cx="4023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10" name="Badge 6.3"/>
          <p:cNvSpPr txBox="1"/>
          <p:nvPr/>
        </p:nvSpPr>
        <p:spPr>
          <a:xfrm>
            <a:off x="594360" y="2231136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6.3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15798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Concept of SDLC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4663440" y="2103120"/>
            <a:ext cx="4023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13" name="Badge 6.4"/>
          <p:cNvSpPr txBox="1"/>
          <p:nvPr/>
        </p:nvSpPr>
        <p:spPr>
          <a:xfrm>
            <a:off x="4800600" y="2231136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6.4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215798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System Analyst vs Software Engineer</a:t>
            </a:r>
            <a:endParaRPr lang="en-US" sz="1600" dirty="0"/>
          </a:p>
        </p:txBody>
      </p:sp>
      <p:sp>
        <p:nvSpPr>
          <p:cNvPr id="15" name="Card"/>
          <p:cNvSpPr/>
          <p:nvPr/>
        </p:nvSpPr>
        <p:spPr>
          <a:xfrm>
            <a:off x="457200" y="3017520"/>
            <a:ext cx="4023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16" name="Badge 6.5"/>
          <p:cNvSpPr txBox="1"/>
          <p:nvPr/>
        </p:nvSpPr>
        <p:spPr>
          <a:xfrm>
            <a:off x="594360" y="3145536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6.5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07238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Requirement Collection Methods</a:t>
            </a:r>
            <a:endParaRPr lang="en-US" sz="1600" dirty="0"/>
          </a:p>
        </p:txBody>
      </p:sp>
      <p:sp>
        <p:nvSpPr>
          <p:cNvPr id="18" name="Card"/>
          <p:cNvSpPr/>
          <p:nvPr/>
        </p:nvSpPr>
        <p:spPr>
          <a:xfrm>
            <a:off x="4663440" y="3017520"/>
            <a:ext cx="4023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19" name="Badge 6.6"/>
          <p:cNvSpPr txBox="1"/>
          <p:nvPr/>
        </p:nvSpPr>
        <p:spPr>
          <a:xfrm>
            <a:off x="4800600" y="3145536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6.6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40680" y="307238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System Design Tools</a:t>
            </a:r>
            <a:endParaRPr lang="en-US" sz="1600" dirty="0"/>
          </a:p>
        </p:txBody>
      </p:sp>
      <p:sp>
        <p:nvSpPr>
          <p:cNvPr id="21" name="Card"/>
          <p:cNvSpPr/>
          <p:nvPr/>
        </p:nvSpPr>
        <p:spPr>
          <a:xfrm>
            <a:off x="457200" y="3931920"/>
            <a:ext cx="4023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22" name="Badge 6.7"/>
          <p:cNvSpPr txBox="1"/>
          <p:nvPr/>
        </p:nvSpPr>
        <p:spPr>
          <a:xfrm>
            <a:off x="594360" y="4059936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6.7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398678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Software and Quality</a:t>
            </a:r>
            <a:endParaRPr lang="en-US" sz="1600" dirty="0"/>
          </a:p>
        </p:txBody>
      </p:sp>
      <p:sp>
        <p:nvSpPr>
          <p:cNvPr id="24" name="Card"/>
          <p:cNvSpPr/>
          <p:nvPr/>
        </p:nvSpPr>
        <p:spPr>
          <a:xfrm>
            <a:off x="4663440" y="3931920"/>
            <a:ext cx="4023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25" name="Badge 6.8"/>
          <p:cNvSpPr txBox="1"/>
          <p:nvPr/>
        </p:nvSpPr>
        <p:spPr>
          <a:xfrm>
            <a:off x="4800600" y="4059936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6.8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398678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System Development Models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6.1 Software Project Concept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1606463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781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Project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53748"/>
            <a:ext cx="3657600" cy="101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well-defined task: a collection of several operations done in order to achieve a goal.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663440" y="1188720"/>
            <a:ext cx="4023360" cy="1606463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46320" y="12781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Software project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53748"/>
            <a:ext cx="3657600" cy="1099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complete procedure of software development, done in a specific period of time to achieve the desired software product.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03677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 software project runs from start to finish</a:t>
            </a:r>
            <a:endParaRPr lang="en-US" sz="1600" dirty="0"/>
          </a:p>
        </p:txBody>
      </p:sp>
      <p:sp>
        <p:nvSpPr>
          <p:cNvPr id="10" name="Step 1"/>
          <p:cNvSpPr txBox="1"/>
          <p:nvPr/>
        </p:nvSpPr>
        <p:spPr>
          <a:xfrm>
            <a:off x="457200" y="3471588"/>
            <a:ext cx="2194560" cy="803231"/>
          </a:xfrm>
          <a:prstGeom prst="chevron">
            <a:avLst/>
          </a:prstGeom>
          <a:solidFill>
            <a:schemeClr val="accent1"/>
          </a:solidFill>
          <a:ln/>
        </p:spPr>
        <p:txBody>
          <a:bodyPr wrap="square" lIns="0" tIns="3810" rIns="4445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Requirement gathering</a:t>
            </a:r>
            <a:endParaRPr lang="en-US" sz="1400" dirty="0"/>
          </a:p>
        </p:txBody>
      </p:sp>
      <p:sp>
        <p:nvSpPr>
          <p:cNvPr id="11" name="Step 2"/>
          <p:cNvSpPr txBox="1"/>
          <p:nvPr/>
        </p:nvSpPr>
        <p:spPr>
          <a:xfrm>
            <a:off x="2542032" y="3471588"/>
            <a:ext cx="2194560" cy="803231"/>
          </a:xfrm>
          <a:prstGeom prst="chevron">
            <a:avLst/>
          </a:prstGeom>
          <a:solidFill>
            <a:schemeClr val="tx2"/>
          </a:solidFill>
          <a:ln/>
        </p:spPr>
        <p:txBody>
          <a:bodyPr wrap="square" lIns="0" tIns="3810" rIns="4445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Development</a:t>
            </a:r>
            <a:endParaRPr lang="en-US" sz="1400" dirty="0"/>
          </a:p>
        </p:txBody>
      </p:sp>
      <p:sp>
        <p:nvSpPr>
          <p:cNvPr id="12" name="Step 3"/>
          <p:cNvSpPr txBox="1"/>
          <p:nvPr/>
        </p:nvSpPr>
        <p:spPr>
          <a:xfrm>
            <a:off x="4626864" y="3471588"/>
            <a:ext cx="2194560" cy="803231"/>
          </a:xfrm>
          <a:prstGeom prst="chevron">
            <a:avLst/>
          </a:prstGeom>
          <a:solidFill>
            <a:schemeClr val="accent1"/>
          </a:solidFill>
          <a:ln/>
        </p:spPr>
        <p:txBody>
          <a:bodyPr wrap="square" lIns="0" tIns="3810" rIns="4445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Testing</a:t>
            </a:r>
            <a:endParaRPr lang="en-US" sz="1400" dirty="0"/>
          </a:p>
        </p:txBody>
      </p:sp>
      <p:sp>
        <p:nvSpPr>
          <p:cNvPr id="13" name="Step 4"/>
          <p:cNvSpPr txBox="1"/>
          <p:nvPr/>
        </p:nvSpPr>
        <p:spPr>
          <a:xfrm>
            <a:off x="6711696" y="3471588"/>
            <a:ext cx="2194560" cy="803231"/>
          </a:xfrm>
          <a:prstGeom prst="chevron">
            <a:avLst/>
          </a:prstGeom>
          <a:solidFill>
            <a:schemeClr val="tx2"/>
          </a:solidFill>
          <a:ln/>
        </p:spPr>
        <p:txBody>
          <a:bodyPr wrap="square" lIns="0" tIns="3810" rIns="4445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Maintenance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Example:  </a:t>
            </a:r>
            <a:r>
              <a:rPr lang="en-US" sz="1200" b="0" dirty="0">
                <a:solidFill>
                  <a:schemeClr val="tx1"/>
                </a:solidFill>
              </a:rPr>
              <a:t>Project = organizing a school sports day. Software project = building a library app.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6.2 Software Development Process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308610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9264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What it is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75998"/>
            <a:ext cx="3657600" cy="1299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Software development is the process programmers use to create computer programs. It is also known as the software development life cycle (SDLC).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56622"/>
            <a:ext cx="3657600" cy="974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Its aim is to create effective products within a defined budget and time.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16826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Software is developed for</a:t>
            </a:r>
            <a:endParaRPr lang="en-US" sz="1800" dirty="0"/>
          </a:p>
        </p:txBody>
      </p:sp>
      <p:sp>
        <p:nvSpPr>
          <p:cNvPr id="8" name="Card"/>
          <p:cNvSpPr/>
          <p:nvPr/>
        </p:nvSpPr>
        <p:spPr>
          <a:xfrm>
            <a:off x="4663440" y="1635392"/>
            <a:ext cx="4023360" cy="771525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9" name="Badge 1"/>
          <p:cNvSpPr txBox="1"/>
          <p:nvPr/>
        </p:nvSpPr>
        <p:spPr>
          <a:xfrm>
            <a:off x="4846320" y="1827596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1675998"/>
            <a:ext cx="3017520" cy="690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To solve a real-world problem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4663440" y="2528737"/>
            <a:ext cx="4023360" cy="771525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2" name="Badge 2"/>
          <p:cNvSpPr txBox="1"/>
          <p:nvPr/>
        </p:nvSpPr>
        <p:spPr>
          <a:xfrm>
            <a:off x="4846320" y="2720941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2569343"/>
            <a:ext cx="3017520" cy="690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For personal use</a:t>
            </a:r>
            <a:endParaRPr lang="en-US" sz="1600" dirty="0"/>
          </a:p>
        </p:txBody>
      </p:sp>
      <p:sp>
        <p:nvSpPr>
          <p:cNvPr id="14" name="Card"/>
          <p:cNvSpPr/>
          <p:nvPr/>
        </p:nvSpPr>
        <p:spPr>
          <a:xfrm>
            <a:off x="4663440" y="3422081"/>
            <a:ext cx="4023360" cy="771525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5" name="Badge 3"/>
          <p:cNvSpPr txBox="1"/>
          <p:nvPr/>
        </p:nvSpPr>
        <p:spPr>
          <a:xfrm>
            <a:off x="4846320" y="3614286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3462688"/>
            <a:ext cx="3017520" cy="690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To meet the specific need of a client or business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Example:  </a:t>
            </a:r>
            <a:r>
              <a:rPr lang="en-US" sz="1200" b="0" dirty="0">
                <a:solidFill>
                  <a:schemeClr val="tx1"/>
                </a:solidFill>
              </a:rPr>
              <a:t>Google Maps (real problem), a homework tracker (personal use), a bank app (client need).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6.3 Concept of SDLC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3566160" cy="308610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9264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What is SDLC?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75998"/>
            <a:ext cx="320040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Software is not a small program. It is a combination of several programs integrated together, developed through a sequence of steps under the life cycle.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78442"/>
            <a:ext cx="3200400" cy="1055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SDLC is a step-by-step process where each stage is a building block of an effective and efficient program.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16826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Importance of SDLC</a:t>
            </a:r>
            <a:endParaRPr lang="en-US" sz="1800" dirty="0"/>
          </a:p>
        </p:txBody>
      </p:sp>
      <p:sp>
        <p:nvSpPr>
          <p:cNvPr id="8" name="Card"/>
          <p:cNvSpPr/>
          <p:nvPr/>
        </p:nvSpPr>
        <p:spPr>
          <a:xfrm>
            <a:off x="4206240" y="1594785"/>
            <a:ext cx="4480560" cy="462915"/>
          </a:xfrm>
          <a:prstGeom prst="roundRect">
            <a:avLst>
              <a:gd name="adj" fmla="val 14035"/>
            </a:avLst>
          </a:prstGeom>
          <a:solidFill>
            <a:schemeClr val="bg2"/>
          </a:solidFill>
          <a:ln/>
        </p:spPr>
      </p:sp>
      <p:sp>
        <p:nvSpPr>
          <p:cNvPr id="9" name="Badge 1"/>
          <p:cNvSpPr txBox="1"/>
          <p:nvPr/>
        </p:nvSpPr>
        <p:spPr>
          <a:xfrm>
            <a:off x="4315968" y="1638791"/>
            <a:ext cx="374904" cy="37490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1594785"/>
            <a:ext cx="379476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Base for project planning, scheduling and estimating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206240" y="2138913"/>
            <a:ext cx="4480560" cy="462915"/>
          </a:xfrm>
          <a:prstGeom prst="roundRect">
            <a:avLst>
              <a:gd name="adj" fmla="val 14035"/>
            </a:avLst>
          </a:prstGeom>
          <a:solidFill>
            <a:schemeClr val="bg2"/>
          </a:solidFill>
          <a:ln/>
        </p:spPr>
      </p:sp>
      <p:sp>
        <p:nvSpPr>
          <p:cNvPr id="12" name="Badge 2"/>
          <p:cNvSpPr txBox="1"/>
          <p:nvPr/>
        </p:nvSpPr>
        <p:spPr>
          <a:xfrm>
            <a:off x="4315968" y="2182919"/>
            <a:ext cx="374904" cy="37490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2138913"/>
            <a:ext cx="379476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Provides a framework for a standard set of activities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4206240" y="2683042"/>
            <a:ext cx="4480560" cy="462915"/>
          </a:xfrm>
          <a:prstGeom prst="roundRect">
            <a:avLst>
              <a:gd name="adj" fmla="val 14035"/>
            </a:avLst>
          </a:prstGeom>
          <a:solidFill>
            <a:schemeClr val="bg2"/>
          </a:solidFill>
          <a:ln/>
        </p:spPr>
      </p:sp>
      <p:sp>
        <p:nvSpPr>
          <p:cNvPr id="15" name="Badge 3"/>
          <p:cNvSpPr txBox="1"/>
          <p:nvPr/>
        </p:nvSpPr>
        <p:spPr>
          <a:xfrm>
            <a:off x="4315968" y="2727047"/>
            <a:ext cx="374904" cy="37490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2683042"/>
            <a:ext cx="379476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Increases and enhances the development process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4206240" y="3227170"/>
            <a:ext cx="4480560" cy="462915"/>
          </a:xfrm>
          <a:prstGeom prst="roundRect">
            <a:avLst>
              <a:gd name="adj" fmla="val 14035"/>
            </a:avLst>
          </a:prstGeom>
          <a:solidFill>
            <a:schemeClr val="bg2"/>
          </a:solidFill>
          <a:ln/>
        </p:spPr>
      </p:sp>
      <p:sp>
        <p:nvSpPr>
          <p:cNvPr id="18" name="Badge 4"/>
          <p:cNvSpPr txBox="1"/>
          <p:nvPr/>
        </p:nvSpPr>
        <p:spPr>
          <a:xfrm>
            <a:off x="4315968" y="3271175"/>
            <a:ext cx="374904" cy="37490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3227170"/>
            <a:ext cx="379476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Improves client relations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4206240" y="3771298"/>
            <a:ext cx="4480560" cy="462915"/>
          </a:xfrm>
          <a:prstGeom prst="roundRect">
            <a:avLst>
              <a:gd name="adj" fmla="val 14035"/>
            </a:avLst>
          </a:prstGeom>
          <a:solidFill>
            <a:schemeClr val="bg2"/>
          </a:solidFill>
          <a:ln/>
        </p:spPr>
      </p:sp>
      <p:sp>
        <p:nvSpPr>
          <p:cNvPr id="21" name="Badge 5"/>
          <p:cNvSpPr txBox="1"/>
          <p:nvPr/>
        </p:nvSpPr>
        <p:spPr>
          <a:xfrm>
            <a:off x="4315968" y="3815303"/>
            <a:ext cx="374904" cy="37490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800600" y="3771298"/>
            <a:ext cx="379476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Helps to decrease project work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Example:  </a:t>
            </a:r>
            <a:r>
              <a:rPr lang="en-US" sz="1200" b="0" dirty="0">
                <a:solidFill>
                  <a:schemeClr val="tx1"/>
                </a:solidFill>
              </a:rPr>
              <a:t>A house builder follows a plan and steps. Software builders follow the SDLC the same way.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Phases of SDLC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 computing power increases, the demand on software and developers grows. Companies must reduce cost, deliver software faster and meet customer needs.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SDLC plays a vital role in achieving these goals.</a:t>
            </a:r>
            <a:endParaRPr lang="en-US" sz="1400" dirty="0"/>
          </a:p>
        </p:txBody>
      </p:sp>
      <p:sp>
        <p:nvSpPr>
          <p:cNvPr id="6" name="Center ring"/>
          <p:cNvSpPr/>
          <p:nvPr/>
        </p:nvSpPr>
        <p:spPr>
          <a:xfrm>
            <a:off x="5349240" y="2313432"/>
            <a:ext cx="1554480" cy="1554480"/>
          </a:xfrm>
          <a:prstGeom prst="ellipse">
            <a:avLst/>
          </a:prstGeom>
          <a:ln w="12700">
            <a:solidFill>
              <a:schemeClr val="accent5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5486400" y="281635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Phases of SDLC</a:t>
            </a:r>
            <a:endParaRPr lang="en-US" sz="1400" dirty="0"/>
          </a:p>
        </p:txBody>
      </p:sp>
      <p:sp>
        <p:nvSpPr>
          <p:cNvPr id="8" name="Flow 1"/>
          <p:cNvSpPr/>
          <p:nvPr/>
        </p:nvSpPr>
        <p:spPr>
          <a:xfrm>
            <a:off x="6686695" y="1787689"/>
            <a:ext cx="109209" cy="52592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Flow 2"/>
          <p:cNvSpPr/>
          <p:nvPr/>
        </p:nvSpPr>
        <p:spPr>
          <a:xfrm>
            <a:off x="7494481" y="2716270"/>
            <a:ext cx="26972" cy="11817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Flow 3"/>
          <p:cNvSpPr/>
          <p:nvPr/>
        </p:nvSpPr>
        <p:spPr>
          <a:xfrm flipH="1">
            <a:off x="7196559" y="3926782"/>
            <a:ext cx="75575" cy="94768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Flow 4"/>
          <p:cNvSpPr/>
          <p:nvPr/>
        </p:nvSpPr>
        <p:spPr>
          <a:xfrm flipH="1">
            <a:off x="6065874" y="4507687"/>
            <a:ext cx="121213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Flow 5"/>
          <p:cNvSpPr/>
          <p:nvPr/>
        </p:nvSpPr>
        <p:spPr>
          <a:xfrm flipH="1" flipV="1">
            <a:off x="4980826" y="3926782"/>
            <a:ext cx="75575" cy="94768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Flow 6"/>
          <p:cNvSpPr/>
          <p:nvPr/>
        </p:nvSpPr>
        <p:spPr>
          <a:xfrm flipV="1">
            <a:off x="4731506" y="2716270"/>
            <a:ext cx="26972" cy="11817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Flow 7"/>
          <p:cNvSpPr/>
          <p:nvPr/>
        </p:nvSpPr>
        <p:spPr>
          <a:xfrm flipV="1">
            <a:off x="5457056" y="1787689"/>
            <a:ext cx="109209" cy="52592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Phase 1"/>
          <p:cNvSpPr txBox="1"/>
          <p:nvPr/>
        </p:nvSpPr>
        <p:spPr>
          <a:xfrm>
            <a:off x="5541264" y="932688"/>
            <a:ext cx="1170432" cy="117043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System Study</a:t>
            </a:r>
            <a:endParaRPr lang="en-US" sz="900" dirty="0"/>
          </a:p>
        </p:txBody>
      </p:sp>
      <p:sp>
        <p:nvSpPr>
          <p:cNvPr id="16" name="Phase 2"/>
          <p:cNvSpPr txBox="1"/>
          <p:nvPr/>
        </p:nvSpPr>
        <p:spPr>
          <a:xfrm>
            <a:off x="6770904" y="1524851"/>
            <a:ext cx="1170432" cy="11704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System Analysis</a:t>
            </a:r>
            <a:endParaRPr lang="en-US" sz="900" dirty="0"/>
          </a:p>
        </p:txBody>
      </p:sp>
      <p:sp>
        <p:nvSpPr>
          <p:cNvPr id="17" name="Phase 3"/>
          <p:cNvSpPr txBox="1"/>
          <p:nvPr/>
        </p:nvSpPr>
        <p:spPr>
          <a:xfrm>
            <a:off x="7074599" y="2855430"/>
            <a:ext cx="1170432" cy="11704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System Design</a:t>
            </a:r>
            <a:endParaRPr lang="en-US" sz="900" dirty="0"/>
          </a:p>
        </p:txBody>
      </p:sp>
      <p:sp>
        <p:nvSpPr>
          <p:cNvPr id="18" name="Phase 4"/>
          <p:cNvSpPr txBox="1"/>
          <p:nvPr/>
        </p:nvSpPr>
        <p:spPr>
          <a:xfrm>
            <a:off x="6223662" y="3922471"/>
            <a:ext cx="1170432" cy="11704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System Development</a:t>
            </a:r>
            <a:endParaRPr lang="en-US" sz="900" dirty="0"/>
          </a:p>
        </p:txBody>
      </p:sp>
      <p:sp>
        <p:nvSpPr>
          <p:cNvPr id="19" name="Phase 5"/>
          <p:cNvSpPr txBox="1"/>
          <p:nvPr/>
        </p:nvSpPr>
        <p:spPr>
          <a:xfrm>
            <a:off x="4858866" y="3922471"/>
            <a:ext cx="1170432" cy="11704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System Testing</a:t>
            </a:r>
            <a:endParaRPr lang="en-US" sz="900" dirty="0"/>
          </a:p>
        </p:txBody>
      </p:sp>
      <p:sp>
        <p:nvSpPr>
          <p:cNvPr id="20" name="Phase 6"/>
          <p:cNvSpPr txBox="1"/>
          <p:nvPr/>
        </p:nvSpPr>
        <p:spPr>
          <a:xfrm>
            <a:off x="4007929" y="2855430"/>
            <a:ext cx="1170432" cy="11704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Implementation</a:t>
            </a:r>
            <a:endParaRPr lang="en-US" sz="900" dirty="0"/>
          </a:p>
        </p:txBody>
      </p:sp>
      <p:sp>
        <p:nvSpPr>
          <p:cNvPr id="21" name="Phase 7"/>
          <p:cNvSpPr txBox="1"/>
          <p:nvPr/>
        </p:nvSpPr>
        <p:spPr>
          <a:xfrm>
            <a:off x="4311624" y="1524851"/>
            <a:ext cx="1170432" cy="11704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Maintenance and Review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sp>
        <p:nvSpPr>
          <p:cNvPr id="900" name="Example box"/>
          <p:cNvSpPr txBox="1"/>
          <p:nvPr/>
        </p:nvSpPr>
        <p:spPr>
          <a:xfrm>
            <a:off x="640080" y="3840480"/>
            <a:ext cx="2743200" cy="64008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Example:  </a:t>
            </a:r>
            <a:r>
              <a:rPr lang="en-US" sz="1200" b="0" dirty="0">
                <a:solidFill>
                  <a:schemeClr val="tx1"/>
                </a:solidFill>
              </a:rPr>
              <a:t>SDLC is like building a house: study, plan, build, check, move in, repair.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System Study and Analysis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Badge 1"/>
          <p:cNvSpPr txBox="1"/>
          <p:nvPr/>
        </p:nvSpPr>
        <p:spPr>
          <a:xfrm>
            <a:off x="594360" y="122400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2400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System Study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05121"/>
            <a:ext cx="3657600" cy="923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first stage of SDLC, where needs and requirements are collected. It gives a clearer picture and scope of the entire project.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52053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It asks four questions</a:t>
            </a:r>
            <a:endParaRPr lang="en-US" sz="1400" dirty="0"/>
          </a:p>
        </p:txBody>
      </p:sp>
      <p:sp>
        <p:nvSpPr>
          <p:cNvPr id="8" name="Chip"/>
          <p:cNvSpPr txBox="1"/>
          <p:nvPr/>
        </p:nvSpPr>
        <p:spPr>
          <a:xfrm>
            <a:off x="640080" y="2949819"/>
            <a:ext cx="1783080" cy="497879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What is to be done in future?</a:t>
            </a:r>
            <a:endParaRPr lang="en-US" sz="1400" dirty="0"/>
          </a:p>
        </p:txBody>
      </p:sp>
      <p:sp>
        <p:nvSpPr>
          <p:cNvPr id="9" name="Chip"/>
          <p:cNvSpPr txBox="1"/>
          <p:nvPr/>
        </p:nvSpPr>
        <p:spPr>
          <a:xfrm>
            <a:off x="2514600" y="2949819"/>
            <a:ext cx="1783080" cy="497879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How to do it?</a:t>
            </a:r>
            <a:endParaRPr lang="en-US" sz="1400" dirty="0"/>
          </a:p>
        </p:txBody>
      </p:sp>
      <p:sp>
        <p:nvSpPr>
          <p:cNvPr id="10" name="Chip"/>
          <p:cNvSpPr txBox="1"/>
          <p:nvPr/>
        </p:nvSpPr>
        <p:spPr>
          <a:xfrm>
            <a:off x="640080" y="3528001"/>
            <a:ext cx="1783080" cy="497879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When to do it?</a:t>
            </a:r>
            <a:endParaRPr lang="en-US" sz="1400" dirty="0"/>
          </a:p>
        </p:txBody>
      </p:sp>
      <p:sp>
        <p:nvSpPr>
          <p:cNvPr id="11" name="Chip"/>
          <p:cNvSpPr txBox="1"/>
          <p:nvPr/>
        </p:nvSpPr>
        <p:spPr>
          <a:xfrm>
            <a:off x="2514600" y="3528001"/>
            <a:ext cx="1783080" cy="497879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Who is to do it?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466344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13" name="Badge 2"/>
          <p:cNvSpPr txBox="1"/>
          <p:nvPr/>
        </p:nvSpPr>
        <p:spPr>
          <a:xfrm>
            <a:off x="4800600" y="122400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122400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System Analysis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1705121"/>
            <a:ext cx="3657600" cy="762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Dissection of the system into its components to study how they interact and work together.</a:t>
            </a:r>
            <a:endParaRPr lang="en-US" sz="1400" dirty="0"/>
          </a:p>
        </p:txBody>
      </p:sp>
      <p:sp>
        <p:nvSpPr>
          <p:cNvPr id="16" name="Callout"/>
          <p:cNvSpPr txBox="1"/>
          <p:nvPr/>
        </p:nvSpPr>
        <p:spPr>
          <a:xfrm>
            <a:off x="4846320" y="2508152"/>
            <a:ext cx="3657600" cy="803030"/>
          </a:xfrm>
          <a:prstGeom prst="roundRect">
            <a:avLst>
              <a:gd name="adj" fmla="val 8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114300" rIns="114300" bIns="1143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Most important activity: 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feasibility study, which decides whether the system is feasible to design or not.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431637"/>
            <a:ext cx="3657600" cy="722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Feasibility types: Economical, Technical, Operational, Time/Schedule and Legal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Example:  </a:t>
            </a:r>
            <a:r>
              <a:rPr lang="en-US" sz="1200" b="0" dirty="0">
                <a:solidFill>
                  <a:schemeClr val="tx1"/>
                </a:solidFill>
              </a:rPr>
              <a:t>Study: does the school need a library app? Analysis: what must the app do?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Types of Feasibility Study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651760" cy="1482931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4" name="Badge 1"/>
          <p:cNvSpPr txBox="1"/>
          <p:nvPr/>
        </p:nvSpPr>
        <p:spPr>
          <a:xfrm>
            <a:off x="594360" y="1287522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28752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Economical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09749"/>
            <a:ext cx="2377440" cy="921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Determines the financial aspects. Analyzes the cost of development and the cost effectiveness of the system.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3246120" y="1188720"/>
            <a:ext cx="2651760" cy="1482931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8" name="Badge 2"/>
          <p:cNvSpPr txBox="1"/>
          <p:nvPr/>
        </p:nvSpPr>
        <p:spPr>
          <a:xfrm>
            <a:off x="3383280" y="1287522"/>
            <a:ext cx="347472" cy="347472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128752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Technical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709749"/>
            <a:ext cx="2377440" cy="921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Determines the technical aspects. Analyzes whether the technical parts of the system or software are feasible or not.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6035040" y="1188720"/>
            <a:ext cx="2651760" cy="1482931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12" name="Badge 3"/>
          <p:cNvSpPr txBox="1"/>
          <p:nvPr/>
        </p:nvSpPr>
        <p:spPr>
          <a:xfrm>
            <a:off x="6172200" y="1287522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128752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Operational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709749"/>
            <a:ext cx="2377440" cy="921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Determines the operational aspects of any system or software.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457200" y="2791888"/>
            <a:ext cx="2651760" cy="1482931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16" name="Badge 4"/>
          <p:cNvSpPr txBox="1"/>
          <p:nvPr/>
        </p:nvSpPr>
        <p:spPr>
          <a:xfrm>
            <a:off x="594360" y="2890691"/>
            <a:ext cx="347472" cy="347472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890691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Time / Schedule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312918"/>
            <a:ext cx="2377440" cy="921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Focuses on time scheduling. The project is split into small tasks and the time to complete each task is estimated.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3246120" y="2791888"/>
            <a:ext cx="2651760" cy="1482931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20" name="Badge 5"/>
          <p:cNvSpPr txBox="1"/>
          <p:nvPr/>
        </p:nvSpPr>
        <p:spPr>
          <a:xfrm>
            <a:off x="3383280" y="2890691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840480" y="2890691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Legal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3312918"/>
            <a:ext cx="2377440" cy="921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Analyzes the legal procedures for development: copyright law, labour law, foreign trade, tax, etc.</a:t>
            </a:r>
            <a:endParaRPr lang="en-US" sz="1400" dirty="0"/>
          </a:p>
        </p:txBody>
      </p:sp>
      <p:sp>
        <p:nvSpPr>
          <p:cNvPr id="23" name="Summary card"/>
          <p:cNvSpPr txBox="1"/>
          <p:nvPr/>
        </p:nvSpPr>
        <p:spPr>
          <a:xfrm>
            <a:off x="6035040" y="2791888"/>
            <a:ext cx="2651760" cy="1482931"/>
          </a:xfrm>
          <a:prstGeom prst="roundRect">
            <a:avLst>
              <a:gd name="adj" fmla="val 4324"/>
            </a:avLst>
          </a:prstGeom>
          <a:solidFill>
            <a:schemeClr val="tx2"/>
          </a:solidFill>
          <a:ln/>
        </p:spPr>
        <p:txBody>
          <a:bodyPr wrap="square" lIns="177800" tIns="177800" rIns="177800" bIns="177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Together these studies decide whether the system is feasible to design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Example:  </a:t>
            </a:r>
            <a:r>
              <a:rPr lang="en-US" sz="1200" b="0" dirty="0">
                <a:solidFill>
                  <a:schemeClr val="tx1"/>
                </a:solidFill>
              </a:rPr>
              <a:t>Can the school pay (economical)? Is the lab ready (technical)? Done in 4 months (time)?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System Design and Development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Badge 3"/>
          <p:cNvSpPr txBox="1"/>
          <p:nvPr/>
        </p:nvSpPr>
        <p:spPr>
          <a:xfrm>
            <a:off x="594360" y="122400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2400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System Design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05121"/>
            <a:ext cx="3657600" cy="963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Develop a logical design (framework) of the system. The overall logical solution of the problem or project is determined.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22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Tools used</a:t>
            </a:r>
            <a:endParaRPr lang="en-US" sz="1400" dirty="0"/>
          </a:p>
        </p:txBody>
      </p:sp>
      <p:sp>
        <p:nvSpPr>
          <p:cNvPr id="8" name="Chip"/>
          <p:cNvSpPr txBox="1"/>
          <p:nvPr/>
        </p:nvSpPr>
        <p:spPr>
          <a:xfrm>
            <a:off x="640080" y="3005064"/>
            <a:ext cx="114300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Algorithm</a:t>
            </a:r>
            <a:endParaRPr lang="en-US" sz="1400" dirty="0"/>
          </a:p>
        </p:txBody>
      </p:sp>
      <p:sp>
        <p:nvSpPr>
          <p:cNvPr id="9" name="Chip"/>
          <p:cNvSpPr txBox="1"/>
          <p:nvPr/>
        </p:nvSpPr>
        <p:spPr>
          <a:xfrm>
            <a:off x="1856232" y="3005064"/>
            <a:ext cx="114300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Flowchart</a:t>
            </a:r>
            <a:endParaRPr lang="en-US" sz="1400" dirty="0"/>
          </a:p>
        </p:txBody>
      </p:sp>
      <p:sp>
        <p:nvSpPr>
          <p:cNvPr id="10" name="Chip"/>
          <p:cNvSpPr txBox="1"/>
          <p:nvPr/>
        </p:nvSpPr>
        <p:spPr>
          <a:xfrm>
            <a:off x="3072384" y="3005064"/>
            <a:ext cx="114300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Pseudo code</a:t>
            </a:r>
            <a:endParaRPr lang="en-US" sz="1400" dirty="0"/>
          </a:p>
        </p:txBody>
      </p:sp>
      <p:sp>
        <p:nvSpPr>
          <p:cNvPr id="11" name="Chip"/>
          <p:cNvSpPr txBox="1"/>
          <p:nvPr/>
        </p:nvSpPr>
        <p:spPr>
          <a:xfrm>
            <a:off x="640080" y="3486882"/>
            <a:ext cx="114300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ER design</a:t>
            </a:r>
            <a:endParaRPr lang="en-US" sz="1400" dirty="0"/>
          </a:p>
        </p:txBody>
      </p:sp>
      <p:sp>
        <p:nvSpPr>
          <p:cNvPr id="12" name="Chip"/>
          <p:cNvSpPr txBox="1"/>
          <p:nvPr/>
        </p:nvSpPr>
        <p:spPr>
          <a:xfrm>
            <a:off x="1856232" y="3486882"/>
            <a:ext cx="114300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DFD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466344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14" name="Badge 4"/>
          <p:cNvSpPr txBox="1"/>
          <p:nvPr/>
        </p:nvSpPr>
        <p:spPr>
          <a:xfrm>
            <a:off x="4800600" y="122400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349240" y="122400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System Development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1705121"/>
            <a:ext cx="3657600" cy="963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logical structure is converted into a program using languages such as C, C++, Java, Python, QBASIC and FORTRAN.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6922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Tasks to be done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989970"/>
            <a:ext cx="3657600" cy="1204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Convert logical structures into a program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Create the database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Train users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Prepare documentation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Example:  </a:t>
            </a:r>
            <a:r>
              <a:rPr lang="en-US" sz="1200" b="0" dirty="0">
                <a:solidFill>
                  <a:schemeClr val="tx1"/>
                </a:solidFill>
              </a:rPr>
              <a:t>Design: draw a flowchart for 'borrow a book'. Development: write it in Python.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System Testing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512064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Badge 5"/>
          <p:cNvSpPr txBox="1"/>
          <p:nvPr/>
        </p:nvSpPr>
        <p:spPr>
          <a:xfrm>
            <a:off x="594360" y="122400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2400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Quality check of the product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05121"/>
            <a:ext cx="4754880" cy="1043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 investigation to check the quality of the product or service. Programs are executed with the intention of finding software bugs. It is also called validating and verifying the software product.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72507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Testing methods</a:t>
            </a:r>
            <a:endParaRPr lang="en-US" sz="1400" dirty="0"/>
          </a:p>
        </p:txBody>
      </p:sp>
      <p:sp>
        <p:nvSpPr>
          <p:cNvPr id="8" name="Method 1"/>
          <p:cNvSpPr txBox="1"/>
          <p:nvPr/>
        </p:nvSpPr>
        <p:spPr>
          <a:xfrm>
            <a:off x="640080" y="3110425"/>
            <a:ext cx="2331720" cy="104394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114300" tIns="114300" rIns="114300" bIns="1143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White-box testing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Tests internal data structures, including code</a:t>
            </a:r>
            <a:endParaRPr lang="en-US" sz="1400" dirty="0"/>
          </a:p>
        </p:txBody>
      </p:sp>
      <p:sp>
        <p:nvSpPr>
          <p:cNvPr id="9" name="Method 2"/>
          <p:cNvSpPr txBox="1"/>
          <p:nvPr/>
        </p:nvSpPr>
        <p:spPr>
          <a:xfrm>
            <a:off x="3063240" y="3110425"/>
            <a:ext cx="2331720" cy="104394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114300" tIns="114300" rIns="114300" bIns="1143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Black-box testing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Functional testing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5760720" y="1143000"/>
            <a:ext cx="2926080" cy="31318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97880" y="1263454"/>
            <a:ext cx="2651760" cy="4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Three components (phases)</a:t>
            </a:r>
            <a:endParaRPr lang="en-US" sz="1600" dirty="0"/>
          </a:p>
        </p:txBody>
      </p:sp>
      <p:sp>
        <p:nvSpPr>
          <p:cNvPr id="12" name="Component 1"/>
          <p:cNvSpPr txBox="1"/>
          <p:nvPr/>
        </p:nvSpPr>
        <p:spPr>
          <a:xfrm>
            <a:off x="5897880" y="1865727"/>
            <a:ext cx="2651760" cy="642424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Unit testing</a:t>
            </a:r>
            <a:endParaRPr lang="en-US" sz="1600" dirty="0"/>
          </a:p>
        </p:txBody>
      </p:sp>
      <p:sp>
        <p:nvSpPr>
          <p:cNvPr id="13" name="Component 2"/>
          <p:cNvSpPr txBox="1"/>
          <p:nvPr/>
        </p:nvSpPr>
        <p:spPr>
          <a:xfrm>
            <a:off x="5897880" y="2652697"/>
            <a:ext cx="2651760" cy="642424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System testing</a:t>
            </a:r>
            <a:endParaRPr lang="en-US" sz="1600" dirty="0"/>
          </a:p>
        </p:txBody>
      </p:sp>
      <p:sp>
        <p:nvSpPr>
          <p:cNvPr id="14" name="Component 3"/>
          <p:cNvSpPr txBox="1"/>
          <p:nvPr/>
        </p:nvSpPr>
        <p:spPr>
          <a:xfrm>
            <a:off x="5897880" y="3439668"/>
            <a:ext cx="2651760" cy="642424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Integration testing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Example:  </a:t>
            </a:r>
            <a:r>
              <a:rPr lang="en-US" sz="1200" b="0" dirty="0">
                <a:solidFill>
                  <a:schemeClr val="tx1"/>
                </a:solidFill>
              </a:rPr>
              <a:t>Unit test: the fine calculator alone. System test: login, search and borrow together.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Implementation and Maintenance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Badge 6"/>
          <p:cNvSpPr txBox="1"/>
          <p:nvPr/>
        </p:nvSpPr>
        <p:spPr>
          <a:xfrm>
            <a:off x="594360" y="122400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2400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System Implementation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05121"/>
            <a:ext cx="3657600" cy="1124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system is installed in the client's computer to support the desired business function. Implementation (conversion) has four major categories:</a:t>
            </a:r>
            <a:endParaRPr lang="en-US" sz="1400" dirty="0"/>
          </a:p>
        </p:txBody>
      </p:sp>
      <p:sp>
        <p:nvSpPr>
          <p:cNvPr id="7" name="Chip"/>
          <p:cNvSpPr txBox="1"/>
          <p:nvPr/>
        </p:nvSpPr>
        <p:spPr>
          <a:xfrm>
            <a:off x="640080" y="2989970"/>
            <a:ext cx="1783080" cy="481818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Direct</a:t>
            </a:r>
            <a:endParaRPr lang="en-US" sz="1600" dirty="0"/>
          </a:p>
        </p:txBody>
      </p:sp>
      <p:sp>
        <p:nvSpPr>
          <p:cNvPr id="8" name="Chip"/>
          <p:cNvSpPr txBox="1"/>
          <p:nvPr/>
        </p:nvSpPr>
        <p:spPr>
          <a:xfrm>
            <a:off x="2514600" y="2989970"/>
            <a:ext cx="1783080" cy="481818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Parallel</a:t>
            </a:r>
            <a:endParaRPr lang="en-US" sz="1600" dirty="0"/>
          </a:p>
        </p:txBody>
      </p:sp>
      <p:sp>
        <p:nvSpPr>
          <p:cNvPr id="9" name="Chip"/>
          <p:cNvSpPr txBox="1"/>
          <p:nvPr/>
        </p:nvSpPr>
        <p:spPr>
          <a:xfrm>
            <a:off x="640080" y="3592243"/>
            <a:ext cx="1783080" cy="481818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Phased</a:t>
            </a:r>
            <a:endParaRPr lang="en-US" sz="1600" dirty="0"/>
          </a:p>
        </p:txBody>
      </p:sp>
      <p:sp>
        <p:nvSpPr>
          <p:cNvPr id="10" name="Chip"/>
          <p:cNvSpPr txBox="1"/>
          <p:nvPr/>
        </p:nvSpPr>
        <p:spPr>
          <a:xfrm>
            <a:off x="2514600" y="3592243"/>
            <a:ext cx="1783080" cy="481818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Pilot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466344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12" name="Badge 7"/>
          <p:cNvSpPr txBox="1"/>
          <p:nvPr/>
        </p:nvSpPr>
        <p:spPr>
          <a:xfrm>
            <a:off x="4800600" y="122400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122400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Maintenance and Feedback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705121"/>
            <a:ext cx="3657600" cy="1204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Changes are made to hardware, software and documentation to support system performance, enhance security and read customer/user feedback.</a:t>
            </a:r>
            <a:endParaRPr lang="en-US" sz="1400" dirty="0"/>
          </a:p>
        </p:txBody>
      </p:sp>
      <p:sp>
        <p:nvSpPr>
          <p:cNvPr id="15" name="Callout"/>
          <p:cNvSpPr txBox="1"/>
          <p:nvPr/>
        </p:nvSpPr>
        <p:spPr>
          <a:xfrm>
            <a:off x="4846320" y="3030122"/>
            <a:ext cx="3657600" cy="104394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Helps to redesign (modify / update) the system in the next version, in the upcoming life cycle.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Example:  </a:t>
            </a:r>
            <a:r>
              <a:rPr lang="en-US" sz="1200" b="0" dirty="0">
                <a:solidFill>
                  <a:schemeClr val="tx1"/>
                </a:solidFill>
              </a:rPr>
              <a:t>Pilot: try the app in Grade 8 first. Maintenance: fix a search bug later.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6.4 Analyst vs Engineer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Header"/>
          <p:cNvSpPr txBox="1"/>
          <p:nvPr/>
        </p:nvSpPr>
        <p:spPr>
          <a:xfrm>
            <a:off x="594360" y="1238396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System analyst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5424"/>
            <a:ext cx="3657600" cy="240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key person in the system development process who analyzes the existing system and implements a new one that overcomes its limitations. Constantly interacts with top-level management, users, competitors and other external entities. Responsible for the overall progress of a project, for quality control and the end-user perspective.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466344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7" name="Header"/>
          <p:cNvSpPr txBox="1"/>
          <p:nvPr/>
        </p:nvSpPr>
        <p:spPr>
          <a:xfrm>
            <a:off x="4800600" y="1238396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tx2"/>
          </a:solidFill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Software engineer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85424"/>
            <a:ext cx="3657600" cy="240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Has extensive knowledge of programming languages, software development and computer operating systems. Applies engineering principles to software creation and must have in-depth computer programming knowledge.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Example:  </a:t>
            </a:r>
            <a:r>
              <a:rPr lang="en-US" sz="1200" b="0" dirty="0">
                <a:solidFill>
                  <a:schemeClr val="tx1"/>
                </a:solidFill>
              </a:rPr>
              <a:t>The analyst talks to the librarian to find the problem. The engineer writes the code.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Characteristics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Header"/>
          <p:cNvSpPr txBox="1"/>
          <p:nvPr/>
        </p:nvSpPr>
        <p:spPr>
          <a:xfrm>
            <a:off x="594360" y="1238396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System analyst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5424"/>
            <a:ext cx="3657600" cy="240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Knowledge of the organization</a:t>
            </a:r>
            <a:endParaRPr lang="en-US" sz="15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Technical knowledge</a:t>
            </a:r>
            <a:endParaRPr lang="en-US" sz="15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Good communication skills</a:t>
            </a:r>
            <a:endParaRPr lang="en-US" sz="15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Problem solving skills</a:t>
            </a:r>
            <a:endParaRPr lang="en-US" sz="15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Good inter-personal relationships</a:t>
            </a:r>
            <a:endParaRPr lang="en-US" sz="15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Good character and ethics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466344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7" name="Header"/>
          <p:cNvSpPr txBox="1"/>
          <p:nvPr/>
        </p:nvSpPr>
        <p:spPr>
          <a:xfrm>
            <a:off x="4800600" y="1238396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tx2"/>
          </a:solidFill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Software engineer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85424"/>
            <a:ext cx="3657600" cy="240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In-depth knowledge of programming languages</a:t>
            </a:r>
            <a:endParaRPr lang="en-US" sz="15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Creative and logical mind</a:t>
            </a:r>
            <a:endParaRPr lang="en-US" sz="15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Extensive knowledge of operating systems</a:t>
            </a:r>
            <a:endParaRPr lang="en-US" sz="15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Knows the nuts and bolts of the computer system</a:t>
            </a:r>
            <a:endParaRPr lang="en-US" sz="15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Able to create documentation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Example:  </a:t>
            </a:r>
            <a:r>
              <a:rPr lang="en-US" sz="1200" b="0" dirty="0">
                <a:solidFill>
                  <a:schemeClr val="tx1"/>
                </a:solidFill>
              </a:rPr>
              <a:t>Analyst: listens well and asks good questions. Engineer: knows Python and fixes bugs.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Roles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Header"/>
          <p:cNvSpPr txBox="1"/>
          <p:nvPr/>
        </p:nvSpPr>
        <p:spPr>
          <a:xfrm>
            <a:off x="594360" y="1238396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System analyst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5424"/>
            <a:ext cx="3657600" cy="240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Collects information about the current system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Tries to overcome the limitations of the existing system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Guides the overall system by giving proper directions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Examines and analyses existing IT systems and the business model, and identifies requirements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466344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7" name="Header"/>
          <p:cNvSpPr txBox="1"/>
          <p:nvPr/>
        </p:nvSpPr>
        <p:spPr>
          <a:xfrm>
            <a:off x="4800600" y="1238396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tx2"/>
          </a:solidFill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Software engineer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85424"/>
            <a:ext cx="3657600" cy="240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Designs, develops and maintains computer software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Investigates new technologies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Ensures all systems are stable and operate efficiently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Responds to any software-related issues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Executes full life cycle software development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Example:  </a:t>
            </a:r>
            <a:r>
              <a:rPr lang="en-US" sz="1200" b="0" dirty="0">
                <a:solidFill>
                  <a:schemeClr val="tx1"/>
                </a:solidFill>
              </a:rPr>
              <a:t>The analyst writes what the app must do. The engineer builds the search and borrow code.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6.5 Requirement Collection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58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system analyst must collect information about the current system and how to improve its functionality with the new system. Data are collected from various sources:</a:t>
            </a:r>
            <a:endParaRPr lang="en-US" sz="1500" dirty="0"/>
          </a:p>
        </p:txBody>
      </p:sp>
      <p:sp>
        <p:nvSpPr>
          <p:cNvPr id="4" name="Card"/>
          <p:cNvSpPr/>
          <p:nvPr/>
        </p:nvSpPr>
        <p:spPr>
          <a:xfrm>
            <a:off x="457200" y="1933474"/>
            <a:ext cx="1920240" cy="1087053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5" name="Badge 1"/>
          <p:cNvSpPr txBox="1"/>
          <p:nvPr/>
        </p:nvSpPr>
        <p:spPr>
          <a:xfrm>
            <a:off x="594360" y="204326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477001"/>
            <a:ext cx="1645920" cy="501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Interview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2560320" y="1933474"/>
            <a:ext cx="1920240" cy="1087053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8" name="Badge 2"/>
          <p:cNvSpPr txBox="1"/>
          <p:nvPr/>
        </p:nvSpPr>
        <p:spPr>
          <a:xfrm>
            <a:off x="2697480" y="2043262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477001"/>
            <a:ext cx="1645920" cy="501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Survey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4663440" y="1933474"/>
            <a:ext cx="1920240" cy="1087053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1" name="Badge 3"/>
          <p:cNvSpPr txBox="1"/>
          <p:nvPr/>
        </p:nvSpPr>
        <p:spPr>
          <a:xfrm>
            <a:off x="4800600" y="204326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2477001"/>
            <a:ext cx="1645920" cy="501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Observation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6766560" y="1933474"/>
            <a:ext cx="1920240" cy="1087053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4" name="Badge 4"/>
          <p:cNvSpPr txBox="1"/>
          <p:nvPr/>
        </p:nvSpPr>
        <p:spPr>
          <a:xfrm>
            <a:off x="6903720" y="2043262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2477001"/>
            <a:ext cx="1645920" cy="501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Focus group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457200" y="3187766"/>
            <a:ext cx="1920240" cy="1087053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7" name="Badge 5"/>
          <p:cNvSpPr txBox="1"/>
          <p:nvPr/>
        </p:nvSpPr>
        <p:spPr>
          <a:xfrm>
            <a:off x="594360" y="3297555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731293"/>
            <a:ext cx="1645920" cy="501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Prototyping</a:t>
            </a:r>
            <a:endParaRPr lang="en-US" sz="1500" dirty="0"/>
          </a:p>
        </p:txBody>
      </p:sp>
      <p:sp>
        <p:nvSpPr>
          <p:cNvPr id="19" name="Card"/>
          <p:cNvSpPr/>
          <p:nvPr/>
        </p:nvSpPr>
        <p:spPr>
          <a:xfrm>
            <a:off x="2560320" y="3187766"/>
            <a:ext cx="1920240" cy="1087053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20" name="Badge 6"/>
          <p:cNvSpPr txBox="1"/>
          <p:nvPr/>
        </p:nvSpPr>
        <p:spPr>
          <a:xfrm>
            <a:off x="2697480" y="3297555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697480" y="3731293"/>
            <a:ext cx="1645920" cy="501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Document analysis</a:t>
            </a:r>
            <a:endParaRPr lang="en-US" sz="1500" dirty="0"/>
          </a:p>
        </p:txBody>
      </p:sp>
      <p:sp>
        <p:nvSpPr>
          <p:cNvPr id="22" name="Card"/>
          <p:cNvSpPr/>
          <p:nvPr/>
        </p:nvSpPr>
        <p:spPr>
          <a:xfrm>
            <a:off x="4663440" y="3187766"/>
            <a:ext cx="1920240" cy="1087053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23" name="Badge 7"/>
          <p:cNvSpPr txBox="1"/>
          <p:nvPr/>
        </p:nvSpPr>
        <p:spPr>
          <a:xfrm>
            <a:off x="4800600" y="3297555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800600" y="3731293"/>
            <a:ext cx="1645920" cy="501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Workshops and seminars</a:t>
            </a:r>
            <a:endParaRPr lang="en-US" sz="1500" dirty="0"/>
          </a:p>
        </p:txBody>
      </p:sp>
      <p:sp>
        <p:nvSpPr>
          <p:cNvPr id="25" name="Next note"/>
          <p:cNvSpPr txBox="1"/>
          <p:nvPr/>
        </p:nvSpPr>
        <p:spPr>
          <a:xfrm>
            <a:off x="6766560" y="3187766"/>
            <a:ext cx="1920240" cy="1087053"/>
          </a:xfrm>
          <a:prstGeom prst="roundRect">
            <a:avLst>
              <a:gd name="adj" fmla="val 6154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114300" rIns="114300" bIns="1143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Each source is explained on the next slides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Example:  </a:t>
            </a:r>
            <a:r>
              <a:rPr lang="en-US" sz="1200" b="0" dirty="0">
                <a:solidFill>
                  <a:schemeClr val="tx1"/>
                </a:solidFill>
              </a:rPr>
              <a:t>To build a library app, the analyst uses interviews, surveys and a paper sketch.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Requirement Collection Sources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1482931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4" name="Badge 1"/>
          <p:cNvSpPr txBox="1"/>
          <p:nvPr/>
        </p:nvSpPr>
        <p:spPr>
          <a:xfrm>
            <a:off x="594360" y="1271491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71491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Interview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09749"/>
            <a:ext cx="3657600" cy="921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Take interviews with professionals of the particular system to get more ideas and requirements.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663440" y="1188720"/>
            <a:ext cx="4023360" cy="1482931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8" name="Badge 2"/>
          <p:cNvSpPr txBox="1"/>
          <p:nvPr/>
        </p:nvSpPr>
        <p:spPr>
          <a:xfrm>
            <a:off x="4800600" y="1271491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303520" y="1271491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Survey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709749"/>
            <a:ext cx="3657600" cy="921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Perform several surveys about the system to learn its scope and challenges.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57200" y="2791888"/>
            <a:ext cx="4023360" cy="1482931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12" name="Badge 3"/>
          <p:cNvSpPr txBox="1"/>
          <p:nvPr/>
        </p:nvSpPr>
        <p:spPr>
          <a:xfrm>
            <a:off x="594360" y="2874659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874659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Observation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312918"/>
            <a:ext cx="3657600" cy="921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Observe a competitor's system to get more ideas about the design and operation of such a system.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4663440" y="2791888"/>
            <a:ext cx="4023360" cy="1482931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16" name="Badge 4"/>
          <p:cNvSpPr txBox="1"/>
          <p:nvPr/>
        </p:nvSpPr>
        <p:spPr>
          <a:xfrm>
            <a:off x="4800600" y="2874659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2874659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Focus group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312918"/>
            <a:ext cx="3657600" cy="921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gathering of people representative of the users or customers of a product. Gives feedback about needs, opportunities and problems.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Example:  </a:t>
            </a:r>
            <a:r>
              <a:rPr lang="en-US" sz="1200" b="0" dirty="0">
                <a:solidFill>
                  <a:schemeClr val="tx1"/>
                </a:solidFill>
              </a:rPr>
              <a:t>Interview the librarian. Survey 100 students. Visit another school library.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More Collection Sources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651760" cy="30861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4" name="Badge 5"/>
          <p:cNvSpPr txBox="1"/>
          <p:nvPr/>
        </p:nvSpPr>
        <p:spPr>
          <a:xfrm>
            <a:off x="594360" y="1289063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57212"/>
            <a:ext cx="2377440" cy="568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Prototyping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366310"/>
            <a:ext cx="2377440" cy="1786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Develop a small prototype model as required and show it to the client to get additional requirements.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3246120" y="1188720"/>
            <a:ext cx="2651760" cy="30861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8" name="Badge 6"/>
          <p:cNvSpPr txBox="1"/>
          <p:nvPr/>
        </p:nvSpPr>
        <p:spPr>
          <a:xfrm>
            <a:off x="3383280" y="1289063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757212"/>
            <a:ext cx="2377440" cy="568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Document analysis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366310"/>
            <a:ext cx="2377440" cy="1786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Review the documentation of an existing system. It introduces the requirements that drove its creation.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6035040" y="1188720"/>
            <a:ext cx="2651760" cy="30861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12" name="Badge 7"/>
          <p:cNvSpPr txBox="1"/>
          <p:nvPr/>
        </p:nvSpPr>
        <p:spPr>
          <a:xfrm>
            <a:off x="6172200" y="1289063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1757212"/>
            <a:ext cx="2377440" cy="568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Workshops and seminars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366310"/>
            <a:ext cx="2377440" cy="1786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Sessions (also webinars) involving several professionals and competitors. Idea sharing is the most common activity.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Example:  </a:t>
            </a:r>
            <a:r>
              <a:rPr lang="en-US" sz="1200" b="0" dirty="0">
                <a:solidFill>
                  <a:schemeClr val="tx1"/>
                </a:solidFill>
              </a:rPr>
              <a:t>Sketch the app on paper, read the old register book, join an IT seminar.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6.6 System Design Tools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651760" cy="30861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4" name="Badge 1"/>
          <p:cNvSpPr txBox="1"/>
          <p:nvPr/>
        </p:nvSpPr>
        <p:spPr>
          <a:xfrm>
            <a:off x="594360" y="1289063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89063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Algorithm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38425"/>
            <a:ext cx="2377440" cy="2355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of the most basic tools for problem solving. A finite sequence of instructions for solving a problem.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3246120" y="1188720"/>
            <a:ext cx="2651760" cy="30861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8" name="Badge 2"/>
          <p:cNvSpPr txBox="1"/>
          <p:nvPr/>
        </p:nvSpPr>
        <p:spPr>
          <a:xfrm>
            <a:off x="3383280" y="1289063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886200" y="1289063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Flowchart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838425"/>
            <a:ext cx="2377440" cy="2355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diagrammatic, pictorial or symbolic representation of an algorithm. Shows the order of instructions and the relationships between them. Two types: system and program.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6035040" y="1188720"/>
            <a:ext cx="2651760" cy="30861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12" name="Badge 3"/>
          <p:cNvSpPr txBox="1"/>
          <p:nvPr/>
        </p:nvSpPr>
        <p:spPr>
          <a:xfrm>
            <a:off x="6172200" y="1289063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1289063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Pseudo code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838425"/>
            <a:ext cx="2377440" cy="2355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Pseudo means fake, so this is fake code: it looks like program code but is not. It is a kind of algorithm for solving a problem.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Example:  </a:t>
            </a:r>
            <a:r>
              <a:rPr lang="en-US" sz="1200" b="0" dirty="0">
                <a:solidFill>
                  <a:schemeClr val="tx1"/>
                </a:solidFill>
              </a:rPr>
              <a:t>Making tea: algorithm = steps in words, flowchart = a picture, pseudo code = code-like lines.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DFD and ER Diagram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Header"/>
          <p:cNvSpPr txBox="1"/>
          <p:nvPr/>
        </p:nvSpPr>
        <p:spPr>
          <a:xfrm>
            <a:off x="594360" y="1238396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  Data Flow Diagram (DFD)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45273"/>
            <a:ext cx="3657600" cy="762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logical diagram that describes the flow of data (information) between the components of the system.</a:t>
            </a:r>
            <a:endParaRPr lang="en-US" sz="1400" dirty="0"/>
          </a:p>
        </p:txBody>
      </p:sp>
      <p:sp>
        <p:nvSpPr>
          <p:cNvPr id="6" name="Symbol process"/>
          <p:cNvSpPr/>
          <p:nvPr/>
        </p:nvSpPr>
        <p:spPr>
          <a:xfrm>
            <a:off x="640080" y="2646484"/>
            <a:ext cx="45720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34440" y="2588455"/>
            <a:ext cx="1097280" cy="481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Process</a:t>
            </a:r>
            <a:endParaRPr lang="en-US" sz="1400" dirty="0"/>
          </a:p>
        </p:txBody>
      </p:sp>
      <p:sp>
        <p:nvSpPr>
          <p:cNvPr id="8" name="Store top"/>
          <p:cNvSpPr/>
          <p:nvPr/>
        </p:nvSpPr>
        <p:spPr>
          <a:xfrm>
            <a:off x="2514600" y="2684819"/>
            <a:ext cx="4572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9" name="Store bottom"/>
          <p:cNvSpPr/>
          <p:nvPr/>
        </p:nvSpPr>
        <p:spPr>
          <a:xfrm>
            <a:off x="2514600" y="2973910"/>
            <a:ext cx="4572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10" name="Store side"/>
          <p:cNvSpPr/>
          <p:nvPr/>
        </p:nvSpPr>
        <p:spPr>
          <a:xfrm>
            <a:off x="2514600" y="2664772"/>
            <a:ext cx="0" cy="32918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08960" y="2588455"/>
            <a:ext cx="1097280" cy="481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 store</a:t>
            </a:r>
            <a:endParaRPr lang="en-US" sz="1400" dirty="0"/>
          </a:p>
        </p:txBody>
      </p:sp>
      <p:sp>
        <p:nvSpPr>
          <p:cNvPr id="12" name="Symbol flow"/>
          <p:cNvSpPr/>
          <p:nvPr/>
        </p:nvSpPr>
        <p:spPr>
          <a:xfrm>
            <a:off x="640080" y="3431637"/>
            <a:ext cx="4572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1234440" y="3190728"/>
            <a:ext cx="1188720" cy="481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 flows</a:t>
            </a:r>
            <a:endParaRPr lang="en-US" sz="1400" dirty="0"/>
          </a:p>
        </p:txBody>
      </p:sp>
      <p:sp>
        <p:nvSpPr>
          <p:cNvPr id="14" name="Symbol entity"/>
          <p:cNvSpPr/>
          <p:nvPr/>
        </p:nvSpPr>
        <p:spPr>
          <a:xfrm>
            <a:off x="2514600" y="3248757"/>
            <a:ext cx="45720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08960" y="3190728"/>
            <a:ext cx="1097280" cy="481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External entities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765159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Several layers, according to system complexity.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466344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18" name="Header"/>
          <p:cNvSpPr txBox="1"/>
          <p:nvPr/>
        </p:nvSpPr>
        <p:spPr>
          <a:xfrm>
            <a:off x="4800600" y="1238396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tx2"/>
          </a:solidFill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  Entity Relationship Diagram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1745273"/>
            <a:ext cx="3657600" cy="762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diagrammatic representation of real-world entities along with their attributes: the overall logical structure of a database.</a:t>
            </a:r>
            <a:endParaRPr lang="en-US" sz="1400" dirty="0"/>
          </a:p>
        </p:txBody>
      </p:sp>
      <p:sp>
        <p:nvSpPr>
          <p:cNvPr id="20" name="Symbol entity ER"/>
          <p:cNvSpPr/>
          <p:nvPr/>
        </p:nvSpPr>
        <p:spPr>
          <a:xfrm>
            <a:off x="4846320" y="2646484"/>
            <a:ext cx="45720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40680" y="2588455"/>
            <a:ext cx="1097280" cy="481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Entity</a:t>
            </a:r>
            <a:endParaRPr lang="en-US" sz="1400" dirty="0"/>
          </a:p>
        </p:txBody>
      </p:sp>
      <p:sp>
        <p:nvSpPr>
          <p:cNvPr id="22" name="Symbol attribute"/>
          <p:cNvSpPr/>
          <p:nvPr/>
        </p:nvSpPr>
        <p:spPr>
          <a:xfrm>
            <a:off x="6720840" y="2646484"/>
            <a:ext cx="457200" cy="3657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0" y="2588455"/>
            <a:ext cx="1188720" cy="481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Attribute</a:t>
            </a:r>
            <a:endParaRPr lang="en-US" sz="1400" dirty="0"/>
          </a:p>
        </p:txBody>
      </p:sp>
      <p:sp>
        <p:nvSpPr>
          <p:cNvPr id="24" name="Symbol relationship"/>
          <p:cNvSpPr/>
          <p:nvPr/>
        </p:nvSpPr>
        <p:spPr>
          <a:xfrm>
            <a:off x="4846320" y="3203037"/>
            <a:ext cx="457200" cy="457200"/>
          </a:xfrm>
          <a:prstGeom prst="diamond">
            <a:avLst/>
          </a:prstGeom>
          <a:solidFill>
            <a:schemeClr val="accent2">
              <a:alpha val="60000"/>
            </a:schemeClr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40680" y="3190728"/>
            <a:ext cx="1280160" cy="481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Relationship</a:t>
            </a:r>
            <a:endParaRPr lang="en-US" sz="1400" dirty="0"/>
          </a:p>
        </p:txBody>
      </p:sp>
      <p:sp>
        <p:nvSpPr>
          <p:cNvPr id="26" name="Symbol line"/>
          <p:cNvSpPr/>
          <p:nvPr/>
        </p:nvSpPr>
        <p:spPr>
          <a:xfrm>
            <a:off x="6720840" y="3431637"/>
            <a:ext cx="4572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0" y="3190728"/>
            <a:ext cx="1097280" cy="481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Lines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Example:  </a:t>
            </a:r>
            <a:r>
              <a:rPr lang="en-US" sz="1200" b="0" dirty="0">
                <a:solidFill>
                  <a:schemeClr val="tx1"/>
                </a:solidFill>
              </a:rPr>
              <a:t>DFD: a student request updates Book records. ER: a Student borrows a Book.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Decision Table and Tree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Header"/>
          <p:cNvSpPr txBox="1"/>
          <p:nvPr/>
        </p:nvSpPr>
        <p:spPr>
          <a:xfrm>
            <a:off x="594360" y="1238396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  Decision table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45273"/>
            <a:ext cx="3657600" cy="803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Identifies the exact course of action according to the given conditions. It has two parts: condition and action.</a:t>
            </a:r>
            <a:endParaRPr lang="en-US" sz="1400" dirty="0"/>
          </a:p>
        </p:txBody>
      </p:sp>
      <p:graphicFrame>
        <p:nvGraphicFramePr>
          <p:cNvPr id="21" name="Decis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708910"/>
          <a:ext cx="3657600" cy="80303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40151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Condition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Action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0151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Condition 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Action 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151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Condition 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Action B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Card"/>
          <p:cNvSpPr/>
          <p:nvPr/>
        </p:nvSpPr>
        <p:spPr>
          <a:xfrm>
            <a:off x="466344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8" name="Header"/>
          <p:cNvSpPr txBox="1"/>
          <p:nvPr/>
        </p:nvSpPr>
        <p:spPr>
          <a:xfrm>
            <a:off x="4800600" y="1238396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tx2"/>
          </a:solidFill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  Decision tree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745273"/>
            <a:ext cx="3657600" cy="56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Similar to a decision table, except that it follows a tree-like structure.</a:t>
            </a:r>
            <a:endParaRPr lang="en-US" sz="1400" dirty="0"/>
          </a:p>
        </p:txBody>
      </p:sp>
      <p:sp>
        <p:nvSpPr>
          <p:cNvPr id="10" name="Tree root"/>
          <p:cNvSpPr txBox="1"/>
          <p:nvPr/>
        </p:nvSpPr>
        <p:spPr>
          <a:xfrm>
            <a:off x="5943600" y="2362639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Condition</a:t>
            </a:r>
            <a:endParaRPr lang="en-US" sz="1400" dirty="0"/>
          </a:p>
        </p:txBody>
      </p:sp>
      <p:sp>
        <p:nvSpPr>
          <p:cNvPr id="11" name="Branch left"/>
          <p:cNvSpPr/>
          <p:nvPr/>
        </p:nvSpPr>
        <p:spPr>
          <a:xfrm flipH="1">
            <a:off x="5577840" y="2749061"/>
            <a:ext cx="822960" cy="562121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Branch right"/>
          <p:cNvSpPr/>
          <p:nvPr/>
        </p:nvSpPr>
        <p:spPr>
          <a:xfrm>
            <a:off x="6949440" y="2749061"/>
            <a:ext cx="822960" cy="562121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5623560" y="289296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Yes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0" y="289296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No</a:t>
            </a:r>
            <a:endParaRPr lang="en-US" sz="1400" dirty="0"/>
          </a:p>
        </p:txBody>
      </p:sp>
      <p:sp>
        <p:nvSpPr>
          <p:cNvPr id="15" name="Chip"/>
          <p:cNvSpPr txBox="1"/>
          <p:nvPr/>
        </p:nvSpPr>
        <p:spPr>
          <a:xfrm>
            <a:off x="4937760" y="3323492"/>
            <a:ext cx="128016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Action A</a:t>
            </a:r>
            <a:endParaRPr lang="en-US" sz="1400" dirty="0"/>
          </a:p>
        </p:txBody>
      </p:sp>
      <p:sp>
        <p:nvSpPr>
          <p:cNvPr id="16" name="Chip"/>
          <p:cNvSpPr txBox="1"/>
          <p:nvPr/>
        </p:nvSpPr>
        <p:spPr>
          <a:xfrm>
            <a:off x="7132320" y="3323492"/>
            <a:ext cx="128016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Action 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Example:  </a:t>
            </a:r>
            <a:r>
              <a:rPr lang="en-US" sz="1200" b="0" dirty="0">
                <a:solidFill>
                  <a:schemeClr val="tx1"/>
                </a:solidFill>
              </a:rPr>
              <a:t>Rule: kept more than 7 days means a fine. A table or a tree shows the same rule.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6.7 Software and Quality</a:t>
            </a:r>
            <a:endParaRPr lang="en-US" sz="3400" dirty="0"/>
          </a:p>
        </p:txBody>
      </p:sp>
      <p:sp>
        <p:nvSpPr>
          <p:cNvPr id="3" name="Definition"/>
          <p:cNvSpPr txBox="1"/>
          <p:nvPr/>
        </p:nvSpPr>
        <p:spPr>
          <a:xfrm>
            <a:off x="457200" y="1143000"/>
            <a:ext cx="8229600" cy="682576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/>
        </p:spPr>
        <p:txBody>
          <a:bodyPr wrap="square" lIns="177800" tIns="177800" rIns="177800" bIns="177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Software quality is the ability of the software to function according to the given specifications. Good software has these qualities:</a:t>
            </a:r>
            <a:endParaRPr lang="en-US" sz="1500" dirty="0"/>
          </a:p>
        </p:txBody>
      </p:sp>
      <p:sp>
        <p:nvSpPr>
          <p:cNvPr id="4" name="Card"/>
          <p:cNvSpPr/>
          <p:nvPr/>
        </p:nvSpPr>
        <p:spPr>
          <a:xfrm>
            <a:off x="457200" y="1986182"/>
            <a:ext cx="1920240" cy="2288637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5" name="Badge 1"/>
          <p:cNvSpPr txBox="1"/>
          <p:nvPr/>
        </p:nvSpPr>
        <p:spPr>
          <a:xfrm>
            <a:off x="594360" y="2084363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508152"/>
            <a:ext cx="1645920" cy="441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Good design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949819"/>
            <a:ext cx="1645920" cy="1284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 aesthetic look that pleases users and pushes them to go through the software and test it.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2542032" y="1986182"/>
            <a:ext cx="1920240" cy="2288637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9" name="Badge 2"/>
          <p:cNvSpPr txBox="1"/>
          <p:nvPr/>
        </p:nvSpPr>
        <p:spPr>
          <a:xfrm>
            <a:off x="2679192" y="2084363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679192" y="2508152"/>
            <a:ext cx="1645920" cy="441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Good functionality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679192" y="2949819"/>
            <a:ext cx="1645920" cy="1284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Smooth functionality, so users can enjoy the software without any issues.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4626864" y="1986182"/>
            <a:ext cx="1920240" cy="2288637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3" name="Badge 3"/>
          <p:cNvSpPr txBox="1"/>
          <p:nvPr/>
        </p:nvSpPr>
        <p:spPr>
          <a:xfrm>
            <a:off x="4764024" y="2084363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764024" y="2508152"/>
            <a:ext cx="1645920" cy="441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Durable and reliable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764024" y="2949819"/>
            <a:ext cx="1645920" cy="1284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Durability means the software works without any issues for a long period of time.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6711696" y="1986182"/>
            <a:ext cx="1920240" cy="2288637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7" name="Badge 4"/>
          <p:cNvSpPr txBox="1"/>
          <p:nvPr/>
        </p:nvSpPr>
        <p:spPr>
          <a:xfrm>
            <a:off x="6848856" y="2084363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48856" y="2508152"/>
            <a:ext cx="1645920" cy="441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Portable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48856" y="2949819"/>
            <a:ext cx="1645920" cy="1284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Can be used on different operating systems and computer systems so more users can use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Example:  </a:t>
            </a:r>
            <a:r>
              <a:rPr lang="en-US" sz="1200" b="0" dirty="0">
                <a:solidFill>
                  <a:schemeClr val="tx1"/>
                </a:solidFill>
              </a:rPr>
              <a:t>A library app that crashes in exam week is not reliable, so it is not good software.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Qualities of Good Software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1920240" cy="30861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4" name="Badge 5"/>
          <p:cNvSpPr txBox="1"/>
          <p:nvPr/>
        </p:nvSpPr>
        <p:spPr>
          <a:xfrm>
            <a:off x="594360" y="129008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57212"/>
            <a:ext cx="1645920" cy="6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Efficient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406917"/>
            <a:ext cx="1645920" cy="1786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Efficiency means the accuracy of the software on the instructions given by the user.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2542032" y="1188720"/>
            <a:ext cx="1920240" cy="30861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8" name="Badge 6"/>
          <p:cNvSpPr txBox="1"/>
          <p:nvPr/>
        </p:nvSpPr>
        <p:spPr>
          <a:xfrm>
            <a:off x="2679192" y="129008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679192" y="1757212"/>
            <a:ext cx="1645920" cy="6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Value for money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679192" y="2406917"/>
            <a:ext cx="1645920" cy="1786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Customers and companies feel the money spent on the app has not gone to waste.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626864" y="1188720"/>
            <a:ext cx="1920240" cy="30861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2" name="Badge 7"/>
          <p:cNvSpPr txBox="1"/>
          <p:nvPr/>
        </p:nvSpPr>
        <p:spPr>
          <a:xfrm>
            <a:off x="4764024" y="129008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764024" y="1757212"/>
            <a:ext cx="1645920" cy="6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Good after-sale service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764024" y="2406917"/>
            <a:ext cx="1645920" cy="1786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Meets customer needs and keeps users satisfied after the sale.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6711696" y="1188720"/>
            <a:ext cx="1920240" cy="30861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6" name="Badge 8"/>
          <p:cNvSpPr txBox="1"/>
          <p:nvPr/>
        </p:nvSpPr>
        <p:spPr>
          <a:xfrm>
            <a:off x="6848856" y="129008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848856" y="1757212"/>
            <a:ext cx="1645920" cy="6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Flexible and maintainable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48856" y="2406917"/>
            <a:ext cx="1645920" cy="1786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Bugs are captured and fixed quickly; new tasks and enhancements are added without trouble.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Example:  </a:t>
            </a:r>
            <a:r>
              <a:rPr lang="en-US" sz="1200" b="0" dirty="0">
                <a:solidFill>
                  <a:schemeClr val="tx1"/>
                </a:solidFill>
              </a:rPr>
              <a:t>The app works on phone and laptop (portable) and is easy to update (flexible).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6.8 Development Models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1482931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4" name="Badge 1"/>
          <p:cNvSpPr txBox="1"/>
          <p:nvPr/>
        </p:nvSpPr>
        <p:spPr>
          <a:xfrm>
            <a:off x="640080" y="132083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208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Waterfall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10145"/>
            <a:ext cx="3611880" cy="721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Systematic, sequential stages. Suitable for static projects.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663440" y="1188720"/>
            <a:ext cx="4023360" cy="1482931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8" name="Badge 2"/>
          <p:cNvSpPr txBox="1"/>
          <p:nvPr/>
        </p:nvSpPr>
        <p:spPr>
          <a:xfrm>
            <a:off x="4846320" y="1320832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0" y="13208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Prototype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910145"/>
            <a:ext cx="3611880" cy="721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Iterative: build and modify a prototype until the user is satisfied.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57200" y="2791888"/>
            <a:ext cx="4023360" cy="1482931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12" name="Badge 3"/>
          <p:cNvSpPr txBox="1"/>
          <p:nvPr/>
        </p:nvSpPr>
        <p:spPr>
          <a:xfrm>
            <a:off x="640080" y="2924001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924001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Spiral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513314"/>
            <a:ext cx="3611880" cy="721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Waterfall plus prototype, with risk management. For large, complex projects.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4663440" y="2791888"/>
            <a:ext cx="4023360" cy="1482931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16" name="Badge 4"/>
          <p:cNvSpPr txBox="1"/>
          <p:nvPr/>
        </p:nvSpPr>
        <p:spPr>
          <a:xfrm>
            <a:off x="4846320" y="2924001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2924001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Agile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513314"/>
            <a:ext cx="3611880" cy="721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Quick adaptation to changing requests. People and users come first.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Example:  </a:t>
            </a:r>
            <a:r>
              <a:rPr lang="en-US" sz="1200" b="0" dirty="0">
                <a:solidFill>
                  <a:schemeClr val="tx1"/>
                </a:solidFill>
              </a:rPr>
              <a:t>Waterfall: result printing. Prototype: website. Spiral: hospital system. Agile: mobile game.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1. Waterfall Model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systematic, sequential model: it begins with system requirements and moves stage by stage. Once a stage is completed, work goes to the next one, like a downhill structure.</a:t>
            </a:r>
            <a:endParaRPr lang="en-US" sz="1400" dirty="0"/>
          </a:p>
        </p:txBody>
      </p:sp>
      <p:sp>
        <p:nvSpPr>
          <p:cNvPr id="4" name="Feedback baseline"/>
          <p:cNvSpPr/>
          <p:nvPr/>
        </p:nvSpPr>
        <p:spPr>
          <a:xfrm>
            <a:off x="731520" y="4274820"/>
            <a:ext cx="63093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5" name="Stage 1"/>
          <p:cNvSpPr txBox="1"/>
          <p:nvPr/>
        </p:nvSpPr>
        <p:spPr>
          <a:xfrm>
            <a:off x="502920" y="1651127"/>
            <a:ext cx="1463040" cy="310896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System study</a:t>
            </a:r>
            <a:endParaRPr lang="en-US" sz="1100" dirty="0"/>
          </a:p>
        </p:txBody>
      </p:sp>
      <p:sp>
        <p:nvSpPr>
          <p:cNvPr id="6" name="Feedback 1"/>
          <p:cNvSpPr/>
          <p:nvPr/>
        </p:nvSpPr>
        <p:spPr>
          <a:xfrm flipV="1">
            <a:off x="731520" y="1946910"/>
            <a:ext cx="0" cy="232791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Forward h 1"/>
          <p:cNvSpPr/>
          <p:nvPr/>
        </p:nvSpPr>
        <p:spPr>
          <a:xfrm>
            <a:off x="1965960" y="1806575"/>
            <a:ext cx="3200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8" name="Forward v 1"/>
          <p:cNvSpPr/>
          <p:nvPr/>
        </p:nvSpPr>
        <p:spPr>
          <a:xfrm>
            <a:off x="2286000" y="1795462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Stage 2"/>
          <p:cNvSpPr txBox="1"/>
          <p:nvPr/>
        </p:nvSpPr>
        <p:spPr>
          <a:xfrm>
            <a:off x="1554480" y="1997837"/>
            <a:ext cx="1463040" cy="310896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System analysis</a:t>
            </a:r>
            <a:endParaRPr lang="en-US" sz="1100" dirty="0"/>
          </a:p>
        </p:txBody>
      </p:sp>
      <p:sp>
        <p:nvSpPr>
          <p:cNvPr id="10" name="Feedback 2"/>
          <p:cNvSpPr/>
          <p:nvPr/>
        </p:nvSpPr>
        <p:spPr>
          <a:xfrm flipV="1">
            <a:off x="1783080" y="2293620"/>
            <a:ext cx="0" cy="198120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Forward h 2"/>
          <p:cNvSpPr/>
          <p:nvPr/>
        </p:nvSpPr>
        <p:spPr>
          <a:xfrm>
            <a:off x="3017520" y="2153285"/>
            <a:ext cx="3200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12" name="Forward v 2"/>
          <p:cNvSpPr/>
          <p:nvPr/>
        </p:nvSpPr>
        <p:spPr>
          <a:xfrm>
            <a:off x="3337560" y="2142172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Stage 3"/>
          <p:cNvSpPr txBox="1"/>
          <p:nvPr/>
        </p:nvSpPr>
        <p:spPr>
          <a:xfrm>
            <a:off x="2606040" y="2344547"/>
            <a:ext cx="1463040" cy="310896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System design</a:t>
            </a:r>
            <a:endParaRPr lang="en-US" sz="1100" dirty="0"/>
          </a:p>
        </p:txBody>
      </p:sp>
      <p:sp>
        <p:nvSpPr>
          <p:cNvPr id="14" name="Feedback 3"/>
          <p:cNvSpPr/>
          <p:nvPr/>
        </p:nvSpPr>
        <p:spPr>
          <a:xfrm flipV="1">
            <a:off x="2834640" y="2640330"/>
            <a:ext cx="0" cy="163449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Forward h 3"/>
          <p:cNvSpPr/>
          <p:nvPr/>
        </p:nvSpPr>
        <p:spPr>
          <a:xfrm>
            <a:off x="4069080" y="2499995"/>
            <a:ext cx="3200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16" name="Forward v 3"/>
          <p:cNvSpPr/>
          <p:nvPr/>
        </p:nvSpPr>
        <p:spPr>
          <a:xfrm>
            <a:off x="4389120" y="2488882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7" name="Stage 4"/>
          <p:cNvSpPr txBox="1"/>
          <p:nvPr/>
        </p:nvSpPr>
        <p:spPr>
          <a:xfrm>
            <a:off x="3657600" y="2691257"/>
            <a:ext cx="1463040" cy="310896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System development</a:t>
            </a:r>
            <a:endParaRPr lang="en-US" sz="1100" dirty="0"/>
          </a:p>
        </p:txBody>
      </p:sp>
      <p:sp>
        <p:nvSpPr>
          <p:cNvPr id="18" name="Feedback 4"/>
          <p:cNvSpPr/>
          <p:nvPr/>
        </p:nvSpPr>
        <p:spPr>
          <a:xfrm flipV="1">
            <a:off x="3886200" y="2987040"/>
            <a:ext cx="0" cy="128778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Forward h 4"/>
          <p:cNvSpPr/>
          <p:nvPr/>
        </p:nvSpPr>
        <p:spPr>
          <a:xfrm>
            <a:off x="5120640" y="2846705"/>
            <a:ext cx="3200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20" name="Forward v 4"/>
          <p:cNvSpPr/>
          <p:nvPr/>
        </p:nvSpPr>
        <p:spPr>
          <a:xfrm>
            <a:off x="5440680" y="2835592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1" name="Stage 5"/>
          <p:cNvSpPr txBox="1"/>
          <p:nvPr/>
        </p:nvSpPr>
        <p:spPr>
          <a:xfrm>
            <a:off x="4709160" y="3037967"/>
            <a:ext cx="1463040" cy="310896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Testing</a:t>
            </a:r>
            <a:endParaRPr lang="en-US" sz="1100" dirty="0"/>
          </a:p>
        </p:txBody>
      </p:sp>
      <p:sp>
        <p:nvSpPr>
          <p:cNvPr id="22" name="Feedback 5"/>
          <p:cNvSpPr/>
          <p:nvPr/>
        </p:nvSpPr>
        <p:spPr>
          <a:xfrm flipV="1">
            <a:off x="4937760" y="3333750"/>
            <a:ext cx="0" cy="94107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Forward h 5"/>
          <p:cNvSpPr/>
          <p:nvPr/>
        </p:nvSpPr>
        <p:spPr>
          <a:xfrm>
            <a:off x="6172200" y="3193415"/>
            <a:ext cx="3200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24" name="Forward v 5"/>
          <p:cNvSpPr/>
          <p:nvPr/>
        </p:nvSpPr>
        <p:spPr>
          <a:xfrm>
            <a:off x="6492240" y="3182302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5" name="Stage 6"/>
          <p:cNvSpPr txBox="1"/>
          <p:nvPr/>
        </p:nvSpPr>
        <p:spPr>
          <a:xfrm>
            <a:off x="5760720" y="3384677"/>
            <a:ext cx="1463040" cy="310896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Implementation</a:t>
            </a:r>
            <a:endParaRPr lang="en-US" sz="1100" dirty="0"/>
          </a:p>
        </p:txBody>
      </p:sp>
      <p:sp>
        <p:nvSpPr>
          <p:cNvPr id="26" name="Feedback 6"/>
          <p:cNvSpPr/>
          <p:nvPr/>
        </p:nvSpPr>
        <p:spPr>
          <a:xfrm flipV="1">
            <a:off x="5989320" y="3680460"/>
            <a:ext cx="0" cy="59436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7" name="Forward h 6"/>
          <p:cNvSpPr/>
          <p:nvPr/>
        </p:nvSpPr>
        <p:spPr>
          <a:xfrm>
            <a:off x="7223760" y="3540125"/>
            <a:ext cx="3200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28" name="Forward v 6"/>
          <p:cNvSpPr/>
          <p:nvPr/>
        </p:nvSpPr>
        <p:spPr>
          <a:xfrm>
            <a:off x="7543800" y="3529012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9" name="Stage 7"/>
          <p:cNvSpPr txBox="1"/>
          <p:nvPr/>
        </p:nvSpPr>
        <p:spPr>
          <a:xfrm>
            <a:off x="6812280" y="3731387"/>
            <a:ext cx="1463040" cy="310896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Maintenance</a:t>
            </a:r>
            <a:endParaRPr lang="en-US" sz="1100" dirty="0"/>
          </a:p>
        </p:txBody>
      </p:sp>
      <p:sp>
        <p:nvSpPr>
          <p:cNvPr id="30" name="Feedback 7"/>
          <p:cNvSpPr/>
          <p:nvPr/>
        </p:nvSpPr>
        <p:spPr>
          <a:xfrm flipV="1">
            <a:off x="7040880" y="4013835"/>
            <a:ext cx="0" cy="27432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502920" y="4736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Fig: Waterfall model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Example:  </a:t>
            </a:r>
            <a:r>
              <a:rPr lang="en-US" sz="1200" b="0" dirty="0">
                <a:solidFill>
                  <a:schemeClr val="tx1"/>
                </a:solidFill>
              </a:rPr>
              <a:t>A result-printing program with fixed rules: finish each stage, then move to the next.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Waterfall: Pros and Cons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Header"/>
          <p:cNvSpPr txBox="1"/>
          <p:nvPr/>
        </p:nvSpPr>
        <p:spPr>
          <a:xfrm>
            <a:off x="594360" y="1238396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Advantages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5424"/>
            <a:ext cx="3657600" cy="240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Simple and easy to use</a:t>
            </a:r>
            <a:endParaRPr lang="en-US" sz="18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Does not overlap any stages</a:t>
            </a:r>
            <a:endParaRPr lang="en-US" sz="18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Suitable for static projects</a:t>
            </a:r>
            <a:endParaRPr lang="en-US" sz="1800" dirty="0"/>
          </a:p>
        </p:txBody>
      </p:sp>
      <p:sp>
        <p:nvSpPr>
          <p:cNvPr id="6" name="Card"/>
          <p:cNvSpPr/>
          <p:nvPr/>
        </p:nvSpPr>
        <p:spPr>
          <a:xfrm>
            <a:off x="466344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7" name="Header"/>
          <p:cNvSpPr txBox="1"/>
          <p:nvPr/>
        </p:nvSpPr>
        <p:spPr>
          <a:xfrm>
            <a:off x="4800600" y="1238396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accent4"/>
          </a:solidFill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Disadvantages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85424"/>
            <a:ext cx="3657600" cy="240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Not suitable for dynamic projects</a:t>
            </a:r>
            <a:endParaRPr lang="en-US" sz="18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Does not have a back-track mechanism</a:t>
            </a:r>
            <a:endParaRPr lang="en-US" sz="18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May be costly and time consuming if requirements change while developing the system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Example:  </a:t>
            </a:r>
            <a:r>
              <a:rPr lang="en-US" sz="1200" b="0" dirty="0">
                <a:solidFill>
                  <a:schemeClr val="tx1"/>
                </a:solidFill>
              </a:rPr>
              <a:t>Good: a simple result-printing program. Bad: an app whose rules change every week.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2. Prototype Model</a:t>
            </a:r>
            <a:endParaRPr lang="en-US" sz="3400" dirty="0"/>
          </a:p>
        </p:txBody>
      </p:sp>
      <p:sp>
        <p:nvSpPr>
          <p:cNvPr id="3" name="Step identify"/>
          <p:cNvSpPr txBox="1"/>
          <p:nvPr/>
        </p:nvSpPr>
        <p:spPr>
          <a:xfrm>
            <a:off x="1260230" y="1143000"/>
            <a:ext cx="1606061" cy="401515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Identify user needs</a:t>
            </a:r>
            <a:endParaRPr lang="en-US" sz="1200" dirty="0"/>
          </a:p>
        </p:txBody>
      </p:sp>
      <p:sp>
        <p:nvSpPr>
          <p:cNvPr id="4" name="Step develop"/>
          <p:cNvSpPr txBox="1"/>
          <p:nvPr/>
        </p:nvSpPr>
        <p:spPr>
          <a:xfrm>
            <a:off x="1260230" y="1865727"/>
            <a:ext cx="1606061" cy="401515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Develop a prototype</a:t>
            </a:r>
            <a:endParaRPr lang="en-US" sz="1200" dirty="0"/>
          </a:p>
        </p:txBody>
      </p:sp>
      <p:sp>
        <p:nvSpPr>
          <p:cNvPr id="5" name="Decision"/>
          <p:cNvSpPr txBox="1"/>
          <p:nvPr/>
        </p:nvSpPr>
        <p:spPr>
          <a:xfrm>
            <a:off x="1260230" y="2548303"/>
            <a:ext cx="1606061" cy="843182"/>
          </a:xfrm>
          <a:prstGeom prst="diamond">
            <a:avLst/>
          </a:prstGeom>
          <a:solidFill>
            <a:schemeClr val="accent2">
              <a:alpha val="50000"/>
            </a:schemeClr>
          </a:solidFill>
          <a:ln w="1905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Prototype accepted?</a:t>
            </a:r>
            <a:endParaRPr lang="en-US" sz="1100" dirty="0"/>
          </a:p>
        </p:txBody>
      </p:sp>
      <p:sp>
        <p:nvSpPr>
          <p:cNvPr id="6" name="Step implement"/>
          <p:cNvSpPr txBox="1"/>
          <p:nvPr/>
        </p:nvSpPr>
        <p:spPr>
          <a:xfrm>
            <a:off x="1260230" y="3793001"/>
            <a:ext cx="1606061" cy="401515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Implement the prototype</a:t>
            </a:r>
            <a:endParaRPr lang="en-US" sz="1200" dirty="0"/>
          </a:p>
        </p:txBody>
      </p:sp>
      <p:sp>
        <p:nvSpPr>
          <p:cNvPr id="7" name="Flow 1"/>
          <p:cNvSpPr/>
          <p:nvPr/>
        </p:nvSpPr>
        <p:spPr>
          <a:xfrm>
            <a:off x="2063261" y="1544515"/>
            <a:ext cx="0" cy="321212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8" name="Flow 2"/>
          <p:cNvSpPr/>
          <p:nvPr/>
        </p:nvSpPr>
        <p:spPr>
          <a:xfrm>
            <a:off x="2063261" y="2267243"/>
            <a:ext cx="0" cy="28106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Flow yes"/>
          <p:cNvSpPr/>
          <p:nvPr/>
        </p:nvSpPr>
        <p:spPr>
          <a:xfrm>
            <a:off x="2063261" y="3391486"/>
            <a:ext cx="0" cy="401515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2143564" y="3447698"/>
            <a:ext cx="401515" cy="240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Yes</a:t>
            </a:r>
            <a:endParaRPr lang="en-US" sz="1200" dirty="0"/>
          </a:p>
        </p:txBody>
      </p:sp>
      <p:sp>
        <p:nvSpPr>
          <p:cNvPr id="11" name="No h"/>
          <p:cNvSpPr/>
          <p:nvPr/>
        </p:nvSpPr>
        <p:spPr>
          <a:xfrm>
            <a:off x="2866292" y="2969895"/>
            <a:ext cx="602273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12" name="No v"/>
          <p:cNvSpPr/>
          <p:nvPr/>
        </p:nvSpPr>
        <p:spPr>
          <a:xfrm flipV="1">
            <a:off x="3468565" y="1343757"/>
            <a:ext cx="0" cy="1626137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13" name="No back"/>
          <p:cNvSpPr/>
          <p:nvPr/>
        </p:nvSpPr>
        <p:spPr>
          <a:xfrm flipH="1">
            <a:off x="2866292" y="1343757"/>
            <a:ext cx="602273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906443" y="2708910"/>
            <a:ext cx="401515" cy="240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No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36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Fig: Prototype model</a:t>
            </a:r>
            <a:endParaRPr lang="en-US" sz="1000" dirty="0"/>
          </a:p>
        </p:txBody>
      </p:sp>
      <p:sp>
        <p:nvSpPr>
          <p:cNvPr id="16" name="Card"/>
          <p:cNvSpPr/>
          <p:nvPr/>
        </p:nvSpPr>
        <p:spPr>
          <a:xfrm>
            <a:off x="4572000" y="1143000"/>
            <a:ext cx="411480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54880" y="12411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What it is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1664970"/>
            <a:ext cx="3749040" cy="64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prototype is an iterative process of system development.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2427849"/>
            <a:ext cx="3749040" cy="1204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prototype is built according to the user requirements and then continuously modified until the user is satisfied.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Example:  </a:t>
            </a:r>
            <a:r>
              <a:rPr lang="en-US" sz="1200" b="0" dirty="0">
                <a:solidFill>
                  <a:schemeClr val="tx1"/>
                </a:solidFill>
              </a:rPr>
              <a:t>Show a draft school website page. The principal asks for changes. Repeat until happy.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Prototype: Pros and Cons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Header"/>
          <p:cNvSpPr txBox="1"/>
          <p:nvPr/>
        </p:nvSpPr>
        <p:spPr>
          <a:xfrm>
            <a:off x="594360" y="1238396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Advantages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5424"/>
            <a:ext cx="3657600" cy="240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Suitable for dynamic systems</a:t>
            </a:r>
            <a:endParaRPr lang="en-US" sz="18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Errors are detected much earlier, as the system is made side by side</a:t>
            </a:r>
            <a:endParaRPr lang="en-US" sz="18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Gives the user a better understanding of the project</a:t>
            </a:r>
            <a:endParaRPr lang="en-US" sz="1800" dirty="0"/>
          </a:p>
        </p:txBody>
      </p:sp>
      <p:sp>
        <p:nvSpPr>
          <p:cNvPr id="6" name="Card"/>
          <p:cNvSpPr/>
          <p:nvPr/>
        </p:nvSpPr>
        <p:spPr>
          <a:xfrm>
            <a:off x="466344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7" name="Header"/>
          <p:cNvSpPr txBox="1"/>
          <p:nvPr/>
        </p:nvSpPr>
        <p:spPr>
          <a:xfrm>
            <a:off x="4800600" y="1238396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accent4"/>
          </a:solidFill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Disadvantages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85424"/>
            <a:ext cx="3657600" cy="240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Not suitable for complex systems in which user requirements change rapidly</a:t>
            </a:r>
            <a:endParaRPr lang="en-US" sz="18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May increase time and cost, depending on further updates</a:t>
            </a:r>
            <a:endParaRPr lang="en-US" sz="18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user may never get satisfied, so it can be time consuming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Example:  </a:t>
            </a:r>
            <a:r>
              <a:rPr lang="en-US" sz="1200" b="0" dirty="0">
                <a:solidFill>
                  <a:schemeClr val="tx1"/>
                </a:solidFill>
              </a:rPr>
              <a:t>Good: mistakes found early from drafts. Bad: the principal keeps asking for changes.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3. Spiral Model</a:t>
            </a:r>
            <a:endParaRPr lang="en-US" sz="3400" dirty="0"/>
          </a:p>
        </p:txBody>
      </p:sp>
      <p:sp>
        <p:nvSpPr>
          <p:cNvPr id="3" name="Outer ring"/>
          <p:cNvSpPr/>
          <p:nvPr/>
        </p:nvSpPr>
        <p:spPr>
          <a:xfrm>
            <a:off x="747183" y="1350130"/>
            <a:ext cx="2899833" cy="2899833"/>
          </a:xfrm>
          <a:prstGeom prst="ellipse">
            <a:avLst/>
          </a:prstGeom>
          <a:ln w="15875">
            <a:solidFill>
              <a:schemeClr val="accent5"/>
            </a:solidFill>
            <a:prstDash val="solid"/>
          </a:ln>
        </p:spPr>
      </p:sp>
      <p:sp>
        <p:nvSpPr>
          <p:cNvPr id="4" name="Horizontal axis"/>
          <p:cNvSpPr/>
          <p:nvPr/>
        </p:nvSpPr>
        <p:spPr>
          <a:xfrm>
            <a:off x="747183" y="2800047"/>
            <a:ext cx="2899833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5" name="Vertical axis"/>
          <p:cNvSpPr/>
          <p:nvPr/>
        </p:nvSpPr>
        <p:spPr>
          <a:xfrm>
            <a:off x="2197100" y="1350130"/>
            <a:ext cx="0" cy="2899833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6" name="Spiral path"/>
          <p:cNvSpPr/>
          <p:nvPr/>
        </p:nvSpPr>
        <p:spPr>
          <a:xfrm>
            <a:off x="747183" y="1350130"/>
            <a:ext cx="2899833" cy="2899833"/>
          </a:xfrm>
          <a:custGeom>
            <a:avLst/>
            <a:gdLst/>
            <a:ahLst/>
            <a:cxnLst/>
            <a:rect l="l" t="t" r="r" b="b"/>
            <a:pathLst>
              <a:path w="3200400" h="3200400">
                <a:moveTo>
                  <a:pt x="1600200" y="1508760"/>
                </a:moveTo>
                <a:lnTo>
                  <a:pt x="1613877" y="1499232"/>
                </a:lnTo>
                <a:lnTo>
                  <a:pt x="1630087" y="1491908"/>
                </a:lnTo>
                <a:lnTo>
                  <a:pt x="1648460" y="1487290"/>
                </a:lnTo>
                <a:lnTo>
                  <a:pt x="1668539" y="1485819"/>
                </a:lnTo>
                <a:lnTo>
                  <a:pt x="1689790" y="1487858"/>
                </a:lnTo>
                <a:lnTo>
                  <a:pt x="1711613" y="1493678"/>
                </a:lnTo>
                <a:lnTo>
                  <a:pt x="1733358" y="1503455"/>
                </a:lnTo>
                <a:lnTo>
                  <a:pt x="1754341" y="1517253"/>
                </a:lnTo>
                <a:lnTo>
                  <a:pt x="1773865" y="1535023"/>
                </a:lnTo>
                <a:lnTo>
                  <a:pt x="1791230" y="1556599"/>
                </a:lnTo>
                <a:lnTo>
                  <a:pt x="1805762" y="1581699"/>
                </a:lnTo>
                <a:lnTo>
                  <a:pt x="1816825" y="1609929"/>
                </a:lnTo>
                <a:lnTo>
                  <a:pt x="1823841" y="1640785"/>
                </a:lnTo>
                <a:lnTo>
                  <a:pt x="1826308" y="1673667"/>
                </a:lnTo>
                <a:lnTo>
                  <a:pt x="1823815" y="1707887"/>
                </a:lnTo>
                <a:lnTo>
                  <a:pt x="1816058" y="1742687"/>
                </a:lnTo>
                <a:lnTo>
                  <a:pt x="1802848" y="1777248"/>
                </a:lnTo>
                <a:lnTo>
                  <a:pt x="1784124" y="1810717"/>
                </a:lnTo>
                <a:lnTo>
                  <a:pt x="1759958" y="1842222"/>
                </a:lnTo>
                <a:lnTo>
                  <a:pt x="1730559" y="1870892"/>
                </a:lnTo>
                <a:lnTo>
                  <a:pt x="1696272" y="1895880"/>
                </a:lnTo>
                <a:lnTo>
                  <a:pt x="1657579" y="1916382"/>
                </a:lnTo>
                <a:lnTo>
                  <a:pt x="1615086" y="1931662"/>
                </a:lnTo>
                <a:lnTo>
                  <a:pt x="1569521" y="1941069"/>
                </a:lnTo>
                <a:lnTo>
                  <a:pt x="1521718" y="1944054"/>
                </a:lnTo>
                <a:lnTo>
                  <a:pt x="1472599" y="1940191"/>
                </a:lnTo>
                <a:lnTo>
                  <a:pt x="1423164" y="1929188"/>
                </a:lnTo>
                <a:lnTo>
                  <a:pt x="1374462" y="1910901"/>
                </a:lnTo>
                <a:lnTo>
                  <a:pt x="1327577" y="1885341"/>
                </a:lnTo>
                <a:lnTo>
                  <a:pt x="1283598" y="1852681"/>
                </a:lnTo>
                <a:lnTo>
                  <a:pt x="1243601" y="1813258"/>
                </a:lnTo>
                <a:lnTo>
                  <a:pt x="1208620" y="1767569"/>
                </a:lnTo>
                <a:lnTo>
                  <a:pt x="1179624" y="1716272"/>
                </a:lnTo>
                <a:lnTo>
                  <a:pt x="1157493" y="1660169"/>
                </a:lnTo>
                <a:lnTo>
                  <a:pt x="1143000" y="1600200"/>
                </a:lnTo>
                <a:lnTo>
                  <a:pt x="1136782" y="1537426"/>
                </a:lnTo>
                <a:lnTo>
                  <a:pt x="1139329" y="1473008"/>
                </a:lnTo>
                <a:lnTo>
                  <a:pt x="1150964" y="1408187"/>
                </a:lnTo>
                <a:lnTo>
                  <a:pt x="1171833" y="1344263"/>
                </a:lnTo>
                <a:lnTo>
                  <a:pt x="1201895" y="1282562"/>
                </a:lnTo>
                <a:lnTo>
                  <a:pt x="1240915" y="1224418"/>
                </a:lnTo>
                <a:lnTo>
                  <a:pt x="1288467" y="1171136"/>
                </a:lnTo>
                <a:lnTo>
                  <a:pt x="1343931" y="1123972"/>
                </a:lnTo>
                <a:lnTo>
                  <a:pt x="1406504" y="1084098"/>
                </a:lnTo>
                <a:lnTo>
                  <a:pt x="1475209" y="1052580"/>
                </a:lnTo>
                <a:lnTo>
                  <a:pt x="1548913" y="1030350"/>
                </a:lnTo>
                <a:lnTo>
                  <a:pt x="1626338" y="1018183"/>
                </a:lnTo>
                <a:lnTo>
                  <a:pt x="1706094" y="1016677"/>
                </a:lnTo>
                <a:lnTo>
                  <a:pt x="1786693" y="1026234"/>
                </a:lnTo>
                <a:lnTo>
                  <a:pt x="1866585" y="1047046"/>
                </a:lnTo>
                <a:lnTo>
                  <a:pt x="1944183" y="1079089"/>
                </a:lnTo>
                <a:lnTo>
                  <a:pt x="2017896" y="1122109"/>
                </a:lnTo>
                <a:lnTo>
                  <a:pt x="2086161" y="1175629"/>
                </a:lnTo>
                <a:lnTo>
                  <a:pt x="2147476" y="1238946"/>
                </a:lnTo>
                <a:lnTo>
                  <a:pt x="2200431" y="1311144"/>
                </a:lnTo>
                <a:lnTo>
                  <a:pt x="2243738" y="1391102"/>
                </a:lnTo>
                <a:lnTo>
                  <a:pt x="2276264" y="1477512"/>
                </a:lnTo>
                <a:lnTo>
                  <a:pt x="2297054" y="1568904"/>
                </a:lnTo>
                <a:lnTo>
                  <a:pt x="2305357" y="1663665"/>
                </a:lnTo>
                <a:lnTo>
                  <a:pt x="2300644" y="1760072"/>
                </a:lnTo>
                <a:lnTo>
                  <a:pt x="2282629" y="1856320"/>
                </a:lnTo>
                <a:lnTo>
                  <a:pt x="2251275" y="1950558"/>
                </a:lnTo>
                <a:lnTo>
                  <a:pt x="2206807" y="2040926"/>
                </a:lnTo>
                <a:lnTo>
                  <a:pt x="2149711" y="2125586"/>
                </a:lnTo>
                <a:lnTo>
                  <a:pt x="2080729" y="2202764"/>
                </a:lnTo>
                <a:lnTo>
                  <a:pt x="2000856" y="2270785"/>
                </a:lnTo>
                <a:lnTo>
                  <a:pt x="1911322" y="2328107"/>
                </a:lnTo>
                <a:lnTo>
                  <a:pt x="1813577" y="2373356"/>
                </a:lnTo>
                <a:lnTo>
                  <a:pt x="1709266" y="2405356"/>
                </a:lnTo>
                <a:lnTo>
                  <a:pt x="1600200" y="2423160"/>
                </a:lnTo>
                <a:lnTo>
                  <a:pt x="1488329" y="2426068"/>
                </a:lnTo>
                <a:lnTo>
                  <a:pt x="1375702" y="2413650"/>
                </a:lnTo>
                <a:lnTo>
                  <a:pt x="1264434" y="2385763"/>
                </a:lnTo>
                <a:lnTo>
                  <a:pt x="1156665" y="2342553"/>
                </a:lnTo>
                <a:lnTo>
                  <a:pt x="1054515" y="2284468"/>
                </a:lnTo>
                <a:lnTo>
                  <a:pt x="960048" y="2212248"/>
                </a:lnTo>
                <a:lnTo>
                  <a:pt x="875230" y="2126921"/>
                </a:lnTo>
                <a:lnTo>
                  <a:pt x="801885" y="2029791"/>
                </a:lnTo>
                <a:lnTo>
                  <a:pt x="741661" y="1922415"/>
                </a:lnTo>
                <a:lnTo>
                  <a:pt x="695991" y="1806580"/>
                </a:lnTo>
                <a:lnTo>
                  <a:pt x="666063" y="1684274"/>
                </a:lnTo>
                <a:lnTo>
                  <a:pt x="652792" y="1557652"/>
                </a:lnTo>
                <a:lnTo>
                  <a:pt x="656795" y="1428997"/>
                </a:lnTo>
                <a:lnTo>
                  <a:pt x="678375" y="1300681"/>
                </a:lnTo>
                <a:lnTo>
                  <a:pt x="717508" y="1175118"/>
                </a:lnTo>
                <a:lnTo>
                  <a:pt x="773835" y="1054721"/>
                </a:lnTo>
                <a:lnTo>
                  <a:pt x="846666" y="941857"/>
                </a:lnTo>
                <a:lnTo>
                  <a:pt x="934981" y="838796"/>
                </a:lnTo>
                <a:lnTo>
                  <a:pt x="1037450" y="747671"/>
                </a:lnTo>
                <a:lnTo>
                  <a:pt x="1152447" y="670431"/>
                </a:lnTo>
                <a:lnTo>
                  <a:pt x="1278076" y="608803"/>
                </a:lnTo>
                <a:lnTo>
                  <a:pt x="1412203" y="564254"/>
                </a:lnTo>
                <a:lnTo>
                  <a:pt x="1552494" y="537954"/>
                </a:lnTo>
                <a:lnTo>
                  <a:pt x="1696452" y="530756"/>
                </a:lnTo>
                <a:lnTo>
                  <a:pt x="1841461" y="543166"/>
                </a:lnTo>
                <a:lnTo>
                  <a:pt x="1984839" y="575334"/>
                </a:lnTo>
                <a:lnTo>
                  <a:pt x="2123881" y="627038"/>
                </a:lnTo>
                <a:lnTo>
                  <a:pt x="2255914" y="697687"/>
                </a:lnTo>
                <a:lnTo>
                  <a:pt x="2378349" y="786320"/>
                </a:lnTo>
                <a:lnTo>
                  <a:pt x="2488727" y="891623"/>
                </a:lnTo>
                <a:lnTo>
                  <a:pt x="2584771" y="1011946"/>
                </a:lnTo>
                <a:lnTo>
                  <a:pt x="2664433" y="1145325"/>
                </a:lnTo>
                <a:lnTo>
                  <a:pt x="2725935" y="1289517"/>
                </a:lnTo>
                <a:lnTo>
                  <a:pt x="2767806" y="1442037"/>
                </a:lnTo>
                <a:lnTo>
                  <a:pt x="2788920" y="1600200"/>
                </a:lnTo>
                <a:lnTo>
                  <a:pt x="2788518" y="1761169"/>
                </a:lnTo>
                <a:lnTo>
                  <a:pt x="2766229" y="1922004"/>
                </a:lnTo>
                <a:lnTo>
                  <a:pt x="2722089" y="2079718"/>
                </a:lnTo>
                <a:lnTo>
                  <a:pt x="2656539" y="2231333"/>
                </a:lnTo>
                <a:lnTo>
                  <a:pt x="2570431" y="2373933"/>
                </a:lnTo>
                <a:lnTo>
                  <a:pt x="2465011" y="2504721"/>
                </a:lnTo>
                <a:lnTo>
                  <a:pt x="2341910" y="2621076"/>
                </a:lnTo>
                <a:lnTo>
                  <a:pt x="2203114" y="2720601"/>
                </a:lnTo>
                <a:lnTo>
                  <a:pt x="2050934" y="2801176"/>
                </a:lnTo>
                <a:lnTo>
                  <a:pt x="1887969" y="2860999"/>
                </a:lnTo>
                <a:lnTo>
                  <a:pt x="1717060" y="2898625"/>
                </a:lnTo>
                <a:lnTo>
                  <a:pt x="1541242" y="2913000"/>
                </a:lnTo>
                <a:lnTo>
                  <a:pt x="1363688" y="2903487"/>
                </a:lnTo>
                <a:lnTo>
                  <a:pt x="1187655" y="2869883"/>
                </a:lnTo>
                <a:lnTo>
                  <a:pt x="1016421" y="2812430"/>
                </a:lnTo>
                <a:lnTo>
                  <a:pt x="853225" y="2731818"/>
                </a:lnTo>
                <a:lnTo>
                  <a:pt x="701209" y="2629178"/>
                </a:lnTo>
                <a:lnTo>
                  <a:pt x="563352" y="2506067"/>
                </a:lnTo>
                <a:lnTo>
                  <a:pt x="442417" y="2364446"/>
                </a:lnTo>
                <a:lnTo>
                  <a:pt x="340893" y="2206650"/>
                </a:lnTo>
                <a:lnTo>
                  <a:pt x="260945" y="2035350"/>
                </a:lnTo>
                <a:lnTo>
                  <a:pt x="204372" y="1853506"/>
                </a:lnTo>
                <a:lnTo>
                  <a:pt x="172562" y="1664315"/>
                </a:lnTo>
                <a:lnTo>
                  <a:pt x="166468" y="1471162"/>
                </a:lnTo>
                <a:lnTo>
                  <a:pt x="186577" y="1277550"/>
                </a:lnTo>
                <a:lnTo>
                  <a:pt x="232897" y="1087043"/>
                </a:lnTo>
                <a:lnTo>
                  <a:pt x="304952" y="903197"/>
                </a:lnTo>
                <a:lnTo>
                  <a:pt x="401780" y="729497"/>
                </a:lnTo>
                <a:lnTo>
                  <a:pt x="521950" y="569288"/>
                </a:lnTo>
                <a:lnTo>
                  <a:pt x="663576" y="425710"/>
                </a:lnTo>
                <a:lnTo>
                  <a:pt x="824348" y="301643"/>
                </a:lnTo>
                <a:lnTo>
                  <a:pt x="1001572" y="199640"/>
                </a:lnTo>
                <a:lnTo>
                  <a:pt x="1192211" y="121886"/>
                </a:lnTo>
                <a:lnTo>
                  <a:pt x="1392940" y="70144"/>
                </a:lnTo>
                <a:lnTo>
                  <a:pt x="1600200" y="45720"/>
                </a:lnTo>
              </a:path>
            </a:pathLst>
          </a:cu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7" name="Quadrant 1 Planning"/>
          <p:cNvSpPr txBox="1"/>
          <p:nvPr/>
        </p:nvSpPr>
        <p:spPr>
          <a:xfrm>
            <a:off x="830035" y="1640114"/>
            <a:ext cx="1159933" cy="331409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 Planning</a:t>
            </a:r>
            <a:endParaRPr lang="en-US" sz="1100" dirty="0"/>
          </a:p>
        </p:txBody>
      </p:sp>
      <p:sp>
        <p:nvSpPr>
          <p:cNvPr id="8" name="Quadrant 2 Risk analysis"/>
          <p:cNvSpPr txBox="1"/>
          <p:nvPr/>
        </p:nvSpPr>
        <p:spPr>
          <a:xfrm>
            <a:off x="2404230" y="1640114"/>
            <a:ext cx="1159933" cy="331409"/>
          </a:xfrm>
          <a:prstGeom prst="roundRect">
            <a:avLst>
              <a:gd name="adj" fmla="val 25000"/>
            </a:avLst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 Risk analysis</a:t>
            </a:r>
            <a:endParaRPr lang="en-US" sz="1100" dirty="0"/>
          </a:p>
        </p:txBody>
      </p:sp>
      <p:sp>
        <p:nvSpPr>
          <p:cNvPr id="9" name="Quadrant 3 Engineering"/>
          <p:cNvSpPr txBox="1"/>
          <p:nvPr/>
        </p:nvSpPr>
        <p:spPr>
          <a:xfrm>
            <a:off x="2404230" y="3628571"/>
            <a:ext cx="1159933" cy="331409"/>
          </a:xfrm>
          <a:prstGeom prst="roundRect">
            <a:avLst>
              <a:gd name="adj" fmla="val 25000"/>
            </a:avLst>
          </a:prstGeom>
          <a:solidFill>
            <a:schemeClr val="tx2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 Engineering</a:t>
            </a:r>
            <a:endParaRPr lang="en-US" sz="1100" dirty="0"/>
          </a:p>
        </p:txBody>
      </p:sp>
      <p:sp>
        <p:nvSpPr>
          <p:cNvPr id="10" name="Quadrant 4 Evaluation"/>
          <p:cNvSpPr txBox="1"/>
          <p:nvPr/>
        </p:nvSpPr>
        <p:spPr>
          <a:xfrm>
            <a:off x="830035" y="3628571"/>
            <a:ext cx="1159933" cy="331409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 Evaluation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7365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Fig: Spiral model (four quadrants)</a:t>
            </a:r>
            <a:endParaRPr lang="en-US" sz="1000" dirty="0"/>
          </a:p>
        </p:txBody>
      </p:sp>
      <p:sp>
        <p:nvSpPr>
          <p:cNvPr id="12" name="Card"/>
          <p:cNvSpPr/>
          <p:nvPr/>
        </p:nvSpPr>
        <p:spPr>
          <a:xfrm>
            <a:off x="4434840" y="1143000"/>
            <a:ext cx="4251960" cy="1035654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0" y="1209281"/>
            <a:ext cx="3977640" cy="91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Combines the features of the waterfall and prototype models. A recent model for large, expensive and complicated projects.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4434840" y="2280605"/>
            <a:ext cx="425196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15" name="Badge 1"/>
          <p:cNvSpPr txBox="1"/>
          <p:nvPr/>
        </p:nvSpPr>
        <p:spPr>
          <a:xfrm>
            <a:off x="4526280" y="2344613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6" name="Quadrant text 1"/>
          <p:cNvSpPr txBox="1"/>
          <p:nvPr/>
        </p:nvSpPr>
        <p:spPr>
          <a:xfrm>
            <a:off x="4983480" y="2280605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Planning: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set objectives and requirements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4434840" y="2794290"/>
            <a:ext cx="425196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18" name="Badge 2"/>
          <p:cNvSpPr txBox="1"/>
          <p:nvPr/>
        </p:nvSpPr>
        <p:spPr>
          <a:xfrm>
            <a:off x="4526280" y="2858298"/>
            <a:ext cx="347472" cy="347472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Quadrant text 2"/>
          <p:cNvSpPr txBox="1"/>
          <p:nvPr/>
        </p:nvSpPr>
        <p:spPr>
          <a:xfrm>
            <a:off x="4983480" y="279429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Risk analysis: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identify and resolve risks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4434840" y="3307975"/>
            <a:ext cx="425196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21" name="Badge 3"/>
          <p:cNvSpPr txBox="1"/>
          <p:nvPr/>
        </p:nvSpPr>
        <p:spPr>
          <a:xfrm>
            <a:off x="4526280" y="3371983"/>
            <a:ext cx="347472" cy="347472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Quadrant text 3"/>
          <p:cNvSpPr txBox="1"/>
          <p:nvPr/>
        </p:nvSpPr>
        <p:spPr>
          <a:xfrm>
            <a:off x="4983480" y="3307975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Engineering: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develop and test the product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4434840" y="3821659"/>
            <a:ext cx="425196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24" name="Badge 4"/>
          <p:cNvSpPr txBox="1"/>
          <p:nvPr/>
        </p:nvSpPr>
        <p:spPr>
          <a:xfrm>
            <a:off x="4526280" y="3885667"/>
            <a:ext cx="347472" cy="347472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Quadrant text 4"/>
          <p:cNvSpPr txBox="1"/>
          <p:nvPr/>
        </p:nvSpPr>
        <p:spPr>
          <a:xfrm>
            <a:off x="4983480" y="3821659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Evaluation: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review and plan the next loop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Example:  </a:t>
            </a:r>
            <a:r>
              <a:rPr lang="en-US" sz="1200" b="0" dirty="0">
                <a:solidFill>
                  <a:schemeClr val="tx1"/>
                </a:solidFill>
              </a:rPr>
              <a:t>A hospital system: plan a small part, check the risks, build it, review, then repeat.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Spiral: Pros and Cons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Header"/>
          <p:cNvSpPr txBox="1"/>
          <p:nvPr/>
        </p:nvSpPr>
        <p:spPr>
          <a:xfrm>
            <a:off x="594360" y="1238396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Advantages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5424"/>
            <a:ext cx="3657600" cy="240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Estimates budget and time in a more realistic manner</a:t>
            </a:r>
            <a:endParaRPr lang="en-US" sz="18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Suitable for complex and sophisticated projects</a:t>
            </a:r>
            <a:endParaRPr lang="en-US" sz="18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Includes risk management techniques</a:t>
            </a:r>
            <a:endParaRPr lang="en-US" sz="1800" dirty="0"/>
          </a:p>
        </p:txBody>
      </p:sp>
      <p:sp>
        <p:nvSpPr>
          <p:cNvPr id="6" name="Card"/>
          <p:cNvSpPr/>
          <p:nvPr/>
        </p:nvSpPr>
        <p:spPr>
          <a:xfrm>
            <a:off x="466344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7" name="Header"/>
          <p:cNvSpPr txBox="1"/>
          <p:nvPr/>
        </p:nvSpPr>
        <p:spPr>
          <a:xfrm>
            <a:off x="4800600" y="1238396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accent4"/>
          </a:solidFill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Disadvantages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85424"/>
            <a:ext cx="3657600" cy="240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Needs highly technical manpower and resources</a:t>
            </a:r>
            <a:endParaRPr lang="en-US" sz="18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May be costlier than other models</a:t>
            </a:r>
            <a:endParaRPr lang="en-US" sz="18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Sometimes the spiral may go on and 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Example:  </a:t>
            </a:r>
            <a:r>
              <a:rPr lang="en-US" sz="1200" b="0" dirty="0">
                <a:solidFill>
                  <a:schemeClr val="tx1"/>
                </a:solidFill>
              </a:rPr>
              <a:t>Good: patient data risks are checked early. Bad: costly, and the loops may never end.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4. Agile Model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69116"/>
            <a:ext cx="8229600" cy="54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Helps developers build a project that can easily adapt to changing requests quickly, making projects easy and rapid. People and users are given more importance than process and tools.</a:t>
            </a:r>
            <a:endParaRPr lang="en-US" sz="1400" dirty="0"/>
          </a:p>
        </p:txBody>
      </p:sp>
      <p:sp>
        <p:nvSpPr>
          <p:cNvPr id="4" name="Iteration ring 1"/>
          <p:cNvSpPr/>
          <p:nvPr/>
        </p:nvSpPr>
        <p:spPr>
          <a:xfrm>
            <a:off x="640080" y="1784428"/>
            <a:ext cx="2194560" cy="84154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279" y="2078968"/>
            <a:ext cx="1178159" cy="252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Iteration 1</a:t>
            </a:r>
            <a:endParaRPr lang="en-US" sz="1400" dirty="0"/>
          </a:p>
        </p:txBody>
      </p:sp>
      <p:sp>
        <p:nvSpPr>
          <p:cNvPr id="6" name="It1 Planning"/>
          <p:cNvSpPr txBox="1"/>
          <p:nvPr/>
        </p:nvSpPr>
        <p:spPr>
          <a:xfrm>
            <a:off x="1261872" y="1665556"/>
            <a:ext cx="950976" cy="237744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Planning</a:t>
            </a:r>
            <a:endParaRPr lang="en-US" sz="1000" dirty="0"/>
          </a:p>
        </p:txBody>
      </p:sp>
      <p:sp>
        <p:nvSpPr>
          <p:cNvPr id="7" name="It1 Req Analysis"/>
          <p:cNvSpPr txBox="1"/>
          <p:nvPr/>
        </p:nvSpPr>
        <p:spPr>
          <a:xfrm>
            <a:off x="2158182" y="1965773"/>
            <a:ext cx="875204" cy="218801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Req Analysis</a:t>
            </a:r>
            <a:endParaRPr lang="en-US" sz="1000" dirty="0"/>
          </a:p>
        </p:txBody>
      </p:sp>
      <p:sp>
        <p:nvSpPr>
          <p:cNvPr id="8" name="It1 Designing"/>
          <p:cNvSpPr txBox="1"/>
          <p:nvPr/>
        </p:nvSpPr>
        <p:spPr>
          <a:xfrm>
            <a:off x="1791333" y="2436210"/>
            <a:ext cx="875204" cy="218801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Designing</a:t>
            </a:r>
            <a:endParaRPr lang="en-US" sz="1000" dirty="0"/>
          </a:p>
        </p:txBody>
      </p:sp>
      <p:sp>
        <p:nvSpPr>
          <p:cNvPr id="9" name="It1 Building"/>
          <p:cNvSpPr txBox="1"/>
          <p:nvPr/>
        </p:nvSpPr>
        <p:spPr>
          <a:xfrm>
            <a:off x="604181" y="2436210"/>
            <a:ext cx="875204" cy="218801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Building</a:t>
            </a:r>
            <a:endParaRPr lang="en-US" sz="1000" dirty="0"/>
          </a:p>
        </p:txBody>
      </p:sp>
      <p:sp>
        <p:nvSpPr>
          <p:cNvPr id="10" name="It1 Testing"/>
          <p:cNvSpPr txBox="1"/>
          <p:nvPr/>
        </p:nvSpPr>
        <p:spPr>
          <a:xfrm>
            <a:off x="237332" y="1965773"/>
            <a:ext cx="875204" cy="218801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Testing</a:t>
            </a:r>
            <a:endParaRPr lang="en-US" sz="1000" dirty="0"/>
          </a:p>
        </p:txBody>
      </p:sp>
      <p:sp>
        <p:nvSpPr>
          <p:cNvPr id="11" name="Iteration ring 2"/>
          <p:cNvSpPr/>
          <p:nvPr/>
        </p:nvSpPr>
        <p:spPr>
          <a:xfrm>
            <a:off x="3108059" y="2625970"/>
            <a:ext cx="2019702" cy="84154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8830" y="2920510"/>
            <a:ext cx="1178159" cy="252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Iteration 2</a:t>
            </a:r>
            <a:endParaRPr lang="en-US" sz="1400" dirty="0"/>
          </a:p>
        </p:txBody>
      </p:sp>
      <p:sp>
        <p:nvSpPr>
          <p:cNvPr id="13" name="It2 Planning"/>
          <p:cNvSpPr txBox="1"/>
          <p:nvPr/>
        </p:nvSpPr>
        <p:spPr>
          <a:xfrm>
            <a:off x="3680308" y="2516570"/>
            <a:ext cx="875204" cy="218801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Planning</a:t>
            </a:r>
            <a:endParaRPr lang="en-US" sz="1000" dirty="0"/>
          </a:p>
        </p:txBody>
      </p:sp>
      <p:sp>
        <p:nvSpPr>
          <p:cNvPr id="14" name="It2 Req Analysis"/>
          <p:cNvSpPr txBox="1"/>
          <p:nvPr/>
        </p:nvSpPr>
        <p:spPr>
          <a:xfrm>
            <a:off x="4640733" y="2807315"/>
            <a:ext cx="875204" cy="218801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Req Analysis</a:t>
            </a:r>
            <a:endParaRPr lang="en-US" sz="1000" dirty="0"/>
          </a:p>
        </p:txBody>
      </p:sp>
      <p:sp>
        <p:nvSpPr>
          <p:cNvPr id="15" name="It2 Designing"/>
          <p:cNvSpPr txBox="1"/>
          <p:nvPr/>
        </p:nvSpPr>
        <p:spPr>
          <a:xfrm>
            <a:off x="4273884" y="3277753"/>
            <a:ext cx="875204" cy="218801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Designing</a:t>
            </a:r>
            <a:endParaRPr lang="en-US" sz="1000" dirty="0"/>
          </a:p>
        </p:txBody>
      </p:sp>
      <p:sp>
        <p:nvSpPr>
          <p:cNvPr id="16" name="It2 Building"/>
          <p:cNvSpPr txBox="1"/>
          <p:nvPr/>
        </p:nvSpPr>
        <p:spPr>
          <a:xfrm>
            <a:off x="3086732" y="3277753"/>
            <a:ext cx="875204" cy="218801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Building</a:t>
            </a:r>
            <a:endParaRPr lang="en-US" sz="1000" dirty="0"/>
          </a:p>
        </p:txBody>
      </p:sp>
      <p:sp>
        <p:nvSpPr>
          <p:cNvPr id="17" name="It2 Testing"/>
          <p:cNvSpPr txBox="1"/>
          <p:nvPr/>
        </p:nvSpPr>
        <p:spPr>
          <a:xfrm>
            <a:off x="2719883" y="2807315"/>
            <a:ext cx="875204" cy="218801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Testing</a:t>
            </a:r>
            <a:endParaRPr lang="en-US" sz="1000" dirty="0"/>
          </a:p>
        </p:txBody>
      </p:sp>
      <p:sp>
        <p:nvSpPr>
          <p:cNvPr id="18" name="Iteration ring 3"/>
          <p:cNvSpPr/>
          <p:nvPr/>
        </p:nvSpPr>
        <p:spPr>
          <a:xfrm>
            <a:off x="5590610" y="3467513"/>
            <a:ext cx="2019702" cy="84154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11381" y="3762053"/>
            <a:ext cx="1178159" cy="252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Iteration 3</a:t>
            </a:r>
            <a:endParaRPr lang="en-US" sz="1400" dirty="0"/>
          </a:p>
        </p:txBody>
      </p:sp>
      <p:sp>
        <p:nvSpPr>
          <p:cNvPr id="20" name="It3 Planning"/>
          <p:cNvSpPr txBox="1"/>
          <p:nvPr/>
        </p:nvSpPr>
        <p:spPr>
          <a:xfrm>
            <a:off x="6162859" y="3358112"/>
            <a:ext cx="875204" cy="218801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Planning</a:t>
            </a:r>
            <a:endParaRPr lang="en-US" sz="1000" dirty="0"/>
          </a:p>
        </p:txBody>
      </p:sp>
      <p:sp>
        <p:nvSpPr>
          <p:cNvPr id="21" name="It3 Req Analysis"/>
          <p:cNvSpPr txBox="1"/>
          <p:nvPr/>
        </p:nvSpPr>
        <p:spPr>
          <a:xfrm>
            <a:off x="7123284" y="3648858"/>
            <a:ext cx="875204" cy="218801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Req Analysis</a:t>
            </a:r>
            <a:endParaRPr lang="en-US" sz="1000" dirty="0"/>
          </a:p>
        </p:txBody>
      </p:sp>
      <p:sp>
        <p:nvSpPr>
          <p:cNvPr id="22" name="It3 Designing"/>
          <p:cNvSpPr txBox="1"/>
          <p:nvPr/>
        </p:nvSpPr>
        <p:spPr>
          <a:xfrm>
            <a:off x="6756434" y="4119295"/>
            <a:ext cx="875204" cy="218801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Designing</a:t>
            </a:r>
            <a:endParaRPr lang="en-US" sz="1000" dirty="0"/>
          </a:p>
        </p:txBody>
      </p:sp>
      <p:sp>
        <p:nvSpPr>
          <p:cNvPr id="23" name="It3 Building"/>
          <p:cNvSpPr txBox="1"/>
          <p:nvPr/>
        </p:nvSpPr>
        <p:spPr>
          <a:xfrm>
            <a:off x="5569283" y="4119295"/>
            <a:ext cx="875204" cy="218801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Building</a:t>
            </a:r>
            <a:endParaRPr lang="en-US" sz="1000" dirty="0"/>
          </a:p>
        </p:txBody>
      </p:sp>
      <p:sp>
        <p:nvSpPr>
          <p:cNvPr id="24" name="It3 Testing"/>
          <p:cNvSpPr txBox="1"/>
          <p:nvPr/>
        </p:nvSpPr>
        <p:spPr>
          <a:xfrm>
            <a:off x="5202433" y="3648858"/>
            <a:ext cx="875204" cy="218801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Testing</a:t>
            </a:r>
            <a:endParaRPr lang="en-US" sz="1000" dirty="0"/>
          </a:p>
        </p:txBody>
      </p:sp>
      <p:sp>
        <p:nvSpPr>
          <p:cNvPr id="25" name="Time arrow It1-2"/>
          <p:cNvSpPr/>
          <p:nvPr/>
        </p:nvSpPr>
        <p:spPr>
          <a:xfrm>
            <a:off x="2224439" y="2710125"/>
            <a:ext cx="336617" cy="504925"/>
          </a:xfrm>
          <a:prstGeom prst="curvedRightArrow">
            <a:avLst/>
          </a:prstGeom>
          <a:solidFill>
            <a:schemeClr val="accent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256665" y="2836356"/>
            <a:ext cx="883619" cy="252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2-3 Months</a:t>
            </a:r>
            <a:endParaRPr lang="en-US" sz="1100" dirty="0"/>
          </a:p>
        </p:txBody>
      </p:sp>
      <p:sp>
        <p:nvSpPr>
          <p:cNvPr id="27" name="Time arrow It2-3"/>
          <p:cNvSpPr/>
          <p:nvPr/>
        </p:nvSpPr>
        <p:spPr>
          <a:xfrm>
            <a:off x="4706990" y="3551667"/>
            <a:ext cx="336617" cy="504925"/>
          </a:xfrm>
          <a:prstGeom prst="curvedRightArrow">
            <a:avLst/>
          </a:prstGeom>
          <a:solidFill>
            <a:schemeClr val="accent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739216" y="3677899"/>
            <a:ext cx="883619" cy="252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2-3 Months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736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Fig: Agile model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Example:  </a:t>
            </a:r>
            <a:r>
              <a:rPr lang="en-US" sz="1200" b="0" dirty="0">
                <a:solidFill>
                  <a:schemeClr val="tx1"/>
                </a:solidFill>
              </a:rPr>
              <a:t>A mobile game: release a small version, get player feedback, improve it in the next round.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Agile: Pros and Cons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Header"/>
          <p:cNvSpPr txBox="1"/>
          <p:nvPr/>
        </p:nvSpPr>
        <p:spPr>
          <a:xfrm>
            <a:off x="594360" y="1238396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Advantages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5424"/>
            <a:ext cx="3657600" cy="240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Quickly responds to changes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High customer collaboration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People and team interactions are given importance over process and tools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Promotes teamwork and cross training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66344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7" name="Header"/>
          <p:cNvSpPr txBox="1"/>
          <p:nvPr/>
        </p:nvSpPr>
        <p:spPr>
          <a:xfrm>
            <a:off x="4800600" y="1238396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accent4"/>
          </a:solidFill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Disadvantages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85424"/>
            <a:ext cx="3657600" cy="240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Costlier than other methods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With continuous interaction, the project may be delayed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Not suitable for static projects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More risk of sustainability, maintainability and extensibility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Example:  </a:t>
            </a:r>
            <a:r>
              <a:rPr lang="en-US" sz="1200" b="0" dirty="0">
                <a:solidFill>
                  <a:schemeClr val="tx1"/>
                </a:solidFill>
              </a:rPr>
              <a:t>Good: add new game features fast. Bad: costly, and constant feedback can delay the game.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Comparing the Models</a:t>
            </a:r>
            <a:endParaRPr lang="en-US" sz="3400" dirty="0"/>
          </a:p>
        </p:txBody>
      </p:sp>
      <p:graphicFrame>
        <p:nvGraphicFramePr>
          <p:cNvPr id="33" name="Model comparis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743200"/>
                <a:gridCol w="210312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Model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Key idea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Best for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Watch out for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Waterfall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Sequential stages, no overlap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Static projects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Costly if requirements change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Prototype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Build and refine until the user is satisfied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Dynamic systems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Time and cost can grow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Spiral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Waterfall plus prototype, with risk management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Large, complex projects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Needs technical resources; costlier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Agile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Short iterations, close customer collaboration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Changing requests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Costlier; may delay the project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Example:  </a:t>
            </a:r>
            <a:r>
              <a:rPr lang="en-US" sz="1200" b="0" dirty="0">
                <a:solidFill>
                  <a:schemeClr val="tx1"/>
                </a:solidFill>
              </a:rPr>
              <a:t>Choose waterfall when rules are fixed. Choose agile when the client keeps changing requests.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Example: A Software Project</a:t>
            </a:r>
            <a:endParaRPr lang="en-US" sz="3400" dirty="0"/>
          </a:p>
        </p:txBody>
      </p:sp>
      <p:sp>
        <p:nvSpPr>
          <p:cNvPr id="11" name="Banner 11"/>
          <p:cNvSpPr txBox="1"/>
          <p:nvPr/>
        </p:nvSpPr>
        <p:spPr>
          <a:xfrm>
            <a:off x="457200" y="1005840"/>
            <a:ext cx="8229600" cy="41148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>
            <a:noFill/>
          </a:ln>
        </p:spPr>
        <p:txBody>
          <a:bodyPr wrap="square" lIns="137160" tIns="137160" rIns="137160" bIns="13716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Our running example: a library app that lets students borrow books from their phone.</a:t>
            </a:r>
            <a:endParaRPr lang="en-US" sz="1400" dirty="0"/>
          </a:p>
        </p:txBody>
      </p:sp>
      <p:sp>
        <p:nvSpPr>
          <p:cNvPr id="12" name="Card 12"/>
          <p:cNvSpPr/>
          <p:nvPr/>
        </p:nvSpPr>
        <p:spPr>
          <a:xfrm>
            <a:off x="457200" y="1554480"/>
            <a:ext cx="4023360" cy="12344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3" name="Head 13"/>
          <p:cNvSpPr txBox="1"/>
          <p:nvPr/>
        </p:nvSpPr>
        <p:spPr>
          <a:xfrm>
            <a:off x="594360" y="1673352"/>
            <a:ext cx="374904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Any project</a:t>
            </a:r>
            <a:endParaRPr lang="en-US" sz="1500" dirty="0"/>
          </a:p>
        </p:txBody>
      </p:sp>
      <p:sp>
        <p:nvSpPr>
          <p:cNvPr id="14" name="Body 14"/>
          <p:cNvSpPr txBox="1"/>
          <p:nvPr/>
        </p:nvSpPr>
        <p:spPr>
          <a:xfrm>
            <a:off x="640080" y="2019072"/>
            <a:ext cx="3657600" cy="6784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0" dirty="0">
                <a:solidFill>
                  <a:schemeClr val="tx1"/>
                </a:solidFill>
              </a:rPr>
              <a:t>Organizing a school sports day: plan, buy items, run the events, clean up. It has a goal and a deadline.</a:t>
            </a:r>
            <a:endParaRPr lang="en-US" sz="1400" dirty="0"/>
          </a:p>
        </p:txBody>
      </p:sp>
      <p:sp>
        <p:nvSpPr>
          <p:cNvPr id="15" name="Card 15"/>
          <p:cNvSpPr/>
          <p:nvPr/>
        </p:nvSpPr>
        <p:spPr>
          <a:xfrm>
            <a:off x="4663440" y="1554480"/>
            <a:ext cx="4023360" cy="12344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6" name="Head 16"/>
          <p:cNvSpPr txBox="1"/>
          <p:nvPr/>
        </p:nvSpPr>
        <p:spPr>
          <a:xfrm>
            <a:off x="4800600" y="1673352"/>
            <a:ext cx="374904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Software project</a:t>
            </a:r>
            <a:endParaRPr lang="en-US" sz="1500" dirty="0"/>
          </a:p>
        </p:txBody>
      </p:sp>
      <p:sp>
        <p:nvSpPr>
          <p:cNvPr id="17" name="Body 17"/>
          <p:cNvSpPr txBox="1"/>
          <p:nvPr/>
        </p:nvSpPr>
        <p:spPr>
          <a:xfrm>
            <a:off x="4846320" y="2019072"/>
            <a:ext cx="3657600" cy="6784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0" dirty="0">
                <a:solidFill>
                  <a:schemeClr val="tx1"/>
                </a:solidFill>
              </a:rPr>
              <a:t>Building the library app: the goal is easy borrowing, with a team and a deadline of 4 months.</a:t>
            </a:r>
            <a:endParaRPr lang="en-US" sz="1400" dirty="0"/>
          </a:p>
        </p:txBody>
      </p:sp>
      <p:sp>
        <p:nvSpPr>
          <p:cNvPr id="18" name="Card 18"/>
          <p:cNvSpPr/>
          <p:nvPr/>
        </p:nvSpPr>
        <p:spPr>
          <a:xfrm>
            <a:off x="457200" y="2926080"/>
            <a:ext cx="1965960" cy="173736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9" name="Badge 19"/>
          <p:cNvSpPr txBox="1"/>
          <p:nvPr/>
        </p:nvSpPr>
        <p:spPr>
          <a:xfrm>
            <a:off x="594360" y="30449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Head 20"/>
          <p:cNvSpPr txBox="1"/>
          <p:nvPr/>
        </p:nvSpPr>
        <p:spPr>
          <a:xfrm>
            <a:off x="594360" y="3438144"/>
            <a:ext cx="169164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Requirement gathering</a:t>
            </a:r>
            <a:endParaRPr lang="en-US" sz="1400" dirty="0"/>
          </a:p>
        </p:txBody>
      </p:sp>
      <p:sp>
        <p:nvSpPr>
          <p:cNvPr id="21" name="Body 21"/>
          <p:cNvSpPr txBox="1"/>
          <p:nvPr/>
        </p:nvSpPr>
        <p:spPr>
          <a:xfrm>
            <a:off x="640080" y="3903864"/>
            <a:ext cx="1600200" cy="6681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300" b="0" dirty="0">
                <a:solidFill>
                  <a:schemeClr val="tx1"/>
                </a:solidFill>
              </a:rPr>
              <a:t>Ask the librarian what the app must do.</a:t>
            </a:r>
            <a:endParaRPr lang="en-US" sz="1300" dirty="0"/>
          </a:p>
        </p:txBody>
      </p:sp>
      <p:sp>
        <p:nvSpPr>
          <p:cNvPr id="22" name="Card 22"/>
          <p:cNvSpPr/>
          <p:nvPr/>
        </p:nvSpPr>
        <p:spPr>
          <a:xfrm>
            <a:off x="2545080" y="2926080"/>
            <a:ext cx="1965960" cy="173736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3" name="Badge 23"/>
          <p:cNvSpPr txBox="1"/>
          <p:nvPr/>
        </p:nvSpPr>
        <p:spPr>
          <a:xfrm>
            <a:off x="2682240" y="30449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4" name="Head 24"/>
          <p:cNvSpPr txBox="1"/>
          <p:nvPr/>
        </p:nvSpPr>
        <p:spPr>
          <a:xfrm>
            <a:off x="2682240" y="3438144"/>
            <a:ext cx="169164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Development</a:t>
            </a:r>
            <a:endParaRPr lang="en-US" sz="1400" dirty="0"/>
          </a:p>
        </p:txBody>
      </p:sp>
      <p:sp>
        <p:nvSpPr>
          <p:cNvPr id="25" name="Body 25"/>
          <p:cNvSpPr txBox="1"/>
          <p:nvPr/>
        </p:nvSpPr>
        <p:spPr>
          <a:xfrm>
            <a:off x="2727960" y="3903864"/>
            <a:ext cx="1600200" cy="6681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300" b="0" dirty="0">
                <a:solidFill>
                  <a:schemeClr val="tx1"/>
                </a:solidFill>
              </a:rPr>
              <a:t>Programmers write the code for the app.</a:t>
            </a:r>
            <a:endParaRPr lang="en-US" sz="1300" dirty="0"/>
          </a:p>
        </p:txBody>
      </p:sp>
      <p:sp>
        <p:nvSpPr>
          <p:cNvPr id="26" name="Card 26"/>
          <p:cNvSpPr/>
          <p:nvPr/>
        </p:nvSpPr>
        <p:spPr>
          <a:xfrm>
            <a:off x="4632960" y="2926080"/>
            <a:ext cx="1965960" cy="173736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7" name="Badge 27"/>
          <p:cNvSpPr txBox="1"/>
          <p:nvPr/>
        </p:nvSpPr>
        <p:spPr>
          <a:xfrm>
            <a:off x="4770120" y="30449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8" name="Head 28"/>
          <p:cNvSpPr txBox="1"/>
          <p:nvPr/>
        </p:nvSpPr>
        <p:spPr>
          <a:xfrm>
            <a:off x="4770120" y="3438144"/>
            <a:ext cx="169164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Testing</a:t>
            </a:r>
            <a:endParaRPr lang="en-US" sz="1400" dirty="0"/>
          </a:p>
        </p:txBody>
      </p:sp>
      <p:sp>
        <p:nvSpPr>
          <p:cNvPr id="29" name="Body 29"/>
          <p:cNvSpPr txBox="1"/>
          <p:nvPr/>
        </p:nvSpPr>
        <p:spPr>
          <a:xfrm>
            <a:off x="4815840" y="3903864"/>
            <a:ext cx="1600200" cy="6681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300" b="0" dirty="0">
                <a:solidFill>
                  <a:schemeClr val="tx1"/>
                </a:solidFill>
              </a:rPr>
              <a:t>Try borrowing a book and look for bugs.</a:t>
            </a:r>
            <a:endParaRPr lang="en-US" sz="1300" dirty="0"/>
          </a:p>
        </p:txBody>
      </p:sp>
      <p:sp>
        <p:nvSpPr>
          <p:cNvPr id="30" name="Card 30"/>
          <p:cNvSpPr/>
          <p:nvPr/>
        </p:nvSpPr>
        <p:spPr>
          <a:xfrm>
            <a:off x="6720840" y="2926080"/>
            <a:ext cx="1965960" cy="173736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31" name="Badge 31"/>
          <p:cNvSpPr txBox="1"/>
          <p:nvPr/>
        </p:nvSpPr>
        <p:spPr>
          <a:xfrm>
            <a:off x="6858000" y="30449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2" name="Head 32"/>
          <p:cNvSpPr txBox="1"/>
          <p:nvPr/>
        </p:nvSpPr>
        <p:spPr>
          <a:xfrm>
            <a:off x="6858000" y="3438144"/>
            <a:ext cx="169164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Maintenance</a:t>
            </a:r>
            <a:endParaRPr lang="en-US" sz="1400" dirty="0"/>
          </a:p>
        </p:txBody>
      </p:sp>
      <p:sp>
        <p:nvSpPr>
          <p:cNvPr id="33" name="Body 33"/>
          <p:cNvSpPr txBox="1"/>
          <p:nvPr/>
        </p:nvSpPr>
        <p:spPr>
          <a:xfrm>
            <a:off x="6903720" y="3903864"/>
            <a:ext cx="1600200" cy="6681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300" b="0" dirty="0">
                <a:solidFill>
                  <a:schemeClr val="tx1"/>
                </a:solidFill>
              </a:rPr>
              <a:t>Fix bugs and add new features later.</a:t>
            </a:r>
            <a:endParaRPr lang="en-US" sz="1300" dirty="0"/>
          </a:p>
        </p:txBody>
      </p:sp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Example: Why We Build Software</a:t>
            </a:r>
            <a:endParaRPr lang="en-US" sz="3400" dirty="0"/>
          </a:p>
        </p:txBody>
      </p:sp>
      <p:sp>
        <p:nvSpPr>
          <p:cNvPr id="11" name="Banner 11"/>
          <p:cNvSpPr txBox="1"/>
          <p:nvPr/>
        </p:nvSpPr>
        <p:spPr>
          <a:xfrm>
            <a:off x="457200" y="1005840"/>
            <a:ext cx="8229600" cy="41148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>
            <a:noFill/>
          </a:ln>
        </p:spPr>
        <p:txBody>
          <a:bodyPr wrap="square" lIns="137160" tIns="137160" rIns="137160" bIns="13716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Software is made for three kinds of needs. Here is one easy example of each.</a:t>
            </a:r>
            <a:endParaRPr lang="en-US" sz="1400" dirty="0"/>
          </a:p>
        </p:txBody>
      </p:sp>
      <p:sp>
        <p:nvSpPr>
          <p:cNvPr id="12" name="Card 12"/>
          <p:cNvSpPr/>
          <p:nvPr/>
        </p:nvSpPr>
        <p:spPr>
          <a:xfrm>
            <a:off x="457200" y="1554480"/>
            <a:ext cx="2621280" cy="219456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3" name="Badge 13"/>
          <p:cNvSpPr txBox="1"/>
          <p:nvPr/>
        </p:nvSpPr>
        <p:spPr>
          <a:xfrm>
            <a:off x="594360" y="16733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4" name="Head 14"/>
          <p:cNvSpPr txBox="1"/>
          <p:nvPr/>
        </p:nvSpPr>
        <p:spPr>
          <a:xfrm>
            <a:off x="594360" y="2066544"/>
            <a:ext cx="234696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Real-world problem</a:t>
            </a:r>
            <a:endParaRPr lang="en-US" sz="1600" dirty="0"/>
          </a:p>
        </p:txBody>
      </p:sp>
      <p:sp>
        <p:nvSpPr>
          <p:cNvPr id="15" name="Body 15"/>
          <p:cNvSpPr txBox="1"/>
          <p:nvPr/>
        </p:nvSpPr>
        <p:spPr>
          <a:xfrm>
            <a:off x="640080" y="2432264"/>
            <a:ext cx="2255520" cy="1225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0" dirty="0">
                <a:solidFill>
                  <a:schemeClr val="tx1"/>
                </a:solidFill>
              </a:rPr>
              <a:t>Google Maps solves the problem of finding the way and avoiding traffic.</a:t>
            </a:r>
            <a:endParaRPr lang="en-US" sz="1400" dirty="0"/>
          </a:p>
        </p:txBody>
      </p:sp>
      <p:sp>
        <p:nvSpPr>
          <p:cNvPr id="16" name="Card 16"/>
          <p:cNvSpPr/>
          <p:nvPr/>
        </p:nvSpPr>
        <p:spPr>
          <a:xfrm>
            <a:off x="3261360" y="1554480"/>
            <a:ext cx="2621280" cy="219456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7" name="Badge 17"/>
          <p:cNvSpPr txBox="1"/>
          <p:nvPr/>
        </p:nvSpPr>
        <p:spPr>
          <a:xfrm>
            <a:off x="3398520" y="16733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8" name="Head 18"/>
          <p:cNvSpPr txBox="1"/>
          <p:nvPr/>
        </p:nvSpPr>
        <p:spPr>
          <a:xfrm>
            <a:off x="3398520" y="2066544"/>
            <a:ext cx="234696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Personal use</a:t>
            </a:r>
            <a:endParaRPr lang="en-US" sz="1600" dirty="0"/>
          </a:p>
        </p:txBody>
      </p:sp>
      <p:sp>
        <p:nvSpPr>
          <p:cNvPr id="19" name="Body 19"/>
          <p:cNvSpPr txBox="1"/>
          <p:nvPr/>
        </p:nvSpPr>
        <p:spPr>
          <a:xfrm>
            <a:off x="3444240" y="2432264"/>
            <a:ext cx="2255520" cy="1225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0" dirty="0">
                <a:solidFill>
                  <a:schemeClr val="tx1"/>
                </a:solidFill>
              </a:rPr>
              <a:t>A student builds a small app to track their own pocket money and homework.</a:t>
            </a:r>
            <a:endParaRPr lang="en-US" sz="1400" dirty="0"/>
          </a:p>
        </p:txBody>
      </p:sp>
      <p:sp>
        <p:nvSpPr>
          <p:cNvPr id="20" name="Card 20"/>
          <p:cNvSpPr/>
          <p:nvPr/>
        </p:nvSpPr>
        <p:spPr>
          <a:xfrm>
            <a:off x="6065520" y="1554480"/>
            <a:ext cx="2621280" cy="219456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1" name="Badge 21"/>
          <p:cNvSpPr txBox="1"/>
          <p:nvPr/>
        </p:nvSpPr>
        <p:spPr>
          <a:xfrm>
            <a:off x="6202680" y="16733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Head 22"/>
          <p:cNvSpPr txBox="1"/>
          <p:nvPr/>
        </p:nvSpPr>
        <p:spPr>
          <a:xfrm>
            <a:off x="6202680" y="2066544"/>
            <a:ext cx="234696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Client or business</a:t>
            </a:r>
            <a:endParaRPr lang="en-US" sz="1600" dirty="0"/>
          </a:p>
        </p:txBody>
      </p:sp>
      <p:sp>
        <p:nvSpPr>
          <p:cNvPr id="23" name="Body 23"/>
          <p:cNvSpPr txBox="1"/>
          <p:nvPr/>
        </p:nvSpPr>
        <p:spPr>
          <a:xfrm>
            <a:off x="6248400" y="2432264"/>
            <a:ext cx="2255520" cy="1225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0" dirty="0">
                <a:solidFill>
                  <a:schemeClr val="tx1"/>
                </a:solidFill>
              </a:rPr>
              <a:t>A bank orders a mobile banking app so customers can send money without visiting the branch.</a:t>
            </a:r>
            <a:endParaRPr lang="en-US" sz="1400" dirty="0"/>
          </a:p>
        </p:txBody>
      </p:sp>
      <p:sp>
        <p:nvSpPr>
          <p:cNvPr id="24" name="Callout 24"/>
          <p:cNvSpPr txBox="1"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91440" tIns="91440" rIns="91440" bIns="9144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Remember: good software is finished on time and within the budget.</a:t>
            </a:r>
            <a:endParaRPr lang="en-US" sz="1400" dirty="0"/>
          </a:p>
        </p:txBody>
      </p:sp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Example: SDLC Is Like Building a House</a:t>
            </a:r>
            <a:endParaRPr lang="en-US" sz="3400" dirty="0"/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457200" y="1097280"/>
          <a:ext cx="8229600" cy="329184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30175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Phase of SDLC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Building a house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Library app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1  System study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Do we need a house here?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Do students need a library app?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2  System analysis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List rooms the family needs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List needs of librarian and students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3  System design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Draw the house plan (blueprint)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Draw the screens and database plan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4  System development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Masons build the house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Programmers write the code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5  System testing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Check walls, wiring and pipes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Test borrow, return and search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6  Implementation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The family moves in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Install the app in the school library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7  Maintenance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Repair leaks, paint again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Fix bugs, add e-books later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Example: Feasibility Study</a:t>
            </a:r>
            <a:endParaRPr lang="en-US" sz="3400" dirty="0"/>
          </a:p>
        </p:txBody>
      </p:sp>
      <p:sp>
        <p:nvSpPr>
          <p:cNvPr id="11" name="Banner 11"/>
          <p:cNvSpPr txBox="1"/>
          <p:nvPr/>
        </p:nvSpPr>
        <p:spPr>
          <a:xfrm>
            <a:off x="457200" y="1005840"/>
            <a:ext cx="8229600" cy="41148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>
            <a:noFill/>
          </a:ln>
        </p:spPr>
        <p:txBody>
          <a:bodyPr wrap="square" lIns="137160" tIns="137160" rIns="137160" bIns="13716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Should the school build the library app? Let us check all 5 feasibilities.</a:t>
            </a:r>
            <a:endParaRPr lang="en-US" sz="1400" dirty="0"/>
          </a:p>
        </p:txBody>
      </p:sp>
      <p:sp>
        <p:nvSpPr>
          <p:cNvPr id="12" name="Card 12"/>
          <p:cNvSpPr/>
          <p:nvPr/>
        </p:nvSpPr>
        <p:spPr>
          <a:xfrm>
            <a:off x="457200" y="1554480"/>
            <a:ext cx="2621280" cy="14859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3" name="Badge 13"/>
          <p:cNvSpPr txBox="1"/>
          <p:nvPr/>
        </p:nvSpPr>
        <p:spPr>
          <a:xfrm>
            <a:off x="594360" y="16733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4" name="Head 14"/>
          <p:cNvSpPr txBox="1"/>
          <p:nvPr/>
        </p:nvSpPr>
        <p:spPr>
          <a:xfrm>
            <a:off x="1097280" y="1673352"/>
            <a:ext cx="18440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Economical</a:t>
            </a:r>
            <a:endParaRPr lang="en-US" sz="1500" dirty="0"/>
          </a:p>
        </p:txBody>
      </p:sp>
      <p:sp>
        <p:nvSpPr>
          <p:cNvPr id="15" name="Body 15"/>
          <p:cNvSpPr txBox="1"/>
          <p:nvPr/>
        </p:nvSpPr>
        <p:spPr>
          <a:xfrm>
            <a:off x="640080" y="2148840"/>
            <a:ext cx="225552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300" b="0" dirty="0">
                <a:solidFill>
                  <a:schemeClr val="tx1"/>
                </a:solidFill>
              </a:rPr>
              <a:t>Can the school pay for it? The budget is enough, and paper cards cost more.</a:t>
            </a:r>
            <a:endParaRPr lang="en-US" sz="1300" dirty="0"/>
          </a:p>
        </p:txBody>
      </p:sp>
      <p:sp>
        <p:nvSpPr>
          <p:cNvPr id="16" name="Card 16"/>
          <p:cNvSpPr/>
          <p:nvPr/>
        </p:nvSpPr>
        <p:spPr>
          <a:xfrm>
            <a:off x="3261360" y="1554480"/>
            <a:ext cx="2621280" cy="14859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7" name="Badge 17"/>
          <p:cNvSpPr txBox="1"/>
          <p:nvPr/>
        </p:nvSpPr>
        <p:spPr>
          <a:xfrm>
            <a:off x="3398520" y="16733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8" name="Head 18"/>
          <p:cNvSpPr txBox="1"/>
          <p:nvPr/>
        </p:nvSpPr>
        <p:spPr>
          <a:xfrm>
            <a:off x="3901440" y="1673352"/>
            <a:ext cx="18440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Technical</a:t>
            </a:r>
            <a:endParaRPr lang="en-US" sz="1500" dirty="0"/>
          </a:p>
        </p:txBody>
      </p:sp>
      <p:sp>
        <p:nvSpPr>
          <p:cNvPr id="19" name="Body 19"/>
          <p:cNvSpPr txBox="1"/>
          <p:nvPr/>
        </p:nvSpPr>
        <p:spPr>
          <a:xfrm>
            <a:off x="3444240" y="2148840"/>
            <a:ext cx="225552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300" b="0" dirty="0">
                <a:solidFill>
                  <a:schemeClr val="tx1"/>
                </a:solidFill>
              </a:rPr>
              <a:t>Do we have computers, internet and programmers? Yes, the lab is ready.</a:t>
            </a:r>
            <a:endParaRPr lang="en-US" sz="1300" dirty="0"/>
          </a:p>
        </p:txBody>
      </p:sp>
      <p:sp>
        <p:nvSpPr>
          <p:cNvPr id="20" name="Card 20"/>
          <p:cNvSpPr/>
          <p:nvPr/>
        </p:nvSpPr>
        <p:spPr>
          <a:xfrm>
            <a:off x="6065520" y="1554480"/>
            <a:ext cx="2621280" cy="14859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1" name="Badge 21"/>
          <p:cNvSpPr txBox="1"/>
          <p:nvPr/>
        </p:nvSpPr>
        <p:spPr>
          <a:xfrm>
            <a:off x="6202680" y="16733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Head 22"/>
          <p:cNvSpPr txBox="1"/>
          <p:nvPr/>
        </p:nvSpPr>
        <p:spPr>
          <a:xfrm>
            <a:off x="6705600" y="1673352"/>
            <a:ext cx="18440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Operational</a:t>
            </a:r>
            <a:endParaRPr lang="en-US" sz="1500" dirty="0"/>
          </a:p>
        </p:txBody>
      </p:sp>
      <p:sp>
        <p:nvSpPr>
          <p:cNvPr id="23" name="Body 23"/>
          <p:cNvSpPr txBox="1"/>
          <p:nvPr/>
        </p:nvSpPr>
        <p:spPr>
          <a:xfrm>
            <a:off x="6248400" y="2148840"/>
            <a:ext cx="225552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300" b="0" dirty="0">
                <a:solidFill>
                  <a:schemeClr val="tx1"/>
                </a:solidFill>
              </a:rPr>
              <a:t>Will the librarian and students use it? Yes, after a short training.</a:t>
            </a:r>
            <a:endParaRPr lang="en-US" sz="1300" dirty="0"/>
          </a:p>
        </p:txBody>
      </p:sp>
      <p:sp>
        <p:nvSpPr>
          <p:cNvPr id="24" name="Card 24"/>
          <p:cNvSpPr/>
          <p:nvPr/>
        </p:nvSpPr>
        <p:spPr>
          <a:xfrm>
            <a:off x="457200" y="3177540"/>
            <a:ext cx="2621280" cy="14859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5" name="Badge 25"/>
          <p:cNvSpPr txBox="1"/>
          <p:nvPr/>
        </p:nvSpPr>
        <p:spPr>
          <a:xfrm>
            <a:off x="594360" y="329641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Head 26"/>
          <p:cNvSpPr txBox="1"/>
          <p:nvPr/>
        </p:nvSpPr>
        <p:spPr>
          <a:xfrm>
            <a:off x="1097280" y="3296412"/>
            <a:ext cx="18440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Time / Schedule</a:t>
            </a:r>
            <a:endParaRPr lang="en-US" sz="1500" dirty="0"/>
          </a:p>
        </p:txBody>
      </p:sp>
      <p:sp>
        <p:nvSpPr>
          <p:cNvPr id="27" name="Body 27"/>
          <p:cNvSpPr txBox="1"/>
          <p:nvPr/>
        </p:nvSpPr>
        <p:spPr>
          <a:xfrm>
            <a:off x="640080" y="3771900"/>
            <a:ext cx="225552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300" b="0" dirty="0">
                <a:solidFill>
                  <a:schemeClr val="tx1"/>
                </a:solidFill>
              </a:rPr>
              <a:t>Can it be ready before the new session? Yes, 4 months is enough.</a:t>
            </a:r>
            <a:endParaRPr lang="en-US" sz="1300" dirty="0"/>
          </a:p>
        </p:txBody>
      </p:sp>
      <p:sp>
        <p:nvSpPr>
          <p:cNvPr id="28" name="Card 28"/>
          <p:cNvSpPr/>
          <p:nvPr/>
        </p:nvSpPr>
        <p:spPr>
          <a:xfrm>
            <a:off x="3261360" y="3177540"/>
            <a:ext cx="2621280" cy="14859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9" name="Badge 29"/>
          <p:cNvSpPr txBox="1"/>
          <p:nvPr/>
        </p:nvSpPr>
        <p:spPr>
          <a:xfrm>
            <a:off x="3398520" y="329641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0" name="Head 30"/>
          <p:cNvSpPr txBox="1"/>
          <p:nvPr/>
        </p:nvSpPr>
        <p:spPr>
          <a:xfrm>
            <a:off x="3901440" y="3296412"/>
            <a:ext cx="18440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Legal</a:t>
            </a:r>
            <a:endParaRPr lang="en-US" sz="1500" dirty="0"/>
          </a:p>
        </p:txBody>
      </p:sp>
      <p:sp>
        <p:nvSpPr>
          <p:cNvPr id="31" name="Body 31"/>
          <p:cNvSpPr txBox="1"/>
          <p:nvPr/>
        </p:nvSpPr>
        <p:spPr>
          <a:xfrm>
            <a:off x="3444240" y="3771900"/>
            <a:ext cx="225552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300" b="0" dirty="0">
                <a:solidFill>
                  <a:schemeClr val="tx1"/>
                </a:solidFill>
              </a:rPr>
              <a:t>Do we follow copyright and privacy rules? Yes, we use only licensed e-books.</a:t>
            </a:r>
            <a:endParaRPr lang="en-US" sz="1300" dirty="0"/>
          </a:p>
        </p:txBody>
      </p:sp>
      <p:sp>
        <p:nvSpPr>
          <p:cNvPr id="32" name="Callout 32"/>
          <p:cNvSpPr txBox="1"/>
          <p:nvPr/>
        </p:nvSpPr>
        <p:spPr>
          <a:xfrm>
            <a:off x="6065520" y="3177540"/>
            <a:ext cx="2621280" cy="1485900"/>
          </a:xfrm>
          <a:prstGeom prst="roundRect">
            <a:avLst>
              <a:gd name="adj" fmla="val 4324"/>
            </a:avLst>
          </a:prstGeom>
          <a:solidFill>
            <a:schemeClr val="tx2"/>
          </a:solidFill>
          <a:ln>
            <a:noFill/>
          </a:ln>
        </p:spPr>
        <p:txBody>
          <a:bodyPr wrap="square" lIns="137160" tIns="137160" rIns="137160" bIns="13716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All five answers are YES, so we go ahead and design the system.</a:t>
            </a:r>
            <a:endParaRPr lang="en-US" sz="1400" dirty="0"/>
          </a:p>
        </p:txBody>
      </p:sp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Example: Testing the App</a:t>
            </a:r>
            <a:endParaRPr lang="en-US" sz="3400" dirty="0"/>
          </a:p>
        </p:txBody>
      </p:sp>
      <p:sp>
        <p:nvSpPr>
          <p:cNvPr id="11" name="Banner 11"/>
          <p:cNvSpPr txBox="1"/>
          <p:nvPr/>
        </p:nvSpPr>
        <p:spPr>
          <a:xfrm>
            <a:off x="457200" y="1005840"/>
            <a:ext cx="8229600" cy="41148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>
            <a:noFill/>
          </a:ln>
        </p:spPr>
        <p:txBody>
          <a:bodyPr wrap="square" lIns="137160" tIns="137160" rIns="137160" bIns="13716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Before students use the library app, we test it in 3 phases and 2 ways.</a:t>
            </a:r>
            <a:endParaRPr lang="en-US" sz="1400" dirty="0"/>
          </a:p>
        </p:txBody>
      </p:sp>
      <p:sp>
        <p:nvSpPr>
          <p:cNvPr id="12" name="Card 12"/>
          <p:cNvSpPr/>
          <p:nvPr/>
        </p:nvSpPr>
        <p:spPr>
          <a:xfrm>
            <a:off x="457200" y="1554480"/>
            <a:ext cx="2621280" cy="164592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3" name="Badge 13"/>
          <p:cNvSpPr txBox="1"/>
          <p:nvPr/>
        </p:nvSpPr>
        <p:spPr>
          <a:xfrm>
            <a:off x="594360" y="16733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4" name="Head 14"/>
          <p:cNvSpPr txBox="1"/>
          <p:nvPr/>
        </p:nvSpPr>
        <p:spPr>
          <a:xfrm>
            <a:off x="1097280" y="1673352"/>
            <a:ext cx="18440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Unit testing</a:t>
            </a:r>
            <a:endParaRPr lang="en-US" sz="1400" dirty="0"/>
          </a:p>
        </p:txBody>
      </p:sp>
      <p:sp>
        <p:nvSpPr>
          <p:cNvPr id="15" name="Body 15"/>
          <p:cNvSpPr txBox="1"/>
          <p:nvPr/>
        </p:nvSpPr>
        <p:spPr>
          <a:xfrm>
            <a:off x="640080" y="2148840"/>
            <a:ext cx="225552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300" b="0" dirty="0">
                <a:solidFill>
                  <a:schemeClr val="tx1"/>
                </a:solidFill>
              </a:rPr>
              <a:t>Test one small part alone. Example: does the fine calculator give the right fine?</a:t>
            </a:r>
            <a:endParaRPr lang="en-US" sz="1300" dirty="0"/>
          </a:p>
        </p:txBody>
      </p:sp>
      <p:sp>
        <p:nvSpPr>
          <p:cNvPr id="16" name="Card 16"/>
          <p:cNvSpPr/>
          <p:nvPr/>
        </p:nvSpPr>
        <p:spPr>
          <a:xfrm>
            <a:off x="3261360" y="1554480"/>
            <a:ext cx="2621280" cy="164592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7" name="Badge 17"/>
          <p:cNvSpPr txBox="1"/>
          <p:nvPr/>
        </p:nvSpPr>
        <p:spPr>
          <a:xfrm>
            <a:off x="3398520" y="16733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8" name="Head 18"/>
          <p:cNvSpPr txBox="1"/>
          <p:nvPr/>
        </p:nvSpPr>
        <p:spPr>
          <a:xfrm>
            <a:off x="3901440" y="1673352"/>
            <a:ext cx="18440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Integration testing</a:t>
            </a:r>
            <a:endParaRPr lang="en-US" sz="1400" dirty="0"/>
          </a:p>
        </p:txBody>
      </p:sp>
      <p:sp>
        <p:nvSpPr>
          <p:cNvPr id="19" name="Body 19"/>
          <p:cNvSpPr txBox="1"/>
          <p:nvPr/>
        </p:nvSpPr>
        <p:spPr>
          <a:xfrm>
            <a:off x="3444240" y="2148840"/>
            <a:ext cx="225552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300" b="0" dirty="0">
                <a:solidFill>
                  <a:schemeClr val="tx1"/>
                </a:solidFill>
              </a:rPr>
              <a:t>Test parts together. Example: after login, does the borrow button open the book list?</a:t>
            </a:r>
            <a:endParaRPr lang="en-US" sz="1300" dirty="0"/>
          </a:p>
        </p:txBody>
      </p:sp>
      <p:sp>
        <p:nvSpPr>
          <p:cNvPr id="20" name="Card 20"/>
          <p:cNvSpPr/>
          <p:nvPr/>
        </p:nvSpPr>
        <p:spPr>
          <a:xfrm>
            <a:off x="6065520" y="1554480"/>
            <a:ext cx="2621280" cy="164592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1" name="Badge 21"/>
          <p:cNvSpPr txBox="1"/>
          <p:nvPr/>
        </p:nvSpPr>
        <p:spPr>
          <a:xfrm>
            <a:off x="6202680" y="16733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Head 22"/>
          <p:cNvSpPr txBox="1"/>
          <p:nvPr/>
        </p:nvSpPr>
        <p:spPr>
          <a:xfrm>
            <a:off x="6705600" y="1673352"/>
            <a:ext cx="18440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System testing</a:t>
            </a:r>
            <a:endParaRPr lang="en-US" sz="1400" dirty="0"/>
          </a:p>
        </p:txBody>
      </p:sp>
      <p:sp>
        <p:nvSpPr>
          <p:cNvPr id="23" name="Body 23"/>
          <p:cNvSpPr txBox="1"/>
          <p:nvPr/>
        </p:nvSpPr>
        <p:spPr>
          <a:xfrm>
            <a:off x="6248400" y="2148840"/>
            <a:ext cx="225552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300" b="0" dirty="0">
                <a:solidFill>
                  <a:schemeClr val="tx1"/>
                </a:solidFill>
              </a:rPr>
              <a:t>Test the whole app like a real user: login, search, borrow, return.</a:t>
            </a:r>
            <a:endParaRPr lang="en-US" sz="1300" dirty="0"/>
          </a:p>
        </p:txBody>
      </p:sp>
      <p:sp>
        <p:nvSpPr>
          <p:cNvPr id="24" name="Card 24"/>
          <p:cNvSpPr/>
          <p:nvPr/>
        </p:nvSpPr>
        <p:spPr>
          <a:xfrm>
            <a:off x="457200" y="3337560"/>
            <a:ext cx="4023360" cy="132588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5" name="Badge 25"/>
          <p:cNvSpPr txBox="1"/>
          <p:nvPr/>
        </p:nvSpPr>
        <p:spPr>
          <a:xfrm>
            <a:off x="594360" y="345643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W</a:t>
            </a:r>
            <a:endParaRPr lang="en-US" sz="1300" dirty="0"/>
          </a:p>
        </p:txBody>
      </p:sp>
      <p:sp>
        <p:nvSpPr>
          <p:cNvPr id="26" name="Head 26"/>
          <p:cNvSpPr txBox="1"/>
          <p:nvPr/>
        </p:nvSpPr>
        <p:spPr>
          <a:xfrm>
            <a:off x="1097280" y="3456432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White-box testing</a:t>
            </a:r>
            <a:endParaRPr lang="en-US" sz="1500" dirty="0"/>
          </a:p>
        </p:txBody>
      </p:sp>
      <p:sp>
        <p:nvSpPr>
          <p:cNvPr id="27" name="Body 27"/>
          <p:cNvSpPr txBox="1"/>
          <p:nvPr/>
        </p:nvSpPr>
        <p:spPr>
          <a:xfrm>
            <a:off x="640080" y="393192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300" b="0" dirty="0">
                <a:solidFill>
                  <a:schemeClr val="tx1"/>
                </a:solidFill>
              </a:rPr>
              <a:t>The tester can see the code and checks inside it. Example: does every if-else in the fine code run correctly?</a:t>
            </a:r>
            <a:endParaRPr lang="en-US" sz="1300" dirty="0"/>
          </a:p>
        </p:txBody>
      </p:sp>
      <p:sp>
        <p:nvSpPr>
          <p:cNvPr id="28" name="Card 28"/>
          <p:cNvSpPr/>
          <p:nvPr/>
        </p:nvSpPr>
        <p:spPr>
          <a:xfrm>
            <a:off x="4663440" y="3337560"/>
            <a:ext cx="4023360" cy="132588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9" name="Badge 29"/>
          <p:cNvSpPr txBox="1"/>
          <p:nvPr/>
        </p:nvSpPr>
        <p:spPr>
          <a:xfrm>
            <a:off x="4800600" y="345643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30" name="Head 30"/>
          <p:cNvSpPr txBox="1"/>
          <p:nvPr/>
        </p:nvSpPr>
        <p:spPr>
          <a:xfrm>
            <a:off x="5303520" y="3456432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Black-box testing</a:t>
            </a:r>
            <a:endParaRPr lang="en-US" sz="1500" dirty="0"/>
          </a:p>
        </p:txBody>
      </p:sp>
      <p:sp>
        <p:nvSpPr>
          <p:cNvPr id="31" name="Body 31"/>
          <p:cNvSpPr txBox="1"/>
          <p:nvPr/>
        </p:nvSpPr>
        <p:spPr>
          <a:xfrm>
            <a:off x="4846320" y="393192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300" b="0" dirty="0">
                <a:solidFill>
                  <a:schemeClr val="tx1"/>
                </a:solidFill>
              </a:rPr>
              <a:t>The tester sees only the screens. Example: type a wrong password and check that an error message appears.</a:t>
            </a:r>
            <a:endParaRPr lang="en-US" sz="1300" dirty="0"/>
          </a:p>
        </p:txBody>
      </p:sp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Example: Going Live and Maintaining</a:t>
            </a:r>
            <a:endParaRPr lang="en-US" sz="3400" dirty="0"/>
          </a:p>
        </p:txBody>
      </p:sp>
      <p:sp>
        <p:nvSpPr>
          <p:cNvPr id="11" name="Banner 11"/>
          <p:cNvSpPr txBox="1"/>
          <p:nvPr/>
        </p:nvSpPr>
        <p:spPr>
          <a:xfrm>
            <a:off x="457200" y="1005840"/>
            <a:ext cx="8229600" cy="41148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>
            <a:noFill/>
          </a:ln>
        </p:spPr>
        <p:txBody>
          <a:bodyPr wrap="square" lIns="137160" tIns="137160" rIns="137160" bIns="13716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The app is ready. How does the school start using it? Four ways:</a:t>
            </a:r>
            <a:endParaRPr lang="en-US" sz="1400" dirty="0"/>
          </a:p>
        </p:txBody>
      </p:sp>
      <p:sp>
        <p:nvSpPr>
          <p:cNvPr id="12" name="Card 12"/>
          <p:cNvSpPr/>
          <p:nvPr/>
        </p:nvSpPr>
        <p:spPr>
          <a:xfrm>
            <a:off x="457200" y="1554480"/>
            <a:ext cx="2621280" cy="14859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3" name="Badge 13"/>
          <p:cNvSpPr txBox="1"/>
          <p:nvPr/>
        </p:nvSpPr>
        <p:spPr>
          <a:xfrm>
            <a:off x="594360" y="16733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4" name="Head 14"/>
          <p:cNvSpPr txBox="1"/>
          <p:nvPr/>
        </p:nvSpPr>
        <p:spPr>
          <a:xfrm>
            <a:off x="1097280" y="1673352"/>
            <a:ext cx="18440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Direct</a:t>
            </a:r>
            <a:endParaRPr lang="en-US" sz="1500" dirty="0"/>
          </a:p>
        </p:txBody>
      </p:sp>
      <p:sp>
        <p:nvSpPr>
          <p:cNvPr id="15" name="Body 15"/>
          <p:cNvSpPr txBox="1"/>
          <p:nvPr/>
        </p:nvSpPr>
        <p:spPr>
          <a:xfrm>
            <a:off x="640080" y="2148840"/>
            <a:ext cx="225552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300" b="0" dirty="0">
                <a:solidFill>
                  <a:schemeClr val="tx1"/>
                </a:solidFill>
              </a:rPr>
              <a:t>Stop the old register book today and use the app from tomorrow.</a:t>
            </a:r>
            <a:endParaRPr lang="en-US" sz="1300" dirty="0"/>
          </a:p>
        </p:txBody>
      </p:sp>
      <p:sp>
        <p:nvSpPr>
          <p:cNvPr id="16" name="Card 16"/>
          <p:cNvSpPr/>
          <p:nvPr/>
        </p:nvSpPr>
        <p:spPr>
          <a:xfrm>
            <a:off x="3261360" y="1554480"/>
            <a:ext cx="2621280" cy="14859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7" name="Badge 17"/>
          <p:cNvSpPr txBox="1"/>
          <p:nvPr/>
        </p:nvSpPr>
        <p:spPr>
          <a:xfrm>
            <a:off x="3398520" y="16733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8" name="Head 18"/>
          <p:cNvSpPr txBox="1"/>
          <p:nvPr/>
        </p:nvSpPr>
        <p:spPr>
          <a:xfrm>
            <a:off x="3901440" y="1673352"/>
            <a:ext cx="18440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Parallel</a:t>
            </a:r>
            <a:endParaRPr lang="en-US" sz="1500" dirty="0"/>
          </a:p>
        </p:txBody>
      </p:sp>
      <p:sp>
        <p:nvSpPr>
          <p:cNvPr id="19" name="Body 19"/>
          <p:cNvSpPr txBox="1"/>
          <p:nvPr/>
        </p:nvSpPr>
        <p:spPr>
          <a:xfrm>
            <a:off x="3444240" y="2148840"/>
            <a:ext cx="225552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300" b="0" dirty="0">
                <a:solidFill>
                  <a:schemeClr val="tx1"/>
                </a:solidFill>
              </a:rPr>
              <a:t>Use the old register and the app together for one month, then drop the old one.</a:t>
            </a:r>
            <a:endParaRPr lang="en-US" sz="1300" dirty="0"/>
          </a:p>
        </p:txBody>
      </p:sp>
      <p:sp>
        <p:nvSpPr>
          <p:cNvPr id="20" name="Card 20"/>
          <p:cNvSpPr/>
          <p:nvPr/>
        </p:nvSpPr>
        <p:spPr>
          <a:xfrm>
            <a:off x="6065520" y="1554480"/>
            <a:ext cx="2621280" cy="14859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1" name="Badge 21"/>
          <p:cNvSpPr txBox="1"/>
          <p:nvPr/>
        </p:nvSpPr>
        <p:spPr>
          <a:xfrm>
            <a:off x="6202680" y="16733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Head 22"/>
          <p:cNvSpPr txBox="1"/>
          <p:nvPr/>
        </p:nvSpPr>
        <p:spPr>
          <a:xfrm>
            <a:off x="6705600" y="1673352"/>
            <a:ext cx="18440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Phased</a:t>
            </a:r>
            <a:endParaRPr lang="en-US" sz="1500" dirty="0"/>
          </a:p>
        </p:txBody>
      </p:sp>
      <p:sp>
        <p:nvSpPr>
          <p:cNvPr id="23" name="Body 23"/>
          <p:cNvSpPr txBox="1"/>
          <p:nvPr/>
        </p:nvSpPr>
        <p:spPr>
          <a:xfrm>
            <a:off x="6248400" y="2148840"/>
            <a:ext cx="225552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300" b="0" dirty="0">
                <a:solidFill>
                  <a:schemeClr val="tx1"/>
                </a:solidFill>
              </a:rPr>
              <a:t>Start with "borrow" only. Add "return" and "fine" modules later.</a:t>
            </a:r>
            <a:endParaRPr lang="en-US" sz="1300" dirty="0"/>
          </a:p>
        </p:txBody>
      </p:sp>
      <p:sp>
        <p:nvSpPr>
          <p:cNvPr id="24" name="Card 24"/>
          <p:cNvSpPr/>
          <p:nvPr/>
        </p:nvSpPr>
        <p:spPr>
          <a:xfrm>
            <a:off x="457200" y="3177540"/>
            <a:ext cx="2621280" cy="14859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5" name="Badge 25"/>
          <p:cNvSpPr txBox="1"/>
          <p:nvPr/>
        </p:nvSpPr>
        <p:spPr>
          <a:xfrm>
            <a:off x="594360" y="329641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Head 26"/>
          <p:cNvSpPr txBox="1"/>
          <p:nvPr/>
        </p:nvSpPr>
        <p:spPr>
          <a:xfrm>
            <a:off x="1097280" y="3296412"/>
            <a:ext cx="18440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Pilot</a:t>
            </a:r>
            <a:endParaRPr lang="en-US" sz="1500" dirty="0"/>
          </a:p>
        </p:txBody>
      </p:sp>
      <p:sp>
        <p:nvSpPr>
          <p:cNvPr id="27" name="Body 27"/>
          <p:cNvSpPr txBox="1"/>
          <p:nvPr/>
        </p:nvSpPr>
        <p:spPr>
          <a:xfrm>
            <a:off x="640080" y="3771900"/>
            <a:ext cx="225552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300" b="0" dirty="0">
                <a:solidFill>
                  <a:schemeClr val="tx1"/>
                </a:solidFill>
              </a:rPr>
              <a:t>Try the app in one class (Grade 8) first. If it works, give it to all classes.</a:t>
            </a:r>
            <a:endParaRPr lang="en-US" sz="1300" dirty="0"/>
          </a:p>
        </p:txBody>
      </p:sp>
      <p:sp>
        <p:nvSpPr>
          <p:cNvPr id="28" name="Card 28"/>
          <p:cNvSpPr/>
          <p:nvPr/>
        </p:nvSpPr>
        <p:spPr>
          <a:xfrm>
            <a:off x="3261360" y="3177540"/>
            <a:ext cx="5425440" cy="1485900"/>
          </a:xfrm>
          <a:prstGeom prst="roundRect">
            <a:avLst>
              <a:gd name="adj" fmla="val 4324"/>
            </a:avLst>
          </a:prstGeom>
          <a:solidFill>
            <a:schemeClr val="tx2"/>
          </a:solidFill>
          <a:ln>
            <a:noFill/>
          </a:ln>
        </p:spPr>
      </p:sp>
      <p:sp>
        <p:nvSpPr>
          <p:cNvPr id="29" name="Badge 29"/>
          <p:cNvSpPr txBox="1"/>
          <p:nvPr/>
        </p:nvSpPr>
        <p:spPr>
          <a:xfrm>
            <a:off x="3398520" y="3296412"/>
            <a:ext cx="347472" cy="3474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5</a:t>
            </a:r>
            <a:endParaRPr lang="en-US" sz="1300" dirty="0"/>
          </a:p>
        </p:txBody>
      </p:sp>
      <p:sp>
        <p:nvSpPr>
          <p:cNvPr id="30" name="Head 30"/>
          <p:cNvSpPr txBox="1"/>
          <p:nvPr/>
        </p:nvSpPr>
        <p:spPr>
          <a:xfrm>
            <a:off x="3901440" y="3296412"/>
            <a:ext cx="46482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Maintenance and feedback</a:t>
            </a:r>
            <a:endParaRPr lang="en-US" sz="1500" dirty="0"/>
          </a:p>
        </p:txBody>
      </p:sp>
      <p:sp>
        <p:nvSpPr>
          <p:cNvPr id="31" name="Body 31"/>
          <p:cNvSpPr txBox="1"/>
          <p:nvPr/>
        </p:nvSpPr>
        <p:spPr>
          <a:xfrm>
            <a:off x="3444240" y="3771900"/>
            <a:ext cx="505968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300" b="0" dirty="0">
                <a:solidFill>
                  <a:schemeClr val="bg1"/>
                </a:solidFill>
              </a:rPr>
              <a:t>A student reports a bug in search: we fix it. The librarian asks for e-books: we add them in the next version.</a:t>
            </a:r>
            <a:endParaRPr lang="en-US" sz="1300" dirty="0"/>
          </a:p>
        </p:txBody>
      </p:sp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Example: Analyst vs Engineer</a:t>
            </a:r>
            <a:endParaRPr lang="en-US" sz="3400" dirty="0"/>
          </a:p>
        </p:txBody>
      </p:sp>
      <p:sp>
        <p:nvSpPr>
          <p:cNvPr id="11" name="Banner 11"/>
          <p:cNvSpPr txBox="1"/>
          <p:nvPr/>
        </p:nvSpPr>
        <p:spPr>
          <a:xfrm>
            <a:off x="457200" y="1005840"/>
            <a:ext cx="8229600" cy="41148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>
            <a:noFill/>
          </a:ln>
        </p:spPr>
        <p:txBody>
          <a:bodyPr wrap="square" lIns="137160" tIns="137160" rIns="137160" bIns="13716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Same project, two different jobs.</a:t>
            </a:r>
            <a:endParaRPr lang="en-US" sz="1400" dirty="0"/>
          </a:p>
        </p:txBody>
      </p:sp>
      <p:sp>
        <p:nvSpPr>
          <p:cNvPr id="12" name="Card 12"/>
          <p:cNvSpPr/>
          <p:nvPr/>
        </p:nvSpPr>
        <p:spPr>
          <a:xfrm>
            <a:off x="457200" y="1554480"/>
            <a:ext cx="4023360" cy="23774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3" name="Head 13"/>
          <p:cNvSpPr txBox="1"/>
          <p:nvPr/>
        </p:nvSpPr>
        <p:spPr>
          <a:xfrm>
            <a:off x="594360" y="1673352"/>
            <a:ext cx="374904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System analyst</a:t>
            </a:r>
            <a:endParaRPr lang="en-US" sz="1600" dirty="0"/>
          </a:p>
        </p:txBody>
      </p:sp>
      <p:sp>
        <p:nvSpPr>
          <p:cNvPr id="14" name="Body 14"/>
          <p:cNvSpPr txBox="1"/>
          <p:nvPr/>
        </p:nvSpPr>
        <p:spPr>
          <a:xfrm>
            <a:off x="640080" y="2019072"/>
            <a:ext cx="3657600" cy="18214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marL="171450" indent="-171450">
              <a:spcAft>
                <a:spcPts val="300"/>
              </a:spcAft>
              <a:buFont typeface="Arial"/>
              <a:buChar char="•"/>
            </a:pPr>
            <a:r>
              <a:rPr lang="en-US" sz="1400" b="0" dirty="0">
                <a:solidFill>
                  <a:schemeClr val="tx1"/>
                </a:solidFill>
              </a:rPr>
              <a:t>Meets the librarian and the students</a:t>
            </a:r>
            <a:endParaRPr lang="en-US" sz="1400" dirty="0"/>
          </a:p>
          <a:p>
            <a:pPr algn="l" marL="171450" indent="-171450">
              <a:spcAft>
                <a:spcPts val="300"/>
              </a:spcAft>
              <a:buFont typeface="Arial"/>
              <a:buChar char="•"/>
            </a:pPr>
            <a:r>
              <a:rPr lang="en-US" sz="1400" b="0" dirty="0">
                <a:solidFill>
                  <a:schemeClr val="tx1"/>
                </a:solidFill>
              </a:rPr>
              <a:t>Finds the problem: searching for a book takes 10 minutes</a:t>
            </a:r>
            <a:endParaRPr lang="en-US" sz="1400" dirty="0"/>
          </a:p>
          <a:p>
            <a:pPr algn="l" marL="171450" indent="-171450">
              <a:spcAft>
                <a:spcPts val="300"/>
              </a:spcAft>
              <a:buFont typeface="Arial"/>
              <a:buChar char="•"/>
            </a:pPr>
            <a:r>
              <a:rPr lang="en-US" sz="1400" b="0" dirty="0">
                <a:solidFill>
                  <a:schemeClr val="tx1"/>
                </a:solidFill>
              </a:rPr>
              <a:t>Writes down what the new app must do</a:t>
            </a:r>
            <a:endParaRPr lang="en-US" sz="1400" dirty="0"/>
          </a:p>
          <a:p>
            <a:pPr algn="l" marL="171450" indent="-171450">
              <a:spcAft>
                <a:spcPts val="300"/>
              </a:spcAft>
              <a:buFont typeface="Arial"/>
              <a:buChar char="•"/>
            </a:pPr>
            <a:r>
              <a:rPr lang="en-US" sz="1400" b="0" dirty="0">
                <a:solidFill>
                  <a:schemeClr val="tx1"/>
                </a:solidFill>
              </a:rPr>
              <a:t>Checks that the final app solves the problem</a:t>
            </a:r>
            <a:endParaRPr lang="en-US" sz="1400" dirty="0"/>
          </a:p>
        </p:txBody>
      </p:sp>
      <p:sp>
        <p:nvSpPr>
          <p:cNvPr id="15" name="Card 15"/>
          <p:cNvSpPr/>
          <p:nvPr/>
        </p:nvSpPr>
        <p:spPr>
          <a:xfrm>
            <a:off x="4663440" y="1554480"/>
            <a:ext cx="4023360" cy="23774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6" name="Head 16"/>
          <p:cNvSpPr txBox="1"/>
          <p:nvPr/>
        </p:nvSpPr>
        <p:spPr>
          <a:xfrm>
            <a:off x="4800600" y="1673352"/>
            <a:ext cx="374904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Software engineer</a:t>
            </a:r>
            <a:endParaRPr lang="en-US" sz="1600" dirty="0"/>
          </a:p>
        </p:txBody>
      </p:sp>
      <p:sp>
        <p:nvSpPr>
          <p:cNvPr id="17" name="Body 17"/>
          <p:cNvSpPr txBox="1"/>
          <p:nvPr/>
        </p:nvSpPr>
        <p:spPr>
          <a:xfrm>
            <a:off x="4846320" y="2019072"/>
            <a:ext cx="3657600" cy="18214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marL="171450" indent="-171450">
              <a:spcAft>
                <a:spcPts val="300"/>
              </a:spcAft>
              <a:buFont typeface="Arial"/>
              <a:buChar char="•"/>
            </a:pPr>
            <a:r>
              <a:rPr lang="en-US" sz="1400" b="0" dirty="0">
                <a:solidFill>
                  <a:schemeClr val="tx1"/>
                </a:solidFill>
              </a:rPr>
              <a:t>Reads the analyst’s requirements</a:t>
            </a:r>
            <a:endParaRPr lang="en-US" sz="1400" dirty="0"/>
          </a:p>
          <a:p>
            <a:pPr algn="l" marL="171450" indent="-171450">
              <a:spcAft>
                <a:spcPts val="300"/>
              </a:spcAft>
              <a:buFont typeface="Arial"/>
              <a:buChar char="•"/>
            </a:pPr>
            <a:r>
              <a:rPr lang="en-US" sz="1400" b="0" dirty="0">
                <a:solidFill>
                  <a:schemeClr val="tx1"/>
                </a:solidFill>
              </a:rPr>
              <a:t>Chooses the language, for example Python</a:t>
            </a:r>
            <a:endParaRPr lang="en-US" sz="1400" dirty="0"/>
          </a:p>
          <a:p>
            <a:pPr algn="l" marL="171450" indent="-171450">
              <a:spcAft>
                <a:spcPts val="300"/>
              </a:spcAft>
              <a:buFont typeface="Arial"/>
              <a:buChar char="•"/>
            </a:pPr>
            <a:r>
              <a:rPr lang="en-US" sz="1400" b="0" dirty="0">
                <a:solidFill>
                  <a:schemeClr val="tx1"/>
                </a:solidFill>
              </a:rPr>
              <a:t>Writes and tests the code for search and borrow</a:t>
            </a:r>
            <a:endParaRPr lang="en-US" sz="1400" dirty="0"/>
          </a:p>
          <a:p>
            <a:pPr algn="l" marL="171450" indent="-171450">
              <a:spcAft>
                <a:spcPts val="300"/>
              </a:spcAft>
              <a:buFont typeface="Arial"/>
              <a:buChar char="•"/>
            </a:pPr>
            <a:r>
              <a:rPr lang="en-US" sz="1400" b="0" dirty="0">
                <a:solidFill>
                  <a:schemeClr val="tx1"/>
                </a:solidFill>
              </a:rPr>
              <a:t>Fixes bugs and updates the app</a:t>
            </a:r>
            <a:endParaRPr lang="en-US" sz="1400" dirty="0"/>
          </a:p>
        </p:txBody>
      </p:sp>
      <p:sp>
        <p:nvSpPr>
          <p:cNvPr id="18" name="Callout 18"/>
          <p:cNvSpPr txBox="1"/>
          <p:nvPr/>
        </p:nvSpPr>
        <p:spPr>
          <a:xfrm>
            <a:off x="457200" y="4069080"/>
            <a:ext cx="8229600" cy="59436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91440" tIns="91440" rIns="91440" bIns="9144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Easy to remember:  Analyst = WHAT to build.   Engineer = HOW to build it.</a:t>
            </a:r>
            <a:endParaRPr lang="en-US" sz="1400" dirty="0"/>
          </a:p>
        </p:txBody>
      </p:sp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Example: Collecting Requirements</a:t>
            </a:r>
            <a:endParaRPr lang="en-US" sz="3400" dirty="0"/>
          </a:p>
        </p:txBody>
      </p:sp>
      <p:sp>
        <p:nvSpPr>
          <p:cNvPr id="11" name="Banner 11"/>
          <p:cNvSpPr txBox="1"/>
          <p:nvPr/>
        </p:nvSpPr>
        <p:spPr>
          <a:xfrm>
            <a:off x="457200" y="1005840"/>
            <a:ext cx="8229600" cy="41148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>
            <a:noFill/>
          </a:ln>
        </p:spPr>
        <p:txBody>
          <a:bodyPr wrap="square" lIns="137160" tIns="137160" rIns="137160" bIns="13716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How the analyst collects needs for the library app, using all 7 sources:</a:t>
            </a:r>
            <a:endParaRPr lang="en-US" sz="1400" dirty="0"/>
          </a:p>
        </p:txBody>
      </p:sp>
      <p:sp>
        <p:nvSpPr>
          <p:cNvPr id="12" name="Card 12"/>
          <p:cNvSpPr/>
          <p:nvPr/>
        </p:nvSpPr>
        <p:spPr>
          <a:xfrm>
            <a:off x="457200" y="1554480"/>
            <a:ext cx="1965960" cy="155448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3" name="Badge 13"/>
          <p:cNvSpPr txBox="1"/>
          <p:nvPr/>
        </p:nvSpPr>
        <p:spPr>
          <a:xfrm>
            <a:off x="594360" y="16733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4" name="Head 14"/>
          <p:cNvSpPr txBox="1"/>
          <p:nvPr/>
        </p:nvSpPr>
        <p:spPr>
          <a:xfrm>
            <a:off x="594360" y="2066544"/>
            <a:ext cx="1691640" cy="2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Interview</a:t>
            </a:r>
            <a:endParaRPr lang="en-US" sz="1400" dirty="0"/>
          </a:p>
        </p:txBody>
      </p:sp>
      <p:sp>
        <p:nvSpPr>
          <p:cNvPr id="15" name="Body 15"/>
          <p:cNvSpPr txBox="1"/>
          <p:nvPr/>
        </p:nvSpPr>
        <p:spPr>
          <a:xfrm>
            <a:off x="640080" y="2402264"/>
            <a:ext cx="1600200" cy="6152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300" b="0" dirty="0">
                <a:solidFill>
                  <a:schemeClr val="tx1"/>
                </a:solidFill>
              </a:rPr>
              <a:t>Ask the head librarian: what is hardest for you?</a:t>
            </a:r>
            <a:endParaRPr lang="en-US" sz="1300" dirty="0"/>
          </a:p>
        </p:txBody>
      </p:sp>
      <p:sp>
        <p:nvSpPr>
          <p:cNvPr id="16" name="Card 16"/>
          <p:cNvSpPr/>
          <p:nvPr/>
        </p:nvSpPr>
        <p:spPr>
          <a:xfrm>
            <a:off x="2545080" y="1554480"/>
            <a:ext cx="1965960" cy="155448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7" name="Badge 17"/>
          <p:cNvSpPr txBox="1"/>
          <p:nvPr/>
        </p:nvSpPr>
        <p:spPr>
          <a:xfrm>
            <a:off x="2682240" y="16733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8" name="Head 18"/>
          <p:cNvSpPr txBox="1"/>
          <p:nvPr/>
        </p:nvSpPr>
        <p:spPr>
          <a:xfrm>
            <a:off x="2682240" y="2066544"/>
            <a:ext cx="1691640" cy="2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Survey</a:t>
            </a:r>
            <a:endParaRPr lang="en-US" sz="1400" dirty="0"/>
          </a:p>
        </p:txBody>
      </p:sp>
      <p:sp>
        <p:nvSpPr>
          <p:cNvPr id="19" name="Body 19"/>
          <p:cNvSpPr txBox="1"/>
          <p:nvPr/>
        </p:nvSpPr>
        <p:spPr>
          <a:xfrm>
            <a:off x="2727960" y="2402264"/>
            <a:ext cx="1600200" cy="6152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300" b="0" dirty="0">
                <a:solidFill>
                  <a:schemeClr val="tx1"/>
                </a:solidFill>
              </a:rPr>
              <a:t>Give a short form to 100 students about finding books.</a:t>
            </a:r>
            <a:endParaRPr lang="en-US" sz="1300" dirty="0"/>
          </a:p>
        </p:txBody>
      </p:sp>
      <p:sp>
        <p:nvSpPr>
          <p:cNvPr id="20" name="Card 20"/>
          <p:cNvSpPr/>
          <p:nvPr/>
        </p:nvSpPr>
        <p:spPr>
          <a:xfrm>
            <a:off x="4632960" y="1554480"/>
            <a:ext cx="1965960" cy="155448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1" name="Badge 21"/>
          <p:cNvSpPr txBox="1"/>
          <p:nvPr/>
        </p:nvSpPr>
        <p:spPr>
          <a:xfrm>
            <a:off x="4770120" y="16733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Head 22"/>
          <p:cNvSpPr txBox="1"/>
          <p:nvPr/>
        </p:nvSpPr>
        <p:spPr>
          <a:xfrm>
            <a:off x="4770120" y="2066544"/>
            <a:ext cx="1691640" cy="2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Observation</a:t>
            </a:r>
            <a:endParaRPr lang="en-US" sz="1400" dirty="0"/>
          </a:p>
        </p:txBody>
      </p:sp>
      <p:sp>
        <p:nvSpPr>
          <p:cNvPr id="23" name="Body 23"/>
          <p:cNvSpPr txBox="1"/>
          <p:nvPr/>
        </p:nvSpPr>
        <p:spPr>
          <a:xfrm>
            <a:off x="4815840" y="2402264"/>
            <a:ext cx="1600200" cy="6152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300" b="0" dirty="0">
                <a:solidFill>
                  <a:schemeClr val="tx1"/>
                </a:solidFill>
              </a:rPr>
              <a:t>Visit a nearby school library and see how it works.</a:t>
            </a:r>
            <a:endParaRPr lang="en-US" sz="1300" dirty="0"/>
          </a:p>
        </p:txBody>
      </p:sp>
      <p:sp>
        <p:nvSpPr>
          <p:cNvPr id="24" name="Card 24"/>
          <p:cNvSpPr/>
          <p:nvPr/>
        </p:nvSpPr>
        <p:spPr>
          <a:xfrm>
            <a:off x="6720840" y="1554480"/>
            <a:ext cx="1965960" cy="155448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5" name="Badge 25"/>
          <p:cNvSpPr txBox="1"/>
          <p:nvPr/>
        </p:nvSpPr>
        <p:spPr>
          <a:xfrm>
            <a:off x="6858000" y="16733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Head 26"/>
          <p:cNvSpPr txBox="1"/>
          <p:nvPr/>
        </p:nvSpPr>
        <p:spPr>
          <a:xfrm>
            <a:off x="6858000" y="2066544"/>
            <a:ext cx="1691640" cy="2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Focus group</a:t>
            </a:r>
            <a:endParaRPr lang="en-US" sz="1400" dirty="0"/>
          </a:p>
        </p:txBody>
      </p:sp>
      <p:sp>
        <p:nvSpPr>
          <p:cNvPr id="27" name="Body 27"/>
          <p:cNvSpPr txBox="1"/>
          <p:nvPr/>
        </p:nvSpPr>
        <p:spPr>
          <a:xfrm>
            <a:off x="6903720" y="2402264"/>
            <a:ext cx="1600200" cy="6152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300" b="0" dirty="0">
                <a:solidFill>
                  <a:schemeClr val="tx1"/>
                </a:solidFill>
              </a:rPr>
              <a:t>Talk with 6 students and 2 teachers together.</a:t>
            </a:r>
            <a:endParaRPr lang="en-US" sz="1300" dirty="0"/>
          </a:p>
        </p:txBody>
      </p:sp>
      <p:sp>
        <p:nvSpPr>
          <p:cNvPr id="28" name="Card 28"/>
          <p:cNvSpPr/>
          <p:nvPr/>
        </p:nvSpPr>
        <p:spPr>
          <a:xfrm>
            <a:off x="457200" y="3200400"/>
            <a:ext cx="2661920" cy="14630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9" name="Badge 29"/>
          <p:cNvSpPr txBox="1"/>
          <p:nvPr/>
        </p:nvSpPr>
        <p:spPr>
          <a:xfrm>
            <a:off x="594360" y="331927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0" name="Head 30"/>
          <p:cNvSpPr txBox="1"/>
          <p:nvPr/>
        </p:nvSpPr>
        <p:spPr>
          <a:xfrm>
            <a:off x="594360" y="3712464"/>
            <a:ext cx="2387600" cy="2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Prototyping</a:t>
            </a:r>
            <a:endParaRPr lang="en-US" sz="1400" dirty="0"/>
          </a:p>
        </p:txBody>
      </p:sp>
      <p:sp>
        <p:nvSpPr>
          <p:cNvPr id="31" name="Body 31"/>
          <p:cNvSpPr txBox="1"/>
          <p:nvPr/>
        </p:nvSpPr>
        <p:spPr>
          <a:xfrm>
            <a:off x="640080" y="4048184"/>
            <a:ext cx="2296160" cy="523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300" b="0" dirty="0">
                <a:solidFill>
                  <a:schemeClr val="tx1"/>
                </a:solidFill>
              </a:rPr>
              <a:t>Draw a paper sketch of the app and show it to the librarian.</a:t>
            </a:r>
            <a:endParaRPr lang="en-US" sz="1300" dirty="0"/>
          </a:p>
        </p:txBody>
      </p:sp>
      <p:sp>
        <p:nvSpPr>
          <p:cNvPr id="32" name="Card 32"/>
          <p:cNvSpPr/>
          <p:nvPr/>
        </p:nvSpPr>
        <p:spPr>
          <a:xfrm>
            <a:off x="3241040" y="3200400"/>
            <a:ext cx="2661920" cy="14630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33" name="Badge 33"/>
          <p:cNvSpPr txBox="1"/>
          <p:nvPr/>
        </p:nvSpPr>
        <p:spPr>
          <a:xfrm>
            <a:off x="3378200" y="331927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4" name="Head 34"/>
          <p:cNvSpPr txBox="1"/>
          <p:nvPr/>
        </p:nvSpPr>
        <p:spPr>
          <a:xfrm>
            <a:off x="3378200" y="3712464"/>
            <a:ext cx="2387600" cy="2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Document analysis</a:t>
            </a:r>
            <a:endParaRPr lang="en-US" sz="1400" dirty="0"/>
          </a:p>
        </p:txBody>
      </p:sp>
      <p:sp>
        <p:nvSpPr>
          <p:cNvPr id="35" name="Body 35"/>
          <p:cNvSpPr txBox="1"/>
          <p:nvPr/>
        </p:nvSpPr>
        <p:spPr>
          <a:xfrm>
            <a:off x="3423920" y="4048184"/>
            <a:ext cx="2296160" cy="523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300" b="0" dirty="0">
                <a:solidFill>
                  <a:schemeClr val="tx1"/>
                </a:solidFill>
              </a:rPr>
              <a:t>Read the old register book and the library rules.</a:t>
            </a:r>
            <a:endParaRPr lang="en-US" sz="1300" dirty="0"/>
          </a:p>
        </p:txBody>
      </p:sp>
      <p:sp>
        <p:nvSpPr>
          <p:cNvPr id="36" name="Card 36"/>
          <p:cNvSpPr/>
          <p:nvPr/>
        </p:nvSpPr>
        <p:spPr>
          <a:xfrm>
            <a:off x="6024880" y="3200400"/>
            <a:ext cx="2661920" cy="14630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37" name="Badge 37"/>
          <p:cNvSpPr txBox="1"/>
          <p:nvPr/>
        </p:nvSpPr>
        <p:spPr>
          <a:xfrm>
            <a:off x="6162040" y="331927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38" name="Head 38"/>
          <p:cNvSpPr txBox="1"/>
          <p:nvPr/>
        </p:nvSpPr>
        <p:spPr>
          <a:xfrm>
            <a:off x="6162040" y="3712464"/>
            <a:ext cx="2387600" cy="2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Workshops, seminars</a:t>
            </a:r>
            <a:endParaRPr lang="en-US" sz="1400" dirty="0"/>
          </a:p>
        </p:txBody>
      </p:sp>
      <p:sp>
        <p:nvSpPr>
          <p:cNvPr id="39" name="Body 39"/>
          <p:cNvSpPr txBox="1"/>
          <p:nvPr/>
        </p:nvSpPr>
        <p:spPr>
          <a:xfrm>
            <a:off x="6207760" y="4048184"/>
            <a:ext cx="2296160" cy="523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300" b="0" dirty="0">
                <a:solidFill>
                  <a:schemeClr val="tx1"/>
                </a:solidFill>
              </a:rPr>
              <a:t>Join an education-technology seminar and learn new ideas.</a:t>
            </a:r>
            <a:endParaRPr lang="en-US" sz="1300" dirty="0"/>
          </a:p>
        </p:txBody>
      </p:sp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Example: DFD, ER and Decision Table</a:t>
            </a:r>
            <a:endParaRPr lang="en-US" sz="3400" dirty="0"/>
          </a:p>
        </p:txBody>
      </p:sp>
      <p:sp>
        <p:nvSpPr>
          <p:cNvPr id="11" name="Banner 11"/>
          <p:cNvSpPr txBox="1"/>
          <p:nvPr/>
        </p:nvSpPr>
        <p:spPr>
          <a:xfrm>
            <a:off x="457200" y="1005840"/>
            <a:ext cx="8229600" cy="41148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>
            <a:noFill/>
          </a:ln>
        </p:spPr>
        <p:txBody>
          <a:bodyPr wrap="square" lIns="137160" tIns="137160" rIns="137160" bIns="13716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Same library app, four more design tools.</a:t>
            </a:r>
            <a:endParaRPr lang="en-US" sz="1400" dirty="0"/>
          </a:p>
        </p:txBody>
      </p:sp>
      <p:sp>
        <p:nvSpPr>
          <p:cNvPr id="12" name="Card 12"/>
          <p:cNvSpPr/>
          <p:nvPr/>
        </p:nvSpPr>
        <p:spPr>
          <a:xfrm>
            <a:off x="457200" y="1508760"/>
            <a:ext cx="4023360" cy="150876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3" name="Badge 13"/>
          <p:cNvSpPr txBox="1"/>
          <p:nvPr/>
        </p:nvSpPr>
        <p:spPr>
          <a:xfrm>
            <a:off x="594360" y="162763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4" name="Head 14"/>
          <p:cNvSpPr txBox="1"/>
          <p:nvPr/>
        </p:nvSpPr>
        <p:spPr>
          <a:xfrm>
            <a:off x="1097280" y="1627632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Data Flow Diagram</a:t>
            </a:r>
            <a:endParaRPr lang="en-US" sz="1500" dirty="0"/>
          </a:p>
        </p:txBody>
      </p:sp>
      <p:sp>
        <p:nvSpPr>
          <p:cNvPr id="15" name="Body 15"/>
          <p:cNvSpPr txBox="1"/>
          <p:nvPr/>
        </p:nvSpPr>
        <p:spPr>
          <a:xfrm>
            <a:off x="640080" y="210312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0" dirty="0">
                <a:solidFill>
                  <a:schemeClr val="tx1"/>
                </a:solidFill>
              </a:rPr>
              <a:t/>
            </a:r>
            <a:endParaRPr lang="en-US" sz="1400" dirty="0"/>
          </a:p>
        </p:txBody>
      </p:sp>
      <p:sp>
        <p:nvSpPr>
          <p:cNvPr id="16" name="Mini 16"/>
          <p:cNvSpPr txBox="1"/>
          <p:nvPr/>
        </p:nvSpPr>
        <p:spPr>
          <a:xfrm>
            <a:off x="594360" y="2194560"/>
            <a:ext cx="960120" cy="5029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18288" tIns="18288" rIns="18288" bIns="18288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Student</a:t>
            </a:r>
            <a:endParaRPr lang="en-US" sz="1200" dirty="0"/>
          </a:p>
        </p:txBody>
      </p:sp>
      <p:sp>
        <p:nvSpPr>
          <p:cNvPr id="17" name="Arrow 17"/>
          <p:cNvSpPr/>
          <p:nvPr/>
        </p:nvSpPr>
        <p:spPr>
          <a:xfrm>
            <a:off x="1600200" y="2382012"/>
            <a:ext cx="274320" cy="128016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8" name="Mini 18"/>
          <p:cNvSpPr txBox="1"/>
          <p:nvPr/>
        </p:nvSpPr>
        <p:spPr>
          <a:xfrm>
            <a:off x="1920240" y="2148840"/>
            <a:ext cx="1051560" cy="59436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wrap="square" lIns="18288" tIns="18288" rIns="18288" bIns="18288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bg1"/>
                </a:solidFill>
              </a:rPr>
              <a:t>Borrow book</a:t>
            </a:r>
            <a:endParaRPr lang="en-US" sz="1100" dirty="0"/>
          </a:p>
        </p:txBody>
      </p:sp>
      <p:sp>
        <p:nvSpPr>
          <p:cNvPr id="19" name="Arrow 19"/>
          <p:cNvSpPr/>
          <p:nvPr/>
        </p:nvSpPr>
        <p:spPr>
          <a:xfrm>
            <a:off x="3017520" y="2382012"/>
            <a:ext cx="274320" cy="128016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0" name="Mini 20"/>
          <p:cNvSpPr txBox="1"/>
          <p:nvPr/>
        </p:nvSpPr>
        <p:spPr>
          <a:xfrm>
            <a:off x="3337560" y="2194560"/>
            <a:ext cx="960120" cy="5029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18288" tIns="18288" rIns="18288" bIns="18288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tx2"/>
                </a:solidFill>
              </a:rPr>
              <a:t>Book records</a:t>
            </a:r>
            <a:endParaRPr lang="en-US" sz="1100" dirty="0"/>
          </a:p>
        </p:txBody>
      </p:sp>
      <p:sp>
        <p:nvSpPr>
          <p:cNvPr id="21" name="Card 21"/>
          <p:cNvSpPr/>
          <p:nvPr/>
        </p:nvSpPr>
        <p:spPr>
          <a:xfrm>
            <a:off x="4663440" y="1508760"/>
            <a:ext cx="4023360" cy="150876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2" name="Badge 22"/>
          <p:cNvSpPr txBox="1"/>
          <p:nvPr/>
        </p:nvSpPr>
        <p:spPr>
          <a:xfrm>
            <a:off x="4800600" y="162763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3" name="Head 23"/>
          <p:cNvSpPr txBox="1"/>
          <p:nvPr/>
        </p:nvSpPr>
        <p:spPr>
          <a:xfrm>
            <a:off x="5303520" y="1627632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ER Diagram</a:t>
            </a:r>
            <a:endParaRPr lang="en-US" sz="1500" dirty="0"/>
          </a:p>
        </p:txBody>
      </p:sp>
      <p:sp>
        <p:nvSpPr>
          <p:cNvPr id="24" name="Body 24"/>
          <p:cNvSpPr txBox="1"/>
          <p:nvPr/>
        </p:nvSpPr>
        <p:spPr>
          <a:xfrm>
            <a:off x="4846320" y="210312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0" dirty="0">
                <a:solidFill>
                  <a:schemeClr val="tx1"/>
                </a:solidFill>
              </a:rPr>
              <a:t/>
            </a:r>
            <a:endParaRPr lang="en-US" sz="1400" dirty="0"/>
          </a:p>
        </p:txBody>
      </p:sp>
      <p:sp>
        <p:nvSpPr>
          <p:cNvPr id="25" name="Mini 25"/>
          <p:cNvSpPr txBox="1"/>
          <p:nvPr/>
        </p:nvSpPr>
        <p:spPr>
          <a:xfrm>
            <a:off x="4800600" y="2194560"/>
            <a:ext cx="1005840" cy="5029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18288" tIns="18288" rIns="18288" bIns="18288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Student</a:t>
            </a:r>
            <a:endParaRPr lang="en-US" sz="1200" dirty="0"/>
          </a:p>
        </p:txBody>
      </p:sp>
      <p:cxnSp>
        <p:nvCxnSpPr>
          <p:cNvPr id="26" name="Line 26"/>
          <p:cNvCxnSpPr/>
          <p:nvPr/>
        </p:nvCxnSpPr>
        <p:spPr>
          <a:xfrm>
            <a:off x="5806440" y="2446020"/>
            <a:ext cx="320040" cy="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sp>
        <p:nvSpPr>
          <p:cNvPr id="27" name="Mini 27"/>
          <p:cNvSpPr txBox="1"/>
          <p:nvPr/>
        </p:nvSpPr>
        <p:spPr>
          <a:xfrm>
            <a:off x="6126480" y="2148840"/>
            <a:ext cx="1051560" cy="594360"/>
          </a:xfrm>
          <a:prstGeom prst="flowChartDecision">
            <a:avLst/>
          </a:prstGeom>
          <a:solidFill>
            <a:schemeClr val="bg1"/>
          </a:solidFill>
          <a:ln w="15875">
            <a:solidFill>
              <a:schemeClr val="accent2"/>
            </a:solidFill>
          </a:ln>
        </p:spPr>
        <p:txBody>
          <a:bodyPr wrap="square" lIns="18288" tIns="18288" rIns="18288" bIns="18288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tx2"/>
                </a:solidFill>
              </a:rPr>
              <a:t>borrows</a:t>
            </a:r>
            <a:endParaRPr lang="en-US" sz="1100" dirty="0"/>
          </a:p>
        </p:txBody>
      </p:sp>
      <p:cxnSp>
        <p:nvCxnSpPr>
          <p:cNvPr id="28" name="Line 28"/>
          <p:cNvCxnSpPr/>
          <p:nvPr/>
        </p:nvCxnSpPr>
        <p:spPr>
          <a:xfrm>
            <a:off x="7178040" y="2446020"/>
            <a:ext cx="320040" cy="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sp>
        <p:nvSpPr>
          <p:cNvPr id="29" name="Mini 29"/>
          <p:cNvSpPr txBox="1"/>
          <p:nvPr/>
        </p:nvSpPr>
        <p:spPr>
          <a:xfrm>
            <a:off x="7498080" y="2194560"/>
            <a:ext cx="740000" cy="5029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18288" tIns="18288" rIns="18288" bIns="18288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Book</a:t>
            </a:r>
            <a:endParaRPr lang="en-US" sz="1200" dirty="0"/>
          </a:p>
        </p:txBody>
      </p:sp>
      <p:sp>
        <p:nvSpPr>
          <p:cNvPr id="30" name="Text 30"/>
          <p:cNvSpPr txBox="1"/>
          <p:nvPr/>
        </p:nvSpPr>
        <p:spPr>
          <a:xfrm>
            <a:off x="4800600" y="2743200"/>
            <a:ext cx="374904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100" b="0" dirty="0">
                <a:solidFill>
                  <a:schemeClr val="tx1"/>
                </a:solidFill>
              </a:rPr>
              <a:t>Attributes: Student (roll no, name), Book (book ID, title)</a:t>
            </a:r>
            <a:endParaRPr lang="en-US" sz="1100" dirty="0"/>
          </a:p>
        </p:txBody>
      </p:sp>
      <p:sp>
        <p:nvSpPr>
          <p:cNvPr id="31" name="Card 31"/>
          <p:cNvSpPr/>
          <p:nvPr/>
        </p:nvSpPr>
        <p:spPr>
          <a:xfrm>
            <a:off x="457200" y="3154680"/>
            <a:ext cx="4023360" cy="150876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32" name="Badge 32"/>
          <p:cNvSpPr txBox="1"/>
          <p:nvPr/>
        </p:nvSpPr>
        <p:spPr>
          <a:xfrm>
            <a:off x="594360" y="32735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3" name="Head 33"/>
          <p:cNvSpPr txBox="1"/>
          <p:nvPr/>
        </p:nvSpPr>
        <p:spPr>
          <a:xfrm>
            <a:off x="1097280" y="3273552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Decision table</a:t>
            </a:r>
            <a:endParaRPr lang="en-US" sz="1500" dirty="0"/>
          </a:p>
        </p:txBody>
      </p:sp>
      <p:sp>
        <p:nvSpPr>
          <p:cNvPr id="34" name="Body 34"/>
          <p:cNvSpPr txBox="1"/>
          <p:nvPr/>
        </p:nvSpPr>
        <p:spPr>
          <a:xfrm>
            <a:off x="640080" y="374904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0" dirty="0">
                <a:solidFill>
                  <a:schemeClr val="tx1"/>
                </a:solidFill>
              </a:rPr>
              <a:t/>
            </a:r>
            <a:endParaRPr lang="en-US" sz="1400" dirty="0"/>
          </a:p>
        </p:txBody>
      </p:sp>
      <p:graphicFrame>
        <p:nvGraphicFramePr>
          <p:cNvPr id="35" name="Table 35"/>
          <p:cNvGraphicFramePr>
            <a:graphicFrameLocks noGrp="1"/>
          </p:cNvGraphicFramePr>
          <p:nvPr/>
        </p:nvGraphicFramePr>
        <p:xfrm>
          <a:off x="594360" y="3749040"/>
          <a:ext cx="3749039" cy="857250"/>
        </p:xfrm>
        <a:graphic>
          <a:graphicData uri="http://schemas.openxmlformats.org/drawingml/2006/table">
            <a:tbl>
              <a:tblPr/>
              <a:tblGrid>
                <a:gridCol w="1850745"/>
                <a:gridCol w="1898294"/>
              </a:tblGrid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Condition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Action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Kept 7 days or less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No fine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Kept more than 7 days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Fine = 5 x extra days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6" name="Card 36"/>
          <p:cNvSpPr/>
          <p:nvPr/>
        </p:nvSpPr>
        <p:spPr>
          <a:xfrm>
            <a:off x="4663440" y="3154680"/>
            <a:ext cx="4023360" cy="150876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37" name="Badge 37"/>
          <p:cNvSpPr txBox="1"/>
          <p:nvPr/>
        </p:nvSpPr>
        <p:spPr>
          <a:xfrm>
            <a:off x="4800600" y="32735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8" name="Head 38"/>
          <p:cNvSpPr txBox="1"/>
          <p:nvPr/>
        </p:nvSpPr>
        <p:spPr>
          <a:xfrm>
            <a:off x="5303520" y="3273552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Decision tree</a:t>
            </a:r>
            <a:endParaRPr lang="en-US" sz="1500" dirty="0"/>
          </a:p>
        </p:txBody>
      </p:sp>
      <p:sp>
        <p:nvSpPr>
          <p:cNvPr id="39" name="Body 39"/>
          <p:cNvSpPr txBox="1"/>
          <p:nvPr/>
        </p:nvSpPr>
        <p:spPr>
          <a:xfrm>
            <a:off x="4846320" y="374904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0" dirty="0">
                <a:solidFill>
                  <a:schemeClr val="tx1"/>
                </a:solidFill>
              </a:rPr>
              <a:t/>
            </a:r>
            <a:endParaRPr lang="en-US" sz="1400" dirty="0"/>
          </a:p>
        </p:txBody>
      </p:sp>
      <p:sp>
        <p:nvSpPr>
          <p:cNvPr id="40" name="Mini 40"/>
          <p:cNvSpPr txBox="1"/>
          <p:nvPr/>
        </p:nvSpPr>
        <p:spPr>
          <a:xfrm>
            <a:off x="4800600" y="4009040"/>
            <a:ext cx="1051560" cy="400000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18288" tIns="18288" rIns="18288" bIns="18288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tx2"/>
                </a:solidFill>
              </a:rPr>
              <a:t>Kept &gt; 7 days?</a:t>
            </a:r>
            <a:endParaRPr lang="en-US" sz="1100" dirty="0"/>
          </a:p>
        </p:txBody>
      </p:sp>
      <p:sp>
        <p:nvSpPr>
          <p:cNvPr id="41" name="Mini 41"/>
          <p:cNvSpPr txBox="1"/>
          <p:nvPr/>
        </p:nvSpPr>
        <p:spPr>
          <a:xfrm>
            <a:off x="6492240" y="3849040"/>
            <a:ext cx="2057400" cy="320040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accent2"/>
            </a:solidFill>
          </a:ln>
        </p:spPr>
        <p:txBody>
          <a:bodyPr wrap="square" lIns="18288" tIns="18288" rIns="18288" bIns="18288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tx2"/>
                </a:solidFill>
              </a:rPr>
              <a:t>Yes: pay fine</a:t>
            </a:r>
            <a:endParaRPr lang="en-US" sz="1100" dirty="0"/>
          </a:p>
        </p:txBody>
      </p:sp>
      <p:sp>
        <p:nvSpPr>
          <p:cNvPr id="42" name="Mini 42"/>
          <p:cNvSpPr txBox="1"/>
          <p:nvPr/>
        </p:nvSpPr>
        <p:spPr>
          <a:xfrm>
            <a:off x="6492240" y="4329040"/>
            <a:ext cx="2057400" cy="320040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18288" tIns="18288" rIns="18288" bIns="18288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tx2"/>
                </a:solidFill>
              </a:rPr>
              <a:t>No: no fine</a:t>
            </a:r>
            <a:endParaRPr lang="en-US" sz="1100" dirty="0"/>
          </a:p>
        </p:txBody>
      </p:sp>
      <p:cxnSp>
        <p:nvCxnSpPr>
          <p:cNvPr id="43" name="Line 43"/>
          <p:cNvCxnSpPr/>
          <p:nvPr/>
        </p:nvCxnSpPr>
        <p:spPr>
          <a:xfrm>
            <a:off x="5852160" y="4209040"/>
            <a:ext cx="320040" cy="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cxnSp>
        <p:nvCxnSpPr>
          <p:cNvPr id="44" name="Line 44"/>
          <p:cNvCxnSpPr/>
          <p:nvPr/>
        </p:nvCxnSpPr>
        <p:spPr>
          <a:xfrm>
            <a:off x="6172200" y="4009060"/>
            <a:ext cx="0" cy="48000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cxnSp>
        <p:nvCxnSpPr>
          <p:cNvPr id="45" name="Line 45"/>
          <p:cNvCxnSpPr/>
          <p:nvPr/>
        </p:nvCxnSpPr>
        <p:spPr>
          <a:xfrm>
            <a:off x="6172200" y="4009060"/>
            <a:ext cx="320040" cy="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cxnSp>
        <p:nvCxnSpPr>
          <p:cNvPr id="46" name="Line 46"/>
          <p:cNvCxnSpPr/>
          <p:nvPr/>
        </p:nvCxnSpPr>
        <p:spPr>
          <a:xfrm>
            <a:off x="6172200" y="4489060"/>
            <a:ext cx="320040" cy="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Example: Algorithm and Flowchart</a:t>
            </a:r>
            <a:endParaRPr lang="en-US" sz="3400" dirty="0"/>
          </a:p>
        </p:txBody>
      </p:sp>
      <p:sp>
        <p:nvSpPr>
          <p:cNvPr id="11" name="Banner 11"/>
          <p:cNvSpPr txBox="1"/>
          <p:nvPr/>
        </p:nvSpPr>
        <p:spPr>
          <a:xfrm>
            <a:off x="457200" y="1005840"/>
            <a:ext cx="8229600" cy="41148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>
            <a:noFill/>
          </a:ln>
        </p:spPr>
        <p:txBody>
          <a:bodyPr wrap="square" lIns="137160" tIns="137160" rIns="137160" bIns="13716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Task: when a book is returned, decide if the student must pay a fine (late after 7 days).</a:t>
            </a:r>
            <a:endParaRPr lang="en-US" sz="1400" dirty="0"/>
          </a:p>
        </p:txBody>
      </p:sp>
      <p:sp>
        <p:nvSpPr>
          <p:cNvPr id="12" name="Card 12"/>
          <p:cNvSpPr/>
          <p:nvPr/>
        </p:nvSpPr>
        <p:spPr>
          <a:xfrm>
            <a:off x="457200" y="1554480"/>
            <a:ext cx="2468880" cy="310896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3" name="Badge 13"/>
          <p:cNvSpPr txBox="1"/>
          <p:nvPr/>
        </p:nvSpPr>
        <p:spPr>
          <a:xfrm>
            <a:off x="594360" y="16733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4" name="Head 14"/>
          <p:cNvSpPr txBox="1"/>
          <p:nvPr/>
        </p:nvSpPr>
        <p:spPr>
          <a:xfrm>
            <a:off x="1097280" y="1673352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Algorithm</a:t>
            </a:r>
            <a:endParaRPr lang="en-US" sz="1500" dirty="0"/>
          </a:p>
        </p:txBody>
      </p:sp>
      <p:sp>
        <p:nvSpPr>
          <p:cNvPr id="15" name="Body 15"/>
          <p:cNvSpPr txBox="1"/>
          <p:nvPr/>
        </p:nvSpPr>
        <p:spPr>
          <a:xfrm>
            <a:off x="640080" y="2148840"/>
            <a:ext cx="2103120" cy="2423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0" dirty="0">
                <a:solidFill>
                  <a:schemeClr val="tx1"/>
                </a:solidFill>
              </a:rPr>
              <a:t>Step 1: Start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b="0" dirty="0">
                <a:solidFill>
                  <a:schemeClr val="tx1"/>
                </a:solidFill>
              </a:rPr>
              <a:t>Step 2: Read days kept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b="0" dirty="0">
                <a:solidFill>
                  <a:schemeClr val="tx1"/>
                </a:solidFill>
              </a:rPr>
              <a:t>Step 3: If days &gt; 7, fine = 5 x extra days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b="0" dirty="0">
                <a:solidFill>
                  <a:schemeClr val="tx1"/>
                </a:solidFill>
              </a:rPr>
              <a:t>Step 4: Otherwise fine = 0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b="0" dirty="0">
                <a:solidFill>
                  <a:schemeClr val="tx1"/>
                </a:solidFill>
              </a:rPr>
              <a:t>Step 5: Show the fine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b="0" dirty="0">
                <a:solidFill>
                  <a:schemeClr val="tx1"/>
                </a:solidFill>
              </a:rPr>
              <a:t>Step 6: Stop</a:t>
            </a:r>
            <a:endParaRPr lang="en-US" sz="1300" dirty="0"/>
          </a:p>
        </p:txBody>
      </p:sp>
      <p:sp>
        <p:nvSpPr>
          <p:cNvPr id="16" name="Card 16"/>
          <p:cNvSpPr/>
          <p:nvPr/>
        </p:nvSpPr>
        <p:spPr>
          <a:xfrm>
            <a:off x="3063240" y="1554480"/>
            <a:ext cx="2651760" cy="310896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7" name="Badge 17"/>
          <p:cNvSpPr txBox="1"/>
          <p:nvPr/>
        </p:nvSpPr>
        <p:spPr>
          <a:xfrm>
            <a:off x="3200400" y="16733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8" name="Text 18"/>
          <p:cNvSpPr txBox="1"/>
          <p:nvPr/>
        </p:nvSpPr>
        <p:spPr>
          <a:xfrm>
            <a:off x="3703320" y="1673352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Flowchart</a:t>
            </a:r>
            <a:endParaRPr lang="en-US" sz="1400" dirty="0"/>
          </a:p>
        </p:txBody>
      </p:sp>
      <p:sp>
        <p:nvSpPr>
          <p:cNvPr id="19" name="Mini 19"/>
          <p:cNvSpPr txBox="1"/>
          <p:nvPr/>
        </p:nvSpPr>
        <p:spPr>
          <a:xfrm>
            <a:off x="3749040" y="2103120"/>
            <a:ext cx="1280160" cy="228600"/>
          </a:xfrm>
          <a:prstGeom prst="flowChartTerminator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18288" tIns="18288" rIns="18288" bIns="18288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tx2"/>
                </a:solidFill>
              </a:rPr>
              <a:t>Start</a:t>
            </a:r>
            <a:endParaRPr lang="en-US" sz="1100" dirty="0"/>
          </a:p>
        </p:txBody>
      </p:sp>
      <p:sp>
        <p:nvSpPr>
          <p:cNvPr id="20" name="Arrow 20"/>
          <p:cNvSpPr/>
          <p:nvPr/>
        </p:nvSpPr>
        <p:spPr>
          <a:xfrm>
            <a:off x="4325112" y="2350008"/>
            <a:ext cx="128016" cy="100584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1" name="Mini 21"/>
          <p:cNvSpPr txBox="1"/>
          <p:nvPr/>
        </p:nvSpPr>
        <p:spPr>
          <a:xfrm>
            <a:off x="3749040" y="2468880"/>
            <a:ext cx="1280160" cy="228600"/>
          </a:xfrm>
          <a:prstGeom prst="flowChartInputOutpu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18288" tIns="18288" rIns="18288" bIns="18288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tx2"/>
                </a:solidFill>
              </a:rPr>
              <a:t>Read days</a:t>
            </a:r>
            <a:endParaRPr lang="en-US" sz="1100" dirty="0"/>
          </a:p>
        </p:txBody>
      </p:sp>
      <p:sp>
        <p:nvSpPr>
          <p:cNvPr id="22" name="Arrow 22"/>
          <p:cNvSpPr/>
          <p:nvPr/>
        </p:nvSpPr>
        <p:spPr>
          <a:xfrm>
            <a:off x="4325112" y="2715768"/>
            <a:ext cx="128016" cy="100584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3" name="Mini 23"/>
          <p:cNvSpPr txBox="1"/>
          <p:nvPr/>
        </p:nvSpPr>
        <p:spPr>
          <a:xfrm>
            <a:off x="3703320" y="2834640"/>
            <a:ext cx="1371600" cy="530352"/>
          </a:xfrm>
          <a:prstGeom prst="flowChartDecision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18288" tIns="18288" rIns="18288" bIns="18288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tx2"/>
                </a:solidFill>
              </a:rPr>
              <a:t>days &gt; 7 ?</a:t>
            </a:r>
            <a:endParaRPr lang="en-US" sz="1100" dirty="0"/>
          </a:p>
        </p:txBody>
      </p:sp>
      <p:sp>
        <p:nvSpPr>
          <p:cNvPr id="24" name="Text 24"/>
          <p:cNvSpPr txBox="1"/>
          <p:nvPr/>
        </p:nvSpPr>
        <p:spPr>
          <a:xfrm>
            <a:off x="3383280" y="2889816"/>
            <a:ext cx="3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tx2"/>
                </a:solidFill>
              </a:rPr>
              <a:t>No</a:t>
            </a:r>
            <a:endParaRPr lang="en-US" sz="1000" dirty="0"/>
          </a:p>
        </p:txBody>
      </p:sp>
      <p:sp>
        <p:nvSpPr>
          <p:cNvPr id="25" name="Text 25"/>
          <p:cNvSpPr txBox="1"/>
          <p:nvPr/>
        </p:nvSpPr>
        <p:spPr>
          <a:xfrm>
            <a:off x="5094920" y="2889816"/>
            <a:ext cx="3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tx2"/>
                </a:solidFill>
              </a:rPr>
              <a:t>Yes</a:t>
            </a:r>
            <a:endParaRPr lang="en-US" sz="1000" dirty="0"/>
          </a:p>
        </p:txBody>
      </p:sp>
      <p:sp>
        <p:nvSpPr>
          <p:cNvPr id="26" name="Mini 26"/>
          <p:cNvSpPr txBox="1"/>
          <p:nvPr/>
        </p:nvSpPr>
        <p:spPr>
          <a:xfrm>
            <a:off x="3154680" y="3401568"/>
            <a:ext cx="1188720" cy="32004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18288" tIns="18288" rIns="18288" bIns="18288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tx2"/>
                </a:solidFill>
              </a:rPr>
              <a:t>fine = 0</a:t>
            </a:r>
            <a:endParaRPr lang="en-US" sz="1000" dirty="0"/>
          </a:p>
        </p:txBody>
      </p:sp>
      <p:sp>
        <p:nvSpPr>
          <p:cNvPr id="27" name="Mini 27"/>
          <p:cNvSpPr txBox="1"/>
          <p:nvPr/>
        </p:nvSpPr>
        <p:spPr>
          <a:xfrm>
            <a:off x="4434840" y="3401568"/>
            <a:ext cx="1188720" cy="32004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18288" tIns="18288" rIns="18288" bIns="18288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tx2"/>
                </a:solidFill>
              </a:rPr>
              <a:t>fine=(days-7)x5</a:t>
            </a:r>
            <a:endParaRPr lang="en-US" sz="1000" dirty="0"/>
          </a:p>
        </p:txBody>
      </p:sp>
      <p:cxnSp>
        <p:nvCxnSpPr>
          <p:cNvPr id="28" name="Line 28"/>
          <p:cNvCxnSpPr/>
          <p:nvPr/>
        </p:nvCxnSpPr>
        <p:spPr>
          <a:xfrm>
            <a:off x="3703320" y="3099816"/>
            <a:ext cx="45720" cy="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3749040" y="3099816"/>
            <a:ext cx="0" cy="301752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5029200" y="3099816"/>
            <a:ext cx="45720" cy="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5029200" y="3099816"/>
            <a:ext cx="0" cy="301752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3749040" y="3721608"/>
            <a:ext cx="0" cy="9144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5029200" y="3721608"/>
            <a:ext cx="0" cy="9144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3749040" y="3813048"/>
            <a:ext cx="1280160" cy="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sp>
        <p:nvSpPr>
          <p:cNvPr id="35" name="Arrow 35"/>
          <p:cNvSpPr/>
          <p:nvPr/>
        </p:nvSpPr>
        <p:spPr>
          <a:xfrm>
            <a:off x="4325112" y="3813048"/>
            <a:ext cx="128016" cy="91440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6" name="Mini 36"/>
          <p:cNvSpPr txBox="1"/>
          <p:nvPr/>
        </p:nvSpPr>
        <p:spPr>
          <a:xfrm>
            <a:off x="3749040" y="3904488"/>
            <a:ext cx="1280160" cy="228600"/>
          </a:xfrm>
          <a:prstGeom prst="flowChartTerminator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18288" tIns="18288" rIns="18288" bIns="18288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tx2"/>
                </a:solidFill>
              </a:rPr>
              <a:t>Show fine, End</a:t>
            </a:r>
            <a:endParaRPr lang="en-US" sz="1100" dirty="0"/>
          </a:p>
        </p:txBody>
      </p:sp>
      <p:sp>
        <p:nvSpPr>
          <p:cNvPr id="37" name="Card 37"/>
          <p:cNvSpPr/>
          <p:nvPr/>
        </p:nvSpPr>
        <p:spPr>
          <a:xfrm>
            <a:off x="5852160" y="1554480"/>
            <a:ext cx="2834640" cy="310896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38" name="Badge 38"/>
          <p:cNvSpPr txBox="1"/>
          <p:nvPr/>
        </p:nvSpPr>
        <p:spPr>
          <a:xfrm>
            <a:off x="5989320" y="16733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9" name="Text 39"/>
          <p:cNvSpPr txBox="1"/>
          <p:nvPr/>
        </p:nvSpPr>
        <p:spPr>
          <a:xfrm>
            <a:off x="6492240" y="1673352"/>
            <a:ext cx="2057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Pseudo code</a:t>
            </a:r>
            <a:endParaRPr lang="en-US" sz="1400" dirty="0"/>
          </a:p>
        </p:txBody>
      </p:sp>
      <p:sp>
        <p:nvSpPr>
          <p:cNvPr id="40" name="Code 40"/>
          <p:cNvSpPr txBox="1"/>
          <p:nvPr/>
        </p:nvSpPr>
        <p:spPr>
          <a:xfrm>
            <a:off x="5989320" y="2148840"/>
            <a:ext cx="2560320" cy="173736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91440" tIns="91440" rIns="91440" bIns="9144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0" dirty="0">
                <a:solidFill>
                  <a:schemeClr val="tx2"/>
                </a:solidFill>
                <a:latin typeface="Courier New"/>
                <a:cs typeface="Courier New"/>
              </a:rPr>
              <a:t>READ days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b="0" dirty="0">
                <a:solidFill>
                  <a:schemeClr val="tx2"/>
                </a:solidFill>
                <a:latin typeface="Courier New"/>
                <a:cs typeface="Courier New"/>
              </a:rPr>
              <a:t>IF days &gt; 7 THEN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b="0" dirty="0">
                <a:solidFill>
                  <a:schemeClr val="tx2"/>
                </a:solidFill>
                <a:latin typeface="Courier New"/>
                <a:cs typeface="Courier New"/>
              </a:rPr>
              <a:t>    fine = (days-7)*5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b="0" dirty="0">
                <a:solidFill>
                  <a:schemeClr val="tx2"/>
                </a:solidFill>
                <a:latin typeface="Courier New"/>
                <a:cs typeface="Courier New"/>
              </a:rPr>
              <a:t>ELSE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b="0" dirty="0">
                <a:solidFill>
                  <a:schemeClr val="tx2"/>
                </a:solidFill>
                <a:latin typeface="Courier New"/>
                <a:cs typeface="Courier New"/>
              </a:rPr>
              <a:t>    fine = 0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b="0" dirty="0">
                <a:solidFill>
                  <a:schemeClr val="tx2"/>
                </a:solidFill>
                <a:latin typeface="Courier New"/>
                <a:cs typeface="Courier New"/>
              </a:rPr>
              <a:t>END IF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b="0" dirty="0">
                <a:solidFill>
                  <a:schemeClr val="tx2"/>
                </a:solidFill>
                <a:latin typeface="Courier New"/>
                <a:cs typeface="Courier New"/>
              </a:rPr>
              <a:t>PRINT fine</a:t>
            </a:r>
            <a:endParaRPr lang="en-US" sz="1200" dirty="0"/>
          </a:p>
        </p:txBody>
      </p:sp>
      <p:sp>
        <p:nvSpPr>
          <p:cNvPr id="41" name="Text 41"/>
          <p:cNvSpPr txBox="1"/>
          <p:nvPr/>
        </p:nvSpPr>
        <p:spPr>
          <a:xfrm>
            <a:off x="5989320" y="3977640"/>
            <a:ext cx="256032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200" b="0" dirty="0">
                <a:solidFill>
                  <a:schemeClr val="tx1"/>
                </a:solidFill>
              </a:rPr>
              <a:t>Looks like code, but it is not. It is the algorithm written in a programmer-friendly way.</a:t>
            </a:r>
            <a:endParaRPr lang="en-US" sz="1200" dirty="0"/>
          </a:p>
        </p:txBody>
      </p:sp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Example: Good Software</a:t>
            </a:r>
            <a:endParaRPr lang="en-US" sz="3400" dirty="0"/>
          </a:p>
        </p:txBody>
      </p:sp>
      <p:sp>
        <p:nvSpPr>
          <p:cNvPr id="11" name="Banner 11"/>
          <p:cNvSpPr txBox="1"/>
          <p:nvPr/>
        </p:nvSpPr>
        <p:spPr>
          <a:xfrm>
            <a:off x="457200" y="1005840"/>
            <a:ext cx="8229600" cy="41148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>
            <a:noFill/>
          </a:ln>
        </p:spPr>
        <p:txBody>
          <a:bodyPr wrap="square" lIns="137160" tIns="137160" rIns="137160" bIns="13716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Quality check: how our library app shows each quality.</a:t>
            </a:r>
            <a:endParaRPr lang="en-US" sz="1400" dirty="0"/>
          </a:p>
        </p:txBody>
      </p:sp>
      <p:sp>
        <p:nvSpPr>
          <p:cNvPr id="12" name="Card 12"/>
          <p:cNvSpPr/>
          <p:nvPr/>
        </p:nvSpPr>
        <p:spPr>
          <a:xfrm>
            <a:off x="457200" y="1554480"/>
            <a:ext cx="1920240" cy="14859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3" name="Head 13"/>
          <p:cNvSpPr txBox="1"/>
          <p:nvPr/>
        </p:nvSpPr>
        <p:spPr>
          <a:xfrm>
            <a:off x="594360" y="1673352"/>
            <a:ext cx="164592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Good design</a:t>
            </a:r>
            <a:endParaRPr lang="en-US" sz="1400" dirty="0"/>
          </a:p>
        </p:txBody>
      </p:sp>
      <p:sp>
        <p:nvSpPr>
          <p:cNvPr id="14" name="Body 14"/>
          <p:cNvSpPr txBox="1"/>
          <p:nvPr/>
        </p:nvSpPr>
        <p:spPr>
          <a:xfrm>
            <a:off x="640080" y="2139072"/>
            <a:ext cx="1554480" cy="8098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300" b="0" dirty="0">
                <a:solidFill>
                  <a:schemeClr val="tx1"/>
                </a:solidFill>
              </a:rPr>
              <a:t>A clean screen with big "Search" and "Borrow" buttons.</a:t>
            </a:r>
            <a:endParaRPr lang="en-US" sz="1300" dirty="0"/>
          </a:p>
        </p:txBody>
      </p:sp>
      <p:sp>
        <p:nvSpPr>
          <p:cNvPr id="15" name="Card 15"/>
          <p:cNvSpPr/>
          <p:nvPr/>
        </p:nvSpPr>
        <p:spPr>
          <a:xfrm>
            <a:off x="2560320" y="1554480"/>
            <a:ext cx="1920240" cy="14859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6" name="Head 16"/>
          <p:cNvSpPr txBox="1"/>
          <p:nvPr/>
        </p:nvSpPr>
        <p:spPr>
          <a:xfrm>
            <a:off x="2697480" y="1673352"/>
            <a:ext cx="164592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Good functionality</a:t>
            </a:r>
            <a:endParaRPr lang="en-US" sz="1400" dirty="0"/>
          </a:p>
        </p:txBody>
      </p:sp>
      <p:sp>
        <p:nvSpPr>
          <p:cNvPr id="17" name="Body 17"/>
          <p:cNvSpPr txBox="1"/>
          <p:nvPr/>
        </p:nvSpPr>
        <p:spPr>
          <a:xfrm>
            <a:off x="2743200" y="2139072"/>
            <a:ext cx="1554480" cy="8098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300" b="0" dirty="0">
                <a:solidFill>
                  <a:schemeClr val="tx1"/>
                </a:solidFill>
              </a:rPr>
              <a:t>Borrow, return and search all work smoothly.</a:t>
            </a:r>
            <a:endParaRPr lang="en-US" sz="1300" dirty="0"/>
          </a:p>
        </p:txBody>
      </p:sp>
      <p:sp>
        <p:nvSpPr>
          <p:cNvPr id="18" name="Card 18"/>
          <p:cNvSpPr/>
          <p:nvPr/>
        </p:nvSpPr>
        <p:spPr>
          <a:xfrm>
            <a:off x="4663440" y="1554480"/>
            <a:ext cx="1920240" cy="14859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9" name="Head 19"/>
          <p:cNvSpPr txBox="1"/>
          <p:nvPr/>
        </p:nvSpPr>
        <p:spPr>
          <a:xfrm>
            <a:off x="4800600" y="1673352"/>
            <a:ext cx="164592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Durable and reliable</a:t>
            </a:r>
            <a:endParaRPr lang="en-US" sz="1400" dirty="0"/>
          </a:p>
        </p:txBody>
      </p:sp>
      <p:sp>
        <p:nvSpPr>
          <p:cNvPr id="20" name="Body 20"/>
          <p:cNvSpPr txBox="1"/>
          <p:nvPr/>
        </p:nvSpPr>
        <p:spPr>
          <a:xfrm>
            <a:off x="4846320" y="2139072"/>
            <a:ext cx="1554480" cy="8098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300" b="0" dirty="0">
                <a:solidFill>
                  <a:schemeClr val="tx1"/>
                </a:solidFill>
              </a:rPr>
              <a:t>Runs for years without crashing in exam week.</a:t>
            </a:r>
            <a:endParaRPr lang="en-US" sz="1300" dirty="0"/>
          </a:p>
        </p:txBody>
      </p:sp>
      <p:sp>
        <p:nvSpPr>
          <p:cNvPr id="21" name="Card 21"/>
          <p:cNvSpPr/>
          <p:nvPr/>
        </p:nvSpPr>
        <p:spPr>
          <a:xfrm>
            <a:off x="6766560" y="1554480"/>
            <a:ext cx="1920240" cy="14859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2" name="Head 22"/>
          <p:cNvSpPr txBox="1"/>
          <p:nvPr/>
        </p:nvSpPr>
        <p:spPr>
          <a:xfrm>
            <a:off x="6903720" y="1673352"/>
            <a:ext cx="164592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Portable</a:t>
            </a:r>
            <a:endParaRPr lang="en-US" sz="1400" dirty="0"/>
          </a:p>
        </p:txBody>
      </p:sp>
      <p:sp>
        <p:nvSpPr>
          <p:cNvPr id="23" name="Body 23"/>
          <p:cNvSpPr txBox="1"/>
          <p:nvPr/>
        </p:nvSpPr>
        <p:spPr>
          <a:xfrm>
            <a:off x="6949440" y="2139072"/>
            <a:ext cx="1554480" cy="8098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300" b="0" dirty="0">
                <a:solidFill>
                  <a:schemeClr val="tx1"/>
                </a:solidFill>
              </a:rPr>
              <a:t>Works on Windows, Android and iPhone.</a:t>
            </a:r>
            <a:endParaRPr lang="en-US" sz="1300" dirty="0"/>
          </a:p>
        </p:txBody>
      </p:sp>
      <p:sp>
        <p:nvSpPr>
          <p:cNvPr id="24" name="Card 24"/>
          <p:cNvSpPr/>
          <p:nvPr/>
        </p:nvSpPr>
        <p:spPr>
          <a:xfrm>
            <a:off x="457200" y="3177540"/>
            <a:ext cx="1920240" cy="14859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5" name="Head 25"/>
          <p:cNvSpPr txBox="1"/>
          <p:nvPr/>
        </p:nvSpPr>
        <p:spPr>
          <a:xfrm>
            <a:off x="594360" y="3296412"/>
            <a:ext cx="164592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Efficient</a:t>
            </a:r>
            <a:endParaRPr lang="en-US" sz="1400" dirty="0"/>
          </a:p>
        </p:txBody>
      </p:sp>
      <p:sp>
        <p:nvSpPr>
          <p:cNvPr id="26" name="Body 26"/>
          <p:cNvSpPr txBox="1"/>
          <p:nvPr/>
        </p:nvSpPr>
        <p:spPr>
          <a:xfrm>
            <a:off x="640080" y="3762132"/>
            <a:ext cx="1554480" cy="8098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300" b="0" dirty="0">
                <a:solidFill>
                  <a:schemeClr val="tx1"/>
                </a:solidFill>
              </a:rPr>
              <a:t>Typing "Physics" shows the right books in seconds.</a:t>
            </a:r>
            <a:endParaRPr lang="en-US" sz="1300" dirty="0"/>
          </a:p>
        </p:txBody>
      </p:sp>
      <p:sp>
        <p:nvSpPr>
          <p:cNvPr id="27" name="Card 27"/>
          <p:cNvSpPr/>
          <p:nvPr/>
        </p:nvSpPr>
        <p:spPr>
          <a:xfrm>
            <a:off x="2560320" y="3177540"/>
            <a:ext cx="1920240" cy="14859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8" name="Head 28"/>
          <p:cNvSpPr txBox="1"/>
          <p:nvPr/>
        </p:nvSpPr>
        <p:spPr>
          <a:xfrm>
            <a:off x="2697480" y="3296412"/>
            <a:ext cx="164592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Value for money</a:t>
            </a:r>
            <a:endParaRPr lang="en-US" sz="1400" dirty="0"/>
          </a:p>
        </p:txBody>
      </p:sp>
      <p:sp>
        <p:nvSpPr>
          <p:cNvPr id="29" name="Body 29"/>
          <p:cNvSpPr txBox="1"/>
          <p:nvPr/>
        </p:nvSpPr>
        <p:spPr>
          <a:xfrm>
            <a:off x="2743200" y="3762132"/>
            <a:ext cx="1554480" cy="8098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300" b="0" dirty="0">
                <a:solidFill>
                  <a:schemeClr val="tx1"/>
                </a:solidFill>
              </a:rPr>
              <a:t>Free for students and cheaper than paper cards.</a:t>
            </a:r>
            <a:endParaRPr lang="en-US" sz="1300" dirty="0"/>
          </a:p>
        </p:txBody>
      </p:sp>
      <p:sp>
        <p:nvSpPr>
          <p:cNvPr id="30" name="Card 30"/>
          <p:cNvSpPr/>
          <p:nvPr/>
        </p:nvSpPr>
        <p:spPr>
          <a:xfrm>
            <a:off x="4663440" y="3177540"/>
            <a:ext cx="1920240" cy="14859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31" name="Head 31"/>
          <p:cNvSpPr txBox="1"/>
          <p:nvPr/>
        </p:nvSpPr>
        <p:spPr>
          <a:xfrm>
            <a:off x="4800600" y="3296412"/>
            <a:ext cx="164592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Good after-sale service</a:t>
            </a:r>
            <a:endParaRPr lang="en-US" sz="1400" dirty="0"/>
          </a:p>
        </p:txBody>
      </p:sp>
      <p:sp>
        <p:nvSpPr>
          <p:cNvPr id="32" name="Body 32"/>
          <p:cNvSpPr txBox="1"/>
          <p:nvPr/>
        </p:nvSpPr>
        <p:spPr>
          <a:xfrm>
            <a:off x="4846320" y="3762132"/>
            <a:ext cx="1554480" cy="8098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300" b="0" dirty="0">
                <a:solidFill>
                  <a:schemeClr val="tx1"/>
                </a:solidFill>
              </a:rPr>
              <a:t>A help desk answers when students get stuck.</a:t>
            </a:r>
            <a:endParaRPr lang="en-US" sz="1300" dirty="0"/>
          </a:p>
        </p:txBody>
      </p:sp>
      <p:sp>
        <p:nvSpPr>
          <p:cNvPr id="33" name="Card 33"/>
          <p:cNvSpPr/>
          <p:nvPr/>
        </p:nvSpPr>
        <p:spPr>
          <a:xfrm>
            <a:off x="6766560" y="3177540"/>
            <a:ext cx="1920240" cy="14859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34" name="Head 34"/>
          <p:cNvSpPr txBox="1"/>
          <p:nvPr/>
        </p:nvSpPr>
        <p:spPr>
          <a:xfrm>
            <a:off x="6903720" y="3296412"/>
            <a:ext cx="164592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Flexible and maintainable</a:t>
            </a:r>
            <a:endParaRPr lang="en-US" sz="1400" dirty="0"/>
          </a:p>
        </p:txBody>
      </p:sp>
      <p:sp>
        <p:nvSpPr>
          <p:cNvPr id="35" name="Body 35"/>
          <p:cNvSpPr txBox="1"/>
          <p:nvPr/>
        </p:nvSpPr>
        <p:spPr>
          <a:xfrm>
            <a:off x="6949440" y="3762132"/>
            <a:ext cx="1554480" cy="8098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300" b="0" dirty="0">
                <a:solidFill>
                  <a:schemeClr val="tx1"/>
                </a:solidFill>
              </a:rPr>
              <a:t>Easy to fix a bug or add e-books later.</a:t>
            </a:r>
            <a:endParaRPr lang="en-US" sz="1300" dirty="0"/>
          </a:p>
        </p:txBody>
      </p:sp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Example: Choosing a Model</a:t>
            </a:r>
            <a:endParaRPr lang="en-US" sz="3400" dirty="0"/>
          </a:p>
        </p:txBody>
      </p:sp>
      <p:sp>
        <p:nvSpPr>
          <p:cNvPr id="11" name="Banner 11"/>
          <p:cNvSpPr txBox="1"/>
          <p:nvPr/>
        </p:nvSpPr>
        <p:spPr>
          <a:xfrm>
            <a:off x="457200" y="1005840"/>
            <a:ext cx="8229600" cy="41148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>
            <a:noFill/>
          </a:ln>
        </p:spPr>
        <p:txBody>
          <a:bodyPr wrap="square" lIns="137160" tIns="137160" rIns="137160" bIns="13716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Which model fits which project? One easy real-life example for each.</a:t>
            </a:r>
            <a:endParaRPr lang="en-US" sz="1400" dirty="0"/>
          </a:p>
        </p:txBody>
      </p:sp>
      <p:sp>
        <p:nvSpPr>
          <p:cNvPr id="12" name="Card 12"/>
          <p:cNvSpPr/>
          <p:nvPr/>
        </p:nvSpPr>
        <p:spPr>
          <a:xfrm>
            <a:off x="457200" y="1554480"/>
            <a:ext cx="4023360" cy="14859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3" name="Badge 13"/>
          <p:cNvSpPr txBox="1"/>
          <p:nvPr/>
        </p:nvSpPr>
        <p:spPr>
          <a:xfrm>
            <a:off x="594360" y="16733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4" name="Head 14"/>
          <p:cNvSpPr txBox="1"/>
          <p:nvPr/>
        </p:nvSpPr>
        <p:spPr>
          <a:xfrm>
            <a:off x="1097280" y="1673352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Waterfall</a:t>
            </a:r>
            <a:endParaRPr lang="en-US" sz="1500" dirty="0"/>
          </a:p>
        </p:txBody>
      </p:sp>
      <p:sp>
        <p:nvSpPr>
          <p:cNvPr id="15" name="Body 15"/>
          <p:cNvSpPr txBox="1"/>
          <p:nvPr/>
        </p:nvSpPr>
        <p:spPr>
          <a:xfrm>
            <a:off x="640080" y="2148840"/>
            <a:ext cx="365760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0" dirty="0">
                <a:solidFill>
                  <a:schemeClr val="tx1"/>
                </a:solidFill>
              </a:rPr>
              <a:t>A result-printing program with fixed rules. Finish each stage in order and never go back.</a:t>
            </a:r>
            <a:endParaRPr lang="en-US" sz="1400" dirty="0"/>
          </a:p>
        </p:txBody>
      </p:sp>
      <p:sp>
        <p:nvSpPr>
          <p:cNvPr id="16" name="Card 16"/>
          <p:cNvSpPr/>
          <p:nvPr/>
        </p:nvSpPr>
        <p:spPr>
          <a:xfrm>
            <a:off x="4663440" y="1554480"/>
            <a:ext cx="4023360" cy="14859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7" name="Badge 17"/>
          <p:cNvSpPr txBox="1"/>
          <p:nvPr/>
        </p:nvSpPr>
        <p:spPr>
          <a:xfrm>
            <a:off x="4800600" y="16733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8" name="Head 18"/>
          <p:cNvSpPr txBox="1"/>
          <p:nvPr/>
        </p:nvSpPr>
        <p:spPr>
          <a:xfrm>
            <a:off x="5303520" y="1673352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Prototype</a:t>
            </a:r>
            <a:endParaRPr lang="en-US" sz="1500" dirty="0"/>
          </a:p>
        </p:txBody>
      </p:sp>
      <p:sp>
        <p:nvSpPr>
          <p:cNvPr id="19" name="Body 19"/>
          <p:cNvSpPr txBox="1"/>
          <p:nvPr/>
        </p:nvSpPr>
        <p:spPr>
          <a:xfrm>
            <a:off x="4846320" y="2148840"/>
            <a:ext cx="365760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0" dirty="0">
                <a:solidFill>
                  <a:schemeClr val="tx1"/>
                </a:solidFill>
              </a:rPr>
              <a:t>A school website. Show a draft page, the principal says "change the colour", make a new draft, repeat until happy.</a:t>
            </a:r>
            <a:endParaRPr lang="en-US" sz="1400" dirty="0"/>
          </a:p>
        </p:txBody>
      </p:sp>
      <p:sp>
        <p:nvSpPr>
          <p:cNvPr id="20" name="Card 20"/>
          <p:cNvSpPr/>
          <p:nvPr/>
        </p:nvSpPr>
        <p:spPr>
          <a:xfrm>
            <a:off x="457200" y="3177540"/>
            <a:ext cx="4023360" cy="14859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1" name="Badge 21"/>
          <p:cNvSpPr txBox="1"/>
          <p:nvPr/>
        </p:nvSpPr>
        <p:spPr>
          <a:xfrm>
            <a:off x="594360" y="329641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Head 22"/>
          <p:cNvSpPr txBox="1"/>
          <p:nvPr/>
        </p:nvSpPr>
        <p:spPr>
          <a:xfrm>
            <a:off x="1097280" y="3296412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Spiral</a:t>
            </a:r>
            <a:endParaRPr lang="en-US" sz="1500" dirty="0"/>
          </a:p>
        </p:txBody>
      </p:sp>
      <p:sp>
        <p:nvSpPr>
          <p:cNvPr id="23" name="Body 23"/>
          <p:cNvSpPr txBox="1"/>
          <p:nvPr/>
        </p:nvSpPr>
        <p:spPr>
          <a:xfrm>
            <a:off x="640080" y="3771900"/>
            <a:ext cx="365760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0" dirty="0">
                <a:solidFill>
                  <a:schemeClr val="tx1"/>
                </a:solidFill>
              </a:rPr>
              <a:t>A hospital system. Plan a small part, check the risks (like patient data safety), build it, review, then start the next loop.</a:t>
            </a:r>
            <a:endParaRPr lang="en-US" sz="1400" dirty="0"/>
          </a:p>
        </p:txBody>
      </p:sp>
      <p:sp>
        <p:nvSpPr>
          <p:cNvPr id="24" name="Card 24"/>
          <p:cNvSpPr/>
          <p:nvPr/>
        </p:nvSpPr>
        <p:spPr>
          <a:xfrm>
            <a:off x="4663440" y="3177540"/>
            <a:ext cx="4023360" cy="14859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5" name="Badge 25"/>
          <p:cNvSpPr txBox="1"/>
          <p:nvPr/>
        </p:nvSpPr>
        <p:spPr>
          <a:xfrm>
            <a:off x="4800600" y="329641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Head 26"/>
          <p:cNvSpPr txBox="1"/>
          <p:nvPr/>
        </p:nvSpPr>
        <p:spPr>
          <a:xfrm>
            <a:off x="5303520" y="3296412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Agile</a:t>
            </a:r>
            <a:endParaRPr lang="en-US" sz="1500" dirty="0"/>
          </a:p>
        </p:txBody>
      </p:sp>
      <p:sp>
        <p:nvSpPr>
          <p:cNvPr id="27" name="Body 27"/>
          <p:cNvSpPr txBox="1"/>
          <p:nvPr/>
        </p:nvSpPr>
        <p:spPr>
          <a:xfrm>
            <a:off x="4846320" y="3771900"/>
            <a:ext cx="365760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b="0" dirty="0">
                <a:solidFill>
                  <a:schemeClr val="tx1"/>
                </a:solidFill>
              </a:rPr>
              <a:t>A mobile game. Release a small working version in each short round, listen to players, and improve in the next round.</a:t>
            </a:r>
            <a:endParaRPr lang="en-US" sz="1400" dirty="0"/>
          </a:p>
        </p:txBody>
      </p:sp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cess Teal">
  <a:themeElements>
    <a:clrScheme name="Process Teal">
      <a:dk1>
        <a:srgbClr val="1B2B30"/>
      </a:dk1>
      <a:lt1>
        <a:srgbClr val="FFFFFF"/>
      </a:lt1>
      <a:dk2>
        <a:srgbClr val="0B3C49"/>
      </a:dk2>
      <a:lt2>
        <a:srgbClr val="EAF3F1"/>
      </a:lt2>
      <a:accent1>
        <a:srgbClr val="158070"/>
      </a:accent1>
      <a:accent2>
        <a:srgbClr val="F2A541"/>
      </a:accent2>
      <a:accent3>
        <a:srgbClr val="3D7EA6"/>
      </a:accent3>
      <a:accent4>
        <a:srgbClr val="C8472B"/>
      </a:accent4>
      <a:accent5>
        <a:srgbClr val="6C7A80"/>
      </a:accent5>
      <a:accent6>
        <a:srgbClr val="8FC1B5"/>
      </a:accent6>
      <a:hlink>
        <a:srgbClr val="158070"/>
      </a:hlink>
      <a:folHlink>
        <a:srgbClr val="6C7A80"/>
      </a:folHlink>
    </a:clrScheme>
    <a:fontScheme name="Process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6: Software Process Model</dc:title>
  <dc:subject>PptxGenJS Presentation</dc:subject>
  <dc:creator>PptxGenJS</dc:creator>
  <cp:lastModifiedBy>PptxGenJS</cp:lastModifiedBy>
  <cp:revision>1</cp:revision>
  <dcterms:created xsi:type="dcterms:W3CDTF">2026-10-29T02:01:22Z</dcterms:created>
  <dcterms:modified xsi:type="dcterms:W3CDTF">2026-10-29T02:01:22Z</dcterms:modified>
</cp:coreProperties>
</file>